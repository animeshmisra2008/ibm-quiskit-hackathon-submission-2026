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de28dce4454218" /><Relationship Type="http://schemas.openxmlformats.org/officeDocument/2006/relationships/extended-properties" Target="/docProps/app.xml" Id="Rdca12b7ca51b4df3" /><Relationship Type="http://schemas.openxmlformats.org/officeDocument/2006/relationships/officeDocument" Target="/ppt/presentation.xml" Id="Rca06433ae41d41aa" /></Relationships>
</file>

<file path=ppt/presentation.xml><?xml version="1.0" encoding="utf-8"?>
<p:presentation xmlns:p="http://schemas.openxmlformats.org/presentationml/2006/main">
  <p:sldMasterIdLst>
    <p:sldMasterId xmlns:r="http://schemas.openxmlformats.org/officeDocument/2006/relationships" id="2147483648" r:id="R5650afaa1fac427a"/>
  </p:sldMasterIdLst>
  <p:notesMasterIdLst>
    <p:notesMasterId xmlns:r="http://schemas.openxmlformats.org/officeDocument/2006/relationships" r:id="R4cec176447124455"/>
  </p:notesMasterIdLst>
  <p:sldIdLst>
    <p:sldId xmlns:r="http://schemas.openxmlformats.org/officeDocument/2006/relationships" id="256" r:id="R6644a5e0abdd4993"/>
    <p:sldId xmlns:r="http://schemas.openxmlformats.org/officeDocument/2006/relationships" id="257" r:id="R2b49de4ed3974336"/>
    <p:sldId xmlns:r="http://schemas.openxmlformats.org/officeDocument/2006/relationships" id="258" r:id="R222ab5b821464866"/>
    <p:sldId xmlns:r="http://schemas.openxmlformats.org/officeDocument/2006/relationships" id="259" r:id="Rc1ff0d8c6f6c4141"/>
    <p:sldId xmlns:r="http://schemas.openxmlformats.org/officeDocument/2006/relationships" id="260" r:id="Re2876851bf224e3a"/>
    <p:sldId xmlns:r="http://schemas.openxmlformats.org/officeDocument/2006/relationships" id="261" r:id="R408fc55328c24fd7"/>
    <p:sldId xmlns:r="http://schemas.openxmlformats.org/officeDocument/2006/relationships" id="262" r:id="Rda98bba712c84a4e"/>
    <p:sldId xmlns:r="http://schemas.openxmlformats.org/officeDocument/2006/relationships" id="263" r:id="R0b250530cbc84e7b"/>
    <p:sldId xmlns:r="http://schemas.openxmlformats.org/officeDocument/2006/relationships" id="264" r:id="R00b482d1d9f8439a"/>
    <p:sldId xmlns:r="http://schemas.openxmlformats.org/officeDocument/2006/relationships" id="265" r:id="R63d7ace361274741"/>
    <p:sldId xmlns:r="http://schemas.openxmlformats.org/officeDocument/2006/relationships" id="266" r:id="R92cfed7235b14214"/>
    <p:sldId xmlns:r="http://schemas.openxmlformats.org/officeDocument/2006/relationships" id="267" r:id="R6859061ee45f4025"/>
    <p:sldId xmlns:r="http://schemas.openxmlformats.org/officeDocument/2006/relationships" id="268" r:id="Rcf0e768a4c3e4e41"/>
    <p:sldId xmlns:r="http://schemas.openxmlformats.org/officeDocument/2006/relationships" id="269" r:id="Re7267bb30ce34528"/>
    <p:sldId xmlns:r="http://schemas.openxmlformats.org/officeDocument/2006/relationships" id="270" r:id="Rd7b4f6ae91ae4524"/>
    <p:sldId xmlns:r="http://schemas.openxmlformats.org/officeDocument/2006/relationships" id="271" r:id="R4e18e13261ed47bd"/>
    <p:sldId xmlns:r="http://schemas.openxmlformats.org/officeDocument/2006/relationships" id="272" r:id="R0ef1acb4198049a8"/>
    <p:sldId xmlns:r="http://schemas.openxmlformats.org/officeDocument/2006/relationships" id="273" r:id="R994c6c4e82374561"/>
    <p:sldId xmlns:r="http://schemas.openxmlformats.org/officeDocument/2006/relationships" id="274" r:id="Rffcb880c000c4bfc"/>
    <p:sldId xmlns:r="http://schemas.openxmlformats.org/officeDocument/2006/relationships" id="275" r:id="Re8d503f2fa254849"/>
    <p:sldId xmlns:r="http://schemas.openxmlformats.org/officeDocument/2006/relationships" id="276" r:id="R38bd92a6652641e2"/>
    <p:sldId xmlns:r="http://schemas.openxmlformats.org/officeDocument/2006/relationships" id="277" r:id="R43f1c12f466a4d45"/>
    <p:sldId xmlns:r="http://schemas.openxmlformats.org/officeDocument/2006/relationships" id="278" r:id="Rf68c7c6fb3ab4b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ecd770b22f4b37" /><Relationship Type="http://schemas.openxmlformats.org/officeDocument/2006/relationships/slideMaster" Target="/ppt/slideMasters/slideMaster1.xml" Id="R5650afaa1fac427a" /><Relationship Type="http://schemas.openxmlformats.org/officeDocument/2006/relationships/notesMaster" Target="/ppt/notesMasters/notesMaster1.xml" Id="R4cec176447124455" /><Relationship Type="http://schemas.openxmlformats.org/officeDocument/2006/relationships/presProps" Target="/ppt/presProps.xml" Id="R14051e5fc76c4164" /><Relationship Type="http://schemas.openxmlformats.org/officeDocument/2006/relationships/tableStyles" Target="/ppt/tableStyles.xml" Id="Rb6bbf28a692040d2" /><Relationship Type="http://schemas.openxmlformats.org/officeDocument/2006/relationships/slide" Target="/ppt/slides/slide1.xml" Id="R6644a5e0abdd4993" /><Relationship Type="http://schemas.openxmlformats.org/officeDocument/2006/relationships/slide" Target="/ppt/slides/slide2.xml" Id="R2b49de4ed3974336" /><Relationship Type="http://schemas.openxmlformats.org/officeDocument/2006/relationships/slide" Target="/ppt/slides/slide3.xml" Id="R222ab5b821464866" /><Relationship Type="http://schemas.openxmlformats.org/officeDocument/2006/relationships/slide" Target="/ppt/slides/slide4.xml" Id="Rc1ff0d8c6f6c4141" /><Relationship Type="http://schemas.openxmlformats.org/officeDocument/2006/relationships/slide" Target="/ppt/slides/slide5.xml" Id="Re2876851bf224e3a" /><Relationship Type="http://schemas.openxmlformats.org/officeDocument/2006/relationships/slide" Target="/ppt/slides/slide6.xml" Id="R408fc55328c24fd7" /><Relationship Type="http://schemas.openxmlformats.org/officeDocument/2006/relationships/slide" Target="/ppt/slides/slide7.xml" Id="Rda98bba712c84a4e" /><Relationship Type="http://schemas.openxmlformats.org/officeDocument/2006/relationships/slide" Target="/ppt/slides/slide8.xml" Id="R0b250530cbc84e7b" /><Relationship Type="http://schemas.openxmlformats.org/officeDocument/2006/relationships/slide" Target="/ppt/slides/slide9.xml" Id="R00b482d1d9f8439a" /><Relationship Type="http://schemas.openxmlformats.org/officeDocument/2006/relationships/slide" Target="/ppt/slides/slide10.xml" Id="R63d7ace361274741" /><Relationship Type="http://schemas.openxmlformats.org/officeDocument/2006/relationships/slide" Target="/ppt/slides/slide11.xml" Id="R92cfed7235b14214" /><Relationship Type="http://schemas.openxmlformats.org/officeDocument/2006/relationships/slide" Target="/ppt/slides/slide12.xml" Id="R6859061ee45f4025" /><Relationship Type="http://schemas.openxmlformats.org/officeDocument/2006/relationships/slide" Target="/ppt/slides/slide13.xml" Id="Rcf0e768a4c3e4e41" /><Relationship Type="http://schemas.openxmlformats.org/officeDocument/2006/relationships/slide" Target="/ppt/slides/slide14.xml" Id="Re7267bb30ce34528" /><Relationship Type="http://schemas.openxmlformats.org/officeDocument/2006/relationships/slide" Target="/ppt/slides/slide15.xml" Id="Rd7b4f6ae91ae4524" /><Relationship Type="http://schemas.openxmlformats.org/officeDocument/2006/relationships/slide" Target="/ppt/slides/slide16.xml" Id="R4e18e13261ed47bd" /><Relationship Type="http://schemas.openxmlformats.org/officeDocument/2006/relationships/slide" Target="/ppt/slides/slide17.xml" Id="R0ef1acb4198049a8" /><Relationship Type="http://schemas.openxmlformats.org/officeDocument/2006/relationships/slide" Target="/ppt/slides/slide18.xml" Id="R994c6c4e82374561" /><Relationship Type="http://schemas.openxmlformats.org/officeDocument/2006/relationships/slide" Target="/ppt/slides/slide19.xml" Id="Rffcb880c000c4bfc" /><Relationship Type="http://schemas.openxmlformats.org/officeDocument/2006/relationships/slide" Target="/ppt/slides/slide20.xml" Id="Re8d503f2fa254849" /><Relationship Type="http://schemas.openxmlformats.org/officeDocument/2006/relationships/slide" Target="/ppt/slides/slide21.xml" Id="R38bd92a6652641e2" /><Relationship Type="http://schemas.openxmlformats.org/officeDocument/2006/relationships/slide" Target="/ppt/slides/slide22.xml" Id="R43f1c12f466a4d45" /><Relationship Type="http://schemas.openxmlformats.org/officeDocument/2006/relationships/slide" Target="/ppt/slides/slide23.xml" Id="Rf68c7c6fb3ab4b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96ad00cffe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d1e7a6e014dbc" /><Relationship Type="http://schemas.openxmlformats.org/officeDocument/2006/relationships/notesMaster" Target="/ppt/notesMasters/notesMaster1.xml" Id="R4949a74e61bc47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184eb18854209" /><Relationship Type="http://schemas.openxmlformats.org/officeDocument/2006/relationships/notesMaster" Target="/ppt/notesMasters/notesMaster1.xml" Id="R190d5a5c9666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5ae22bac24c45" /><Relationship Type="http://schemas.openxmlformats.org/officeDocument/2006/relationships/notesMaster" Target="/ppt/notesMasters/notesMaster1.xml" Id="Rd027dd1190fc44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16216400843de" /><Relationship Type="http://schemas.openxmlformats.org/officeDocument/2006/relationships/notesMaster" Target="/ppt/notesMasters/notesMaster1.xml" Id="R934ddbc98dda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8ef5976ad04b99" /><Relationship Type="http://schemas.openxmlformats.org/officeDocument/2006/relationships/notesMaster" Target="/ppt/notesMasters/notesMaster1.xml" Id="Rf6a513355abd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870262b95a4050" /><Relationship Type="http://schemas.openxmlformats.org/officeDocument/2006/relationships/notesMaster" Target="/ppt/notesMasters/notesMaster1.xml" Id="R2a6faa3315de4a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6ed6653184acd" /><Relationship Type="http://schemas.openxmlformats.org/officeDocument/2006/relationships/notesMaster" Target="/ppt/notesMasters/notesMaster1.xml" Id="R55c5a237af01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fc6305e8554b6c" /><Relationship Type="http://schemas.openxmlformats.org/officeDocument/2006/relationships/notesMaster" Target="/ppt/notesMasters/notesMaster1.xml" Id="Rda71d6a07b26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9b14c2f23548e8" /><Relationship Type="http://schemas.openxmlformats.org/officeDocument/2006/relationships/notesMaster" Target="/ppt/notesMasters/notesMaster1.xml" Id="R4be9141b84054e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57ac3458d24e0c" /><Relationship Type="http://schemas.openxmlformats.org/officeDocument/2006/relationships/notesMaster" Target="/ppt/notesMasters/notesMaster1.xml" Id="Rac666adc262a4c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120b885e0e49d3" /><Relationship Type="http://schemas.openxmlformats.org/officeDocument/2006/relationships/notesMaster" Target="/ppt/notesMasters/notesMaster1.xml" Id="R424847a2c52c48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630aa082c74bbd" /><Relationship Type="http://schemas.openxmlformats.org/officeDocument/2006/relationships/notesMaster" Target="/ppt/notesMasters/notesMaster1.xml" Id="Rc6b040adb00a4a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5b5baacd164dc1" /><Relationship Type="http://schemas.openxmlformats.org/officeDocument/2006/relationships/notesMaster" Target="/ppt/notesMasters/notesMaster1.xml" Id="R4f68055c9e04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d8cee130674263" /><Relationship Type="http://schemas.openxmlformats.org/officeDocument/2006/relationships/notesMaster" Target="/ppt/notesMasters/notesMaster1.xml" Id="R094b9f705d7545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495936109841ea" /><Relationship Type="http://schemas.openxmlformats.org/officeDocument/2006/relationships/notesMaster" Target="/ppt/notesMasters/notesMaster1.xml" Id="Rb2e615c594ba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a9d10d07d04f71" /><Relationship Type="http://schemas.openxmlformats.org/officeDocument/2006/relationships/notesMaster" Target="/ppt/notesMasters/notesMaster1.xml" Id="Rfee0cb8d1d23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b6d524af34c5f" /><Relationship Type="http://schemas.openxmlformats.org/officeDocument/2006/relationships/notesMaster" Target="/ppt/notesMasters/notesMaster1.xml" Id="Ra57749908b0b47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89cf58989144ef" /><Relationship Type="http://schemas.openxmlformats.org/officeDocument/2006/relationships/notesMaster" Target="/ppt/notesMasters/notesMaster1.xml" Id="R11b8c13d909c4e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c1b67209c847d8" /><Relationship Type="http://schemas.openxmlformats.org/officeDocument/2006/relationships/notesMaster" Target="/ppt/notesMasters/notesMaster1.xml" Id="R2d979ed66ee443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5318303b99427b" /><Relationship Type="http://schemas.openxmlformats.org/officeDocument/2006/relationships/notesMaster" Target="/ppt/notesMasters/notesMaster1.xml" Id="R474192572d4e43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9926d043154e6f" /><Relationship Type="http://schemas.openxmlformats.org/officeDocument/2006/relationships/notesMaster" Target="/ppt/notesMasters/notesMaster1.xml" Id="Rd459422458f342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70fb5ee72f49bd" /><Relationship Type="http://schemas.openxmlformats.org/officeDocument/2006/relationships/notesMaster" Target="/ppt/notesMasters/notesMaster1.xml" Id="R5886dbd74f8348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a8d98743c0468f" /><Relationship Type="http://schemas.openxmlformats.org/officeDocument/2006/relationships/notesMaster" Target="/ppt/notesMasters/notesMaster1.xml" Id="R5720cb8332654e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small simulation to see whether error-mitigation tools can recover a useful measurement after noise is added. The assignment asks for SLC, NoiseLearnerV3, and PNA. This deck states clearly where the local simulator uses synthetic calibration rates in place of a hardware noise-learning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the project does not require the audience to know quantum mechanics. A measurement is an average from repeated simulated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center-qubit X measurement is the quantity that PNA corrects. We also calculate exact state fidelity from the simulator's density matrix as a separate measure of how much the whole state was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SLC assigns importance to candidate Pauli error terms and can trade a bounded bias for lower sampling cost. PNA propagates the inverse of learned noise into an observable. The official NoiseLearnerV3 accepts an IBM Quantum backend/service job; IBM documents that it has no local fake-backend mode. Sources: https://qiskit.github.io/qiskit-addon-slc/guides/quickstart.html ; https://qiskit.github.io/qiskit-addon-pna/tutorials/01_generate_noise_mitigating_observable.html ;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middle noise setting, the synthetic model included 78 candidate error terms. SLC kept 52 nonzero terms and set a bias bound of 0.047. PNA preprocessing took 1.23 seconds with the full model and 1.12 seconds after SLC. The estimated sampling cost changed from 2.61 to 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 value is 0.981. At 1× noise, the uncorrected sampled value was 0.687. Full PNA estimated 0.977; SLC-selected PNA estimated 0.962. SLC saves work but can leave more bias, which is the intended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ideal-state fidelity projector is |psi&gt;&lt;psi| for the noiseless output. We apply full PNA and SLC + PNA to that projector, then evaluate each corrected observable against the noisy density matrix. At 1x noise, raw fidelity is 0.695, full-PNA estimates 1.004, and SLC + PNA estimates 0.892. These approximate correction estimates can exceed the physical maximum of one; interpret them as near ideal rather than literal physical fidelities. The raw noisy-state fidelity is the exact simulator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time needed to prepare the correction calculation at each noise strength. At 1x, SLC plus PNA took 1.12 seconds versus 1.23 seconds for full PNA, about 9% less. These are local computer preprocessing times, not QPU execution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results show the algorithmic flow but are not hardware results because calibration rates are synthetic. The official assignment asks for NoiseLearnerV3 and a simulated noisy backend; official documentation says NoiseLearnerV3 does not have a local testing mode. If an IBM Quantum account and backend become available, replace the synthetic model with the output of the official noise learner. Source: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summarizes the separate Track 1 simulation supplied by the user. Its fidelity values describe classical output distributions, not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can help identify suspicious shots, but they add circuit overhead. This project studies that tradeoff on a small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Track 1 deck reports an implementation using Paulice and a custom filter. This combined presentation preserves its stated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fidelity is a classical output-distribution score. Do not call it logical-state fidelity or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 1 source deck describes a five-stage simulator workflow from circuit construction to distribution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XOR means exclusive OR: the parity is one when an odd number of selected bits are one. A zero syndrome is evidence the measured check passed; undetected errors may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 no-check fidelity 0.97536; checks without filtering 0.95597; checks with the custom filter 0.98108. The filter accepted 9,380 of 10,000 shots. This is the result of one simulation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genetic configurations, other check ancillas may have only one recorded CX interaction. The reported span is for an ancilla with at least two interactions, not a complete multi-check spacetime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reports the best post-selected result as 0.97833 for Genetic Seed 1 and the no-check baseline as 0.97958. Other plotted values have been recreated approximately from the supplied plot and rounded to three decimals. Post-selection improved each checked configuration, but none beat the no-check baseline in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comparison. Span alone was not isolated, so this plot does not establish that separation causes the fidelity change. Points besides the explicitly reported 0.97833 are approximate readings from the source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deck reports Clifford-only fidelity 0.97522 with 2 CX and 9 RZ gates; the T-doped circuit had fidelity 0.98104 with 3 CX and 14 RZ gates. This is a separate simplified-noise simulation, not a controlled claim that T gates improve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are carried over from the provided Track 1 presentation. In particular, the output-distribution fidelity should not be mislabeled as logical-state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study's result is promising but exploratory. Repeated runs and controlled configurations are needed before drawing stronger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answers precise: the scores describe output distributions, the zero syndrome is not a proof of no error, and the span result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8763415da7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6be8fda15341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85760080cb44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bb9c64d43648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b7e17396f14c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83ae9f85a7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833BB-1150-4938-A0C4-34CD5E1909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82632-2C95-4FF8-89CC-C617B73DE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3C371D-7C45-4ABF-A593-5389E24970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6FE625-29FD-4A60-98A7-EC3E9A034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BD4CB7-C221-4BCF-87D7-797415611D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EB401-EEE6-4BBA-8C77-85C102515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53F9F0-E2CF-4FA6-87D7-7B9740AC1D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155422-5C54-428D-B6B8-B112E59F0B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25DCE-2B67-435B-9920-1E6345FD8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49ABE-50E9-4DB6-80C7-337CA730B2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539051630469a" /><Relationship Type="http://schemas.openxmlformats.org/officeDocument/2006/relationships/slideLayout" Target="/ppt/slideLayouts/slideLayout1.xml" Id="Red1d7abf87bd4572" /><Relationship Type="http://schemas.openxmlformats.org/officeDocument/2006/relationships/slideLayout" Target="/ppt/slideLayouts/slideLayout2.xml" Id="Rc46215d6e6e94cdd" /><Relationship Type="http://schemas.openxmlformats.org/officeDocument/2006/relationships/slideLayout" Target="/ppt/slideLayouts/slideLayout3.xml" Id="Rf8e84bd34f424a3f" /><Relationship Type="http://schemas.openxmlformats.org/officeDocument/2006/relationships/slideLayout" Target="/ppt/slideLayouts/slideLayout4.xml" Id="R9952f5bab3224b4e" /><Relationship Type="http://schemas.openxmlformats.org/officeDocument/2006/relationships/slideLayout" Target="/ppt/slideLayouts/slideLayout5.xml" Id="R6466f17115ca4e48" /><Relationship Type="http://schemas.openxmlformats.org/officeDocument/2006/relationships/slideLayout" Target="/ppt/slideLayouts/slideLayout6.xml" Id="R8ba282301de74f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d7abf87bd4572"/>
    <p:sldLayoutId xmlns:r="http://schemas.openxmlformats.org/officeDocument/2006/relationships" id="2147483650" r:id="Rc46215d6e6e94cdd"/>
    <p:sldLayoutId xmlns:r="http://schemas.openxmlformats.org/officeDocument/2006/relationships" id="2147483651" r:id="Rf8e84bd34f424a3f"/>
    <p:sldLayoutId xmlns:r="http://schemas.openxmlformats.org/officeDocument/2006/relationships" id="2147483652" r:id="R9952f5bab3224b4e"/>
    <p:sldLayoutId xmlns:r="http://schemas.openxmlformats.org/officeDocument/2006/relationships" id="2147483653" r:id="R6466f17115ca4e48"/>
    <p:sldLayoutId xmlns:r="http://schemas.openxmlformats.org/officeDocument/2006/relationships" id="2147483654" r:id="R8ba282301de74f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55d0b5dfa4fe3" /><Relationship Type="http://schemas.openxmlformats.org/officeDocument/2006/relationships/notesSlide" Target="/ppt/notesSlides/notesSlide1.xml" Id="Rf248d8f118c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c1632dcd1342e4" /><Relationship Type="http://schemas.openxmlformats.org/officeDocument/2006/relationships/notesSlide" Target="/ppt/notesSlides/notesSlide2.xml" Id="R3ee3cf0c9f36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73ce1decd47d0" /><Relationship Type="http://schemas.openxmlformats.org/officeDocument/2006/relationships/notesSlide" Target="/ppt/notesSlides/notesSlide3.xml" Id="R799b6ac4c0d7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21a7834fdf4e39" /><Relationship Type="http://schemas.openxmlformats.org/officeDocument/2006/relationships/notesSlide" Target="/ppt/notesSlides/notesSlide4.xml" Id="R8d672793843a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22a156c4e4a20" /><Relationship Type="http://schemas.openxmlformats.org/officeDocument/2006/relationships/chart" Target="/ppt/slides/charts/chart1.xml" Id="R91927ae9b57c428d" /><Relationship Type="http://schemas.openxmlformats.org/officeDocument/2006/relationships/notesSlide" Target="/ppt/notesSlides/notesSlide5.xml" Id="R7e42ffa8d6db45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4d4d91826741d8" /><Relationship Type="http://schemas.openxmlformats.org/officeDocument/2006/relationships/chart" Target="/ppt/slides/charts/chart2.xml" Id="Re21265005d1044c8" /><Relationship Type="http://schemas.openxmlformats.org/officeDocument/2006/relationships/notesSlide" Target="/ppt/notesSlides/notesSlide6.xml" Id="Rc9e95f05bfd0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0694a634c4110" /><Relationship Type="http://schemas.openxmlformats.org/officeDocument/2006/relationships/chart" Target="/ppt/slides/charts/chart3.xml" Id="R7e2f5241bcfb4853" /><Relationship Type="http://schemas.openxmlformats.org/officeDocument/2006/relationships/notesSlide" Target="/ppt/notesSlides/notesSlide7.xml" Id="R0b117943f710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8f87b4cede4a96" /><Relationship Type="http://schemas.openxmlformats.org/officeDocument/2006/relationships/chart" Target="/ppt/slides/charts/chart4.xml" Id="R9e14e3ed800245ef" /><Relationship Type="http://schemas.openxmlformats.org/officeDocument/2006/relationships/notesSlide" Target="/ppt/notesSlides/notesSlide8.xml" Id="R779525fa0f9749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a3837e133f49da" /><Relationship Type="http://schemas.openxmlformats.org/officeDocument/2006/relationships/notesSlide" Target="/ppt/notesSlides/notesSlide9.xml" Id="R47462f9a09e443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f3b81abfa946ea" /><Relationship Type="http://schemas.openxmlformats.org/officeDocument/2006/relationships/notesSlide" Target="/ppt/notesSlides/notesSlide10.xml" Id="R1fa10cd4f2e441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089d647a0c4a9e" /><Relationship Type="http://schemas.openxmlformats.org/officeDocument/2006/relationships/notesSlide" Target="/ppt/notesSlides/notesSlide11.xml" Id="Rba1430610f204f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172b58d7df422c" /><Relationship Type="http://schemas.openxmlformats.org/officeDocument/2006/relationships/notesSlide" Target="/ppt/notesSlides/notesSlide12.xml" Id="R165f2ef7193d49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2e8eb2a3348ac" /><Relationship Type="http://schemas.openxmlformats.org/officeDocument/2006/relationships/notesSlide" Target="/ppt/notesSlides/notesSlide13.xml" Id="R610c353177674f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7441354be453f" /><Relationship Type="http://schemas.openxmlformats.org/officeDocument/2006/relationships/notesSlide" Target="/ppt/notesSlides/notesSlide14.xml" Id="Rdad606347c2947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d83b861b4f4dd4" /><Relationship Type="http://schemas.openxmlformats.org/officeDocument/2006/relationships/notesSlide" Target="/ppt/notesSlides/notesSlide15.xml" Id="R67e54ed3dc0445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88073835de4872" /><Relationship Type="http://schemas.openxmlformats.org/officeDocument/2006/relationships/chart" Target="/ppt/slides/charts/chart5.xml" Id="R6547892abe9742ac" /><Relationship Type="http://schemas.openxmlformats.org/officeDocument/2006/relationships/notesSlide" Target="/ppt/notesSlides/notesSlide16.xml" Id="R1c7bf0dab00b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579fa013034325" /><Relationship Type="http://schemas.openxmlformats.org/officeDocument/2006/relationships/notesSlide" Target="/ppt/notesSlides/notesSlide17.xml" Id="R2da194ac446f49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ca8776026f4398" /><Relationship Type="http://schemas.openxmlformats.org/officeDocument/2006/relationships/chart" Target="/ppt/slides/charts/chart6.xml" Id="Ra488642cbfec4240" /><Relationship Type="http://schemas.openxmlformats.org/officeDocument/2006/relationships/notesSlide" Target="/ppt/notesSlides/notesSlide18.xml" Id="Rb1e1f6a0b03e4c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de5f72b4784f9c" /><Relationship Type="http://schemas.openxmlformats.org/officeDocument/2006/relationships/chart" Target="/ppt/slides/charts/chart7.xml" Id="R0ff5633a5dcd4345" /><Relationship Type="http://schemas.openxmlformats.org/officeDocument/2006/relationships/notesSlide" Target="/ppt/notesSlides/notesSlide19.xml" Id="Ra0a51564ca014a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2740626e5c4208" /><Relationship Type="http://schemas.openxmlformats.org/officeDocument/2006/relationships/chart" Target="/ppt/slides/charts/chart8.xml" Id="R2e94b38f9023414c" /><Relationship Type="http://schemas.openxmlformats.org/officeDocument/2006/relationships/notesSlide" Target="/ppt/notesSlides/notesSlide20.xml" Id="R0678970d9f424a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f48c06f31dd4998" /><Relationship Type="http://schemas.openxmlformats.org/officeDocument/2006/relationships/notesSlide" Target="/ppt/notesSlides/notesSlide21.xml" Id="Rfb0bffb9a7b3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22f64dbe9e4fdd" /><Relationship Type="http://schemas.openxmlformats.org/officeDocument/2006/relationships/notesSlide" Target="/ppt/notesSlides/notesSlide22.xml" Id="Rf9f82a1d581e49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ce5baac745b4b25" /><Relationship Type="http://schemas.openxmlformats.org/officeDocument/2006/relationships/notesSlide" Target="/ppt/notesSlides/notesSlide23.xml" Id="R81cecc5ef0f94c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Error terms retained for PNA</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model</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78</c:v>
                </c:pt>
                <c:pt idx="1">
                  <c:v>78</c:v>
                </c:pt>
                <c:pt idx="2">
                  <c:v>78</c:v>
                </c:pt>
              </c:numCache>
            </c:numRef>
          </c:val>
        </c:ser>
        <c:ser>
          <c:idx val="1"/>
          <c:order val="1"/>
          <c:tx>
            <c:v>After SLC</c:v>
          </c:tx>
          <c:spPr>
            <a:solidFill xmlns:a="http://schemas.openxmlformats.org/drawingml/2006/main">
              <a:srgbClr val="0F62FE"/>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47</c:v>
                </c:pt>
                <c:pt idx="1">
                  <c:v>52</c:v>
                </c:pt>
                <c:pt idx="2">
                  <c:v>56</c:v>
                </c:pt>
              </c:numCache>
            </c:numRef>
          </c:val>
        </c:ser>
        <c:dLbls>
          <c:delete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Center-qubit X expectation</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c:v>
                </c:pt>
                <c:pt idx="1">
                  <c:v>1×</c:v>
                </c:pt>
                <c:pt idx="2">
                  <c:v>2×</c:v>
                </c:pt>
              </c:strCache>
            </c:strRef>
          </c:cat>
          <c:val>
            <c:numRef>
              <c:f>'Chart Data'!$B$2:$B$4</c:f>
              <c:numCache>
                <c:formatCode>General</c:formatCode>
                <c:ptCount val="3"/>
                <c:pt idx="0">
                  <c:v>0.981</c:v>
                </c:pt>
                <c:pt idx="1">
                  <c:v>0.981</c:v>
                </c:pt>
                <c:pt idx="2">
                  <c:v>0.981</c:v>
                </c:pt>
              </c:numCache>
            </c:numRef>
          </c:val>
          <c:smooth val="0"/>
        </c:ser>
        <c:ser>
          <c:idx val="1"/>
          <c:order val="1"/>
          <c:tx>
            <c:v>Noisy</c:v>
          </c:tx>
          <c:spPr>
            <a:solidFill xmlns:a="http://schemas.openxmlformats.org/drawingml/2006/main">
              <a:srgbClr val="FF832B"/>
            </a:solidFill>
          </c:spPr>
          <c:marker>
            <c:symbol val="none"/>
          </c:marker>
          <c:cat>
            <c:strRef>
              <c:f>'Chart Data'!$C$2:$C$4</c:f>
              <c:strCache>
                <c:ptCount val="3"/>
                <c:pt idx="0">
                  <c:v>0.5×</c:v>
                </c:pt>
                <c:pt idx="1">
                  <c:v>1×</c:v>
                </c:pt>
                <c:pt idx="2">
                  <c:v>2×</c:v>
                </c:pt>
              </c:strCache>
            </c:strRef>
          </c:cat>
          <c:val>
            <c:numRef>
              <c:f>'Chart Data'!$D$2:$D$4</c:f>
              <c:numCache>
                <c:formatCode>General</c:formatCode>
                <c:ptCount val="3"/>
                <c:pt idx="0">
                  <c:v>0.818</c:v>
                </c:pt>
                <c:pt idx="1">
                  <c:v>0.687</c:v>
                </c:pt>
                <c:pt idx="2">
                  <c:v>0.482</c:v>
                </c:pt>
              </c:numCache>
            </c:numRef>
          </c:val>
          <c:smooth val="0"/>
        </c:ser>
        <c:ser>
          <c:idx val="2"/>
          <c:order val="2"/>
          <c:tx>
            <c:v>Full PNA</c:v>
          </c:tx>
          <c:spPr>
            <a:solidFill xmlns:a="http://schemas.openxmlformats.org/drawingml/2006/main">
              <a:srgbClr val="0F62FE"/>
            </a:solidFill>
          </c:spPr>
          <c:marker>
            <c:symbol val="none"/>
          </c:marker>
          <c:cat>
            <c:strRef>
              <c:f>'Chart Data'!$E$2:$E$4</c:f>
              <c:strCache>
                <c:ptCount val="3"/>
                <c:pt idx="0">
                  <c:v>0.5×</c:v>
                </c:pt>
                <c:pt idx="1">
                  <c:v>1×</c:v>
                </c:pt>
                <c:pt idx="2">
                  <c:v>2×</c:v>
                </c:pt>
              </c:strCache>
            </c:strRef>
          </c:cat>
          <c:val>
            <c:numRef>
              <c:f>'Chart Data'!$F$2:$F$4</c:f>
              <c:numCache>
                <c:formatCode>General</c:formatCode>
                <c:ptCount val="3"/>
                <c:pt idx="0">
                  <c:v>0.969</c:v>
                </c:pt>
                <c:pt idx="1">
                  <c:v>0.977</c:v>
                </c:pt>
                <c:pt idx="2">
                  <c:v>0.953</c:v>
                </c:pt>
              </c:numCache>
            </c:numRef>
          </c:val>
          <c:smooth val="0"/>
        </c:ser>
        <c:ser>
          <c:idx val="3"/>
          <c:order val="3"/>
          <c:tx>
            <c:v>SLC + PNA</c:v>
          </c:tx>
          <c:spPr>
            <a:solidFill xmlns:a="http://schemas.openxmlformats.org/drawingml/2006/main">
              <a:srgbClr val="009D9A"/>
            </a:solidFill>
          </c:spPr>
          <c:marker>
            <c:symbol val="none"/>
          </c:marker>
          <c:cat>
            <c:strRef>
              <c:f>'Chart Data'!$G$2:$G$4</c:f>
              <c:strCache>
                <c:ptCount val="3"/>
                <c:pt idx="0">
                  <c:v>0.5×</c:v>
                </c:pt>
                <c:pt idx="1">
                  <c:v>1×</c:v>
                </c:pt>
                <c:pt idx="2">
                  <c:v>2×</c:v>
                </c:pt>
              </c:strCache>
            </c:strRef>
          </c:cat>
          <c:val>
            <c:numRef>
              <c:f>'Chart Data'!$H$2:$H$4</c:f>
              <c:numCache>
                <c:formatCode>General</c:formatCode>
                <c:ptCount val="3"/>
                <c:pt idx="0">
                  <c:v>0.946</c:v>
                </c:pt>
                <c:pt idx="1">
                  <c:v>0.962</c:v>
                </c:pt>
                <c:pt idx="2">
                  <c:v>0.966</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Ideal-state fidelity by noise strength</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 noise</c:v>
                </c:pt>
                <c:pt idx="1">
                  <c:v>1× noise</c:v>
                </c:pt>
                <c:pt idx="2">
                  <c:v>2× noise</c:v>
                </c:pt>
              </c:strCache>
            </c:strRef>
          </c:cat>
          <c:val>
            <c:numRef>
              <c:f>'Chart Data'!$B$2:$B$4</c:f>
              <c:numCache>
                <c:formatCode>0.00</c:formatCode>
                <c:ptCount val="3"/>
                <c:pt idx="0">
                  <c:v>1</c:v>
                </c:pt>
                <c:pt idx="1">
                  <c:v>1</c:v>
                </c:pt>
                <c:pt idx="2">
                  <c:v>1</c:v>
                </c:pt>
              </c:numCache>
            </c:numRef>
          </c:val>
          <c:smooth val="0"/>
        </c:ser>
        <c:ser>
          <c:idx val="1"/>
          <c:order val="1"/>
          <c:tx>
            <c:v>Noisy state</c:v>
          </c:tx>
          <c:spPr>
            <a:solidFill xmlns:a="http://schemas.openxmlformats.org/drawingml/2006/main">
              <a:srgbClr val="8A3FFC"/>
            </a:solidFill>
          </c:spPr>
          <c:marker>
            <c:symbol val="none"/>
          </c:marker>
          <c:cat>
            <c:strRef>
              <c:f>'Chart Data'!$C$2:$C$4</c:f>
              <c:strCache>
                <c:ptCount val="3"/>
                <c:pt idx="0">
                  <c:v>0.5× noise</c:v>
                </c:pt>
                <c:pt idx="1">
                  <c:v>1× noise</c:v>
                </c:pt>
                <c:pt idx="2">
                  <c:v>2× noise</c:v>
                </c:pt>
              </c:strCache>
            </c:strRef>
          </c:cat>
          <c:val>
            <c:numRef>
              <c:f>'Chart Data'!$D$2:$D$4</c:f>
              <c:numCache>
                <c:formatCode>0.00</c:formatCode>
                <c:ptCount val="3"/>
                <c:pt idx="0">
                  <c:v>0.833</c:v>
                </c:pt>
                <c:pt idx="1">
                  <c:v>0.695</c:v>
                </c:pt>
                <c:pt idx="2">
                  <c:v>0.488</c:v>
                </c:pt>
              </c:numCache>
            </c:numRef>
          </c:val>
          <c:smooth val="0"/>
        </c:ser>
        <c:ser>
          <c:idx val="2"/>
          <c:order val="2"/>
          <c:tx>
            <c:v>Full PNA estimate</c:v>
          </c:tx>
          <c:spPr>
            <a:solidFill xmlns:a="http://schemas.openxmlformats.org/drawingml/2006/main">
              <a:srgbClr val="0F62FE"/>
            </a:solidFill>
          </c:spPr>
          <c:marker>
            <c:symbol val="none"/>
          </c:marker>
          <c:cat>
            <c:strRef>
              <c:f>'Chart Data'!$E$2:$E$4</c:f>
              <c:strCache>
                <c:ptCount val="3"/>
                <c:pt idx="0">
                  <c:v>0.5× noise</c:v>
                </c:pt>
                <c:pt idx="1">
                  <c:v>1× noise</c:v>
                </c:pt>
                <c:pt idx="2">
                  <c:v>2× noise</c:v>
                </c:pt>
              </c:strCache>
            </c:strRef>
          </c:cat>
          <c:val>
            <c:numRef>
              <c:f>'Chart Data'!$F$2:$F$4</c:f>
              <c:numCache>
                <c:formatCode>0.00</c:formatCode>
                <c:ptCount val="3"/>
                <c:pt idx="0">
                  <c:v>1.001</c:v>
                </c:pt>
                <c:pt idx="1">
                  <c:v>1.004</c:v>
                </c:pt>
                <c:pt idx="2">
                  <c:v>1.017</c:v>
                </c:pt>
              </c:numCache>
            </c:numRef>
          </c:val>
          <c:smooth val="0"/>
        </c:ser>
        <c:ser>
          <c:idx val="3"/>
          <c:order val="3"/>
          <c:tx>
            <c:v>SLC + PNA estimate</c:v>
          </c:tx>
          <c:spPr>
            <a:solidFill xmlns:a="http://schemas.openxmlformats.org/drawingml/2006/main">
              <a:srgbClr val="009D9A"/>
            </a:solidFill>
          </c:spPr>
          <c:marker>
            <c:symbol val="none"/>
          </c:marker>
          <c:cat>
            <c:strRef>
              <c:f>'Chart Data'!$G$2:$G$4</c:f>
              <c:strCache>
                <c:ptCount val="3"/>
                <c:pt idx="0">
                  <c:v>0.5× noise</c:v>
                </c:pt>
                <c:pt idx="1">
                  <c:v>1× noise</c:v>
                </c:pt>
                <c:pt idx="2">
                  <c:v>2× noise</c:v>
                </c:pt>
              </c:strCache>
            </c:strRef>
          </c:cat>
          <c:val>
            <c:numRef>
              <c:f>'Chart Data'!$H$2:$H$4</c:f>
              <c:numCache>
                <c:formatCode>0.00</c:formatCode>
                <c:ptCount val="3"/>
                <c:pt idx="0">
                  <c:v>0.931</c:v>
                </c:pt>
                <c:pt idx="1">
                  <c:v>0.892</c:v>
                </c:pt>
                <c:pt idx="2">
                  <c:v>0.84</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05"/>
          <c:min val="0.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PNA preprocessing time</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PNA</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1.18</c:v>
                </c:pt>
                <c:pt idx="1">
                  <c:v>1.23</c:v>
                </c:pt>
                <c:pt idx="2">
                  <c:v>1.25</c:v>
                </c:pt>
              </c:numCache>
            </c:numRef>
          </c:val>
        </c:ser>
        <c:ser>
          <c:idx val="1"/>
          <c:order val="1"/>
          <c:tx>
            <c:v>SLC + PNA</c:v>
          </c:tx>
          <c:spPr>
            <a:solidFill xmlns:a="http://schemas.openxmlformats.org/drawingml/2006/main">
              <a:srgbClr val="009D9A"/>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1.11</c:v>
                </c:pt>
                <c:pt idx="1">
                  <c:v>1.12</c:v>
                </c:pt>
                <c:pt idx="2">
                  <c:v>1.15</c:v>
                </c:pt>
              </c:numCache>
            </c:numRef>
          </c:val>
        </c:ser>
        <c:dLbls>
          <c:delete val="0"/>
          <c:numFmt formatCode="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DE1E6"/>
              </a:solidFill>
              <a:prstDash val="solid"/>
            </a:ln>
          </c:spPr>
        </c:majorGridlines>
        <c:title>
          <c:tx>
            <c:rich>
              <a:bodyPr xmlns:a="http://schemas.openxmlformats.org/drawingml/2006/main"/>
              <a:lstStyle xmlns:a="http://schemas.openxmlformats.org/drawingml/2006/main"/>
              <a:p xmlns:a="http://schemas.openxmlformats.org/drawingml/2006/main">
                <a:r>
                  <a:rPr sz="1050">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0F62FE"/>
            </a:solidFill>
          </c:spPr>
          <c:invertIfNegative val="0"/>
          <c:cat>
            <c:strRef>
              <c:f>'Chart Data'!$A$2:$A$4</c:f>
              <c:strCache>
                <c:ptCount val="3"/>
                <c:pt idx="0">
                  <c:v>No checks</c:v>
                </c:pt>
                <c:pt idx="1">
                  <c:v>Checks, no filter</c:v>
                </c:pt>
                <c:pt idx="2">
                  <c:v>Checks + filter</c:v>
                </c:pt>
              </c:strCache>
            </c:strRef>
          </c:cat>
          <c:val>
            <c:numRef>
              <c:f>'Chart Data'!$B$2:$B$4</c:f>
              <c:numCache>
                <c:formatCode>0.00</c:formatCode>
                <c:ptCount val="3"/>
                <c:pt idx="0">
                  <c:v>0.97536</c:v>
                </c:pt>
                <c:pt idx="1">
                  <c:v>0.95597</c:v>
                </c:pt>
                <c:pt idx="2">
                  <c:v>0.98108</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0.99"/>
          <c:min val="0.9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Output-distribution fidelity by check configuration</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Checked, before filtering</c:v>
          </c:tx>
          <c:spPr>
            <a:solidFill xmlns:a="http://schemas.openxmlformats.org/drawingml/2006/main">
              <a:srgbClr val="FF832B"/>
            </a:solidFill>
          </c:spPr>
          <c:marker>
            <c:symbol val="none"/>
          </c:marker>
          <c:cat>
            <c:strRef>
              <c:f>'Chart Data'!$A$2:$A$5</c:f>
              <c:strCache>
                <c:ptCount val="4"/>
                <c:pt idx="0">
                  <c:v>Windowed · 22</c:v>
                </c:pt>
                <c:pt idx="1">
                  <c:v>Genetic 1 · 16</c:v>
                </c:pt>
                <c:pt idx="2">
                  <c:v>Genetic 7 · 9</c:v>
                </c:pt>
                <c:pt idx="3">
                  <c:v>Windowed Gen. · 8</c:v>
                </c:pt>
              </c:strCache>
            </c:strRef>
          </c:cat>
          <c:val>
            <c:numRef>
              <c:f>'Chart Data'!$B$2:$B$5</c:f>
              <c:numCache>
                <c:formatCode>0.00</c:formatCode>
                <c:ptCount val="4"/>
                <c:pt idx="0">
                  <c:v>0.938</c:v>
                </c:pt>
                <c:pt idx="1">
                  <c:v>0.95</c:v>
                </c:pt>
                <c:pt idx="2">
                  <c:v>0.959</c:v>
                </c:pt>
                <c:pt idx="3">
                  <c:v>0.959</c:v>
                </c:pt>
              </c:numCache>
            </c:numRef>
          </c:val>
          <c:smooth val="0"/>
        </c:ser>
        <c:ser>
          <c:idx val="1"/>
          <c:order val="1"/>
          <c:tx>
            <c:v>After post-selection</c:v>
          </c:tx>
          <c:spPr>
            <a:solidFill xmlns:a="http://schemas.openxmlformats.org/drawingml/2006/main">
              <a:srgbClr val="009D9A"/>
            </a:solidFill>
          </c:spPr>
          <c:marker>
            <c:symbol val="none"/>
          </c:marker>
          <c:cat>
            <c:strRef>
              <c:f>'Chart Data'!$C$2:$C$5</c:f>
              <c:strCache>
                <c:ptCount val="4"/>
                <c:pt idx="0">
                  <c:v>Windowed · 22</c:v>
                </c:pt>
                <c:pt idx="1">
                  <c:v>Genetic 1 · 16</c:v>
                </c:pt>
                <c:pt idx="2">
                  <c:v>Genetic 7 · 9</c:v>
                </c:pt>
                <c:pt idx="3">
                  <c:v>Windowed Gen. · 8</c:v>
                </c:pt>
              </c:strCache>
            </c:strRef>
          </c:cat>
          <c:val>
            <c:numRef>
              <c:f>'Chart Data'!$D$2:$D$5</c:f>
              <c:numCache>
                <c:formatCode>0.00</c:formatCode>
                <c:ptCount val="4"/>
                <c:pt idx="0">
                  <c:v>0.971</c:v>
                </c:pt>
                <c:pt idx="1">
                  <c:v>0.97833</c:v>
                </c:pt>
                <c:pt idx="2">
                  <c:v>0.97</c:v>
                </c:pt>
                <c:pt idx="3">
                  <c:v>0.9715</c:v>
                </c:pt>
              </c:numCache>
            </c:numRef>
          </c:val>
          <c:smooth val="0"/>
        </c:ser>
        <c:ser>
          <c:idx val="2"/>
          <c:order val="2"/>
          <c:tx>
            <c:v>No-check baseline</c:v>
          </c:tx>
          <c:spPr>
            <a:solidFill xmlns:a="http://schemas.openxmlformats.org/drawingml/2006/main">
              <a:srgbClr val="525252"/>
            </a:solidFill>
          </c:spPr>
          <c:marker>
            <c:symbol val="none"/>
          </c:marker>
          <c:cat>
            <c:strRef>
              <c:f>'Chart Data'!$E$2:$E$5</c:f>
              <c:strCache>
                <c:ptCount val="4"/>
                <c:pt idx="0">
                  <c:v>Windowed · 22</c:v>
                </c:pt>
                <c:pt idx="1">
                  <c:v>Genetic 1 · 16</c:v>
                </c:pt>
                <c:pt idx="2">
                  <c:v>Genetic 7 · 9</c:v>
                </c:pt>
                <c:pt idx="3">
                  <c:v>Windowed Gen. · 8</c:v>
                </c:pt>
              </c:strCache>
            </c:strRef>
          </c:cat>
          <c:val>
            <c:numRef>
              <c:f>'Chart Data'!$F$2:$F$5</c:f>
              <c:numCache>
                <c:formatCode>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0.99"/>
          <c:min val="0.92"/>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Reported interaction span vs post-selected fidelity</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Configuration</c:v>
          </c:tx>
          <c:spPr>
            <a:solidFill xmlns:a="http://schemas.openxmlformats.org/drawingml/2006/main">
              <a:srgbClr val="8A3FFC"/>
            </a:solidFill>
          </c:spPr>
          <c:marker>
            <c:symbol val="none"/>
          </c:marker>
          <c:cat>
            <c:numRef>
              <c:f>'Chart Data'!$A$2:$A$5</c:f>
              <c:numCache>
                <c:formatCode>General</c:formatCode>
                <c:ptCount val="4"/>
                <c:pt idx="0">
                  <c:v>8</c:v>
                </c:pt>
                <c:pt idx="1">
                  <c:v>9</c:v>
                </c:pt>
                <c:pt idx="2">
                  <c:v>16</c:v>
                </c:pt>
                <c:pt idx="3">
                  <c:v>22</c:v>
                </c:pt>
              </c:numCache>
            </c:numRef>
          </c:cat>
          <c:val>
            <c:numRef>
              <c:f>'Chart Data'!$B$2:$B$5</c:f>
              <c:numCache>
                <c:formatCode>0.000</c:formatCode>
                <c:ptCount val="4"/>
                <c:pt idx="0">
                  <c:v>0.9715</c:v>
                </c:pt>
                <c:pt idx="1">
                  <c:v>0.9702</c:v>
                </c:pt>
                <c:pt idx="2">
                  <c:v>0.97833</c:v>
                </c:pt>
                <c:pt idx="3">
                  <c:v>0.9712</c:v>
                </c:pt>
              </c:numCache>
            </c:numRef>
          </c:val>
          <c:smooth val="0"/>
        </c:ser>
        <c:ser>
          <c:idx val="1"/>
          <c:order val="1"/>
          <c:tx>
            <c:v>No-check baseline</c:v>
          </c:tx>
          <c:spPr>
            <a:solidFill xmlns:a="http://schemas.openxmlformats.org/drawingml/2006/main">
              <a:srgbClr val="525252"/>
            </a:solidFill>
          </c:spPr>
          <c:marker>
            <c:symbol val="none"/>
          </c:marker>
          <c:cat>
            <c:numRef>
              <c:f>'Chart Data'!$C$2:$C$5</c:f>
              <c:numCache>
                <c:formatCode>General</c:formatCode>
                <c:ptCount val="4"/>
                <c:pt idx="0">
                  <c:v>8</c:v>
                </c:pt>
                <c:pt idx="1">
                  <c:v>9</c:v>
                </c:pt>
                <c:pt idx="2">
                  <c:v>16</c:v>
                </c:pt>
                <c:pt idx="3">
                  <c:v>22</c:v>
                </c:pt>
              </c:numCache>
            </c:numRef>
          </c:cat>
          <c:val>
            <c:numRef>
              <c:f>'Chart Data'!$D$2:$D$5</c:f>
              <c:numCache>
                <c:formatCode>0.000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latin typeface="Arial"/>
                    <a:ea typeface="Arial"/>
                    <a:cs typeface="Arial"/>
                  </a:rPr>
                  <a:t>Instruction positions (span)</a:t>
                </a:r>
              </a:p>
            </c:rich>
          </c:tx>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max val="0.981"/>
          <c:min val="0.969"/>
        </c:scaling>
        <c:delete val="0"/>
        <c:axPos val="l"/>
        <c:majorGridlines>
          <c:spPr>
            <a:ln xmlns:a="http://schemas.openxmlformats.org/drawingml/2006/main" w="9525">
              <a:solidFill>
                <a:srgbClr val="DDE1E6"/>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8A3FFC"/>
            </a:solidFill>
          </c:spPr>
          <c:invertIfNegative val="0"/>
          <c:cat>
            <c:strRef>
              <c:f>'Chart Data'!$A$2:$A$3</c:f>
              <c:strCache>
                <c:ptCount val="2"/>
                <c:pt idx="0">
                  <c:v>Clifford-only</c:v>
                </c:pt>
                <c:pt idx="1">
                  <c:v>T-doped</c:v>
                </c:pt>
              </c:strCache>
            </c:strRef>
          </c:cat>
          <c:val>
            <c:numRef>
              <c:f>'Chart Data'!$B$2:$B$3</c:f>
              <c:numCache>
                <c:formatCode>0.00</c:formatCode>
                <c:ptCount val="2"/>
                <c:pt idx="0">
                  <c:v>0.97522</c:v>
                </c:pt>
                <c:pt idx="1">
                  <c:v>0.98104</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0.99"/>
          <c:min val="0.96"/>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4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4859DF-9617-4447-8BD7-30A2AD01B593}"/>
              </a:ext>
            </a:extLst>
          </p:cNvPr>
          <p:cNvSpPr>
            <a:spLocks xmlns:a="http://schemas.openxmlformats.org/drawingml/2006/main" noGrp="1"/>
          </p:cNvSpPr>
          <p:nvPr/>
        </p:nvSpPr>
        <p:spPr>
          <a:xfrm xmlns:a="http://schemas.openxmlformats.org/drawingml/2006/main">
            <a:off x="723900" y="7429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QISKIT FALL FEST 2026 · TRACKS 1 &amp; 2</a:t>
            </a:r>
          </a:p>
        </p:txBody>
      </p:sp>
      <p:sp>
        <p:nvSpPr>
          <p:cNvPr id="2" name="">
            <a:extLst xmlns:a="http://schemas.openxmlformats.org/drawingml/2006/main">
              <a:ext uri="{FF2B5EF4-FFF2-40B4-BE49-F238E27FC236}">
                <a16:creationId xmlns:a16="http://schemas.microsoft.com/office/drawing/2014/main" id="{2E31B2DF-3EFD-41F7-9490-F8949D63EF94}"/>
              </a:ext>
            </a:extLst>
          </p:cNvPr>
          <p:cNvSpPr>
            <a:spLocks xmlns:a="http://schemas.openxmlformats.org/drawingml/2006/main" noGrp="1"/>
          </p:cNvSpPr>
          <p:nvPr/>
        </p:nvSpPr>
        <p:spPr>
          <a:xfrm xmlns:a="http://schemas.openxmlformats.org/drawingml/2006/main">
            <a:off x="723900" y="1657350"/>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61616"/>
                </a:solidFill>
                <a:latin typeface="Arial"/>
                <a:ea typeface="Arial"/>
                <a:cs typeface="Arial"/>
              </a:defRPr>
            </a:defPPr>
            <a:lvl1pPr algn="l">
              <a:defRPr sz="4650" b="1">
                <a:solidFill>
                  <a:srgbClr val="161616"/>
                </a:solidFill>
                <a:latin typeface="Arial"/>
                <a:ea typeface="Arial"/>
                <a:cs typeface="Arial"/>
              </a:defRPr>
            </a:lvl1pPr>
            <a:lvl2pPr algn="l">
              <a:defRPr sz="4650" b="1">
                <a:solidFill>
                  <a:srgbClr val="161616"/>
                </a:solidFill>
                <a:latin typeface="Arial"/>
                <a:ea typeface="Arial"/>
                <a:cs typeface="Arial"/>
              </a:defRPr>
            </a:lvl2pPr>
            <a:lvl3pPr algn="l">
              <a:defRPr sz="4650" b="1">
                <a:solidFill>
                  <a:srgbClr val="161616"/>
                </a:solidFill>
                <a:latin typeface="Arial"/>
                <a:ea typeface="Arial"/>
                <a:cs typeface="Arial"/>
              </a:defRPr>
            </a:lvl3pPr>
            <a:lvl4pPr algn="l">
              <a:defRPr sz="4650" b="1">
                <a:solidFill>
                  <a:srgbClr val="161616"/>
                </a:solidFill>
                <a:latin typeface="Arial"/>
                <a:ea typeface="Arial"/>
                <a:cs typeface="Arial"/>
              </a:defRPr>
            </a:lvl4pPr>
            <a:lvl5pPr algn="l">
              <a:defRPr sz="4650" b="1">
                <a:solidFill>
                  <a:srgbClr val="161616"/>
                </a:solidFill>
                <a:latin typeface="Arial"/>
                <a:ea typeface="Arial"/>
                <a:cs typeface="Arial"/>
              </a:defRPr>
            </a:lvl5pPr>
            <a:lvl6pPr algn="l">
              <a:defRPr sz="4650" b="1">
                <a:solidFill>
                  <a:srgbClr val="161616"/>
                </a:solidFill>
                <a:latin typeface="Arial"/>
                <a:ea typeface="Arial"/>
                <a:cs typeface="Arial"/>
              </a:defRPr>
            </a:lvl6pPr>
            <a:lvl7pPr algn="l">
              <a:defRPr sz="4650" b="1">
                <a:solidFill>
                  <a:srgbClr val="161616"/>
                </a:solidFill>
                <a:latin typeface="Arial"/>
                <a:ea typeface="Arial"/>
                <a:cs typeface="Arial"/>
              </a:defRPr>
            </a:lvl7pPr>
            <a:lvl8pPr algn="l">
              <a:defRPr sz="4650" b="1">
                <a:solidFill>
                  <a:srgbClr val="161616"/>
                </a:solidFill>
                <a:latin typeface="Arial"/>
                <a:ea typeface="Arial"/>
                <a:cs typeface="Arial"/>
              </a:defRPr>
            </a:lvl8pPr>
            <a:lvl9pPr algn="l">
              <a:defRPr sz="4650" b="1">
                <a:solidFill>
                  <a:srgbClr val="161616"/>
                </a:solidFill>
                <a:latin typeface="Arial"/>
                <a:ea typeface="Arial"/>
                <a:cs typeface="Arial"/>
              </a:defRPr>
            </a:lvl9pPr>
          </a:lstStyle>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Making quantum</a:t>
            </a:r>
          </a:p>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results more reliable</a:t>
            </a:r>
          </a:p>
        </p:txBody>
      </p:sp>
      <p:sp>
        <p:nvSpPr>
          <p:cNvPr id="3" name="">
            <a:extLst xmlns:a="http://schemas.openxmlformats.org/drawingml/2006/main">
              <a:ext uri="{FF2B5EF4-FFF2-40B4-BE49-F238E27FC236}">
                <a16:creationId xmlns:a16="http://schemas.microsoft.com/office/drawing/2014/main" id="{E395018B-B70E-413D-A0DA-99CFD91ED240}"/>
              </a:ext>
            </a:extLst>
          </p:cNvPr>
          <p:cNvSpPr>
            <a:spLocks xmlns:a="http://schemas.openxmlformats.org/drawingml/2006/main" noGrp="1"/>
          </p:cNvSpPr>
          <p:nvPr/>
        </p:nvSpPr>
        <p:spPr>
          <a:xfrm xmlns:a="http://schemas.openxmlformats.org/drawingml/2006/main">
            <a:off x="762000" y="3886200"/>
            <a:ext cx="876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525252"/>
                </a:solidFill>
                <a:latin typeface="Arial"/>
                <a:ea typeface="Arial"/>
                <a:cs typeface="Arial"/>
              </a:defRPr>
            </a:defPPr>
            <a:lvl1pPr algn="l">
              <a:defRPr sz="2025" b="0">
                <a:solidFill>
                  <a:srgbClr val="525252"/>
                </a:solidFill>
                <a:latin typeface="Arial"/>
                <a:ea typeface="Arial"/>
                <a:cs typeface="Arial"/>
              </a:defRPr>
            </a:lvl1pPr>
            <a:lvl2pPr algn="l">
              <a:defRPr sz="2025" b="0">
                <a:solidFill>
                  <a:srgbClr val="525252"/>
                </a:solidFill>
                <a:latin typeface="Arial"/>
                <a:ea typeface="Arial"/>
                <a:cs typeface="Arial"/>
              </a:defRPr>
            </a:lvl2pPr>
            <a:lvl3pPr algn="l">
              <a:defRPr sz="2025" b="0">
                <a:solidFill>
                  <a:srgbClr val="525252"/>
                </a:solidFill>
                <a:latin typeface="Arial"/>
                <a:ea typeface="Arial"/>
                <a:cs typeface="Arial"/>
              </a:defRPr>
            </a:lvl3pPr>
            <a:lvl4pPr algn="l">
              <a:defRPr sz="2025" b="0">
                <a:solidFill>
                  <a:srgbClr val="525252"/>
                </a:solidFill>
                <a:latin typeface="Arial"/>
                <a:ea typeface="Arial"/>
                <a:cs typeface="Arial"/>
              </a:defRPr>
            </a:lvl4pPr>
            <a:lvl5pPr algn="l">
              <a:defRPr sz="2025" b="0">
                <a:solidFill>
                  <a:srgbClr val="525252"/>
                </a:solidFill>
                <a:latin typeface="Arial"/>
                <a:ea typeface="Arial"/>
                <a:cs typeface="Arial"/>
              </a:defRPr>
            </a:lvl5pPr>
            <a:lvl6pPr algn="l">
              <a:defRPr sz="2025" b="0">
                <a:solidFill>
                  <a:srgbClr val="525252"/>
                </a:solidFill>
                <a:latin typeface="Arial"/>
                <a:ea typeface="Arial"/>
                <a:cs typeface="Arial"/>
              </a:defRPr>
            </a:lvl6pPr>
            <a:lvl7pPr algn="l">
              <a:defRPr sz="2025" b="0">
                <a:solidFill>
                  <a:srgbClr val="525252"/>
                </a:solidFill>
                <a:latin typeface="Arial"/>
                <a:ea typeface="Arial"/>
                <a:cs typeface="Arial"/>
              </a:defRPr>
            </a:lvl7pPr>
            <a:lvl8pPr algn="l">
              <a:defRPr sz="2025" b="0">
                <a:solidFill>
                  <a:srgbClr val="525252"/>
                </a:solidFill>
                <a:latin typeface="Arial"/>
                <a:ea typeface="Arial"/>
                <a:cs typeface="Arial"/>
              </a:defRPr>
            </a:lvl8pPr>
            <a:lvl9pPr algn="l">
              <a:defRPr sz="2025" b="0">
                <a:solidFill>
                  <a:srgbClr val="525252"/>
                </a:solidFill>
                <a:latin typeface="Arial"/>
                <a:ea typeface="Arial"/>
                <a:cs typeface="Arial"/>
              </a:defRPr>
            </a:lvl9pPr>
          </a:lstStyle>
          <a:p xmlns:a="http://schemas.openxmlformats.org/drawingml/2006/main">
            <a:pPr algn="l">
              <a:defRPr sz="2025" b="0">
                <a:solidFill>
                  <a:srgbClr val="525252"/>
                </a:solidFill>
                <a:latin typeface="Arial"/>
                <a:ea typeface="Arial"/>
                <a:cs typeface="Arial"/>
              </a:defRPr>
            </a:pPr>
            <a:r>
              <a:rPr sz="2025" b="0">
                <a:solidFill>
                  <a:srgbClr val="525252"/>
                </a:solidFill>
                <a:latin typeface="Arial"/>
                <a:ea typeface="Arial"/>
                <a:cs typeface="Arial"/>
              </a:rPr>
              <a:t>Two quantum error studies: spacetime-check post-selection and SLC/PNA mitigation</a:t>
            </a:r>
          </a:p>
        </p:txBody>
      </p:sp>
      <p:sp>
        <p:nvSpPr>
          <p:cNvPr id="4" name="">
            <a:extLst xmlns:a="http://schemas.openxmlformats.org/drawingml/2006/main">
              <a:ext uri="{FF2B5EF4-FFF2-40B4-BE49-F238E27FC236}">
                <a16:creationId xmlns:a16="http://schemas.microsoft.com/office/drawing/2014/main" id="{856CF124-E6F8-4835-9684-78D95A77E79B}"/>
              </a:ext>
            </a:extLst>
          </p:cNvPr>
          <p:cNvSpPr>
            <a:spLocks xmlns:a="http://schemas.openxmlformats.org/drawingml/2006/main" noGrp="1"/>
          </p:cNvSpPr>
          <p:nvPr/>
        </p:nvSpPr>
        <p:spPr>
          <a:xfrm xmlns:a="http://schemas.openxmlformats.org/drawingml/2006/main">
            <a:off x="762000" y="52197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61616"/>
                </a:solidFill>
                <a:latin typeface="Arial"/>
                <a:ea typeface="Arial"/>
                <a:cs typeface="Arial"/>
              </a:defRPr>
            </a:defPPr>
            <a:lvl1pPr algn="l">
              <a:defRPr sz="1650" b="1">
                <a:solidFill>
                  <a:srgbClr val="161616"/>
                </a:solidFill>
                <a:latin typeface="Arial"/>
                <a:ea typeface="Arial"/>
                <a:cs typeface="Arial"/>
              </a:defRPr>
            </a:lvl1pPr>
            <a:lvl2pPr algn="l">
              <a:defRPr sz="1650" b="1">
                <a:solidFill>
                  <a:srgbClr val="161616"/>
                </a:solidFill>
                <a:latin typeface="Arial"/>
                <a:ea typeface="Arial"/>
                <a:cs typeface="Arial"/>
              </a:defRPr>
            </a:lvl2pPr>
            <a:lvl3pPr algn="l">
              <a:defRPr sz="1650" b="1">
                <a:solidFill>
                  <a:srgbClr val="161616"/>
                </a:solidFill>
                <a:latin typeface="Arial"/>
                <a:ea typeface="Arial"/>
                <a:cs typeface="Arial"/>
              </a:defRPr>
            </a:lvl3pPr>
            <a:lvl4pPr algn="l">
              <a:defRPr sz="1650" b="1">
                <a:solidFill>
                  <a:srgbClr val="161616"/>
                </a:solidFill>
                <a:latin typeface="Arial"/>
                <a:ea typeface="Arial"/>
                <a:cs typeface="Arial"/>
              </a:defRPr>
            </a:lvl4pPr>
            <a:lvl5pPr algn="l">
              <a:defRPr sz="1650" b="1">
                <a:solidFill>
                  <a:srgbClr val="161616"/>
                </a:solidFill>
                <a:latin typeface="Arial"/>
                <a:ea typeface="Arial"/>
                <a:cs typeface="Arial"/>
              </a:defRPr>
            </a:lvl5pPr>
            <a:lvl6pPr algn="l">
              <a:defRPr sz="1650" b="1">
                <a:solidFill>
                  <a:srgbClr val="161616"/>
                </a:solidFill>
                <a:latin typeface="Arial"/>
                <a:ea typeface="Arial"/>
                <a:cs typeface="Arial"/>
              </a:defRPr>
            </a:lvl6pPr>
            <a:lvl7pPr algn="l">
              <a:defRPr sz="1650" b="1">
                <a:solidFill>
                  <a:srgbClr val="161616"/>
                </a:solidFill>
                <a:latin typeface="Arial"/>
                <a:ea typeface="Arial"/>
                <a:cs typeface="Arial"/>
              </a:defRPr>
            </a:lvl7pPr>
            <a:lvl8pPr algn="l">
              <a:defRPr sz="1650" b="1">
                <a:solidFill>
                  <a:srgbClr val="161616"/>
                </a:solidFill>
                <a:latin typeface="Arial"/>
                <a:ea typeface="Arial"/>
                <a:cs typeface="Arial"/>
              </a:defRPr>
            </a:lvl8pPr>
            <a:lvl9pPr algn="l">
              <a:defRPr sz="1650" b="1">
                <a:solidFill>
                  <a:srgbClr val="161616"/>
                </a:solidFill>
                <a:latin typeface="Arial"/>
                <a:ea typeface="Arial"/>
                <a:cs typeface="Arial"/>
              </a:defRPr>
            </a:lvl9pPr>
          </a:lstStyle>
          <a:p xmlns:a="http://schemas.openxmlformats.org/drawingml/2006/main">
            <a:pPr algn="l">
              <a:defRPr sz="1650" b="1">
                <a:solidFill>
                  <a:srgbClr val="161616"/>
                </a:solidFill>
                <a:latin typeface="Arial"/>
                <a:ea typeface="Arial"/>
                <a:cs typeface="Arial"/>
              </a:defRPr>
            </a:pPr>
            <a:r>
              <a:rPr sz="1650" b="1">
                <a:solidFill>
                  <a:srgbClr val="161616"/>
                </a:solidFill>
                <a:latin typeface="Arial"/>
                <a:ea typeface="Arial"/>
                <a:cs typeface="Arial"/>
              </a:rPr>
              <a:t>Track 1: Pauli checks · Track 2: five-qubit SLC + PNA</a:t>
            </a:r>
          </a:p>
        </p:txBody>
      </p:sp>
    </p:spTree>
    <p:extLst>
      <p:ext uri="{BB962C8B-B14F-4D97-AF65-F5344CB8AC3E}">
        <p14:creationId xmlns:p14="http://schemas.microsoft.com/office/powerpoint/2010/main" val="12381505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ED4BE3-0980-40F9-AE3E-B12B3926FB9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049BF06F-52CD-4F06-8BC0-44F3F614E15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basic idea</a:t>
            </a:r>
          </a:p>
        </p:txBody>
      </p:sp>
      <p:sp>
        <p:nvSpPr>
          <p:cNvPr id="3" name="">
            <a:extLst xmlns:a="http://schemas.openxmlformats.org/drawingml/2006/main">
              <a:ext uri="{FF2B5EF4-FFF2-40B4-BE49-F238E27FC236}">
                <a16:creationId xmlns:a16="http://schemas.microsoft.com/office/drawing/2014/main" id="{2D1657AC-AF21-49A7-A455-CBA6506D9F6A}"/>
              </a:ext>
            </a:extLst>
          </p:cNvPr>
          <p:cNvSpPr>
            <a:spLocks xmlns:a="http://schemas.openxmlformats.org/drawingml/2006/main" noGrp="1"/>
          </p:cNvSpPr>
          <p:nvPr/>
        </p:nvSpPr>
        <p:spPr>
          <a:xfrm xmlns:a="http://schemas.openxmlformats.org/drawingml/2006/main">
            <a:off x="647700" y="169545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1"/>
          </a:bodyPr>
          <a:lstStyle xmlns:a="http://schemas.openxmlformats.org/drawingml/2006/main">
            <a:defPPr algn="l">
              <a:defRPr sz="2175" b="1">
                <a:solidFill>
                  <a:srgbClr val="161616"/>
                </a:solidFill>
                <a:latin typeface="Arial"/>
                <a:ea typeface="Arial"/>
                <a:cs typeface="Arial"/>
              </a:defRPr>
            </a:defPPr>
            <a:lvl1pPr algn="l">
              <a:defRPr sz="2175" b="1">
                <a:solidFill>
                  <a:srgbClr val="161616"/>
                </a:solidFill>
                <a:latin typeface="Arial"/>
                <a:ea typeface="Arial"/>
                <a:cs typeface="Arial"/>
              </a:defRPr>
            </a:lvl1pPr>
            <a:lvl2pPr algn="l">
              <a:defRPr sz="2175" b="1">
                <a:solidFill>
                  <a:srgbClr val="161616"/>
                </a:solidFill>
                <a:latin typeface="Arial"/>
                <a:ea typeface="Arial"/>
                <a:cs typeface="Arial"/>
              </a:defRPr>
            </a:lvl2pPr>
            <a:lvl3pPr algn="l">
              <a:defRPr sz="2175" b="1">
                <a:solidFill>
                  <a:srgbClr val="161616"/>
                </a:solidFill>
                <a:latin typeface="Arial"/>
                <a:ea typeface="Arial"/>
                <a:cs typeface="Arial"/>
              </a:defRPr>
            </a:lvl3pPr>
            <a:lvl4pPr algn="l">
              <a:defRPr sz="2175" b="1">
                <a:solidFill>
                  <a:srgbClr val="161616"/>
                </a:solidFill>
                <a:latin typeface="Arial"/>
                <a:ea typeface="Arial"/>
                <a:cs typeface="Arial"/>
              </a:defRPr>
            </a:lvl4pPr>
            <a:lvl5pPr algn="l">
              <a:defRPr sz="2175" b="1">
                <a:solidFill>
                  <a:srgbClr val="161616"/>
                </a:solidFill>
                <a:latin typeface="Arial"/>
                <a:ea typeface="Arial"/>
                <a:cs typeface="Arial"/>
              </a:defRPr>
            </a:lvl5pPr>
            <a:lvl6pPr algn="l">
              <a:defRPr sz="2175" b="1">
                <a:solidFill>
                  <a:srgbClr val="161616"/>
                </a:solidFill>
                <a:latin typeface="Arial"/>
                <a:ea typeface="Arial"/>
                <a:cs typeface="Arial"/>
              </a:defRPr>
            </a:lvl6pPr>
            <a:lvl7pPr algn="l">
              <a:defRPr sz="2175" b="1">
                <a:solidFill>
                  <a:srgbClr val="161616"/>
                </a:solidFill>
                <a:latin typeface="Arial"/>
                <a:ea typeface="Arial"/>
                <a:cs typeface="Arial"/>
              </a:defRPr>
            </a:lvl7pPr>
            <a:lvl8pPr algn="l">
              <a:defRPr sz="2175" b="1">
                <a:solidFill>
                  <a:srgbClr val="161616"/>
                </a:solidFill>
                <a:latin typeface="Arial"/>
                <a:ea typeface="Arial"/>
                <a:cs typeface="Arial"/>
              </a:defRPr>
            </a:lvl8pPr>
            <a:lvl9pPr algn="l">
              <a:defRPr sz="2175" b="1">
                <a:solidFill>
                  <a:srgbClr val="161616"/>
                </a:solidFill>
                <a:latin typeface="Arial"/>
                <a:ea typeface="Arial"/>
                <a:cs typeface="Arial"/>
              </a:defRPr>
            </a:lvl9pPr>
          </a:lstStyle>
          <a:p xmlns:a="http://schemas.openxmlformats.org/drawingml/2006/main">
            <a:pPr algn="l">
              <a:defRPr sz="2175" b="1">
                <a:solidFill>
                  <a:srgbClr val="161616"/>
                </a:solidFill>
                <a:latin typeface="Arial"/>
                <a:ea typeface="Arial"/>
                <a:cs typeface="Arial"/>
              </a:defRPr>
            </a:pPr>
            <a:r>
              <a:rPr sz="2175" b="1">
                <a:solidFill>
                  <a:srgbClr val="161616"/>
                </a:solidFill>
                <a:latin typeface="Arial"/>
                <a:ea typeface="Arial"/>
                <a:cs typeface="Arial"/>
              </a:rPr>
              <a:t>A qubit stores quantum information. A gate changes it. Noise makes gates imperfect.</a:t>
            </a:r>
          </a:p>
        </p:txBody>
      </p:sp>
      <p:sp>
        <p:nvSpPr>
          <p:cNvPr id="4" name="">
            <a:extLst xmlns:a="http://schemas.openxmlformats.org/drawingml/2006/main">
              <a:ext uri="{FF2B5EF4-FFF2-40B4-BE49-F238E27FC236}">
                <a16:creationId xmlns:a16="http://schemas.microsoft.com/office/drawing/2014/main" id="{3F39271C-662E-44E0-B61E-598018E709C5}"/>
              </a:ext>
            </a:extLst>
          </p:cNvPr>
          <p:cNvSpPr>
            <a:spLocks xmlns:a="http://schemas.openxmlformats.org/drawingml/2006/main" noGrp="1"/>
          </p:cNvSpPr>
          <p:nvPr/>
        </p:nvSpPr>
        <p:spPr>
          <a:xfrm xmlns:a="http://schemas.openxmlformats.org/drawingml/2006/main">
            <a:off x="6858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QUBIT</a:t>
            </a:r>
          </a:p>
        </p:txBody>
      </p:sp>
      <p:sp>
        <p:nvSpPr>
          <p:cNvPr id="5" name="">
            <a:extLst xmlns:a="http://schemas.openxmlformats.org/drawingml/2006/main">
              <a:ext uri="{FF2B5EF4-FFF2-40B4-BE49-F238E27FC236}">
                <a16:creationId xmlns:a16="http://schemas.microsoft.com/office/drawing/2014/main" id="{ACCBCF4C-3878-47AD-A30C-1DB28F0373B9}"/>
              </a:ext>
            </a:extLst>
          </p:cNvPr>
          <p:cNvSpPr>
            <a:spLocks xmlns:a="http://schemas.openxmlformats.org/drawingml/2006/main" noGrp="1"/>
          </p:cNvSpPr>
          <p:nvPr/>
        </p:nvSpPr>
        <p:spPr>
          <a:xfrm xmlns:a="http://schemas.openxmlformats.org/drawingml/2006/main">
            <a:off x="685800" y="3219450"/>
            <a:ext cx="262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The quantum version of a bit.</a:t>
            </a:r>
          </a:p>
        </p:txBody>
      </p:sp>
      <p:sp>
        <p:nvSpPr>
          <p:cNvPr id="6" name="">
            <a:extLst xmlns:a="http://schemas.openxmlformats.org/drawingml/2006/main">
              <a:ext uri="{FF2B5EF4-FFF2-40B4-BE49-F238E27FC236}">
                <a16:creationId xmlns:a16="http://schemas.microsoft.com/office/drawing/2014/main" id="{09C34E20-C5E6-4DEC-95BC-D65070B4D245}"/>
              </a:ext>
            </a:extLst>
          </p:cNvPr>
          <p:cNvSpPr>
            <a:spLocks xmlns:a="http://schemas.openxmlformats.org/drawingml/2006/main" noGrp="1"/>
          </p:cNvSpPr>
          <p:nvPr/>
        </p:nvSpPr>
        <p:spPr>
          <a:xfrm xmlns:a="http://schemas.openxmlformats.org/drawingml/2006/main">
            <a:off x="409575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GATE</a:t>
            </a:r>
          </a:p>
        </p:txBody>
      </p:sp>
      <p:sp>
        <p:nvSpPr>
          <p:cNvPr id="7" name="">
            <a:extLst xmlns:a="http://schemas.openxmlformats.org/drawingml/2006/main">
              <a:ext uri="{FF2B5EF4-FFF2-40B4-BE49-F238E27FC236}">
                <a16:creationId xmlns:a16="http://schemas.microsoft.com/office/drawing/2014/main" id="{1C0E8B84-F160-46B5-A551-CDB604CA78E4}"/>
              </a:ext>
            </a:extLst>
          </p:cNvPr>
          <p:cNvSpPr>
            <a:spLocks xmlns:a="http://schemas.openxmlformats.org/drawingml/2006/main" noGrp="1"/>
          </p:cNvSpPr>
          <p:nvPr/>
        </p:nvSpPr>
        <p:spPr>
          <a:xfrm xmlns:a="http://schemas.openxmlformats.org/drawingml/2006/main">
            <a:off x="4095750" y="3219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 operation applied to one or more qubits.</a:t>
            </a:r>
          </a:p>
        </p:txBody>
      </p:sp>
      <p:sp>
        <p:nvSpPr>
          <p:cNvPr id="8" name="">
            <a:extLst xmlns:a="http://schemas.openxmlformats.org/drawingml/2006/main">
              <a:ext uri="{FF2B5EF4-FFF2-40B4-BE49-F238E27FC236}">
                <a16:creationId xmlns:a16="http://schemas.microsoft.com/office/drawing/2014/main" id="{B6A8B645-B151-4795-AAA8-23BFB17DF999}"/>
              </a:ext>
            </a:extLst>
          </p:cNvPr>
          <p:cNvSpPr>
            <a:spLocks xmlns:a="http://schemas.openxmlformats.org/drawingml/2006/main" noGrp="1"/>
          </p:cNvSpPr>
          <p:nvPr/>
        </p:nvSpPr>
        <p:spPr>
          <a:xfrm xmlns:a="http://schemas.openxmlformats.org/drawingml/2006/main">
            <a:off x="78105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NOISE</a:t>
            </a:r>
          </a:p>
        </p:txBody>
      </p:sp>
      <p:sp>
        <p:nvSpPr>
          <p:cNvPr id="9" name="">
            <a:extLst xmlns:a="http://schemas.openxmlformats.org/drawingml/2006/main">
              <a:ext uri="{FF2B5EF4-FFF2-40B4-BE49-F238E27FC236}">
                <a16:creationId xmlns:a16="http://schemas.microsoft.com/office/drawing/2014/main" id="{64D3210B-6C0A-4AB8-AE9D-8892F13B7958}"/>
              </a:ext>
            </a:extLst>
          </p:cNvPr>
          <p:cNvSpPr>
            <a:spLocks xmlns:a="http://schemas.openxmlformats.org/drawingml/2006/main" noGrp="1"/>
          </p:cNvSpPr>
          <p:nvPr/>
        </p:nvSpPr>
        <p:spPr>
          <a:xfrm xmlns:a="http://schemas.openxmlformats.org/drawingml/2006/main">
            <a:off x="7810500" y="3219450"/>
            <a:ext cx="3095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 small unwanted change during an operation.</a:t>
            </a:r>
          </a:p>
        </p:txBody>
      </p:sp>
      <p:sp>
        <p:nvSpPr>
          <p:cNvPr id="10" name="">
            <a:extLst xmlns:a="http://schemas.openxmlformats.org/drawingml/2006/main">
              <a:ext uri="{FF2B5EF4-FFF2-40B4-BE49-F238E27FC236}">
                <a16:creationId xmlns:a16="http://schemas.microsoft.com/office/drawing/2014/main" id="{5DA512F3-4680-4C55-92C6-41FFC508C61C}"/>
              </a:ext>
            </a:extLst>
          </p:cNvPr>
          <p:cNvSpPr>
            <a:spLocks xmlns:a="http://schemas.openxmlformats.org/drawingml/2006/main" noGrp="1"/>
          </p:cNvSpPr>
          <p:nvPr/>
        </p:nvSpPr>
        <p:spPr>
          <a:xfrm xmlns:a="http://schemas.openxmlformats.org/drawingml/2006/main">
            <a:off x="685800" y="49530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5252"/>
                </a:solidFill>
                <a:latin typeface="Arial"/>
                <a:ea typeface="Arial"/>
                <a:cs typeface="Arial"/>
              </a:defRPr>
            </a:defPPr>
            <a:lvl1pPr algn="l">
              <a:defRPr sz="1800" b="0">
                <a:solidFill>
                  <a:srgbClr val="525252"/>
                </a:solidFill>
                <a:latin typeface="Arial"/>
                <a:ea typeface="Arial"/>
                <a:cs typeface="Arial"/>
              </a:defRPr>
            </a:lvl1pPr>
            <a:lvl2pPr algn="l">
              <a:defRPr sz="1800" b="0">
                <a:solidFill>
                  <a:srgbClr val="525252"/>
                </a:solidFill>
                <a:latin typeface="Arial"/>
                <a:ea typeface="Arial"/>
                <a:cs typeface="Arial"/>
              </a:defRPr>
            </a:lvl2pPr>
            <a:lvl3pPr algn="l">
              <a:defRPr sz="1800" b="0">
                <a:solidFill>
                  <a:srgbClr val="525252"/>
                </a:solidFill>
                <a:latin typeface="Arial"/>
                <a:ea typeface="Arial"/>
                <a:cs typeface="Arial"/>
              </a:defRPr>
            </a:lvl3pPr>
            <a:lvl4pPr algn="l">
              <a:defRPr sz="1800" b="0">
                <a:solidFill>
                  <a:srgbClr val="525252"/>
                </a:solidFill>
                <a:latin typeface="Arial"/>
                <a:ea typeface="Arial"/>
                <a:cs typeface="Arial"/>
              </a:defRPr>
            </a:lvl4pPr>
            <a:lvl5pPr algn="l">
              <a:defRPr sz="1800" b="0">
                <a:solidFill>
                  <a:srgbClr val="525252"/>
                </a:solidFill>
                <a:latin typeface="Arial"/>
                <a:ea typeface="Arial"/>
                <a:cs typeface="Arial"/>
              </a:defRPr>
            </a:lvl5pPr>
            <a:lvl6pPr algn="l">
              <a:defRPr sz="1800" b="0">
                <a:solidFill>
                  <a:srgbClr val="525252"/>
                </a:solidFill>
                <a:latin typeface="Arial"/>
                <a:ea typeface="Arial"/>
                <a:cs typeface="Arial"/>
              </a:defRPr>
            </a:lvl6pPr>
            <a:lvl7pPr algn="l">
              <a:defRPr sz="1800" b="0">
                <a:solidFill>
                  <a:srgbClr val="525252"/>
                </a:solidFill>
                <a:latin typeface="Arial"/>
                <a:ea typeface="Arial"/>
                <a:cs typeface="Arial"/>
              </a:defRPr>
            </a:lvl7pPr>
            <a:lvl8pPr algn="l">
              <a:defRPr sz="1800" b="0">
                <a:solidFill>
                  <a:srgbClr val="525252"/>
                </a:solidFill>
                <a:latin typeface="Arial"/>
                <a:ea typeface="Arial"/>
                <a:cs typeface="Arial"/>
              </a:defRPr>
            </a:lvl8pPr>
            <a:lvl9pPr algn="l">
              <a:defRPr sz="1800" b="0">
                <a:solidFill>
                  <a:srgbClr val="525252"/>
                </a:solidFill>
                <a:latin typeface="Arial"/>
                <a:ea typeface="Arial"/>
                <a:cs typeface="Arial"/>
              </a:defRPr>
            </a:lvl9pPr>
          </a:lstStyle>
          <a:p xmlns:a="http://schemas.openxmlformats.org/drawingml/2006/main">
            <a:pPr algn="l">
              <a:defRPr sz="1800" b="0">
                <a:solidFill>
                  <a:srgbClr val="525252"/>
                </a:solidFill>
                <a:latin typeface="Arial"/>
                <a:ea typeface="Arial"/>
                <a:cs typeface="Arial"/>
              </a:defRPr>
            </a:pPr>
            <a:r>
              <a:rPr sz="1800" b="0">
                <a:solidFill>
                  <a:srgbClr val="525252"/>
                </a:solidFill>
                <a:latin typeface="Arial"/>
                <a:ea typeface="Arial"/>
                <a:cs typeface="Arial"/>
              </a:rPr>
              <a:t>We repeat the same calculation many times and compare the average result with an ideal reference.</a:t>
            </a:r>
          </a:p>
        </p:txBody>
      </p:sp>
    </p:spTree>
    <p:extLst>
      <p:ext uri="{BB962C8B-B14F-4D97-AF65-F5344CB8AC3E}">
        <p14:creationId xmlns:p14="http://schemas.microsoft.com/office/powerpoint/2010/main" val="1697636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42D75A-F2E7-4615-8629-BB7E5693EA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C2E7615-2D0B-4446-8FC2-E8CD24394FA8}"/>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experiment</a:t>
            </a:r>
          </a:p>
        </p:txBody>
      </p:sp>
      <p:sp>
        <p:nvSpPr>
          <p:cNvPr id="3" name="">
            <a:extLst xmlns:a="http://schemas.openxmlformats.org/drawingml/2006/main">
              <a:ext uri="{FF2B5EF4-FFF2-40B4-BE49-F238E27FC236}">
                <a16:creationId xmlns:a16="http://schemas.microsoft.com/office/drawing/2014/main" id="{A4C34D37-4954-403B-93FE-56AAFF18279D}"/>
              </a:ext>
            </a:extLst>
          </p:cNvPr>
          <p:cNvSpPr>
            <a:spLocks xmlns:a="http://schemas.openxmlformats.org/drawingml/2006/main" noGrp="1"/>
          </p:cNvSpPr>
          <p:nvPr/>
        </p:nvSpPr>
        <p:spPr>
          <a:xfrm xmlns:a="http://schemas.openxmlformats.org/drawingml/2006/main">
            <a:off x="685800" y="1781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Circuit</a:t>
            </a:r>
          </a:p>
        </p:txBody>
      </p:sp>
      <p:sp>
        <p:nvSpPr>
          <p:cNvPr id="4" name="">
            <a:extLst xmlns:a="http://schemas.openxmlformats.org/drawingml/2006/main">
              <a:ext uri="{FF2B5EF4-FFF2-40B4-BE49-F238E27FC236}">
                <a16:creationId xmlns:a16="http://schemas.microsoft.com/office/drawing/2014/main" id="{5A6D0FDF-C15F-4B61-B40B-FD8833BB4288}"/>
              </a:ext>
            </a:extLst>
          </p:cNvPr>
          <p:cNvSpPr>
            <a:spLocks xmlns:a="http://schemas.openxmlformats.org/drawingml/2006/main" noGrp="1"/>
          </p:cNvSpPr>
          <p:nvPr/>
        </p:nvSpPr>
        <p:spPr>
          <a:xfrm xmlns:a="http://schemas.openxmlformats.org/drawingml/2006/main">
            <a:off x="685800" y="21526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61616"/>
                </a:solidFill>
                <a:latin typeface="Arial"/>
                <a:ea typeface="Arial"/>
                <a:cs typeface="Arial"/>
              </a:defRPr>
            </a:defPPr>
            <a:lvl1pPr algn="l">
              <a:defRPr sz="1950" b="0">
                <a:solidFill>
                  <a:srgbClr val="161616"/>
                </a:solidFill>
                <a:latin typeface="Arial"/>
                <a:ea typeface="Arial"/>
                <a:cs typeface="Arial"/>
              </a:defRPr>
            </a:lvl1pPr>
            <a:lvl2pPr algn="l">
              <a:defRPr sz="1950" b="0">
                <a:solidFill>
                  <a:srgbClr val="161616"/>
                </a:solidFill>
                <a:latin typeface="Arial"/>
                <a:ea typeface="Arial"/>
                <a:cs typeface="Arial"/>
              </a:defRPr>
            </a:lvl2pPr>
            <a:lvl3pPr algn="l">
              <a:defRPr sz="1950" b="0">
                <a:solidFill>
                  <a:srgbClr val="161616"/>
                </a:solidFill>
                <a:latin typeface="Arial"/>
                <a:ea typeface="Arial"/>
                <a:cs typeface="Arial"/>
              </a:defRPr>
            </a:lvl3pPr>
            <a:lvl4pPr algn="l">
              <a:defRPr sz="1950" b="0">
                <a:solidFill>
                  <a:srgbClr val="161616"/>
                </a:solidFill>
                <a:latin typeface="Arial"/>
                <a:ea typeface="Arial"/>
                <a:cs typeface="Arial"/>
              </a:defRPr>
            </a:lvl4pPr>
            <a:lvl5pPr algn="l">
              <a:defRPr sz="1950" b="0">
                <a:solidFill>
                  <a:srgbClr val="161616"/>
                </a:solidFill>
                <a:latin typeface="Arial"/>
                <a:ea typeface="Arial"/>
                <a:cs typeface="Arial"/>
              </a:defRPr>
            </a:lvl5pPr>
            <a:lvl6pPr algn="l">
              <a:defRPr sz="1950" b="0">
                <a:solidFill>
                  <a:srgbClr val="161616"/>
                </a:solidFill>
                <a:latin typeface="Arial"/>
                <a:ea typeface="Arial"/>
                <a:cs typeface="Arial"/>
              </a:defRPr>
            </a:lvl6pPr>
            <a:lvl7pPr algn="l">
              <a:defRPr sz="1950" b="0">
                <a:solidFill>
                  <a:srgbClr val="161616"/>
                </a:solidFill>
                <a:latin typeface="Arial"/>
                <a:ea typeface="Arial"/>
                <a:cs typeface="Arial"/>
              </a:defRPr>
            </a:lvl7pPr>
            <a:lvl8pPr algn="l">
              <a:defRPr sz="1950" b="0">
                <a:solidFill>
                  <a:srgbClr val="161616"/>
                </a:solidFill>
                <a:latin typeface="Arial"/>
                <a:ea typeface="Arial"/>
                <a:cs typeface="Arial"/>
              </a:defRPr>
            </a:lvl8pPr>
            <a:lvl9pPr algn="l">
              <a:defRPr sz="1950" b="0">
                <a:solidFill>
                  <a:srgbClr val="161616"/>
                </a:solidFill>
                <a:latin typeface="Arial"/>
                <a:ea typeface="Arial"/>
                <a:cs typeface="Arial"/>
              </a:defRPr>
            </a:lvl9pPr>
          </a:lstStyle>
          <a:p xmlns:a="http://schemas.openxmlformats.org/drawingml/2006/main">
            <a:pPr algn="l">
              <a:defRPr sz="1950" b="0">
                <a:solidFill>
                  <a:srgbClr val="161616"/>
                </a:solidFill>
                <a:latin typeface="Arial"/>
                <a:ea typeface="Arial"/>
                <a:cs typeface="Arial"/>
              </a:defRPr>
            </a:pPr>
            <a:r>
              <a:rPr sz="1950" b="0">
                <a:solidFill>
                  <a:srgbClr val="161616"/>
                </a:solidFill>
                <a:latin typeface="Arial"/>
                <a:ea typeface="Arial"/>
                <a:cs typeface="Arial"/>
              </a:rPr>
              <a:t>5 qubits in a chain, with 8 CZ entangling gates.</a:t>
            </a:r>
          </a:p>
        </p:txBody>
      </p:sp>
      <p:sp>
        <p:nvSpPr>
          <p:cNvPr id="5" name="">
            <a:extLst xmlns:a="http://schemas.openxmlformats.org/drawingml/2006/main">
              <a:ext uri="{FF2B5EF4-FFF2-40B4-BE49-F238E27FC236}">
                <a16:creationId xmlns:a16="http://schemas.microsoft.com/office/drawing/2014/main" id="{C22C6B21-3D7F-4F75-AC6E-AA1BA5B77E55}"/>
              </a:ext>
            </a:extLst>
          </p:cNvPr>
          <p:cNvSpPr>
            <a:spLocks xmlns:a="http://schemas.openxmlformats.org/drawingml/2006/main" noGrp="1"/>
          </p:cNvSpPr>
          <p:nvPr/>
        </p:nvSpPr>
        <p:spPr>
          <a:xfrm xmlns:a="http://schemas.openxmlformats.org/drawingml/2006/main">
            <a:off x="6381750" y="17811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8ED2DD18-DE9B-41C4-8958-C403A0995506}"/>
              </a:ext>
            </a:extLst>
          </p:cNvPr>
          <p:cNvSpPr>
            <a:spLocks xmlns:a="http://schemas.openxmlformats.org/drawingml/2006/main" noGrp="1"/>
          </p:cNvSpPr>
          <p:nvPr/>
        </p:nvSpPr>
        <p:spPr>
          <a:xfrm xmlns:a="http://schemas.openxmlformats.org/drawingml/2006/main">
            <a:off x="6381750" y="21526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Average X value of the center qubit, estimated with Qiskit’s Estimator primitive.</a:t>
            </a:r>
          </a:p>
        </p:txBody>
      </p:sp>
      <p:sp>
        <p:nvSpPr>
          <p:cNvPr id="7" name="">
            <a:extLst xmlns:a="http://schemas.openxmlformats.org/drawingml/2006/main">
              <a:ext uri="{FF2B5EF4-FFF2-40B4-BE49-F238E27FC236}">
                <a16:creationId xmlns:a16="http://schemas.microsoft.com/office/drawing/2014/main" id="{BC306807-284C-4EE3-A55A-28ED66C7F4AA}"/>
              </a:ext>
            </a:extLst>
          </p:cNvPr>
          <p:cNvSpPr>
            <a:spLocks xmlns:a="http://schemas.openxmlformats.org/drawingml/2006/main" noGrp="1"/>
          </p:cNvSpPr>
          <p:nvPr/>
        </p:nvSpPr>
        <p:spPr>
          <a:xfrm xmlns:a="http://schemas.openxmlformats.org/drawingml/2006/main">
            <a:off x="685800" y="3476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BE578C18-6540-48AE-9149-0F395252F978}"/>
              </a:ext>
            </a:extLst>
          </p:cNvPr>
          <p:cNvSpPr>
            <a:spLocks xmlns:a="http://schemas.openxmlformats.org/drawingml/2006/main" noGrp="1"/>
          </p:cNvSpPr>
          <p:nvPr/>
        </p:nvSpPr>
        <p:spPr>
          <a:xfrm xmlns:a="http://schemas.openxmlformats.org/drawingml/2006/main">
            <a:off x="685800" y="38481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Ideal simulation vs. simulated noisy circuit, then full PNA vs. SLC-selected PNA.</a:t>
            </a:r>
          </a:p>
        </p:txBody>
      </p:sp>
      <p:sp>
        <p:nvSpPr>
          <p:cNvPr id="9" name="">
            <a:extLst xmlns:a="http://schemas.openxmlformats.org/drawingml/2006/main">
              <a:ext uri="{FF2B5EF4-FFF2-40B4-BE49-F238E27FC236}">
                <a16:creationId xmlns:a16="http://schemas.microsoft.com/office/drawing/2014/main" id="{39F6B1BF-A17A-4ACA-B8BB-DF971A708A88}"/>
              </a:ext>
            </a:extLst>
          </p:cNvPr>
          <p:cNvSpPr>
            <a:spLocks xmlns:a="http://schemas.openxmlformats.org/drawingml/2006/main" noGrp="1"/>
          </p:cNvSpPr>
          <p:nvPr/>
        </p:nvSpPr>
        <p:spPr>
          <a:xfrm xmlns:a="http://schemas.openxmlformats.org/drawingml/2006/main">
            <a:off x="6381750" y="3476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Noise levels</a:t>
            </a:r>
          </a:p>
        </p:txBody>
      </p:sp>
      <p:sp>
        <p:nvSpPr>
          <p:cNvPr id="10" name="">
            <a:extLst xmlns:a="http://schemas.openxmlformats.org/drawingml/2006/main">
              <a:ext uri="{FF2B5EF4-FFF2-40B4-BE49-F238E27FC236}">
                <a16:creationId xmlns:a16="http://schemas.microsoft.com/office/drawing/2014/main" id="{DABD3828-15D6-4C15-91D5-07EF0C828121}"/>
              </a:ext>
            </a:extLst>
          </p:cNvPr>
          <p:cNvSpPr>
            <a:spLocks xmlns:a="http://schemas.openxmlformats.org/drawingml/2006/main" noGrp="1"/>
          </p:cNvSpPr>
          <p:nvPr/>
        </p:nvSpPr>
        <p:spPr>
          <a:xfrm xmlns:a="http://schemas.openxmlformats.org/drawingml/2006/main">
            <a:off x="6381750" y="384810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0.5×, 1× and 2× the same modeled error rates.</a:t>
            </a:r>
          </a:p>
        </p:txBody>
      </p:sp>
      <p:sp>
        <p:nvSpPr>
          <p:cNvPr id="11" name="">
            <a:extLst xmlns:a="http://schemas.openxmlformats.org/drawingml/2006/main">
              <a:ext uri="{FF2B5EF4-FFF2-40B4-BE49-F238E27FC236}">
                <a16:creationId xmlns:a16="http://schemas.microsoft.com/office/drawing/2014/main" id="{41E7006F-6204-4B41-AC7B-848B4BB38E13}"/>
              </a:ext>
            </a:extLst>
          </p:cNvPr>
          <p:cNvSpPr>
            <a:spLocks xmlns:a="http://schemas.openxmlformats.org/drawingml/2006/main" noGrp="1"/>
          </p:cNvSpPr>
          <p:nvPr/>
        </p:nvSpPr>
        <p:spPr>
          <a:xfrm xmlns:a="http://schemas.openxmlformats.org/drawingml/2006/main">
            <a:off x="685800" y="5372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State fidelity is calculated directly from the simulator’s density matrix.</a:t>
            </a:r>
          </a:p>
        </p:txBody>
      </p:sp>
    </p:spTree>
    <p:extLst>
      <p:ext uri="{BB962C8B-B14F-4D97-AF65-F5344CB8AC3E}">
        <p14:creationId xmlns:p14="http://schemas.microsoft.com/office/powerpoint/2010/main" val="1065240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E66A6-4E1D-40F0-AFB3-C16D0F1B13B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A1579B3-2844-471A-AEF8-3E646ED35581}"/>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How the tools fit together</a:t>
            </a:r>
          </a:p>
        </p:txBody>
      </p:sp>
      <p:sp>
        <p:nvSpPr>
          <p:cNvPr id="3" name="">
            <a:extLst xmlns:a="http://schemas.openxmlformats.org/drawingml/2006/main">
              <a:ext uri="{FF2B5EF4-FFF2-40B4-BE49-F238E27FC236}">
                <a16:creationId xmlns:a16="http://schemas.microsoft.com/office/drawing/2014/main" id="{3F8BC7C5-BC13-462B-8979-57B5709FCA7B}"/>
              </a:ext>
            </a:extLst>
          </p:cNvPr>
          <p:cNvSpPr>
            <a:spLocks xmlns:a="http://schemas.openxmlformats.org/drawingml/2006/main" noGrp="1"/>
          </p:cNvSpPr>
          <p:nvPr/>
        </p:nvSpPr>
        <p:spPr>
          <a:xfrm xmlns:a="http://schemas.openxmlformats.org/drawingml/2006/main">
            <a:off x="685800" y="1752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62FE"/>
                </a:solidFill>
                <a:latin typeface="Arial"/>
                <a:ea typeface="Arial"/>
                <a:cs typeface="Arial"/>
              </a:defRPr>
            </a:defPPr>
            <a:lvl1pPr algn="l">
              <a:defRPr sz="1875" b="1">
                <a:solidFill>
                  <a:srgbClr val="0F62FE"/>
                </a:solidFill>
                <a:latin typeface="Arial"/>
                <a:ea typeface="Arial"/>
                <a:cs typeface="Arial"/>
              </a:defRPr>
            </a:lvl1pPr>
            <a:lvl2pPr algn="l">
              <a:defRPr sz="1875" b="1">
                <a:solidFill>
                  <a:srgbClr val="0F62FE"/>
                </a:solidFill>
                <a:latin typeface="Arial"/>
                <a:ea typeface="Arial"/>
                <a:cs typeface="Arial"/>
              </a:defRPr>
            </a:lvl2pPr>
            <a:lvl3pPr algn="l">
              <a:defRPr sz="1875" b="1">
                <a:solidFill>
                  <a:srgbClr val="0F62FE"/>
                </a:solidFill>
                <a:latin typeface="Arial"/>
                <a:ea typeface="Arial"/>
                <a:cs typeface="Arial"/>
              </a:defRPr>
            </a:lvl3pPr>
            <a:lvl4pPr algn="l">
              <a:defRPr sz="1875" b="1">
                <a:solidFill>
                  <a:srgbClr val="0F62FE"/>
                </a:solidFill>
                <a:latin typeface="Arial"/>
                <a:ea typeface="Arial"/>
                <a:cs typeface="Arial"/>
              </a:defRPr>
            </a:lvl4pPr>
            <a:lvl5pPr algn="l">
              <a:defRPr sz="1875" b="1">
                <a:solidFill>
                  <a:srgbClr val="0F62FE"/>
                </a:solidFill>
                <a:latin typeface="Arial"/>
                <a:ea typeface="Arial"/>
                <a:cs typeface="Arial"/>
              </a:defRPr>
            </a:lvl5pPr>
            <a:lvl6pPr algn="l">
              <a:defRPr sz="1875" b="1">
                <a:solidFill>
                  <a:srgbClr val="0F62FE"/>
                </a:solidFill>
                <a:latin typeface="Arial"/>
                <a:ea typeface="Arial"/>
                <a:cs typeface="Arial"/>
              </a:defRPr>
            </a:lvl6pPr>
            <a:lvl7pPr algn="l">
              <a:defRPr sz="1875" b="1">
                <a:solidFill>
                  <a:srgbClr val="0F62FE"/>
                </a:solidFill>
                <a:latin typeface="Arial"/>
                <a:ea typeface="Arial"/>
                <a:cs typeface="Arial"/>
              </a:defRPr>
            </a:lvl7pPr>
            <a:lvl8pPr algn="l">
              <a:defRPr sz="1875" b="1">
                <a:solidFill>
                  <a:srgbClr val="0F62FE"/>
                </a:solidFill>
                <a:latin typeface="Arial"/>
                <a:ea typeface="Arial"/>
                <a:cs typeface="Arial"/>
              </a:defRPr>
            </a:lvl8pPr>
            <a:lvl9pPr algn="l">
              <a:defRPr sz="1875" b="1">
                <a:solidFill>
                  <a:srgbClr val="0F62FE"/>
                </a:solidFill>
                <a:latin typeface="Arial"/>
                <a:ea typeface="Arial"/>
                <a:cs typeface="Arial"/>
              </a:defRPr>
            </a:lvl9pPr>
          </a:lstStyle>
          <a:p xmlns:a="http://schemas.openxmlformats.org/drawingml/2006/main">
            <a:pPr algn="l">
              <a:defRPr sz="1875" b="1">
                <a:solidFill>
                  <a:srgbClr val="0F62FE"/>
                </a:solidFill>
                <a:latin typeface="Arial"/>
                <a:ea typeface="Arial"/>
                <a:cs typeface="Arial"/>
              </a:defRPr>
            </a:pPr>
            <a:r>
              <a:rPr sz="1875" b="1">
                <a:solidFill>
                  <a:srgbClr val="0F62FE"/>
                </a:solidFill>
                <a:latin typeface="Arial"/>
                <a:ea typeface="Arial"/>
                <a:cs typeface="Arial"/>
              </a:rPr>
              <a:t>1  Estimate errors</a:t>
            </a:r>
          </a:p>
        </p:txBody>
      </p:sp>
      <p:sp>
        <p:nvSpPr>
          <p:cNvPr id="4" name="">
            <a:extLst xmlns:a="http://schemas.openxmlformats.org/drawingml/2006/main">
              <a:ext uri="{FF2B5EF4-FFF2-40B4-BE49-F238E27FC236}">
                <a16:creationId xmlns:a16="http://schemas.microsoft.com/office/drawing/2014/main" id="{0D6B499D-BBE6-4FA8-B6B0-306951B8A272}"/>
              </a:ext>
            </a:extLst>
          </p:cNvPr>
          <p:cNvSpPr>
            <a:spLocks xmlns:a="http://schemas.openxmlformats.org/drawingml/2006/main" noGrp="1"/>
          </p:cNvSpPr>
          <p:nvPr/>
        </p:nvSpPr>
        <p:spPr>
          <a:xfrm xmlns:a="http://schemas.openxmlformats.org/drawingml/2006/main">
            <a:off x="3714750" y="17526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Use a known, simulated calibration model for this local experiment.</a:t>
            </a:r>
          </a:p>
        </p:txBody>
      </p:sp>
      <p:sp>
        <p:nvSpPr>
          <p:cNvPr id="5" name="">
            <a:extLst xmlns:a="http://schemas.openxmlformats.org/drawingml/2006/main">
              <a:ext uri="{FF2B5EF4-FFF2-40B4-BE49-F238E27FC236}">
                <a16:creationId xmlns:a16="http://schemas.microsoft.com/office/drawing/2014/main" id="{6AF5B9D3-AD14-48A9-A8AB-ACA303C648F3}"/>
              </a:ext>
            </a:extLst>
          </p:cNvPr>
          <p:cNvSpPr>
            <a:spLocks xmlns:a="http://schemas.openxmlformats.org/drawingml/2006/main" noGrp="1"/>
          </p:cNvSpPr>
          <p:nvPr/>
        </p:nvSpPr>
        <p:spPr>
          <a:xfrm xmlns:a="http://schemas.openxmlformats.org/drawingml/2006/main">
            <a:off x="685800" y="24098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2  Focus the work</a:t>
            </a:r>
          </a:p>
        </p:txBody>
      </p:sp>
      <p:sp>
        <p:nvSpPr>
          <p:cNvPr id="6" name="">
            <a:extLst xmlns:a="http://schemas.openxmlformats.org/drawingml/2006/main">
              <a:ext uri="{FF2B5EF4-FFF2-40B4-BE49-F238E27FC236}">
                <a16:creationId xmlns:a16="http://schemas.microsoft.com/office/drawing/2014/main" id="{3F309A19-C9D9-48ED-B0A6-344F65ECFAD3}"/>
              </a:ext>
            </a:extLst>
          </p:cNvPr>
          <p:cNvSpPr>
            <a:spLocks xmlns:a="http://schemas.openxmlformats.org/drawingml/2006/main" noGrp="1"/>
          </p:cNvSpPr>
          <p:nvPr/>
        </p:nvSpPr>
        <p:spPr>
          <a:xfrm xmlns:a="http://schemas.openxmlformats.org/drawingml/2006/main">
            <a:off x="3714750" y="2409825"/>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SLC ranks errors by how much they can affect the chosen measurement.</a:t>
            </a:r>
          </a:p>
        </p:txBody>
      </p:sp>
      <p:sp>
        <p:nvSpPr>
          <p:cNvPr id="7" name="">
            <a:extLst xmlns:a="http://schemas.openxmlformats.org/drawingml/2006/main">
              <a:ext uri="{FF2B5EF4-FFF2-40B4-BE49-F238E27FC236}">
                <a16:creationId xmlns:a16="http://schemas.microsoft.com/office/drawing/2014/main" id="{2DCCF861-1C99-4FF2-82B6-BA966B17AD2C}"/>
              </a:ext>
            </a:extLst>
          </p:cNvPr>
          <p:cNvSpPr>
            <a:spLocks xmlns:a="http://schemas.openxmlformats.org/drawingml/2006/main" noGrp="1"/>
          </p:cNvSpPr>
          <p:nvPr/>
        </p:nvSpPr>
        <p:spPr>
          <a:xfrm xmlns:a="http://schemas.openxmlformats.org/drawingml/2006/main">
            <a:off x="685800" y="3067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8A3FFC"/>
                </a:solidFill>
                <a:latin typeface="Arial"/>
                <a:ea typeface="Arial"/>
                <a:cs typeface="Arial"/>
              </a:defRPr>
            </a:defPPr>
            <a:lvl1pPr algn="l">
              <a:defRPr sz="1875" b="1">
                <a:solidFill>
                  <a:srgbClr val="8A3FFC"/>
                </a:solidFill>
                <a:latin typeface="Arial"/>
                <a:ea typeface="Arial"/>
                <a:cs typeface="Arial"/>
              </a:defRPr>
            </a:lvl1pPr>
            <a:lvl2pPr algn="l">
              <a:defRPr sz="1875" b="1">
                <a:solidFill>
                  <a:srgbClr val="8A3FFC"/>
                </a:solidFill>
                <a:latin typeface="Arial"/>
                <a:ea typeface="Arial"/>
                <a:cs typeface="Arial"/>
              </a:defRPr>
            </a:lvl2pPr>
            <a:lvl3pPr algn="l">
              <a:defRPr sz="1875" b="1">
                <a:solidFill>
                  <a:srgbClr val="8A3FFC"/>
                </a:solidFill>
                <a:latin typeface="Arial"/>
                <a:ea typeface="Arial"/>
                <a:cs typeface="Arial"/>
              </a:defRPr>
            </a:lvl3pPr>
            <a:lvl4pPr algn="l">
              <a:defRPr sz="1875" b="1">
                <a:solidFill>
                  <a:srgbClr val="8A3FFC"/>
                </a:solidFill>
                <a:latin typeface="Arial"/>
                <a:ea typeface="Arial"/>
                <a:cs typeface="Arial"/>
              </a:defRPr>
            </a:lvl4pPr>
            <a:lvl5pPr algn="l">
              <a:defRPr sz="1875" b="1">
                <a:solidFill>
                  <a:srgbClr val="8A3FFC"/>
                </a:solidFill>
                <a:latin typeface="Arial"/>
                <a:ea typeface="Arial"/>
                <a:cs typeface="Arial"/>
              </a:defRPr>
            </a:lvl5pPr>
            <a:lvl6pPr algn="l">
              <a:defRPr sz="1875" b="1">
                <a:solidFill>
                  <a:srgbClr val="8A3FFC"/>
                </a:solidFill>
                <a:latin typeface="Arial"/>
                <a:ea typeface="Arial"/>
                <a:cs typeface="Arial"/>
              </a:defRPr>
            </a:lvl6pPr>
            <a:lvl7pPr algn="l">
              <a:defRPr sz="1875" b="1">
                <a:solidFill>
                  <a:srgbClr val="8A3FFC"/>
                </a:solidFill>
                <a:latin typeface="Arial"/>
                <a:ea typeface="Arial"/>
                <a:cs typeface="Arial"/>
              </a:defRPr>
            </a:lvl7pPr>
            <a:lvl8pPr algn="l">
              <a:defRPr sz="1875" b="1">
                <a:solidFill>
                  <a:srgbClr val="8A3FFC"/>
                </a:solidFill>
                <a:latin typeface="Arial"/>
                <a:ea typeface="Arial"/>
                <a:cs typeface="Arial"/>
              </a:defRPr>
            </a:lvl8pPr>
            <a:lvl9pPr algn="l">
              <a:defRPr sz="1875" b="1">
                <a:solidFill>
                  <a:srgbClr val="8A3FFC"/>
                </a:solidFill>
                <a:latin typeface="Arial"/>
                <a:ea typeface="Arial"/>
                <a:cs typeface="Arial"/>
              </a:defRPr>
            </a:lvl9pPr>
          </a:lstStyle>
          <a:p xmlns:a="http://schemas.openxmlformats.org/drawingml/2006/main">
            <a:pPr algn="l">
              <a:defRPr sz="1875" b="1">
                <a:solidFill>
                  <a:srgbClr val="8A3FFC"/>
                </a:solidFill>
                <a:latin typeface="Arial"/>
                <a:ea typeface="Arial"/>
                <a:cs typeface="Arial"/>
              </a:defRPr>
            </a:pPr>
            <a:r>
              <a:rPr sz="1875" b="1">
                <a:solidFill>
                  <a:srgbClr val="8A3FFC"/>
                </a:solidFill>
                <a:latin typeface="Arial"/>
                <a:ea typeface="Arial"/>
                <a:cs typeface="Arial"/>
              </a:rPr>
              <a:t>3  Correct the result</a:t>
            </a:r>
          </a:p>
        </p:txBody>
      </p:sp>
      <p:sp>
        <p:nvSpPr>
          <p:cNvPr id="8" name="">
            <a:extLst xmlns:a="http://schemas.openxmlformats.org/drawingml/2006/main">
              <a:ext uri="{FF2B5EF4-FFF2-40B4-BE49-F238E27FC236}">
                <a16:creationId xmlns:a16="http://schemas.microsoft.com/office/drawing/2014/main" id="{1C517B94-E3E3-4D34-B579-4600AB098A58}"/>
              </a:ext>
            </a:extLst>
          </p:cNvPr>
          <p:cNvSpPr>
            <a:spLocks xmlns:a="http://schemas.openxmlformats.org/drawingml/2006/main" noGrp="1"/>
          </p:cNvSpPr>
          <p:nvPr/>
        </p:nvSpPr>
        <p:spPr>
          <a:xfrm xmlns:a="http://schemas.openxmlformats.org/drawingml/2006/main">
            <a:off x="3714750" y="306705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PNA folds the modeled correction into the measured quantity.</a:t>
            </a:r>
          </a:p>
        </p:txBody>
      </p:sp>
      <p:sp>
        <p:nvSpPr>
          <p:cNvPr id="9" name="">
            <a:extLst xmlns:a="http://schemas.openxmlformats.org/drawingml/2006/main">
              <a:ext uri="{FF2B5EF4-FFF2-40B4-BE49-F238E27FC236}">
                <a16:creationId xmlns:a16="http://schemas.microsoft.com/office/drawing/2014/main" id="{E0FFEBE7-39B0-4903-BA98-D26A54912286}"/>
              </a:ext>
            </a:extLst>
          </p:cNvPr>
          <p:cNvSpPr>
            <a:spLocks xmlns:a="http://schemas.openxmlformats.org/drawingml/2006/main" noGrp="1"/>
          </p:cNvSpPr>
          <p:nvPr/>
        </p:nvSpPr>
        <p:spPr>
          <a:xfrm xmlns:a="http://schemas.openxmlformats.org/drawingml/2006/main">
            <a:off x="685800" y="40195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61616"/>
                </a:solidFill>
                <a:latin typeface="Arial"/>
                <a:ea typeface="Arial"/>
                <a:cs typeface="Arial"/>
              </a:defRPr>
            </a:defPPr>
            <a:lvl1pPr algn="l">
              <a:defRPr sz="1950" b="1">
                <a:solidFill>
                  <a:srgbClr val="161616"/>
                </a:solidFill>
                <a:latin typeface="Arial"/>
                <a:ea typeface="Arial"/>
                <a:cs typeface="Arial"/>
              </a:defRPr>
            </a:lvl1pPr>
            <a:lvl2pPr algn="l">
              <a:defRPr sz="1950" b="1">
                <a:solidFill>
                  <a:srgbClr val="161616"/>
                </a:solidFill>
                <a:latin typeface="Arial"/>
                <a:ea typeface="Arial"/>
                <a:cs typeface="Arial"/>
              </a:defRPr>
            </a:lvl2pPr>
            <a:lvl3pPr algn="l">
              <a:defRPr sz="1950" b="1">
                <a:solidFill>
                  <a:srgbClr val="161616"/>
                </a:solidFill>
                <a:latin typeface="Arial"/>
                <a:ea typeface="Arial"/>
                <a:cs typeface="Arial"/>
              </a:defRPr>
            </a:lvl3pPr>
            <a:lvl4pPr algn="l">
              <a:defRPr sz="1950" b="1">
                <a:solidFill>
                  <a:srgbClr val="161616"/>
                </a:solidFill>
                <a:latin typeface="Arial"/>
                <a:ea typeface="Arial"/>
                <a:cs typeface="Arial"/>
              </a:defRPr>
            </a:lvl4pPr>
            <a:lvl5pPr algn="l">
              <a:defRPr sz="1950" b="1">
                <a:solidFill>
                  <a:srgbClr val="161616"/>
                </a:solidFill>
                <a:latin typeface="Arial"/>
                <a:ea typeface="Arial"/>
                <a:cs typeface="Arial"/>
              </a:defRPr>
            </a:lvl5pPr>
            <a:lvl6pPr algn="l">
              <a:defRPr sz="1950" b="1">
                <a:solidFill>
                  <a:srgbClr val="161616"/>
                </a:solidFill>
                <a:latin typeface="Arial"/>
                <a:ea typeface="Arial"/>
                <a:cs typeface="Arial"/>
              </a:defRPr>
            </a:lvl6pPr>
            <a:lvl7pPr algn="l">
              <a:defRPr sz="1950" b="1">
                <a:solidFill>
                  <a:srgbClr val="161616"/>
                </a:solidFill>
                <a:latin typeface="Arial"/>
                <a:ea typeface="Arial"/>
                <a:cs typeface="Arial"/>
              </a:defRPr>
            </a:lvl7pPr>
            <a:lvl8pPr algn="l">
              <a:defRPr sz="1950" b="1">
                <a:solidFill>
                  <a:srgbClr val="161616"/>
                </a:solidFill>
                <a:latin typeface="Arial"/>
                <a:ea typeface="Arial"/>
                <a:cs typeface="Arial"/>
              </a:defRPr>
            </a:lvl8pPr>
            <a:lvl9pPr algn="l">
              <a:defRPr sz="1950" b="1">
                <a:solidFill>
                  <a:srgbClr val="161616"/>
                </a:solidFill>
                <a:latin typeface="Arial"/>
                <a:ea typeface="Arial"/>
                <a:cs typeface="Arial"/>
              </a:defRPr>
            </a:lvl9pPr>
          </a:lstStyle>
          <a:p xmlns:a="http://schemas.openxmlformats.org/drawingml/2006/main">
            <a:pPr algn="l">
              <a:defRPr sz="1950" b="1">
                <a:solidFill>
                  <a:srgbClr val="161616"/>
                </a:solidFill>
                <a:latin typeface="Arial"/>
                <a:ea typeface="Arial"/>
                <a:cs typeface="Arial"/>
              </a:defRPr>
            </a:pPr>
            <a:r>
              <a:rPr sz="1950" b="1">
                <a:solidFill>
                  <a:srgbClr val="161616"/>
                </a:solidFill>
                <a:latin typeface="Arial"/>
                <a:ea typeface="Arial"/>
                <a:cs typeface="Arial"/>
              </a:rPr>
              <a:t>Why not NoiseLearnerV3 here?</a:t>
            </a:r>
          </a:p>
        </p:txBody>
      </p:sp>
      <p:sp>
        <p:nvSpPr>
          <p:cNvPr id="10" name="">
            <a:extLst xmlns:a="http://schemas.openxmlformats.org/drawingml/2006/main">
              <a:ext uri="{FF2B5EF4-FFF2-40B4-BE49-F238E27FC236}">
                <a16:creationId xmlns:a16="http://schemas.microsoft.com/office/drawing/2014/main" id="{C24938DF-B6A9-43B1-A6C7-43D8249C7459}"/>
              </a:ext>
            </a:extLst>
          </p:cNvPr>
          <p:cNvSpPr>
            <a:spLocks xmlns:a="http://schemas.openxmlformats.org/drawingml/2006/main" noGrp="1"/>
          </p:cNvSpPr>
          <p:nvPr/>
        </p:nvSpPr>
        <p:spPr>
          <a:xfrm xmlns:a="http://schemas.openxmlformats.org/drawingml/2006/main">
            <a:off x="685800" y="4476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Its official workflow submits learning jobs to IBM Quantum. No IBM account is configured on this computer, so local rates are simulated inputs, not hardware measurements.</a:t>
            </a:r>
          </a:p>
        </p:txBody>
      </p:sp>
    </p:spTree>
    <p:extLst>
      <p:ext uri="{BB962C8B-B14F-4D97-AF65-F5344CB8AC3E}">
        <p14:creationId xmlns:p14="http://schemas.microsoft.com/office/powerpoint/2010/main" val="119505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FBE333-E941-4089-A4E9-7DC7877950D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2E806AD2-6B93-4604-9529-BA7400CA1A9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reduced the error model</a:t>
            </a:r>
          </a:p>
        </p:txBody>
      </p:sp>
      <p:graphicFrame>
        <p:nvGraphicFramePr>
          <p:cNvPr id="3" name="Chart">
            <a:extLst xmlns:a="http://schemas.openxmlformats.org/drawingml/2006/main">
              <a:ext uri="{FF2B5EF4-FFF2-40B4-BE49-F238E27FC236}">
                <a16:creationId xmlns:a16="http://schemas.microsoft.com/office/drawing/2014/main" id="{95EF48F1-C670-4FA7-8B80-B00C1458C89A}"/>
              </a:ext>
            </a:extLst>
          </p:cNvPr>
          <p:cNvGraphicFramePr/>
          <p:nvPr/>
        </p:nvGraphicFramePr>
        <p:xfrm>
          <a:off xmlns:a="http://schemas.openxmlformats.org/drawingml/2006/main" x="666750" y="1809750"/>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91927ae9b57c428d"/>
          </a:graphicData>
        </a:graphic>
      </p:graphicFrame>
      <p:sp>
        <p:nvSpPr>
          <p:cNvPr id="4" name="">
            <a:extLst xmlns:a="http://schemas.openxmlformats.org/drawingml/2006/main">
              <a:ext uri="{FF2B5EF4-FFF2-40B4-BE49-F238E27FC236}">
                <a16:creationId xmlns:a16="http://schemas.microsoft.com/office/drawing/2014/main" id="{9604E632-AD5D-4322-A6FC-835A358E0592}"/>
              </a:ext>
            </a:extLst>
          </p:cNvPr>
          <p:cNvSpPr>
            <a:spLocks xmlns:a="http://schemas.openxmlformats.org/drawingml/2006/main" noGrp="1"/>
          </p:cNvSpPr>
          <p:nvPr/>
        </p:nvSpPr>
        <p:spPr>
          <a:xfrm xmlns:a="http://schemas.openxmlformats.org/drawingml/2006/main">
            <a:off x="8048625" y="21907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F62FE"/>
                </a:solidFill>
                <a:latin typeface="Arial"/>
                <a:ea typeface="Arial"/>
                <a:cs typeface="Arial"/>
              </a:defRPr>
            </a:defPPr>
            <a:lvl1pPr algn="l">
              <a:defRPr sz="4500" b="1">
                <a:solidFill>
                  <a:srgbClr val="0F62FE"/>
                </a:solidFill>
                <a:latin typeface="Arial"/>
                <a:ea typeface="Arial"/>
                <a:cs typeface="Arial"/>
              </a:defRPr>
            </a:lvl1pPr>
            <a:lvl2pPr algn="l">
              <a:defRPr sz="4500" b="1">
                <a:solidFill>
                  <a:srgbClr val="0F62FE"/>
                </a:solidFill>
                <a:latin typeface="Arial"/>
                <a:ea typeface="Arial"/>
                <a:cs typeface="Arial"/>
              </a:defRPr>
            </a:lvl2pPr>
            <a:lvl3pPr algn="l">
              <a:defRPr sz="4500" b="1">
                <a:solidFill>
                  <a:srgbClr val="0F62FE"/>
                </a:solidFill>
                <a:latin typeface="Arial"/>
                <a:ea typeface="Arial"/>
                <a:cs typeface="Arial"/>
              </a:defRPr>
            </a:lvl3pPr>
            <a:lvl4pPr algn="l">
              <a:defRPr sz="4500" b="1">
                <a:solidFill>
                  <a:srgbClr val="0F62FE"/>
                </a:solidFill>
                <a:latin typeface="Arial"/>
                <a:ea typeface="Arial"/>
                <a:cs typeface="Arial"/>
              </a:defRPr>
            </a:lvl4pPr>
            <a:lvl5pPr algn="l">
              <a:defRPr sz="4500" b="1">
                <a:solidFill>
                  <a:srgbClr val="0F62FE"/>
                </a:solidFill>
                <a:latin typeface="Arial"/>
                <a:ea typeface="Arial"/>
                <a:cs typeface="Arial"/>
              </a:defRPr>
            </a:lvl5pPr>
            <a:lvl6pPr algn="l">
              <a:defRPr sz="4500" b="1">
                <a:solidFill>
                  <a:srgbClr val="0F62FE"/>
                </a:solidFill>
                <a:latin typeface="Arial"/>
                <a:ea typeface="Arial"/>
                <a:cs typeface="Arial"/>
              </a:defRPr>
            </a:lvl6pPr>
            <a:lvl7pPr algn="l">
              <a:defRPr sz="4500" b="1">
                <a:solidFill>
                  <a:srgbClr val="0F62FE"/>
                </a:solidFill>
                <a:latin typeface="Arial"/>
                <a:ea typeface="Arial"/>
                <a:cs typeface="Arial"/>
              </a:defRPr>
            </a:lvl7pPr>
            <a:lvl8pPr algn="l">
              <a:defRPr sz="4500" b="1">
                <a:solidFill>
                  <a:srgbClr val="0F62FE"/>
                </a:solidFill>
                <a:latin typeface="Arial"/>
                <a:ea typeface="Arial"/>
                <a:cs typeface="Arial"/>
              </a:defRPr>
            </a:lvl8pPr>
            <a:lvl9pPr algn="l">
              <a:defRPr sz="4500" b="1">
                <a:solidFill>
                  <a:srgbClr val="0F62FE"/>
                </a:solidFill>
                <a:latin typeface="Arial"/>
                <a:ea typeface="Arial"/>
                <a:cs typeface="Arial"/>
              </a:defRPr>
            </a:lvl9pPr>
          </a:lstStyle>
          <a:p xmlns:a="http://schemas.openxmlformats.org/drawingml/2006/main">
            <a:pPr algn="l">
              <a:defRPr sz="4500" b="1">
                <a:solidFill>
                  <a:srgbClr val="0F62FE"/>
                </a:solidFill>
                <a:latin typeface="Arial"/>
                <a:ea typeface="Arial"/>
                <a:cs typeface="Arial"/>
              </a:defRPr>
            </a:pPr>
            <a:r>
              <a:rPr sz="4500" b="1">
                <a:solidFill>
                  <a:srgbClr val="0F62FE"/>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72DFFF40-E1CB-43EF-ADA2-91B387D0E47E}"/>
              </a:ext>
            </a:extLst>
          </p:cNvPr>
          <p:cNvSpPr>
            <a:spLocks xmlns:a="http://schemas.openxmlformats.org/drawingml/2006/main" noGrp="1"/>
          </p:cNvSpPr>
          <p:nvPr/>
        </p:nvSpPr>
        <p:spPr>
          <a:xfrm xmlns:a="http://schemas.openxmlformats.org/drawingml/2006/main">
            <a:off x="8048625" y="2952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fewer modeled error terms at 1× noise</a:t>
            </a:r>
          </a:p>
        </p:txBody>
      </p:sp>
      <p:sp>
        <p:nvSpPr>
          <p:cNvPr id="6" name="">
            <a:extLst xmlns:a="http://schemas.openxmlformats.org/drawingml/2006/main">
              <a:ext uri="{FF2B5EF4-FFF2-40B4-BE49-F238E27FC236}">
                <a16:creationId xmlns:a16="http://schemas.microsoft.com/office/drawing/2014/main" id="{143533E9-E8B0-4BF1-B16D-E997332E45CF}"/>
              </a:ext>
            </a:extLst>
          </p:cNvPr>
          <p:cNvSpPr>
            <a:spLocks xmlns:a="http://schemas.openxmlformats.org/drawingml/2006/main" noGrp="1"/>
          </p:cNvSpPr>
          <p:nvPr/>
        </p:nvSpPr>
        <p:spPr>
          <a:xfrm xmlns:a="http://schemas.openxmlformats.org/drawingml/2006/main">
            <a:off x="8048625" y="3857625"/>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09D9A"/>
                </a:solidFill>
                <a:latin typeface="Arial"/>
                <a:ea typeface="Arial"/>
                <a:cs typeface="Arial"/>
              </a:defRPr>
            </a:defPPr>
            <a:lvl1pPr algn="l">
              <a:defRPr sz="4500" b="1">
                <a:solidFill>
                  <a:srgbClr val="009D9A"/>
                </a:solidFill>
                <a:latin typeface="Arial"/>
                <a:ea typeface="Arial"/>
                <a:cs typeface="Arial"/>
              </a:defRPr>
            </a:lvl1pPr>
            <a:lvl2pPr algn="l">
              <a:defRPr sz="4500" b="1">
                <a:solidFill>
                  <a:srgbClr val="009D9A"/>
                </a:solidFill>
                <a:latin typeface="Arial"/>
                <a:ea typeface="Arial"/>
                <a:cs typeface="Arial"/>
              </a:defRPr>
            </a:lvl2pPr>
            <a:lvl3pPr algn="l">
              <a:defRPr sz="4500" b="1">
                <a:solidFill>
                  <a:srgbClr val="009D9A"/>
                </a:solidFill>
                <a:latin typeface="Arial"/>
                <a:ea typeface="Arial"/>
                <a:cs typeface="Arial"/>
              </a:defRPr>
            </a:lvl3pPr>
            <a:lvl4pPr algn="l">
              <a:defRPr sz="4500" b="1">
                <a:solidFill>
                  <a:srgbClr val="009D9A"/>
                </a:solidFill>
                <a:latin typeface="Arial"/>
                <a:ea typeface="Arial"/>
                <a:cs typeface="Arial"/>
              </a:defRPr>
            </a:lvl4pPr>
            <a:lvl5pPr algn="l">
              <a:defRPr sz="4500" b="1">
                <a:solidFill>
                  <a:srgbClr val="009D9A"/>
                </a:solidFill>
                <a:latin typeface="Arial"/>
                <a:ea typeface="Arial"/>
                <a:cs typeface="Arial"/>
              </a:defRPr>
            </a:lvl5pPr>
            <a:lvl6pPr algn="l">
              <a:defRPr sz="4500" b="1">
                <a:solidFill>
                  <a:srgbClr val="009D9A"/>
                </a:solidFill>
                <a:latin typeface="Arial"/>
                <a:ea typeface="Arial"/>
                <a:cs typeface="Arial"/>
              </a:defRPr>
            </a:lvl6pPr>
            <a:lvl7pPr algn="l">
              <a:defRPr sz="4500" b="1">
                <a:solidFill>
                  <a:srgbClr val="009D9A"/>
                </a:solidFill>
                <a:latin typeface="Arial"/>
                <a:ea typeface="Arial"/>
                <a:cs typeface="Arial"/>
              </a:defRPr>
            </a:lvl7pPr>
            <a:lvl8pPr algn="l">
              <a:defRPr sz="4500" b="1">
                <a:solidFill>
                  <a:srgbClr val="009D9A"/>
                </a:solidFill>
                <a:latin typeface="Arial"/>
                <a:ea typeface="Arial"/>
                <a:cs typeface="Arial"/>
              </a:defRPr>
            </a:lvl8pPr>
            <a:lvl9pPr algn="l">
              <a:defRPr sz="4500" b="1">
                <a:solidFill>
                  <a:srgbClr val="009D9A"/>
                </a:solidFill>
                <a:latin typeface="Arial"/>
                <a:ea typeface="Arial"/>
                <a:cs typeface="Arial"/>
              </a:defRPr>
            </a:lvl9pPr>
          </a:lstStyle>
          <a:p xmlns:a="http://schemas.openxmlformats.org/drawingml/2006/main">
            <a:pPr algn="l">
              <a:defRPr sz="4500" b="1">
                <a:solidFill>
                  <a:srgbClr val="009D9A"/>
                </a:solidFill>
                <a:latin typeface="Arial"/>
                <a:ea typeface="Arial"/>
                <a:cs typeface="Arial"/>
              </a:defRPr>
            </a:pPr>
            <a:r>
              <a:rPr sz="4500" b="1">
                <a:solidFill>
                  <a:srgbClr val="009D9A"/>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64455285-84FC-4FAB-BE89-FF4683051272}"/>
              </a:ext>
            </a:extLst>
          </p:cNvPr>
          <p:cNvSpPr>
            <a:spLocks xmlns:a="http://schemas.openxmlformats.org/drawingml/2006/main" noGrp="1"/>
          </p:cNvSpPr>
          <p:nvPr/>
        </p:nvSpPr>
        <p:spPr>
          <a:xfrm xmlns:a="http://schemas.openxmlformats.org/drawingml/2006/main">
            <a:off x="8048625" y="4619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less PNA setup time in this small run</a:t>
            </a:r>
          </a:p>
        </p:txBody>
      </p:sp>
      <p:sp>
        <p:nvSpPr>
          <p:cNvPr id="8" name="">
            <a:extLst xmlns:a="http://schemas.openxmlformats.org/drawingml/2006/main">
              <a:ext uri="{FF2B5EF4-FFF2-40B4-BE49-F238E27FC236}">
                <a16:creationId xmlns:a16="http://schemas.microsoft.com/office/drawing/2014/main" id="{20A50A73-E418-4781-BE8E-7BCED10B8AF0}"/>
              </a:ext>
            </a:extLst>
          </p:cNvPr>
          <p:cNvSpPr>
            <a:spLocks xmlns:a="http://schemas.openxmlformats.org/drawingml/2006/main" noGrp="1"/>
          </p:cNvSpPr>
          <p:nvPr/>
        </p:nvSpPr>
        <p:spPr>
          <a:xfrm xmlns:a="http://schemas.openxmlformats.org/drawingml/2006/main">
            <a:off x="68580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At 1× noise, the SLC bias bound was 0.047 (under the 0.05 limit we set).</a:t>
            </a:r>
          </a:p>
        </p:txBody>
      </p:sp>
    </p:spTree>
    <p:extLst>
      <p:ext uri="{BB962C8B-B14F-4D97-AF65-F5344CB8AC3E}">
        <p14:creationId xmlns:p14="http://schemas.microsoft.com/office/powerpoint/2010/main" val="18161042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B9EFBD-540B-4CCD-8DC3-41434D429B1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76A13AAC-7923-4D81-92A3-5B46AE96061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recovered the measured value</a:t>
            </a:r>
          </a:p>
        </p:txBody>
      </p:sp>
      <p:graphicFrame>
        <p:nvGraphicFramePr>
          <p:cNvPr id="3" name="Chart">
            <a:extLst xmlns:a="http://schemas.openxmlformats.org/drawingml/2006/main">
              <a:ext uri="{FF2B5EF4-FFF2-40B4-BE49-F238E27FC236}">
                <a16:creationId xmlns:a16="http://schemas.microsoft.com/office/drawing/2014/main" id="{07046152-0188-4ED4-990A-6D13FFB484B2}"/>
              </a:ext>
            </a:extLst>
          </p:cNvPr>
          <p:cNvGraphicFramePr/>
          <p:nvPr/>
        </p:nvGraphicFramePr>
        <p:xfrm>
          <a:off xmlns:a="http://schemas.openxmlformats.org/drawingml/2006/main" x="609600" y="1695450"/>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e21265005d1044c8"/>
          </a:graphicData>
        </a:graphic>
      </p:graphicFrame>
      <p:sp>
        <p:nvSpPr>
          <p:cNvPr id="4" name="">
            <a:extLst xmlns:a="http://schemas.openxmlformats.org/drawingml/2006/main">
              <a:ext uri="{FF2B5EF4-FFF2-40B4-BE49-F238E27FC236}">
                <a16:creationId xmlns:a16="http://schemas.microsoft.com/office/drawing/2014/main" id="{61E298D1-1A3A-40DB-A710-F5B980FE390B}"/>
              </a:ext>
            </a:extLst>
          </p:cNvPr>
          <p:cNvSpPr>
            <a:spLocks xmlns:a="http://schemas.openxmlformats.org/drawingml/2006/main" noGrp="1"/>
          </p:cNvSpPr>
          <p:nvPr/>
        </p:nvSpPr>
        <p:spPr>
          <a:xfrm xmlns:a="http://schemas.openxmlformats.org/drawingml/2006/main">
            <a:off x="8858250" y="2133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50881335-6CFC-4808-850F-72FF0D6BBC95}"/>
              </a:ext>
            </a:extLst>
          </p:cNvPr>
          <p:cNvSpPr>
            <a:spLocks xmlns:a="http://schemas.openxmlformats.org/drawingml/2006/main" noGrp="1"/>
          </p:cNvSpPr>
          <p:nvPr/>
        </p:nvSpPr>
        <p:spPr>
          <a:xfrm xmlns:a="http://schemas.openxmlformats.org/drawingml/2006/main">
            <a:off x="8858250" y="26003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832B"/>
                </a:solidFill>
                <a:latin typeface="Arial"/>
                <a:ea typeface="Arial"/>
                <a:cs typeface="Arial"/>
              </a:defRPr>
            </a:defPPr>
            <a:lvl1pPr algn="l">
              <a:defRPr sz="3150" b="1">
                <a:solidFill>
                  <a:srgbClr val="FF832B"/>
                </a:solidFill>
                <a:latin typeface="Arial"/>
                <a:ea typeface="Arial"/>
                <a:cs typeface="Arial"/>
              </a:defRPr>
            </a:lvl1pPr>
            <a:lvl2pPr algn="l">
              <a:defRPr sz="3150" b="1">
                <a:solidFill>
                  <a:srgbClr val="FF832B"/>
                </a:solidFill>
                <a:latin typeface="Arial"/>
                <a:ea typeface="Arial"/>
                <a:cs typeface="Arial"/>
              </a:defRPr>
            </a:lvl2pPr>
            <a:lvl3pPr algn="l">
              <a:defRPr sz="3150" b="1">
                <a:solidFill>
                  <a:srgbClr val="FF832B"/>
                </a:solidFill>
                <a:latin typeface="Arial"/>
                <a:ea typeface="Arial"/>
                <a:cs typeface="Arial"/>
              </a:defRPr>
            </a:lvl3pPr>
            <a:lvl4pPr algn="l">
              <a:defRPr sz="3150" b="1">
                <a:solidFill>
                  <a:srgbClr val="FF832B"/>
                </a:solidFill>
                <a:latin typeface="Arial"/>
                <a:ea typeface="Arial"/>
                <a:cs typeface="Arial"/>
              </a:defRPr>
            </a:lvl4pPr>
            <a:lvl5pPr algn="l">
              <a:defRPr sz="3150" b="1">
                <a:solidFill>
                  <a:srgbClr val="FF832B"/>
                </a:solidFill>
                <a:latin typeface="Arial"/>
                <a:ea typeface="Arial"/>
                <a:cs typeface="Arial"/>
              </a:defRPr>
            </a:lvl5pPr>
            <a:lvl6pPr algn="l">
              <a:defRPr sz="3150" b="1">
                <a:solidFill>
                  <a:srgbClr val="FF832B"/>
                </a:solidFill>
                <a:latin typeface="Arial"/>
                <a:ea typeface="Arial"/>
                <a:cs typeface="Arial"/>
              </a:defRPr>
            </a:lvl6pPr>
            <a:lvl7pPr algn="l">
              <a:defRPr sz="3150" b="1">
                <a:solidFill>
                  <a:srgbClr val="FF832B"/>
                </a:solidFill>
                <a:latin typeface="Arial"/>
                <a:ea typeface="Arial"/>
                <a:cs typeface="Arial"/>
              </a:defRPr>
            </a:lvl7pPr>
            <a:lvl8pPr algn="l">
              <a:defRPr sz="3150" b="1">
                <a:solidFill>
                  <a:srgbClr val="FF832B"/>
                </a:solidFill>
                <a:latin typeface="Arial"/>
                <a:ea typeface="Arial"/>
                <a:cs typeface="Arial"/>
              </a:defRPr>
            </a:lvl8pPr>
            <a:lvl9pPr algn="l">
              <a:defRPr sz="3150" b="1">
                <a:solidFill>
                  <a:srgbClr val="FF832B"/>
                </a:solidFill>
                <a:latin typeface="Arial"/>
                <a:ea typeface="Arial"/>
                <a:cs typeface="Arial"/>
              </a:defRPr>
            </a:lvl9pPr>
          </a:lstStyle>
          <a:p xmlns:a="http://schemas.openxmlformats.org/drawingml/2006/main">
            <a:pPr algn="l">
              <a:defRPr sz="3150" b="1">
                <a:solidFill>
                  <a:srgbClr val="FF832B"/>
                </a:solidFill>
                <a:latin typeface="Arial"/>
                <a:ea typeface="Arial"/>
                <a:cs typeface="Arial"/>
              </a:defRPr>
            </a:pPr>
            <a:r>
              <a:rPr sz="3150" b="1">
                <a:solidFill>
                  <a:srgbClr val="FF832B"/>
                </a:solidFill>
                <a:latin typeface="Arial"/>
                <a:ea typeface="Arial"/>
                <a:cs typeface="Arial"/>
              </a:rPr>
              <a:t>0.687</a:t>
            </a:r>
          </a:p>
        </p:txBody>
      </p:sp>
      <p:sp>
        <p:nvSpPr>
          <p:cNvPr id="6" name="">
            <a:extLst xmlns:a="http://schemas.openxmlformats.org/drawingml/2006/main">
              <a:ext uri="{FF2B5EF4-FFF2-40B4-BE49-F238E27FC236}">
                <a16:creationId xmlns:a16="http://schemas.microsoft.com/office/drawing/2014/main" id="{EEA5A503-2C96-4417-822E-81F087C97BE9}"/>
              </a:ext>
            </a:extLst>
          </p:cNvPr>
          <p:cNvSpPr>
            <a:spLocks xmlns:a="http://schemas.openxmlformats.org/drawingml/2006/main" noGrp="1"/>
          </p:cNvSpPr>
          <p:nvPr/>
        </p:nvSpPr>
        <p:spPr>
          <a:xfrm xmlns:a="http://schemas.openxmlformats.org/drawingml/2006/main">
            <a:off x="8858250" y="3114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without correction</a:t>
            </a:r>
          </a:p>
        </p:txBody>
      </p:sp>
      <p:sp>
        <p:nvSpPr>
          <p:cNvPr id="7" name="">
            <a:extLst xmlns:a="http://schemas.openxmlformats.org/drawingml/2006/main">
              <a:ext uri="{FF2B5EF4-FFF2-40B4-BE49-F238E27FC236}">
                <a16:creationId xmlns:a16="http://schemas.microsoft.com/office/drawing/2014/main" id="{D0753E61-5ABD-4700-A86F-C010C8F71668}"/>
              </a:ext>
            </a:extLst>
          </p:cNvPr>
          <p:cNvSpPr>
            <a:spLocks xmlns:a="http://schemas.openxmlformats.org/drawingml/2006/main" noGrp="1"/>
          </p:cNvSpPr>
          <p:nvPr/>
        </p:nvSpPr>
        <p:spPr>
          <a:xfrm xmlns:a="http://schemas.openxmlformats.org/drawingml/2006/main">
            <a:off x="8858250" y="3714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F62FE"/>
                </a:solidFill>
                <a:latin typeface="Arial"/>
                <a:ea typeface="Arial"/>
                <a:cs typeface="Arial"/>
              </a:defRPr>
            </a:defPPr>
            <a:lvl1pPr algn="l">
              <a:defRPr sz="3150" b="1">
                <a:solidFill>
                  <a:srgbClr val="0F62FE"/>
                </a:solidFill>
                <a:latin typeface="Arial"/>
                <a:ea typeface="Arial"/>
                <a:cs typeface="Arial"/>
              </a:defRPr>
            </a:lvl1pPr>
            <a:lvl2pPr algn="l">
              <a:defRPr sz="3150" b="1">
                <a:solidFill>
                  <a:srgbClr val="0F62FE"/>
                </a:solidFill>
                <a:latin typeface="Arial"/>
                <a:ea typeface="Arial"/>
                <a:cs typeface="Arial"/>
              </a:defRPr>
            </a:lvl2pPr>
            <a:lvl3pPr algn="l">
              <a:defRPr sz="3150" b="1">
                <a:solidFill>
                  <a:srgbClr val="0F62FE"/>
                </a:solidFill>
                <a:latin typeface="Arial"/>
                <a:ea typeface="Arial"/>
                <a:cs typeface="Arial"/>
              </a:defRPr>
            </a:lvl3pPr>
            <a:lvl4pPr algn="l">
              <a:defRPr sz="3150" b="1">
                <a:solidFill>
                  <a:srgbClr val="0F62FE"/>
                </a:solidFill>
                <a:latin typeface="Arial"/>
                <a:ea typeface="Arial"/>
                <a:cs typeface="Arial"/>
              </a:defRPr>
            </a:lvl4pPr>
            <a:lvl5pPr algn="l">
              <a:defRPr sz="3150" b="1">
                <a:solidFill>
                  <a:srgbClr val="0F62FE"/>
                </a:solidFill>
                <a:latin typeface="Arial"/>
                <a:ea typeface="Arial"/>
                <a:cs typeface="Arial"/>
              </a:defRPr>
            </a:lvl5pPr>
            <a:lvl6pPr algn="l">
              <a:defRPr sz="3150" b="1">
                <a:solidFill>
                  <a:srgbClr val="0F62FE"/>
                </a:solidFill>
                <a:latin typeface="Arial"/>
                <a:ea typeface="Arial"/>
                <a:cs typeface="Arial"/>
              </a:defRPr>
            </a:lvl6pPr>
            <a:lvl7pPr algn="l">
              <a:defRPr sz="3150" b="1">
                <a:solidFill>
                  <a:srgbClr val="0F62FE"/>
                </a:solidFill>
                <a:latin typeface="Arial"/>
                <a:ea typeface="Arial"/>
                <a:cs typeface="Arial"/>
              </a:defRPr>
            </a:lvl7pPr>
            <a:lvl8pPr algn="l">
              <a:defRPr sz="3150" b="1">
                <a:solidFill>
                  <a:srgbClr val="0F62FE"/>
                </a:solidFill>
                <a:latin typeface="Arial"/>
                <a:ea typeface="Arial"/>
                <a:cs typeface="Arial"/>
              </a:defRPr>
            </a:lvl8pPr>
            <a:lvl9pPr algn="l">
              <a:defRPr sz="3150" b="1">
                <a:solidFill>
                  <a:srgbClr val="0F62FE"/>
                </a:solidFill>
                <a:latin typeface="Arial"/>
                <a:ea typeface="Arial"/>
                <a:cs typeface="Arial"/>
              </a:defRPr>
            </a:lvl9pPr>
          </a:lstStyle>
          <a:p xmlns:a="http://schemas.openxmlformats.org/drawingml/2006/main">
            <a:pPr algn="l">
              <a:defRPr sz="3150" b="1">
                <a:solidFill>
                  <a:srgbClr val="0F62FE"/>
                </a:solidFill>
                <a:latin typeface="Arial"/>
                <a:ea typeface="Arial"/>
                <a:cs typeface="Arial"/>
              </a:defRPr>
            </a:pPr>
            <a:r>
              <a:rPr sz="3150" b="1">
                <a:solidFill>
                  <a:srgbClr val="0F62FE"/>
                </a:solidFill>
                <a:latin typeface="Arial"/>
                <a:ea typeface="Arial"/>
                <a:cs typeface="Arial"/>
              </a:rPr>
              <a:t>0.977</a:t>
            </a:r>
          </a:p>
        </p:txBody>
      </p:sp>
      <p:sp>
        <p:nvSpPr>
          <p:cNvPr id="8" name="">
            <a:extLst xmlns:a="http://schemas.openxmlformats.org/drawingml/2006/main">
              <a:ext uri="{FF2B5EF4-FFF2-40B4-BE49-F238E27FC236}">
                <a16:creationId xmlns:a16="http://schemas.microsoft.com/office/drawing/2014/main" id="{0DE2C444-BF6C-4BF5-A634-E5E3D996C5DB}"/>
              </a:ext>
            </a:extLst>
          </p:cNvPr>
          <p:cNvSpPr>
            <a:spLocks xmlns:a="http://schemas.openxmlformats.org/drawingml/2006/main" noGrp="1"/>
          </p:cNvSpPr>
          <p:nvPr/>
        </p:nvSpPr>
        <p:spPr>
          <a:xfrm xmlns:a="http://schemas.openxmlformats.org/drawingml/2006/main">
            <a:off x="8858250" y="4229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full PNA</a:t>
            </a:r>
          </a:p>
        </p:txBody>
      </p:sp>
      <p:sp>
        <p:nvSpPr>
          <p:cNvPr id="9" name="">
            <a:extLst xmlns:a="http://schemas.openxmlformats.org/drawingml/2006/main">
              <a:ext uri="{FF2B5EF4-FFF2-40B4-BE49-F238E27FC236}">
                <a16:creationId xmlns:a16="http://schemas.microsoft.com/office/drawing/2014/main" id="{F4EB39A8-35FE-4A72-B20F-C7385C6A4452}"/>
              </a:ext>
            </a:extLst>
          </p:cNvPr>
          <p:cNvSpPr>
            <a:spLocks xmlns:a="http://schemas.openxmlformats.org/drawingml/2006/main" noGrp="1"/>
          </p:cNvSpPr>
          <p:nvPr/>
        </p:nvSpPr>
        <p:spPr>
          <a:xfrm xmlns:a="http://schemas.openxmlformats.org/drawingml/2006/main">
            <a:off x="8858250" y="48291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D9A"/>
                </a:solidFill>
                <a:latin typeface="Arial"/>
                <a:ea typeface="Arial"/>
                <a:cs typeface="Arial"/>
              </a:defRPr>
            </a:defPPr>
            <a:lvl1pPr algn="l">
              <a:defRPr sz="3150" b="1">
                <a:solidFill>
                  <a:srgbClr val="009D9A"/>
                </a:solidFill>
                <a:latin typeface="Arial"/>
                <a:ea typeface="Arial"/>
                <a:cs typeface="Arial"/>
              </a:defRPr>
            </a:lvl1pPr>
            <a:lvl2pPr algn="l">
              <a:defRPr sz="3150" b="1">
                <a:solidFill>
                  <a:srgbClr val="009D9A"/>
                </a:solidFill>
                <a:latin typeface="Arial"/>
                <a:ea typeface="Arial"/>
                <a:cs typeface="Arial"/>
              </a:defRPr>
            </a:lvl2pPr>
            <a:lvl3pPr algn="l">
              <a:defRPr sz="3150" b="1">
                <a:solidFill>
                  <a:srgbClr val="009D9A"/>
                </a:solidFill>
                <a:latin typeface="Arial"/>
                <a:ea typeface="Arial"/>
                <a:cs typeface="Arial"/>
              </a:defRPr>
            </a:lvl3pPr>
            <a:lvl4pPr algn="l">
              <a:defRPr sz="3150" b="1">
                <a:solidFill>
                  <a:srgbClr val="009D9A"/>
                </a:solidFill>
                <a:latin typeface="Arial"/>
                <a:ea typeface="Arial"/>
                <a:cs typeface="Arial"/>
              </a:defRPr>
            </a:lvl4pPr>
            <a:lvl5pPr algn="l">
              <a:defRPr sz="3150" b="1">
                <a:solidFill>
                  <a:srgbClr val="009D9A"/>
                </a:solidFill>
                <a:latin typeface="Arial"/>
                <a:ea typeface="Arial"/>
                <a:cs typeface="Arial"/>
              </a:defRPr>
            </a:lvl5pPr>
            <a:lvl6pPr algn="l">
              <a:defRPr sz="3150" b="1">
                <a:solidFill>
                  <a:srgbClr val="009D9A"/>
                </a:solidFill>
                <a:latin typeface="Arial"/>
                <a:ea typeface="Arial"/>
                <a:cs typeface="Arial"/>
              </a:defRPr>
            </a:lvl6pPr>
            <a:lvl7pPr algn="l">
              <a:defRPr sz="3150" b="1">
                <a:solidFill>
                  <a:srgbClr val="009D9A"/>
                </a:solidFill>
                <a:latin typeface="Arial"/>
                <a:ea typeface="Arial"/>
                <a:cs typeface="Arial"/>
              </a:defRPr>
            </a:lvl7pPr>
            <a:lvl8pPr algn="l">
              <a:defRPr sz="3150" b="1">
                <a:solidFill>
                  <a:srgbClr val="009D9A"/>
                </a:solidFill>
                <a:latin typeface="Arial"/>
                <a:ea typeface="Arial"/>
                <a:cs typeface="Arial"/>
              </a:defRPr>
            </a:lvl8pPr>
            <a:lvl9pPr algn="l">
              <a:defRPr sz="3150" b="1">
                <a:solidFill>
                  <a:srgbClr val="009D9A"/>
                </a:solidFill>
                <a:latin typeface="Arial"/>
                <a:ea typeface="Arial"/>
                <a:cs typeface="Arial"/>
              </a:defRPr>
            </a:lvl9pPr>
          </a:lstStyle>
          <a:p xmlns:a="http://schemas.openxmlformats.org/drawingml/2006/main">
            <a:pPr algn="l">
              <a:defRPr sz="3150" b="1">
                <a:solidFill>
                  <a:srgbClr val="009D9A"/>
                </a:solidFill>
                <a:latin typeface="Arial"/>
                <a:ea typeface="Arial"/>
                <a:cs typeface="Arial"/>
              </a:defRPr>
            </a:pPr>
            <a:r>
              <a:rPr sz="3150" b="1">
                <a:solidFill>
                  <a:srgbClr val="009D9A"/>
                </a:solidFill>
                <a:latin typeface="Arial"/>
                <a:ea typeface="Arial"/>
                <a:cs typeface="Arial"/>
              </a:rPr>
              <a:t>0.962</a:t>
            </a:r>
          </a:p>
        </p:txBody>
      </p:sp>
      <p:sp>
        <p:nvSpPr>
          <p:cNvPr id="10" name="">
            <a:extLst xmlns:a="http://schemas.openxmlformats.org/drawingml/2006/main">
              <a:ext uri="{FF2B5EF4-FFF2-40B4-BE49-F238E27FC236}">
                <a16:creationId xmlns:a16="http://schemas.microsoft.com/office/drawing/2014/main" id="{2836C8A1-A254-42C2-B207-F2580A4C0C20}"/>
              </a:ext>
            </a:extLst>
          </p:cNvPr>
          <p:cNvSpPr>
            <a:spLocks xmlns:a="http://schemas.openxmlformats.org/drawingml/2006/main" noGrp="1"/>
          </p:cNvSpPr>
          <p:nvPr/>
        </p:nvSpPr>
        <p:spPr>
          <a:xfrm xmlns:a="http://schemas.openxmlformats.org/drawingml/2006/main">
            <a:off x="8858250" y="53435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SLC + PNA</a:t>
            </a:r>
          </a:p>
        </p:txBody>
      </p:sp>
    </p:spTree>
    <p:extLst>
      <p:ext uri="{BB962C8B-B14F-4D97-AF65-F5344CB8AC3E}">
        <p14:creationId xmlns:p14="http://schemas.microsoft.com/office/powerpoint/2010/main" val="14908815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23FBC2-581C-4EB0-85C1-8CB25AED686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794443F-DDF2-4097-8930-A34ED55B9B7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Mitigation raised the fidelity estimates</a:t>
            </a:r>
          </a:p>
        </p:txBody>
      </p:sp>
      <p:graphicFrame>
        <p:nvGraphicFramePr>
          <p:cNvPr id="3" name="Chart">
            <a:extLst xmlns:a="http://schemas.openxmlformats.org/drawingml/2006/main">
              <a:ext uri="{FF2B5EF4-FFF2-40B4-BE49-F238E27FC236}">
                <a16:creationId xmlns:a16="http://schemas.microsoft.com/office/drawing/2014/main" id="{D83702C6-D44D-42E8-8F29-6D75EBCD4972}"/>
              </a:ext>
            </a:extLst>
          </p:cNvPr>
          <p:cNvGraphicFramePr/>
          <p:nvPr/>
        </p:nvGraphicFramePr>
        <p:xfrm>
          <a:off xmlns:a="http://schemas.openxmlformats.org/drawingml/2006/main" x="714375" y="1762125"/>
          <a:ext xmlns:a="http://schemas.openxmlformats.org/drawingml/2006/main" cx="7048500" cy="3905250"/>
        </p:xfrm>
        <a:graphic xmlns:a="http://schemas.openxmlformats.org/drawingml/2006/main">
          <a:graphicData uri="http://schemas.openxmlformats.org/drawingml/2006/chart">
            <c:chart xmlns:r="http://schemas.openxmlformats.org/officeDocument/2006/relationships" xmlns:c="http://schemas.openxmlformats.org/drawingml/2006/chart" r:id="R7e2f5241bcfb4853"/>
          </a:graphicData>
        </a:graphic>
      </p:graphicFrame>
      <p:sp>
        <p:nvSpPr>
          <p:cNvPr id="4" name="">
            <a:extLst xmlns:a="http://schemas.openxmlformats.org/drawingml/2006/main">
              <a:ext uri="{FF2B5EF4-FFF2-40B4-BE49-F238E27FC236}">
                <a16:creationId xmlns:a16="http://schemas.microsoft.com/office/drawing/2014/main" id="{3446506C-B0B6-4032-B453-AD042EC2482F}"/>
              </a:ext>
            </a:extLst>
          </p:cNvPr>
          <p:cNvSpPr>
            <a:spLocks xmlns:a="http://schemas.openxmlformats.org/drawingml/2006/main" noGrp="1"/>
          </p:cNvSpPr>
          <p:nvPr/>
        </p:nvSpPr>
        <p:spPr>
          <a:xfrm xmlns:a="http://schemas.openxmlformats.org/drawingml/2006/main">
            <a:off x="8524875" y="21907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25252"/>
                </a:solidFill>
                <a:latin typeface="Arial"/>
                <a:ea typeface="Arial"/>
                <a:cs typeface="Arial"/>
              </a:defRPr>
            </a:defPPr>
            <a:lvl1pPr algn="l">
              <a:defRPr sz="1575" b="1">
                <a:solidFill>
                  <a:srgbClr val="525252"/>
                </a:solidFill>
                <a:latin typeface="Arial"/>
                <a:ea typeface="Arial"/>
                <a:cs typeface="Arial"/>
              </a:defRPr>
            </a:lvl1pPr>
            <a:lvl2pPr algn="l">
              <a:defRPr sz="1575" b="1">
                <a:solidFill>
                  <a:srgbClr val="525252"/>
                </a:solidFill>
                <a:latin typeface="Arial"/>
                <a:ea typeface="Arial"/>
                <a:cs typeface="Arial"/>
              </a:defRPr>
            </a:lvl2pPr>
            <a:lvl3pPr algn="l">
              <a:defRPr sz="1575" b="1">
                <a:solidFill>
                  <a:srgbClr val="525252"/>
                </a:solidFill>
                <a:latin typeface="Arial"/>
                <a:ea typeface="Arial"/>
                <a:cs typeface="Arial"/>
              </a:defRPr>
            </a:lvl3pPr>
            <a:lvl4pPr algn="l">
              <a:defRPr sz="1575" b="1">
                <a:solidFill>
                  <a:srgbClr val="525252"/>
                </a:solidFill>
                <a:latin typeface="Arial"/>
                <a:ea typeface="Arial"/>
                <a:cs typeface="Arial"/>
              </a:defRPr>
            </a:lvl4pPr>
            <a:lvl5pPr algn="l">
              <a:defRPr sz="1575" b="1">
                <a:solidFill>
                  <a:srgbClr val="525252"/>
                </a:solidFill>
                <a:latin typeface="Arial"/>
                <a:ea typeface="Arial"/>
                <a:cs typeface="Arial"/>
              </a:defRPr>
            </a:lvl5pPr>
            <a:lvl6pPr algn="l">
              <a:defRPr sz="1575" b="1">
                <a:solidFill>
                  <a:srgbClr val="525252"/>
                </a:solidFill>
                <a:latin typeface="Arial"/>
                <a:ea typeface="Arial"/>
                <a:cs typeface="Arial"/>
              </a:defRPr>
            </a:lvl6pPr>
            <a:lvl7pPr algn="l">
              <a:defRPr sz="1575" b="1">
                <a:solidFill>
                  <a:srgbClr val="525252"/>
                </a:solidFill>
                <a:latin typeface="Arial"/>
                <a:ea typeface="Arial"/>
                <a:cs typeface="Arial"/>
              </a:defRPr>
            </a:lvl7pPr>
            <a:lvl8pPr algn="l">
              <a:defRPr sz="1575" b="1">
                <a:solidFill>
                  <a:srgbClr val="525252"/>
                </a:solidFill>
                <a:latin typeface="Arial"/>
                <a:ea typeface="Arial"/>
                <a:cs typeface="Arial"/>
              </a:defRPr>
            </a:lvl8pPr>
            <a:lvl9pPr algn="l">
              <a:defRPr sz="1575" b="1">
                <a:solidFill>
                  <a:srgbClr val="525252"/>
                </a:solidFill>
                <a:latin typeface="Arial"/>
                <a:ea typeface="Arial"/>
                <a:cs typeface="Arial"/>
              </a:defRPr>
            </a:lvl9pPr>
          </a:lstStyle>
          <a:p xmlns:a="http://schemas.openxmlformats.org/drawingml/2006/main">
            <a:pPr algn="l">
              <a:defRPr sz="1575" b="1">
                <a:solidFill>
                  <a:srgbClr val="525252"/>
                </a:solidFill>
                <a:latin typeface="Arial"/>
                <a:ea typeface="Arial"/>
                <a:cs typeface="Arial"/>
              </a:defRPr>
            </a:pPr>
            <a:r>
              <a:rPr sz="1575"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92CDBD87-62C4-48C1-8948-34EB1BF486C5}"/>
              </a:ext>
            </a:extLst>
          </p:cNvPr>
          <p:cNvSpPr>
            <a:spLocks xmlns:a="http://schemas.openxmlformats.org/drawingml/2006/main" noGrp="1"/>
          </p:cNvSpPr>
          <p:nvPr/>
        </p:nvSpPr>
        <p:spPr>
          <a:xfrm xmlns:a="http://schemas.openxmlformats.org/drawingml/2006/main">
            <a:off x="8524875" y="263842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8A3FFC"/>
                </a:solidFill>
                <a:latin typeface="Arial"/>
                <a:ea typeface="Arial"/>
                <a:cs typeface="Arial"/>
              </a:defRPr>
            </a:defPPr>
            <a:lvl1pPr algn="l">
              <a:defRPr sz="2925" b="1">
                <a:solidFill>
                  <a:srgbClr val="8A3FFC"/>
                </a:solidFill>
                <a:latin typeface="Arial"/>
                <a:ea typeface="Arial"/>
                <a:cs typeface="Arial"/>
              </a:defRPr>
            </a:lvl1pPr>
            <a:lvl2pPr algn="l">
              <a:defRPr sz="2925" b="1">
                <a:solidFill>
                  <a:srgbClr val="8A3FFC"/>
                </a:solidFill>
                <a:latin typeface="Arial"/>
                <a:ea typeface="Arial"/>
                <a:cs typeface="Arial"/>
              </a:defRPr>
            </a:lvl2pPr>
            <a:lvl3pPr algn="l">
              <a:defRPr sz="2925" b="1">
                <a:solidFill>
                  <a:srgbClr val="8A3FFC"/>
                </a:solidFill>
                <a:latin typeface="Arial"/>
                <a:ea typeface="Arial"/>
                <a:cs typeface="Arial"/>
              </a:defRPr>
            </a:lvl3pPr>
            <a:lvl4pPr algn="l">
              <a:defRPr sz="2925" b="1">
                <a:solidFill>
                  <a:srgbClr val="8A3FFC"/>
                </a:solidFill>
                <a:latin typeface="Arial"/>
                <a:ea typeface="Arial"/>
                <a:cs typeface="Arial"/>
              </a:defRPr>
            </a:lvl4pPr>
            <a:lvl5pPr algn="l">
              <a:defRPr sz="2925" b="1">
                <a:solidFill>
                  <a:srgbClr val="8A3FFC"/>
                </a:solidFill>
                <a:latin typeface="Arial"/>
                <a:ea typeface="Arial"/>
                <a:cs typeface="Arial"/>
              </a:defRPr>
            </a:lvl5pPr>
            <a:lvl6pPr algn="l">
              <a:defRPr sz="2925" b="1">
                <a:solidFill>
                  <a:srgbClr val="8A3FFC"/>
                </a:solidFill>
                <a:latin typeface="Arial"/>
                <a:ea typeface="Arial"/>
                <a:cs typeface="Arial"/>
              </a:defRPr>
            </a:lvl6pPr>
            <a:lvl7pPr algn="l">
              <a:defRPr sz="2925" b="1">
                <a:solidFill>
                  <a:srgbClr val="8A3FFC"/>
                </a:solidFill>
                <a:latin typeface="Arial"/>
                <a:ea typeface="Arial"/>
                <a:cs typeface="Arial"/>
              </a:defRPr>
            </a:lvl7pPr>
            <a:lvl8pPr algn="l">
              <a:defRPr sz="2925" b="1">
                <a:solidFill>
                  <a:srgbClr val="8A3FFC"/>
                </a:solidFill>
                <a:latin typeface="Arial"/>
                <a:ea typeface="Arial"/>
                <a:cs typeface="Arial"/>
              </a:defRPr>
            </a:lvl8pPr>
            <a:lvl9pPr algn="l">
              <a:defRPr sz="2925" b="1">
                <a:solidFill>
                  <a:srgbClr val="8A3FFC"/>
                </a:solidFill>
                <a:latin typeface="Arial"/>
                <a:ea typeface="Arial"/>
                <a:cs typeface="Arial"/>
              </a:defRPr>
            </a:lvl9pPr>
          </a:lstStyle>
          <a:p xmlns:a="http://schemas.openxmlformats.org/drawingml/2006/main">
            <a:pPr algn="l">
              <a:defRPr sz="2925" b="1">
                <a:solidFill>
                  <a:srgbClr val="8A3FFC"/>
                </a:solidFill>
                <a:latin typeface="Arial"/>
                <a:ea typeface="Arial"/>
                <a:cs typeface="Arial"/>
              </a:defRPr>
            </a:pPr>
            <a:r>
              <a:rPr sz="2925" b="1">
                <a:solidFill>
                  <a:srgbClr val="8A3FFC"/>
                </a:solidFill>
                <a:latin typeface="Arial"/>
                <a:ea typeface="Arial"/>
                <a:cs typeface="Arial"/>
              </a:rPr>
              <a:t>0.695</a:t>
            </a:r>
          </a:p>
        </p:txBody>
      </p:sp>
      <p:sp>
        <p:nvSpPr>
          <p:cNvPr id="6" name="">
            <a:extLst xmlns:a="http://schemas.openxmlformats.org/drawingml/2006/main">
              <a:ext uri="{FF2B5EF4-FFF2-40B4-BE49-F238E27FC236}">
                <a16:creationId xmlns:a16="http://schemas.microsoft.com/office/drawing/2014/main" id="{9F4C9349-2EA5-4CAF-A0E7-1BA37C6DB3CF}"/>
              </a:ext>
            </a:extLst>
          </p:cNvPr>
          <p:cNvSpPr>
            <a:spLocks xmlns:a="http://schemas.openxmlformats.org/drawingml/2006/main" noGrp="1"/>
          </p:cNvSpPr>
          <p:nvPr/>
        </p:nvSpPr>
        <p:spPr>
          <a:xfrm xmlns:a="http://schemas.openxmlformats.org/drawingml/2006/main">
            <a:off x="8524875" y="3143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noisy-state fidelity</a:t>
            </a:r>
          </a:p>
        </p:txBody>
      </p:sp>
      <p:sp>
        <p:nvSpPr>
          <p:cNvPr id="7" name="">
            <a:extLst xmlns:a="http://schemas.openxmlformats.org/drawingml/2006/main">
              <a:ext uri="{FF2B5EF4-FFF2-40B4-BE49-F238E27FC236}">
                <a16:creationId xmlns:a16="http://schemas.microsoft.com/office/drawing/2014/main" id="{DD1D9DF7-FF84-4D50-84DC-53FF8D7C59E3}"/>
              </a:ext>
            </a:extLst>
          </p:cNvPr>
          <p:cNvSpPr>
            <a:spLocks xmlns:a="http://schemas.openxmlformats.org/drawingml/2006/main" noGrp="1"/>
          </p:cNvSpPr>
          <p:nvPr/>
        </p:nvSpPr>
        <p:spPr>
          <a:xfrm xmlns:a="http://schemas.openxmlformats.org/drawingml/2006/main">
            <a:off x="8524875" y="37623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F62FE"/>
                </a:solidFill>
                <a:latin typeface="Arial"/>
                <a:ea typeface="Arial"/>
                <a:cs typeface="Arial"/>
              </a:defRPr>
            </a:defPPr>
            <a:lvl1pPr algn="l">
              <a:defRPr sz="2925" b="1">
                <a:solidFill>
                  <a:srgbClr val="0F62FE"/>
                </a:solidFill>
                <a:latin typeface="Arial"/>
                <a:ea typeface="Arial"/>
                <a:cs typeface="Arial"/>
              </a:defRPr>
            </a:lvl1pPr>
            <a:lvl2pPr algn="l">
              <a:defRPr sz="2925" b="1">
                <a:solidFill>
                  <a:srgbClr val="0F62FE"/>
                </a:solidFill>
                <a:latin typeface="Arial"/>
                <a:ea typeface="Arial"/>
                <a:cs typeface="Arial"/>
              </a:defRPr>
            </a:lvl2pPr>
            <a:lvl3pPr algn="l">
              <a:defRPr sz="2925" b="1">
                <a:solidFill>
                  <a:srgbClr val="0F62FE"/>
                </a:solidFill>
                <a:latin typeface="Arial"/>
                <a:ea typeface="Arial"/>
                <a:cs typeface="Arial"/>
              </a:defRPr>
            </a:lvl3pPr>
            <a:lvl4pPr algn="l">
              <a:defRPr sz="2925" b="1">
                <a:solidFill>
                  <a:srgbClr val="0F62FE"/>
                </a:solidFill>
                <a:latin typeface="Arial"/>
                <a:ea typeface="Arial"/>
                <a:cs typeface="Arial"/>
              </a:defRPr>
            </a:lvl4pPr>
            <a:lvl5pPr algn="l">
              <a:defRPr sz="2925" b="1">
                <a:solidFill>
                  <a:srgbClr val="0F62FE"/>
                </a:solidFill>
                <a:latin typeface="Arial"/>
                <a:ea typeface="Arial"/>
                <a:cs typeface="Arial"/>
              </a:defRPr>
            </a:lvl5pPr>
            <a:lvl6pPr algn="l">
              <a:defRPr sz="2925" b="1">
                <a:solidFill>
                  <a:srgbClr val="0F62FE"/>
                </a:solidFill>
                <a:latin typeface="Arial"/>
                <a:ea typeface="Arial"/>
                <a:cs typeface="Arial"/>
              </a:defRPr>
            </a:lvl6pPr>
            <a:lvl7pPr algn="l">
              <a:defRPr sz="2925" b="1">
                <a:solidFill>
                  <a:srgbClr val="0F62FE"/>
                </a:solidFill>
                <a:latin typeface="Arial"/>
                <a:ea typeface="Arial"/>
                <a:cs typeface="Arial"/>
              </a:defRPr>
            </a:lvl7pPr>
            <a:lvl8pPr algn="l">
              <a:defRPr sz="2925" b="1">
                <a:solidFill>
                  <a:srgbClr val="0F62FE"/>
                </a:solidFill>
                <a:latin typeface="Arial"/>
                <a:ea typeface="Arial"/>
                <a:cs typeface="Arial"/>
              </a:defRPr>
            </a:lvl8pPr>
            <a:lvl9pPr algn="l">
              <a:defRPr sz="2925" b="1">
                <a:solidFill>
                  <a:srgbClr val="0F62FE"/>
                </a:solidFill>
                <a:latin typeface="Arial"/>
                <a:ea typeface="Arial"/>
                <a:cs typeface="Arial"/>
              </a:defRPr>
            </a:lvl9pPr>
          </a:lstStyle>
          <a:p xmlns:a="http://schemas.openxmlformats.org/drawingml/2006/main">
            <a:pPr algn="l">
              <a:defRPr sz="2925" b="1">
                <a:solidFill>
                  <a:srgbClr val="0F62FE"/>
                </a:solidFill>
                <a:latin typeface="Arial"/>
                <a:ea typeface="Arial"/>
                <a:cs typeface="Arial"/>
              </a:defRPr>
            </a:pPr>
            <a:r>
              <a:rPr sz="2925" b="1">
                <a:solidFill>
                  <a:srgbClr val="0F62FE"/>
                </a:solidFill>
                <a:latin typeface="Arial"/>
                <a:ea typeface="Arial"/>
                <a:cs typeface="Arial"/>
              </a:rPr>
              <a:t>1.004</a:t>
            </a:r>
          </a:p>
        </p:txBody>
      </p:sp>
      <p:sp>
        <p:nvSpPr>
          <p:cNvPr id="8" name="">
            <a:extLst xmlns:a="http://schemas.openxmlformats.org/drawingml/2006/main">
              <a:ext uri="{FF2B5EF4-FFF2-40B4-BE49-F238E27FC236}">
                <a16:creationId xmlns:a16="http://schemas.microsoft.com/office/drawing/2014/main" id="{597A3155-EF81-450B-B58C-29D04BE54A71}"/>
              </a:ext>
            </a:extLst>
          </p:cNvPr>
          <p:cNvSpPr>
            <a:spLocks xmlns:a="http://schemas.openxmlformats.org/drawingml/2006/main" noGrp="1"/>
          </p:cNvSpPr>
          <p:nvPr/>
        </p:nvSpPr>
        <p:spPr>
          <a:xfrm xmlns:a="http://schemas.openxmlformats.org/drawingml/2006/main">
            <a:off x="8524875" y="42672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full-PNA projector estimate</a:t>
            </a:r>
          </a:p>
        </p:txBody>
      </p:sp>
      <p:sp>
        <p:nvSpPr>
          <p:cNvPr id="9" name="">
            <a:extLst xmlns:a="http://schemas.openxmlformats.org/drawingml/2006/main">
              <a:ext uri="{FF2B5EF4-FFF2-40B4-BE49-F238E27FC236}">
                <a16:creationId xmlns:a16="http://schemas.microsoft.com/office/drawing/2014/main" id="{D923FBF5-2789-4865-B1F7-71EE5354852D}"/>
              </a:ext>
            </a:extLst>
          </p:cNvPr>
          <p:cNvSpPr>
            <a:spLocks xmlns:a="http://schemas.openxmlformats.org/drawingml/2006/main" noGrp="1"/>
          </p:cNvSpPr>
          <p:nvPr/>
        </p:nvSpPr>
        <p:spPr>
          <a:xfrm xmlns:a="http://schemas.openxmlformats.org/drawingml/2006/main">
            <a:off x="8524875" y="47148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0.892</a:t>
            </a:r>
          </a:p>
        </p:txBody>
      </p:sp>
      <p:sp>
        <p:nvSpPr>
          <p:cNvPr id="10" name="">
            <a:extLst xmlns:a="http://schemas.openxmlformats.org/drawingml/2006/main">
              <a:ext uri="{FF2B5EF4-FFF2-40B4-BE49-F238E27FC236}">
                <a16:creationId xmlns:a16="http://schemas.microsoft.com/office/drawing/2014/main" id="{2830AA07-4840-4E1C-9D4B-9816D71EB209}"/>
              </a:ext>
            </a:extLst>
          </p:cNvPr>
          <p:cNvSpPr>
            <a:spLocks xmlns:a="http://schemas.openxmlformats.org/drawingml/2006/main" noGrp="1"/>
          </p:cNvSpPr>
          <p:nvPr/>
        </p:nvSpPr>
        <p:spPr>
          <a:xfrm xmlns:a="http://schemas.openxmlformats.org/drawingml/2006/main">
            <a:off x="8524875" y="52197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projector estimate</a:t>
            </a:r>
          </a:p>
        </p:txBody>
      </p:sp>
      <p:sp>
        <p:nvSpPr>
          <p:cNvPr id="11" name="">
            <a:extLst xmlns:a="http://schemas.openxmlformats.org/drawingml/2006/main">
              <a:ext uri="{FF2B5EF4-FFF2-40B4-BE49-F238E27FC236}">
                <a16:creationId xmlns:a16="http://schemas.microsoft.com/office/drawing/2014/main" id="{40F1BCF9-0515-45BC-AC9B-80EA665BBD0D}"/>
              </a:ext>
            </a:extLst>
          </p:cNvPr>
          <p:cNvSpPr>
            <a:spLocks xmlns:a="http://schemas.openxmlformats.org/drawingml/2006/main" noGrp="1"/>
          </p:cNvSpPr>
          <p:nvPr/>
        </p:nvSpPr>
        <p:spPr>
          <a:xfrm xmlns:a="http://schemas.openxmlformats.org/drawingml/2006/main">
            <a:off x="714375" y="5953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5252"/>
                </a:solidFill>
                <a:latin typeface="Arial"/>
                <a:ea typeface="Arial"/>
                <a:cs typeface="Arial"/>
              </a:defRPr>
            </a:defPPr>
            <a:lvl1pPr algn="l">
              <a:defRPr sz="1275" b="0">
                <a:solidFill>
                  <a:srgbClr val="525252"/>
                </a:solidFill>
                <a:latin typeface="Arial"/>
                <a:ea typeface="Arial"/>
                <a:cs typeface="Arial"/>
              </a:defRPr>
            </a:lvl1pPr>
            <a:lvl2pPr algn="l">
              <a:defRPr sz="1275" b="0">
                <a:solidFill>
                  <a:srgbClr val="525252"/>
                </a:solidFill>
                <a:latin typeface="Arial"/>
                <a:ea typeface="Arial"/>
                <a:cs typeface="Arial"/>
              </a:defRPr>
            </a:lvl2pPr>
            <a:lvl3pPr algn="l">
              <a:defRPr sz="1275" b="0">
                <a:solidFill>
                  <a:srgbClr val="525252"/>
                </a:solidFill>
                <a:latin typeface="Arial"/>
                <a:ea typeface="Arial"/>
                <a:cs typeface="Arial"/>
              </a:defRPr>
            </a:lvl3pPr>
            <a:lvl4pPr algn="l">
              <a:defRPr sz="1275" b="0">
                <a:solidFill>
                  <a:srgbClr val="525252"/>
                </a:solidFill>
                <a:latin typeface="Arial"/>
                <a:ea typeface="Arial"/>
                <a:cs typeface="Arial"/>
              </a:defRPr>
            </a:lvl4pPr>
            <a:lvl5pPr algn="l">
              <a:defRPr sz="1275" b="0">
                <a:solidFill>
                  <a:srgbClr val="525252"/>
                </a:solidFill>
                <a:latin typeface="Arial"/>
                <a:ea typeface="Arial"/>
                <a:cs typeface="Arial"/>
              </a:defRPr>
            </a:lvl5pPr>
            <a:lvl6pPr algn="l">
              <a:defRPr sz="1275" b="0">
                <a:solidFill>
                  <a:srgbClr val="525252"/>
                </a:solidFill>
                <a:latin typeface="Arial"/>
                <a:ea typeface="Arial"/>
                <a:cs typeface="Arial"/>
              </a:defRPr>
            </a:lvl6pPr>
            <a:lvl7pPr algn="l">
              <a:defRPr sz="1275" b="0">
                <a:solidFill>
                  <a:srgbClr val="525252"/>
                </a:solidFill>
                <a:latin typeface="Arial"/>
                <a:ea typeface="Arial"/>
                <a:cs typeface="Arial"/>
              </a:defRPr>
            </a:lvl7pPr>
            <a:lvl8pPr algn="l">
              <a:defRPr sz="1275" b="0">
                <a:solidFill>
                  <a:srgbClr val="525252"/>
                </a:solidFill>
                <a:latin typeface="Arial"/>
                <a:ea typeface="Arial"/>
                <a:cs typeface="Arial"/>
              </a:defRPr>
            </a:lvl8pPr>
            <a:lvl9pPr algn="l">
              <a:defRPr sz="1275" b="0">
                <a:solidFill>
                  <a:srgbClr val="525252"/>
                </a:solidFill>
                <a:latin typeface="Arial"/>
                <a:ea typeface="Arial"/>
                <a:cs typeface="Arial"/>
              </a:defRPr>
            </a:lvl9pPr>
          </a:lstStyle>
          <a:p xmlns:a="http://schemas.openxmlformats.org/drawingml/2006/main">
            <a:pPr algn="l">
              <a:defRPr sz="1275" b="0">
                <a:solidFill>
                  <a:srgbClr val="525252"/>
                </a:solidFill>
                <a:latin typeface="Arial"/>
                <a:ea typeface="Arial"/>
                <a:cs typeface="Arial"/>
              </a:defRPr>
            </a:pPr>
            <a:r>
              <a:rPr sz="1275" b="0">
                <a:solidFill>
                  <a:srgbClr val="525252"/>
                </a:solidFill>
                <a:latin typeface="Arial"/>
                <a:ea typeface="Arial"/>
                <a:cs typeface="Arial"/>
              </a:rPr>
              <a:t>Corrected projector values are estimates and can exceed 1; physical fidelity cannot.</a:t>
            </a:r>
          </a:p>
        </p:txBody>
      </p:sp>
    </p:spTree>
    <p:extLst>
      <p:ext uri="{BB962C8B-B14F-4D97-AF65-F5344CB8AC3E}">
        <p14:creationId xmlns:p14="http://schemas.microsoft.com/office/powerpoint/2010/main" val="1814117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2C9AB-0090-44B5-B87F-53F512A78F4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ECBB636-F92A-484F-8EDB-FCC55725406B}"/>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lowered setup time across the sweep</a:t>
            </a:r>
          </a:p>
        </p:txBody>
      </p:sp>
      <p:graphicFrame>
        <p:nvGraphicFramePr>
          <p:cNvPr id="3" name="Chart">
            <a:extLst xmlns:a="http://schemas.openxmlformats.org/drawingml/2006/main">
              <a:ext uri="{FF2B5EF4-FFF2-40B4-BE49-F238E27FC236}">
                <a16:creationId xmlns:a16="http://schemas.microsoft.com/office/drawing/2014/main" id="{C6FAD4BB-1906-4E61-9385-CFEC75FAB593}"/>
              </a:ext>
            </a:extLst>
          </p:cNvPr>
          <p:cNvGraphicFramePr/>
          <p:nvPr/>
        </p:nvGraphicFramePr>
        <p:xfrm>
          <a:off xmlns:a="http://schemas.openxmlformats.org/drawingml/2006/main" x="666750" y="1762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e14e3ed800245ef"/>
          </a:graphicData>
        </a:graphic>
      </p:graphicFrame>
      <p:sp>
        <p:nvSpPr>
          <p:cNvPr id="4" name="">
            <a:extLst xmlns:a="http://schemas.openxmlformats.org/drawingml/2006/main">
              <a:ext uri="{FF2B5EF4-FFF2-40B4-BE49-F238E27FC236}">
                <a16:creationId xmlns:a16="http://schemas.microsoft.com/office/drawing/2014/main" id="{C4654DFA-B64F-4411-B871-5801C9804249}"/>
              </a:ext>
            </a:extLst>
          </p:cNvPr>
          <p:cNvSpPr>
            <a:spLocks xmlns:a="http://schemas.openxmlformats.org/drawingml/2006/main" noGrp="1"/>
          </p:cNvSpPr>
          <p:nvPr/>
        </p:nvSpPr>
        <p:spPr>
          <a:xfrm xmlns:a="http://schemas.openxmlformats.org/drawingml/2006/main">
            <a:off x="8572500" y="2238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06849C10-8829-485F-BD92-7D8003DE26FA}"/>
              </a:ext>
            </a:extLst>
          </p:cNvPr>
          <p:cNvSpPr>
            <a:spLocks xmlns:a="http://schemas.openxmlformats.org/drawingml/2006/main" noGrp="1"/>
          </p:cNvSpPr>
          <p:nvPr/>
        </p:nvSpPr>
        <p:spPr>
          <a:xfrm xmlns:a="http://schemas.openxmlformats.org/drawingml/2006/main">
            <a:off x="8572500" y="27241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525252"/>
                </a:solidFill>
                <a:latin typeface="Arial"/>
                <a:ea typeface="Arial"/>
                <a:cs typeface="Arial"/>
              </a:defRPr>
            </a:defPPr>
            <a:lvl1pPr algn="l">
              <a:defRPr sz="2850" b="1">
                <a:solidFill>
                  <a:srgbClr val="525252"/>
                </a:solidFill>
                <a:latin typeface="Arial"/>
                <a:ea typeface="Arial"/>
                <a:cs typeface="Arial"/>
              </a:defRPr>
            </a:lvl1pPr>
            <a:lvl2pPr algn="l">
              <a:defRPr sz="2850" b="1">
                <a:solidFill>
                  <a:srgbClr val="525252"/>
                </a:solidFill>
                <a:latin typeface="Arial"/>
                <a:ea typeface="Arial"/>
                <a:cs typeface="Arial"/>
              </a:defRPr>
            </a:lvl2pPr>
            <a:lvl3pPr algn="l">
              <a:defRPr sz="2850" b="1">
                <a:solidFill>
                  <a:srgbClr val="525252"/>
                </a:solidFill>
                <a:latin typeface="Arial"/>
                <a:ea typeface="Arial"/>
                <a:cs typeface="Arial"/>
              </a:defRPr>
            </a:lvl3pPr>
            <a:lvl4pPr algn="l">
              <a:defRPr sz="2850" b="1">
                <a:solidFill>
                  <a:srgbClr val="525252"/>
                </a:solidFill>
                <a:latin typeface="Arial"/>
                <a:ea typeface="Arial"/>
                <a:cs typeface="Arial"/>
              </a:defRPr>
            </a:lvl4pPr>
            <a:lvl5pPr algn="l">
              <a:defRPr sz="2850" b="1">
                <a:solidFill>
                  <a:srgbClr val="525252"/>
                </a:solidFill>
                <a:latin typeface="Arial"/>
                <a:ea typeface="Arial"/>
                <a:cs typeface="Arial"/>
              </a:defRPr>
            </a:lvl5pPr>
            <a:lvl6pPr algn="l">
              <a:defRPr sz="2850" b="1">
                <a:solidFill>
                  <a:srgbClr val="525252"/>
                </a:solidFill>
                <a:latin typeface="Arial"/>
                <a:ea typeface="Arial"/>
                <a:cs typeface="Arial"/>
              </a:defRPr>
            </a:lvl6pPr>
            <a:lvl7pPr algn="l">
              <a:defRPr sz="2850" b="1">
                <a:solidFill>
                  <a:srgbClr val="525252"/>
                </a:solidFill>
                <a:latin typeface="Arial"/>
                <a:ea typeface="Arial"/>
                <a:cs typeface="Arial"/>
              </a:defRPr>
            </a:lvl7pPr>
            <a:lvl8pPr algn="l">
              <a:defRPr sz="2850" b="1">
                <a:solidFill>
                  <a:srgbClr val="525252"/>
                </a:solidFill>
                <a:latin typeface="Arial"/>
                <a:ea typeface="Arial"/>
                <a:cs typeface="Arial"/>
              </a:defRPr>
            </a:lvl8pPr>
            <a:lvl9pPr algn="l">
              <a:defRPr sz="2850" b="1">
                <a:solidFill>
                  <a:srgbClr val="525252"/>
                </a:solidFill>
                <a:latin typeface="Arial"/>
                <a:ea typeface="Arial"/>
                <a:cs typeface="Arial"/>
              </a:defRPr>
            </a:lvl9pPr>
          </a:lstStyle>
          <a:p xmlns:a="http://schemas.openxmlformats.org/drawingml/2006/main">
            <a:pPr algn="l">
              <a:defRPr sz="2850" b="1">
                <a:solidFill>
                  <a:srgbClr val="525252"/>
                </a:solidFill>
                <a:latin typeface="Arial"/>
                <a:ea typeface="Arial"/>
                <a:cs typeface="Arial"/>
              </a:defRPr>
            </a:pPr>
            <a:r>
              <a:rPr sz="2850" b="1">
                <a:solidFill>
                  <a:srgbClr val="525252"/>
                </a:solidFill>
                <a:latin typeface="Arial"/>
                <a:ea typeface="Arial"/>
                <a:cs typeface="Arial"/>
              </a:rPr>
              <a:t>1.23 s</a:t>
            </a:r>
          </a:p>
        </p:txBody>
      </p:sp>
      <p:sp>
        <p:nvSpPr>
          <p:cNvPr id="6" name="">
            <a:extLst xmlns:a="http://schemas.openxmlformats.org/drawingml/2006/main">
              <a:ext uri="{FF2B5EF4-FFF2-40B4-BE49-F238E27FC236}">
                <a16:creationId xmlns:a16="http://schemas.microsoft.com/office/drawing/2014/main" id="{98643797-9A54-4189-A495-7D73F7F608B9}"/>
              </a:ext>
            </a:extLst>
          </p:cNvPr>
          <p:cNvSpPr>
            <a:spLocks xmlns:a="http://schemas.openxmlformats.org/drawingml/2006/main" noGrp="1"/>
          </p:cNvSpPr>
          <p:nvPr/>
        </p:nvSpPr>
        <p:spPr>
          <a:xfrm xmlns:a="http://schemas.openxmlformats.org/drawingml/2006/main">
            <a:off x="8572500" y="32385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 PNA setup</a:t>
            </a:r>
          </a:p>
        </p:txBody>
      </p:sp>
      <p:sp>
        <p:nvSpPr>
          <p:cNvPr id="7" name="">
            <a:extLst xmlns:a="http://schemas.openxmlformats.org/drawingml/2006/main">
              <a:ext uri="{FF2B5EF4-FFF2-40B4-BE49-F238E27FC236}">
                <a16:creationId xmlns:a16="http://schemas.microsoft.com/office/drawing/2014/main" id="{26F4C300-58C4-40F3-8A24-ABB4553A11BC}"/>
              </a:ext>
            </a:extLst>
          </p:cNvPr>
          <p:cNvSpPr>
            <a:spLocks xmlns:a="http://schemas.openxmlformats.org/drawingml/2006/main" noGrp="1"/>
          </p:cNvSpPr>
          <p:nvPr/>
        </p:nvSpPr>
        <p:spPr>
          <a:xfrm xmlns:a="http://schemas.openxmlformats.org/drawingml/2006/main">
            <a:off x="8572500" y="38290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9D9A"/>
                </a:solidFill>
                <a:latin typeface="Arial"/>
                <a:ea typeface="Arial"/>
                <a:cs typeface="Arial"/>
              </a:defRPr>
            </a:defPPr>
            <a:lvl1pPr algn="l">
              <a:defRPr sz="2850" b="1">
                <a:solidFill>
                  <a:srgbClr val="009D9A"/>
                </a:solidFill>
                <a:latin typeface="Arial"/>
                <a:ea typeface="Arial"/>
                <a:cs typeface="Arial"/>
              </a:defRPr>
            </a:lvl1pPr>
            <a:lvl2pPr algn="l">
              <a:defRPr sz="2850" b="1">
                <a:solidFill>
                  <a:srgbClr val="009D9A"/>
                </a:solidFill>
                <a:latin typeface="Arial"/>
                <a:ea typeface="Arial"/>
                <a:cs typeface="Arial"/>
              </a:defRPr>
            </a:lvl2pPr>
            <a:lvl3pPr algn="l">
              <a:defRPr sz="2850" b="1">
                <a:solidFill>
                  <a:srgbClr val="009D9A"/>
                </a:solidFill>
                <a:latin typeface="Arial"/>
                <a:ea typeface="Arial"/>
                <a:cs typeface="Arial"/>
              </a:defRPr>
            </a:lvl3pPr>
            <a:lvl4pPr algn="l">
              <a:defRPr sz="2850" b="1">
                <a:solidFill>
                  <a:srgbClr val="009D9A"/>
                </a:solidFill>
                <a:latin typeface="Arial"/>
                <a:ea typeface="Arial"/>
                <a:cs typeface="Arial"/>
              </a:defRPr>
            </a:lvl4pPr>
            <a:lvl5pPr algn="l">
              <a:defRPr sz="2850" b="1">
                <a:solidFill>
                  <a:srgbClr val="009D9A"/>
                </a:solidFill>
                <a:latin typeface="Arial"/>
                <a:ea typeface="Arial"/>
                <a:cs typeface="Arial"/>
              </a:defRPr>
            </a:lvl5pPr>
            <a:lvl6pPr algn="l">
              <a:defRPr sz="2850" b="1">
                <a:solidFill>
                  <a:srgbClr val="009D9A"/>
                </a:solidFill>
                <a:latin typeface="Arial"/>
                <a:ea typeface="Arial"/>
                <a:cs typeface="Arial"/>
              </a:defRPr>
            </a:lvl6pPr>
            <a:lvl7pPr algn="l">
              <a:defRPr sz="2850" b="1">
                <a:solidFill>
                  <a:srgbClr val="009D9A"/>
                </a:solidFill>
                <a:latin typeface="Arial"/>
                <a:ea typeface="Arial"/>
                <a:cs typeface="Arial"/>
              </a:defRPr>
            </a:lvl7pPr>
            <a:lvl8pPr algn="l">
              <a:defRPr sz="2850" b="1">
                <a:solidFill>
                  <a:srgbClr val="009D9A"/>
                </a:solidFill>
                <a:latin typeface="Arial"/>
                <a:ea typeface="Arial"/>
                <a:cs typeface="Arial"/>
              </a:defRPr>
            </a:lvl8pPr>
            <a:lvl9pPr algn="l">
              <a:defRPr sz="2850" b="1">
                <a:solidFill>
                  <a:srgbClr val="009D9A"/>
                </a:solidFill>
                <a:latin typeface="Arial"/>
                <a:ea typeface="Arial"/>
                <a:cs typeface="Arial"/>
              </a:defRPr>
            </a:lvl9pPr>
          </a:lstStyle>
          <a:p xmlns:a="http://schemas.openxmlformats.org/drawingml/2006/main">
            <a:pPr algn="l">
              <a:defRPr sz="2850" b="1">
                <a:solidFill>
                  <a:srgbClr val="009D9A"/>
                </a:solidFill>
                <a:latin typeface="Arial"/>
                <a:ea typeface="Arial"/>
                <a:cs typeface="Arial"/>
              </a:defRPr>
            </a:pPr>
            <a:r>
              <a:rPr sz="2850" b="1">
                <a:solidFill>
                  <a:srgbClr val="009D9A"/>
                </a:solidFill>
                <a:latin typeface="Arial"/>
                <a:ea typeface="Arial"/>
                <a:cs typeface="Arial"/>
              </a:rPr>
              <a:t>1.12 s</a:t>
            </a:r>
          </a:p>
        </p:txBody>
      </p:sp>
      <p:sp>
        <p:nvSpPr>
          <p:cNvPr id="8" name="">
            <a:extLst xmlns:a="http://schemas.openxmlformats.org/drawingml/2006/main">
              <a:ext uri="{FF2B5EF4-FFF2-40B4-BE49-F238E27FC236}">
                <a16:creationId xmlns:a16="http://schemas.microsoft.com/office/drawing/2014/main" id="{436154C5-F6B9-447D-B991-4F5AC371B548}"/>
              </a:ext>
            </a:extLst>
          </p:cNvPr>
          <p:cNvSpPr>
            <a:spLocks xmlns:a="http://schemas.openxmlformats.org/drawingml/2006/main" noGrp="1"/>
          </p:cNvSpPr>
          <p:nvPr/>
        </p:nvSpPr>
        <p:spPr>
          <a:xfrm xmlns:a="http://schemas.openxmlformats.org/drawingml/2006/main">
            <a:off x="8572500" y="43434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setup (9% less)</a:t>
            </a:r>
          </a:p>
        </p:txBody>
      </p:sp>
      <p:sp>
        <p:nvSpPr>
          <p:cNvPr id="9" name="">
            <a:extLst xmlns:a="http://schemas.openxmlformats.org/drawingml/2006/main">
              <a:ext uri="{FF2B5EF4-FFF2-40B4-BE49-F238E27FC236}">
                <a16:creationId xmlns:a16="http://schemas.microsoft.com/office/drawing/2014/main" id="{08C1C361-A538-4997-8AFF-311E005DCAE5}"/>
              </a:ext>
            </a:extLst>
          </p:cNvPr>
          <p:cNvSpPr>
            <a:spLocks xmlns:a="http://schemas.openxmlformats.org/drawingml/2006/main" noGrp="1"/>
          </p:cNvSpPr>
          <p:nvPr/>
        </p:nvSpPr>
        <p:spPr>
          <a:xfrm xmlns:a="http://schemas.openxmlformats.org/drawingml/2006/main">
            <a:off x="6858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Times are local preprocessing measurements, not quantum-hardware run times.</a:t>
            </a:r>
          </a:p>
        </p:txBody>
      </p:sp>
    </p:spTree>
    <p:extLst>
      <p:ext uri="{BB962C8B-B14F-4D97-AF65-F5344CB8AC3E}">
        <p14:creationId xmlns:p14="http://schemas.microsoft.com/office/powerpoint/2010/main" val="6964731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B262CB-A0DD-4774-8818-BC3C08044448}"/>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07FC588-BFFC-484D-BDD2-F50C649AEF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FF312046-1282-4871-BF55-14051E9C70A8}"/>
              </a:ext>
            </a:extLst>
          </p:cNvPr>
          <p:cNvSpPr>
            <a:spLocks xmlns:a="http://schemas.openxmlformats.org/drawingml/2006/main" noGrp="1"/>
          </p:cNvSpPr>
          <p:nvPr/>
        </p:nvSpPr>
        <p:spPr>
          <a:xfrm xmlns:a="http://schemas.openxmlformats.org/drawingml/2006/main">
            <a:off x="685800" y="176212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F62FE"/>
                </a:solidFill>
                <a:latin typeface="Arial"/>
                <a:ea typeface="Arial"/>
                <a:cs typeface="Arial"/>
              </a:defRPr>
            </a:defPPr>
            <a:lvl1pPr algn="l">
              <a:defRPr sz="2025" b="1">
                <a:solidFill>
                  <a:srgbClr val="0F62FE"/>
                </a:solidFill>
                <a:latin typeface="Arial"/>
                <a:ea typeface="Arial"/>
                <a:cs typeface="Arial"/>
              </a:defRPr>
            </a:lvl1pPr>
            <a:lvl2pPr algn="l">
              <a:defRPr sz="2025" b="1">
                <a:solidFill>
                  <a:srgbClr val="0F62FE"/>
                </a:solidFill>
                <a:latin typeface="Arial"/>
                <a:ea typeface="Arial"/>
                <a:cs typeface="Arial"/>
              </a:defRPr>
            </a:lvl2pPr>
            <a:lvl3pPr algn="l">
              <a:defRPr sz="2025" b="1">
                <a:solidFill>
                  <a:srgbClr val="0F62FE"/>
                </a:solidFill>
                <a:latin typeface="Arial"/>
                <a:ea typeface="Arial"/>
                <a:cs typeface="Arial"/>
              </a:defRPr>
            </a:lvl3pPr>
            <a:lvl4pPr algn="l">
              <a:defRPr sz="2025" b="1">
                <a:solidFill>
                  <a:srgbClr val="0F62FE"/>
                </a:solidFill>
                <a:latin typeface="Arial"/>
                <a:ea typeface="Arial"/>
                <a:cs typeface="Arial"/>
              </a:defRPr>
            </a:lvl4pPr>
            <a:lvl5pPr algn="l">
              <a:defRPr sz="2025" b="1">
                <a:solidFill>
                  <a:srgbClr val="0F62FE"/>
                </a:solidFill>
                <a:latin typeface="Arial"/>
                <a:ea typeface="Arial"/>
                <a:cs typeface="Arial"/>
              </a:defRPr>
            </a:lvl5pPr>
            <a:lvl6pPr algn="l">
              <a:defRPr sz="2025" b="1">
                <a:solidFill>
                  <a:srgbClr val="0F62FE"/>
                </a:solidFill>
                <a:latin typeface="Arial"/>
                <a:ea typeface="Arial"/>
                <a:cs typeface="Arial"/>
              </a:defRPr>
            </a:lvl6pPr>
            <a:lvl7pPr algn="l">
              <a:defRPr sz="2025" b="1">
                <a:solidFill>
                  <a:srgbClr val="0F62FE"/>
                </a:solidFill>
                <a:latin typeface="Arial"/>
                <a:ea typeface="Arial"/>
                <a:cs typeface="Arial"/>
              </a:defRPr>
            </a:lvl7pPr>
            <a:lvl8pPr algn="l">
              <a:defRPr sz="2025" b="1">
                <a:solidFill>
                  <a:srgbClr val="0F62FE"/>
                </a:solidFill>
                <a:latin typeface="Arial"/>
                <a:ea typeface="Arial"/>
                <a:cs typeface="Arial"/>
              </a:defRPr>
            </a:lvl8pPr>
            <a:lvl9pPr algn="l">
              <a:defRPr sz="2025" b="1">
                <a:solidFill>
                  <a:srgbClr val="0F62FE"/>
                </a:solidFill>
                <a:latin typeface="Arial"/>
                <a:ea typeface="Arial"/>
                <a:cs typeface="Arial"/>
              </a:defRPr>
            </a:lvl9pPr>
          </a:lstStyle>
          <a:p xmlns:a="http://schemas.openxmlformats.org/drawingml/2006/main">
            <a:pPr algn="l">
              <a:defRPr sz="2025" b="1">
                <a:solidFill>
                  <a:srgbClr val="0F62FE"/>
                </a:solidFill>
                <a:latin typeface="Arial"/>
                <a:ea typeface="Arial"/>
                <a:cs typeface="Arial"/>
              </a:defRPr>
            </a:pPr>
            <a:r>
              <a:rPr sz="2025" b="1">
                <a:solidFill>
                  <a:srgbClr val="0F62FE"/>
                </a:solidFill>
                <a:latin typeface="Arial"/>
                <a:ea typeface="Arial"/>
                <a:cs typeface="Arial"/>
              </a:rPr>
              <a:t>PNA helped</a:t>
            </a:r>
          </a:p>
        </p:txBody>
      </p:sp>
      <p:sp>
        <p:nvSpPr>
          <p:cNvPr id="4" name="">
            <a:extLst xmlns:a="http://schemas.openxmlformats.org/drawingml/2006/main">
              <a:ext uri="{FF2B5EF4-FFF2-40B4-BE49-F238E27FC236}">
                <a16:creationId xmlns:a16="http://schemas.microsoft.com/office/drawing/2014/main" id="{E3964BBA-9EC7-43AC-B18B-8A99A5C891EC}"/>
              </a:ext>
            </a:extLst>
          </p:cNvPr>
          <p:cNvSpPr>
            <a:spLocks xmlns:a="http://schemas.openxmlformats.org/drawingml/2006/main" noGrp="1"/>
          </p:cNvSpPr>
          <p:nvPr/>
        </p:nvSpPr>
        <p:spPr>
          <a:xfrm xmlns:a="http://schemas.openxmlformats.org/drawingml/2006/main">
            <a:off x="685800" y="222885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moved the measured value closer to the ideal result at all three noise levels.</a:t>
            </a:r>
          </a:p>
        </p:txBody>
      </p:sp>
      <p:sp>
        <p:nvSpPr>
          <p:cNvPr id="5" name="">
            <a:extLst xmlns:a="http://schemas.openxmlformats.org/drawingml/2006/main">
              <a:ext uri="{FF2B5EF4-FFF2-40B4-BE49-F238E27FC236}">
                <a16:creationId xmlns:a16="http://schemas.microsoft.com/office/drawing/2014/main" id="{231FD9EF-C441-4555-9B0C-DC4AB2DE3E41}"/>
              </a:ext>
            </a:extLst>
          </p:cNvPr>
          <p:cNvSpPr>
            <a:spLocks xmlns:a="http://schemas.openxmlformats.org/drawingml/2006/main" noGrp="1"/>
          </p:cNvSpPr>
          <p:nvPr/>
        </p:nvSpPr>
        <p:spPr>
          <a:xfrm xmlns:a="http://schemas.openxmlformats.org/drawingml/2006/main">
            <a:off x="685800" y="3314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09D9A"/>
                </a:solidFill>
                <a:latin typeface="Arial"/>
                <a:ea typeface="Arial"/>
                <a:cs typeface="Arial"/>
              </a:defRPr>
            </a:defPPr>
            <a:lvl1pPr algn="l">
              <a:defRPr sz="2025" b="1">
                <a:solidFill>
                  <a:srgbClr val="009D9A"/>
                </a:solidFill>
                <a:latin typeface="Arial"/>
                <a:ea typeface="Arial"/>
                <a:cs typeface="Arial"/>
              </a:defRPr>
            </a:lvl1pPr>
            <a:lvl2pPr algn="l">
              <a:defRPr sz="2025" b="1">
                <a:solidFill>
                  <a:srgbClr val="009D9A"/>
                </a:solidFill>
                <a:latin typeface="Arial"/>
                <a:ea typeface="Arial"/>
                <a:cs typeface="Arial"/>
              </a:defRPr>
            </a:lvl2pPr>
            <a:lvl3pPr algn="l">
              <a:defRPr sz="2025" b="1">
                <a:solidFill>
                  <a:srgbClr val="009D9A"/>
                </a:solidFill>
                <a:latin typeface="Arial"/>
                <a:ea typeface="Arial"/>
                <a:cs typeface="Arial"/>
              </a:defRPr>
            </a:lvl3pPr>
            <a:lvl4pPr algn="l">
              <a:defRPr sz="2025" b="1">
                <a:solidFill>
                  <a:srgbClr val="009D9A"/>
                </a:solidFill>
                <a:latin typeface="Arial"/>
                <a:ea typeface="Arial"/>
                <a:cs typeface="Arial"/>
              </a:defRPr>
            </a:lvl4pPr>
            <a:lvl5pPr algn="l">
              <a:defRPr sz="2025" b="1">
                <a:solidFill>
                  <a:srgbClr val="009D9A"/>
                </a:solidFill>
                <a:latin typeface="Arial"/>
                <a:ea typeface="Arial"/>
                <a:cs typeface="Arial"/>
              </a:defRPr>
            </a:lvl5pPr>
            <a:lvl6pPr algn="l">
              <a:defRPr sz="2025" b="1">
                <a:solidFill>
                  <a:srgbClr val="009D9A"/>
                </a:solidFill>
                <a:latin typeface="Arial"/>
                <a:ea typeface="Arial"/>
                <a:cs typeface="Arial"/>
              </a:defRPr>
            </a:lvl6pPr>
            <a:lvl7pPr algn="l">
              <a:defRPr sz="2025" b="1">
                <a:solidFill>
                  <a:srgbClr val="009D9A"/>
                </a:solidFill>
                <a:latin typeface="Arial"/>
                <a:ea typeface="Arial"/>
                <a:cs typeface="Arial"/>
              </a:defRPr>
            </a:lvl7pPr>
            <a:lvl8pPr algn="l">
              <a:defRPr sz="2025" b="1">
                <a:solidFill>
                  <a:srgbClr val="009D9A"/>
                </a:solidFill>
                <a:latin typeface="Arial"/>
                <a:ea typeface="Arial"/>
                <a:cs typeface="Arial"/>
              </a:defRPr>
            </a:lvl8pPr>
            <a:lvl9pPr algn="l">
              <a:defRPr sz="2025" b="1">
                <a:solidFill>
                  <a:srgbClr val="009D9A"/>
                </a:solidFill>
                <a:latin typeface="Arial"/>
                <a:ea typeface="Arial"/>
                <a:cs typeface="Arial"/>
              </a:defRPr>
            </a:lvl9pPr>
          </a:lstStyle>
          <a:p xmlns:a="http://schemas.openxmlformats.org/drawingml/2006/main">
            <a:pPr algn="l">
              <a:defRPr sz="2025" b="1">
                <a:solidFill>
                  <a:srgbClr val="009D9A"/>
                </a:solidFill>
                <a:latin typeface="Arial"/>
                <a:ea typeface="Arial"/>
                <a:cs typeface="Arial"/>
              </a:defRPr>
            </a:pPr>
            <a:r>
              <a:rPr sz="2025" b="1">
                <a:solidFill>
                  <a:srgbClr val="009D9A"/>
                </a:solidFill>
                <a:latin typeface="Arial"/>
                <a:ea typeface="Arial"/>
                <a:cs typeface="Arial"/>
              </a:rPr>
              <a:t>SLC traded a little accuracy for lower cost</a:t>
            </a:r>
          </a:p>
        </p:txBody>
      </p:sp>
      <p:sp>
        <p:nvSpPr>
          <p:cNvPr id="6" name="">
            <a:extLst xmlns:a="http://schemas.openxmlformats.org/drawingml/2006/main">
              <a:ext uri="{FF2B5EF4-FFF2-40B4-BE49-F238E27FC236}">
                <a16:creationId xmlns:a16="http://schemas.microsoft.com/office/drawing/2014/main" id="{C4F5B85F-403C-4E5F-8C48-B8A50E861C98}"/>
              </a:ext>
            </a:extLst>
          </p:cNvPr>
          <p:cNvSpPr>
            <a:spLocks xmlns:a="http://schemas.openxmlformats.org/drawingml/2006/main" noGrp="1"/>
          </p:cNvSpPr>
          <p:nvPr/>
        </p:nvSpPr>
        <p:spPr>
          <a:xfrm xmlns:a="http://schemas.openxmlformats.org/drawingml/2006/main">
            <a:off x="685800" y="3781425"/>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dropped low-impact error terms and lowered the estimated sampling cost, with a small allowed bias.</a:t>
            </a:r>
          </a:p>
        </p:txBody>
      </p:sp>
      <p:sp>
        <p:nvSpPr>
          <p:cNvPr id="7" name="">
            <a:extLst xmlns:a="http://schemas.openxmlformats.org/drawingml/2006/main">
              <a:ext uri="{FF2B5EF4-FFF2-40B4-BE49-F238E27FC236}">
                <a16:creationId xmlns:a16="http://schemas.microsoft.com/office/drawing/2014/main" id="{97BFFFE9-4144-49D3-8D43-94BFFDC51F39}"/>
              </a:ext>
            </a:extLst>
          </p:cNvPr>
          <p:cNvSpPr>
            <a:spLocks xmlns:a="http://schemas.openxmlformats.org/drawingml/2006/main" noGrp="1"/>
          </p:cNvSpPr>
          <p:nvPr/>
        </p:nvSpPr>
        <p:spPr>
          <a:xfrm xmlns:a="http://schemas.openxmlformats.org/drawingml/2006/main">
            <a:off x="685800" y="48768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8A3FFC"/>
                </a:solidFill>
                <a:latin typeface="Arial"/>
                <a:ea typeface="Arial"/>
                <a:cs typeface="Arial"/>
              </a:defRPr>
            </a:defPPr>
            <a:lvl1pPr algn="l">
              <a:defRPr sz="2025" b="1">
                <a:solidFill>
                  <a:srgbClr val="8A3FFC"/>
                </a:solidFill>
                <a:latin typeface="Arial"/>
                <a:ea typeface="Arial"/>
                <a:cs typeface="Arial"/>
              </a:defRPr>
            </a:lvl1pPr>
            <a:lvl2pPr algn="l">
              <a:defRPr sz="2025" b="1">
                <a:solidFill>
                  <a:srgbClr val="8A3FFC"/>
                </a:solidFill>
                <a:latin typeface="Arial"/>
                <a:ea typeface="Arial"/>
                <a:cs typeface="Arial"/>
              </a:defRPr>
            </a:lvl2pPr>
            <a:lvl3pPr algn="l">
              <a:defRPr sz="2025" b="1">
                <a:solidFill>
                  <a:srgbClr val="8A3FFC"/>
                </a:solidFill>
                <a:latin typeface="Arial"/>
                <a:ea typeface="Arial"/>
                <a:cs typeface="Arial"/>
              </a:defRPr>
            </a:lvl3pPr>
            <a:lvl4pPr algn="l">
              <a:defRPr sz="2025" b="1">
                <a:solidFill>
                  <a:srgbClr val="8A3FFC"/>
                </a:solidFill>
                <a:latin typeface="Arial"/>
                <a:ea typeface="Arial"/>
                <a:cs typeface="Arial"/>
              </a:defRPr>
            </a:lvl4pPr>
            <a:lvl5pPr algn="l">
              <a:defRPr sz="2025" b="1">
                <a:solidFill>
                  <a:srgbClr val="8A3FFC"/>
                </a:solidFill>
                <a:latin typeface="Arial"/>
                <a:ea typeface="Arial"/>
                <a:cs typeface="Arial"/>
              </a:defRPr>
            </a:lvl5pPr>
            <a:lvl6pPr algn="l">
              <a:defRPr sz="2025" b="1">
                <a:solidFill>
                  <a:srgbClr val="8A3FFC"/>
                </a:solidFill>
                <a:latin typeface="Arial"/>
                <a:ea typeface="Arial"/>
                <a:cs typeface="Arial"/>
              </a:defRPr>
            </a:lvl6pPr>
            <a:lvl7pPr algn="l">
              <a:defRPr sz="2025" b="1">
                <a:solidFill>
                  <a:srgbClr val="8A3FFC"/>
                </a:solidFill>
                <a:latin typeface="Arial"/>
                <a:ea typeface="Arial"/>
                <a:cs typeface="Arial"/>
              </a:defRPr>
            </a:lvl7pPr>
            <a:lvl8pPr algn="l">
              <a:defRPr sz="2025" b="1">
                <a:solidFill>
                  <a:srgbClr val="8A3FFC"/>
                </a:solidFill>
                <a:latin typeface="Arial"/>
                <a:ea typeface="Arial"/>
                <a:cs typeface="Arial"/>
              </a:defRPr>
            </a:lvl8pPr>
            <a:lvl9pPr algn="l">
              <a:defRPr sz="2025" b="1">
                <a:solidFill>
                  <a:srgbClr val="8A3FFC"/>
                </a:solidFill>
                <a:latin typeface="Arial"/>
                <a:ea typeface="Arial"/>
                <a:cs typeface="Arial"/>
              </a:defRPr>
            </a:lvl9pPr>
          </a:lstStyle>
          <a:p xmlns:a="http://schemas.openxmlformats.org/drawingml/2006/main">
            <a:pPr algn="l">
              <a:defRPr sz="2025" b="1">
                <a:solidFill>
                  <a:srgbClr val="8A3FFC"/>
                </a:solidFill>
                <a:latin typeface="Arial"/>
                <a:ea typeface="Arial"/>
                <a:cs typeface="Arial"/>
              </a:defRPr>
            </a:pPr>
            <a:r>
              <a:rPr sz="2025" b="1">
                <a:solidFill>
                  <a:srgbClr val="8A3FFC"/>
                </a:solidFill>
                <a:latin typeface="Arial"/>
                <a:ea typeface="Arial"/>
                <a:cs typeface="Arial"/>
              </a:rPr>
              <a:t>Next step for a hardware-ready result</a:t>
            </a:r>
          </a:p>
        </p:txBody>
      </p:sp>
      <p:sp>
        <p:nvSpPr>
          <p:cNvPr id="8" name="">
            <a:extLst xmlns:a="http://schemas.openxmlformats.org/drawingml/2006/main">
              <a:ext uri="{FF2B5EF4-FFF2-40B4-BE49-F238E27FC236}">
                <a16:creationId xmlns:a16="http://schemas.microsoft.com/office/drawing/2014/main" id="{515E7DA1-36B5-4C70-B447-74530BD4EA33}"/>
              </a:ext>
            </a:extLst>
          </p:cNvPr>
          <p:cNvSpPr>
            <a:spLocks xmlns:a="http://schemas.openxmlformats.org/drawingml/2006/main" noGrp="1"/>
          </p:cNvSpPr>
          <p:nvPr/>
        </p:nvSpPr>
        <p:spPr>
          <a:xfrm xmlns:a="http://schemas.openxmlformats.org/drawingml/2006/main">
            <a:off x="685800" y="534352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Connect NoiseLearnerV3 to an IBM Quantum backend, then rerun the same workflow with measured rates.</a:t>
            </a:r>
          </a:p>
        </p:txBody>
      </p:sp>
    </p:spTree>
    <p:extLst>
      <p:ext uri="{BB962C8B-B14F-4D97-AF65-F5344CB8AC3E}">
        <p14:creationId xmlns:p14="http://schemas.microsoft.com/office/powerpoint/2010/main" val="270122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C541DD-408C-43C6-9F54-413237CAA06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9B4B5D3-93E8-4199-B495-B179A24423DE}"/>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Spacetime checks &amp; error detection</a:t>
            </a:r>
          </a:p>
        </p:txBody>
      </p:sp>
      <p:sp>
        <p:nvSpPr>
          <p:cNvPr id="3" name="">
            <a:extLst xmlns:a="http://schemas.openxmlformats.org/drawingml/2006/main">
              <a:ext uri="{FF2B5EF4-FFF2-40B4-BE49-F238E27FC236}">
                <a16:creationId xmlns:a16="http://schemas.microsoft.com/office/drawing/2014/main" id="{72734005-6EB1-4671-82F7-41E0811BF316}"/>
              </a:ext>
            </a:extLst>
          </p:cNvPr>
          <p:cNvSpPr>
            <a:spLocks xmlns:a="http://schemas.openxmlformats.org/drawingml/2006/main" noGrp="1"/>
          </p:cNvSpPr>
          <p:nvPr/>
        </p:nvSpPr>
        <p:spPr>
          <a:xfrm xmlns:a="http://schemas.openxmlformats.org/drawingml/2006/main">
            <a:off x="685800" y="180975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61616"/>
                </a:solidFill>
                <a:latin typeface="Arial"/>
                <a:ea typeface="Arial"/>
                <a:cs typeface="Arial"/>
              </a:defRPr>
            </a:defPPr>
            <a:lvl1pPr algn="l">
              <a:defRPr sz="2250" b="1">
                <a:solidFill>
                  <a:srgbClr val="161616"/>
                </a:solidFill>
                <a:latin typeface="Arial"/>
                <a:ea typeface="Arial"/>
                <a:cs typeface="Arial"/>
              </a:defRPr>
            </a:lvl1pPr>
            <a:lvl2pPr algn="l">
              <a:defRPr sz="2250" b="1">
                <a:solidFill>
                  <a:srgbClr val="161616"/>
                </a:solidFill>
                <a:latin typeface="Arial"/>
                <a:ea typeface="Arial"/>
                <a:cs typeface="Arial"/>
              </a:defRPr>
            </a:lvl2pPr>
            <a:lvl3pPr algn="l">
              <a:defRPr sz="2250" b="1">
                <a:solidFill>
                  <a:srgbClr val="161616"/>
                </a:solidFill>
                <a:latin typeface="Arial"/>
                <a:ea typeface="Arial"/>
                <a:cs typeface="Arial"/>
              </a:defRPr>
            </a:lvl3pPr>
            <a:lvl4pPr algn="l">
              <a:defRPr sz="2250" b="1">
                <a:solidFill>
                  <a:srgbClr val="161616"/>
                </a:solidFill>
                <a:latin typeface="Arial"/>
                <a:ea typeface="Arial"/>
                <a:cs typeface="Arial"/>
              </a:defRPr>
            </a:lvl4pPr>
            <a:lvl5pPr algn="l">
              <a:defRPr sz="2250" b="1">
                <a:solidFill>
                  <a:srgbClr val="161616"/>
                </a:solidFill>
                <a:latin typeface="Arial"/>
                <a:ea typeface="Arial"/>
                <a:cs typeface="Arial"/>
              </a:defRPr>
            </a:lvl5pPr>
            <a:lvl6pPr algn="l">
              <a:defRPr sz="2250" b="1">
                <a:solidFill>
                  <a:srgbClr val="161616"/>
                </a:solidFill>
                <a:latin typeface="Arial"/>
                <a:ea typeface="Arial"/>
                <a:cs typeface="Arial"/>
              </a:defRPr>
            </a:lvl6pPr>
            <a:lvl7pPr algn="l">
              <a:defRPr sz="2250" b="1">
                <a:solidFill>
                  <a:srgbClr val="161616"/>
                </a:solidFill>
                <a:latin typeface="Arial"/>
                <a:ea typeface="Arial"/>
                <a:cs typeface="Arial"/>
              </a:defRPr>
            </a:lvl7pPr>
            <a:lvl8pPr algn="l">
              <a:defRPr sz="2250" b="1">
                <a:solidFill>
                  <a:srgbClr val="161616"/>
                </a:solidFill>
                <a:latin typeface="Arial"/>
                <a:ea typeface="Arial"/>
                <a:cs typeface="Arial"/>
              </a:defRPr>
            </a:lvl8pPr>
            <a:lvl9pPr algn="l">
              <a:defRPr sz="2250" b="1">
                <a:solidFill>
                  <a:srgbClr val="161616"/>
                </a:solidFill>
                <a:latin typeface="Arial"/>
                <a:ea typeface="Arial"/>
                <a:cs typeface="Arial"/>
              </a:defRPr>
            </a:lvl9pPr>
          </a:lstStyle>
          <a:p xmlns:a="http://schemas.openxmlformats.org/drawingml/2006/main">
            <a:pPr algn="l">
              <a:defRPr sz="2250" b="1">
                <a:solidFill>
                  <a:srgbClr val="161616"/>
                </a:solidFill>
                <a:latin typeface="Arial"/>
                <a:ea typeface="Arial"/>
                <a:cs typeface="Arial"/>
              </a:defRPr>
            </a:pPr>
            <a:r>
              <a:rPr sz="2250" b="1">
                <a:solidFill>
                  <a:srgbClr val="161616"/>
                </a:solidFill>
                <a:latin typeface="Arial"/>
                <a:ea typeface="Arial"/>
                <a:cs typeface="Arial"/>
              </a:rPr>
              <a:t>A simulator study of Pauli checks, syndrome filtering, and output distributions.</a:t>
            </a:r>
          </a:p>
        </p:txBody>
      </p:sp>
      <p:sp>
        <p:nvSpPr>
          <p:cNvPr id="4" name="">
            <a:extLst xmlns:a="http://schemas.openxmlformats.org/drawingml/2006/main">
              <a:ext uri="{FF2B5EF4-FFF2-40B4-BE49-F238E27FC236}">
                <a16:creationId xmlns:a16="http://schemas.microsoft.com/office/drawing/2014/main" id="{D3ACAB7B-048C-498E-8950-5DF2FAA92C93}"/>
              </a:ext>
            </a:extLst>
          </p:cNvPr>
          <p:cNvSpPr>
            <a:spLocks xmlns:a="http://schemas.openxmlformats.org/drawingml/2006/main" noGrp="1"/>
          </p:cNvSpPr>
          <p:nvPr/>
        </p:nvSpPr>
        <p:spPr>
          <a:xfrm xmlns:a="http://schemas.openxmlformats.org/drawingml/2006/main">
            <a:off x="685800" y="30480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5252"/>
                </a:solidFill>
                <a:latin typeface="Arial"/>
                <a:ea typeface="Arial"/>
                <a:cs typeface="Arial"/>
              </a:defRPr>
            </a:defPPr>
            <a:lvl1pPr algn="l">
              <a:defRPr sz="1875" b="0">
                <a:solidFill>
                  <a:srgbClr val="525252"/>
                </a:solidFill>
                <a:latin typeface="Arial"/>
                <a:ea typeface="Arial"/>
                <a:cs typeface="Arial"/>
              </a:defRPr>
            </a:lvl1pPr>
            <a:lvl2pPr algn="l">
              <a:defRPr sz="1875" b="0">
                <a:solidFill>
                  <a:srgbClr val="525252"/>
                </a:solidFill>
                <a:latin typeface="Arial"/>
                <a:ea typeface="Arial"/>
                <a:cs typeface="Arial"/>
              </a:defRPr>
            </a:lvl2pPr>
            <a:lvl3pPr algn="l">
              <a:defRPr sz="1875" b="0">
                <a:solidFill>
                  <a:srgbClr val="525252"/>
                </a:solidFill>
                <a:latin typeface="Arial"/>
                <a:ea typeface="Arial"/>
                <a:cs typeface="Arial"/>
              </a:defRPr>
            </a:lvl3pPr>
            <a:lvl4pPr algn="l">
              <a:defRPr sz="1875" b="0">
                <a:solidFill>
                  <a:srgbClr val="525252"/>
                </a:solidFill>
                <a:latin typeface="Arial"/>
                <a:ea typeface="Arial"/>
                <a:cs typeface="Arial"/>
              </a:defRPr>
            </a:lvl4pPr>
            <a:lvl5pPr algn="l">
              <a:defRPr sz="1875" b="0">
                <a:solidFill>
                  <a:srgbClr val="525252"/>
                </a:solidFill>
                <a:latin typeface="Arial"/>
                <a:ea typeface="Arial"/>
                <a:cs typeface="Arial"/>
              </a:defRPr>
            </a:lvl5pPr>
            <a:lvl6pPr algn="l">
              <a:defRPr sz="1875" b="0">
                <a:solidFill>
                  <a:srgbClr val="525252"/>
                </a:solidFill>
                <a:latin typeface="Arial"/>
                <a:ea typeface="Arial"/>
                <a:cs typeface="Arial"/>
              </a:defRPr>
            </a:lvl6pPr>
            <a:lvl7pPr algn="l">
              <a:defRPr sz="1875" b="0">
                <a:solidFill>
                  <a:srgbClr val="525252"/>
                </a:solidFill>
                <a:latin typeface="Arial"/>
                <a:ea typeface="Arial"/>
                <a:cs typeface="Arial"/>
              </a:defRPr>
            </a:lvl7pPr>
            <a:lvl8pPr algn="l">
              <a:defRPr sz="1875" b="0">
                <a:solidFill>
                  <a:srgbClr val="525252"/>
                </a:solidFill>
                <a:latin typeface="Arial"/>
                <a:ea typeface="Arial"/>
                <a:cs typeface="Arial"/>
              </a:defRPr>
            </a:lvl8pPr>
            <a:lvl9pPr algn="l">
              <a:defRPr sz="1875" b="0">
                <a:solidFill>
                  <a:srgbClr val="525252"/>
                </a:solidFill>
                <a:latin typeface="Arial"/>
                <a:ea typeface="Arial"/>
                <a:cs typeface="Arial"/>
              </a:defRPr>
            </a:lvl9pPr>
          </a:lstStyle>
          <a:p xmlns:a="http://schemas.openxmlformats.org/drawingml/2006/main">
            <a:pPr algn="l">
              <a:defRPr sz="1875" b="0">
                <a:solidFill>
                  <a:srgbClr val="525252"/>
                </a:solidFill>
                <a:latin typeface="Arial"/>
                <a:ea typeface="Arial"/>
                <a:cs typeface="Arial"/>
              </a:defRPr>
            </a:pPr>
            <a:r>
              <a:rPr sz="1875" b="0">
                <a:solidFill>
                  <a:srgbClr val="525252"/>
                </a:solidFill>
                <a:latin typeface="Arial"/>
                <a:ea typeface="Arial"/>
                <a:cs typeface="Arial"/>
              </a:rPr>
              <a:t>The experiment inserts checks into a small Clifford circuit, rejects shots with non-zero syndrome, and compares the resulting measurement distributions.</a:t>
            </a:r>
          </a:p>
        </p:txBody>
      </p:sp>
      <p:sp>
        <p:nvSpPr>
          <p:cNvPr id="5" name="">
            <a:extLst xmlns:a="http://schemas.openxmlformats.org/drawingml/2006/main">
              <a:ext uri="{FF2B5EF4-FFF2-40B4-BE49-F238E27FC236}">
                <a16:creationId xmlns:a16="http://schemas.microsoft.com/office/drawing/2014/main" id="{CB5C6D66-A560-41DA-AA36-F77DD8F93E50}"/>
              </a:ext>
            </a:extLst>
          </p:cNvPr>
          <p:cNvSpPr>
            <a:spLocks xmlns:a="http://schemas.openxmlformats.org/drawingml/2006/main" noGrp="1"/>
          </p:cNvSpPr>
          <p:nvPr/>
        </p:nvSpPr>
        <p:spPr>
          <a:xfrm xmlns:a="http://schemas.openxmlformats.org/drawingml/2006/main">
            <a:off x="685800" y="509587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DETECT  ·  FILTER  ·  COMPARE</a:t>
            </a:r>
          </a:p>
        </p:txBody>
      </p:sp>
    </p:spTree>
    <p:extLst>
      <p:ext uri="{BB962C8B-B14F-4D97-AF65-F5344CB8AC3E}">
        <p14:creationId xmlns:p14="http://schemas.microsoft.com/office/powerpoint/2010/main" val="20923094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CA517-DA23-494C-B437-F9BB2D99D676}"/>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5D42C14-3419-4792-9896-A64D433E6ED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Why error detection matters</a:t>
            </a:r>
          </a:p>
        </p:txBody>
      </p:sp>
      <p:sp>
        <p:nvSpPr>
          <p:cNvPr id="3" name="">
            <a:extLst xmlns:a="http://schemas.openxmlformats.org/drawingml/2006/main">
              <a:ext uri="{FF2B5EF4-FFF2-40B4-BE49-F238E27FC236}">
                <a16:creationId xmlns:a16="http://schemas.microsoft.com/office/drawing/2014/main" id="{F55BCEE9-D1C8-4946-AACF-3DED81B9B92D}"/>
              </a:ext>
            </a:extLst>
          </p:cNvPr>
          <p:cNvSpPr>
            <a:spLocks xmlns:a="http://schemas.openxmlformats.org/drawingml/2006/main" noGrp="1"/>
          </p:cNvSpPr>
          <p:nvPr/>
        </p:nvSpPr>
        <p:spPr>
          <a:xfrm xmlns:a="http://schemas.openxmlformats.org/drawingml/2006/main">
            <a:off x="685800" y="1809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Quantum noise</a:t>
            </a:r>
          </a:p>
        </p:txBody>
      </p:sp>
      <p:sp>
        <p:nvSpPr>
          <p:cNvPr id="4" name="">
            <a:extLst xmlns:a="http://schemas.openxmlformats.org/drawingml/2006/main">
              <a:ext uri="{FF2B5EF4-FFF2-40B4-BE49-F238E27FC236}">
                <a16:creationId xmlns:a16="http://schemas.microsoft.com/office/drawing/2014/main" id="{A7E974FD-6537-409E-A769-EB096FAFAABB}"/>
              </a:ext>
            </a:extLst>
          </p:cNvPr>
          <p:cNvSpPr>
            <a:spLocks xmlns:a="http://schemas.openxmlformats.org/drawingml/2006/main" noGrp="1"/>
          </p:cNvSpPr>
          <p:nvPr/>
        </p:nvSpPr>
        <p:spPr>
          <a:xfrm xmlns:a="http://schemas.openxmlformats.org/drawingml/2006/main">
            <a:off x="685800" y="225742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Gates and measurements can introduce errors that change the output.</a:t>
            </a:r>
          </a:p>
        </p:txBody>
      </p:sp>
      <p:sp>
        <p:nvSpPr>
          <p:cNvPr id="5" name="">
            <a:extLst xmlns:a="http://schemas.openxmlformats.org/drawingml/2006/main">
              <a:ext uri="{FF2B5EF4-FFF2-40B4-BE49-F238E27FC236}">
                <a16:creationId xmlns:a16="http://schemas.microsoft.com/office/drawing/2014/main" id="{9C9FDE6C-764E-4C1E-B6C7-5FBCBAA6C70B}"/>
              </a:ext>
            </a:extLst>
          </p:cNvPr>
          <p:cNvSpPr>
            <a:spLocks xmlns:a="http://schemas.openxmlformats.org/drawingml/2006/main" noGrp="1"/>
          </p:cNvSpPr>
          <p:nvPr/>
        </p:nvSpPr>
        <p:spPr>
          <a:xfrm xmlns:a="http://schemas.openxmlformats.org/drawingml/2006/main">
            <a:off x="4429125"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 evidence</a:t>
            </a:r>
          </a:p>
        </p:txBody>
      </p:sp>
      <p:sp>
        <p:nvSpPr>
          <p:cNvPr id="6" name="">
            <a:extLst xmlns:a="http://schemas.openxmlformats.org/drawingml/2006/main">
              <a:ext uri="{FF2B5EF4-FFF2-40B4-BE49-F238E27FC236}">
                <a16:creationId xmlns:a16="http://schemas.microsoft.com/office/drawing/2014/main" id="{8E64BD5D-7375-4772-AC55-0F96F3BCCEC8}"/>
              </a:ext>
            </a:extLst>
          </p:cNvPr>
          <p:cNvSpPr>
            <a:spLocks xmlns:a="http://schemas.openxmlformats.org/drawingml/2006/main" noGrp="1"/>
          </p:cNvSpPr>
          <p:nvPr/>
        </p:nvSpPr>
        <p:spPr>
          <a:xfrm xmlns:a="http://schemas.openxmlformats.org/drawingml/2006/main">
            <a:off x="4429125" y="2257425"/>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Extra checks can flag some corrupted shots, but add more operations and noise exposure.</a:t>
            </a:r>
          </a:p>
        </p:txBody>
      </p:sp>
      <p:sp>
        <p:nvSpPr>
          <p:cNvPr id="7" name="">
            <a:extLst xmlns:a="http://schemas.openxmlformats.org/drawingml/2006/main">
              <a:ext uri="{FF2B5EF4-FFF2-40B4-BE49-F238E27FC236}">
                <a16:creationId xmlns:a16="http://schemas.microsoft.com/office/drawing/2014/main" id="{1DFEB8F3-8F89-4483-87F9-22B8E1F813F6}"/>
              </a:ext>
            </a:extLst>
          </p:cNvPr>
          <p:cNvSpPr>
            <a:spLocks xmlns:a="http://schemas.openxmlformats.org/drawingml/2006/main" noGrp="1"/>
          </p:cNvSpPr>
          <p:nvPr/>
        </p:nvSpPr>
        <p:spPr>
          <a:xfrm xmlns:a="http://schemas.openxmlformats.org/drawingml/2006/main">
            <a:off x="8191500"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Research question</a:t>
            </a:r>
          </a:p>
        </p:txBody>
      </p:sp>
      <p:sp>
        <p:nvSpPr>
          <p:cNvPr id="8" name="">
            <a:extLst xmlns:a="http://schemas.openxmlformats.org/drawingml/2006/main">
              <a:ext uri="{FF2B5EF4-FFF2-40B4-BE49-F238E27FC236}">
                <a16:creationId xmlns:a16="http://schemas.microsoft.com/office/drawing/2014/main" id="{06BB53FF-9045-4679-A612-3143D03B1069}"/>
              </a:ext>
            </a:extLst>
          </p:cNvPr>
          <p:cNvSpPr>
            <a:spLocks xmlns:a="http://schemas.openxmlformats.org/drawingml/2006/main" noGrp="1"/>
          </p:cNvSpPr>
          <p:nvPr/>
        </p:nvSpPr>
        <p:spPr>
          <a:xfrm xmlns:a="http://schemas.openxmlformats.org/drawingml/2006/main">
            <a:off x="8191500" y="2257425"/>
            <a:ext cx="3190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How does check placement relate to fidelity after post-selection?</a:t>
            </a:r>
          </a:p>
        </p:txBody>
      </p:sp>
      <p:sp>
        <p:nvSpPr>
          <p:cNvPr id="9" name="">
            <a:extLst xmlns:a="http://schemas.openxmlformats.org/drawingml/2006/main">
              <a:ext uri="{FF2B5EF4-FFF2-40B4-BE49-F238E27FC236}">
                <a16:creationId xmlns:a16="http://schemas.microsoft.com/office/drawing/2014/main" id="{5C8280D5-AEC8-42F3-96B3-583CBD32D8EA}"/>
              </a:ext>
            </a:extLst>
          </p:cNvPr>
          <p:cNvSpPr>
            <a:spLocks xmlns:a="http://schemas.openxmlformats.org/drawingml/2006/main" noGrp="1"/>
          </p:cNvSpPr>
          <p:nvPr/>
        </p:nvSpPr>
        <p:spPr>
          <a:xfrm xmlns:a="http://schemas.openxmlformats.org/drawingml/2006/main">
            <a:off x="685800" y="476250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Goal: compare unfiltered and filtered output distributions in a reproducible simulator.</a:t>
            </a:r>
          </a:p>
        </p:txBody>
      </p:sp>
    </p:spTree>
    <p:extLst>
      <p:ext uri="{BB962C8B-B14F-4D97-AF65-F5344CB8AC3E}">
        <p14:creationId xmlns:p14="http://schemas.microsoft.com/office/powerpoint/2010/main" val="3514083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BD75E-7A7A-44CC-A5AE-62CB2570EF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791187DC-CF06-46AA-B21A-CEC814FB4CA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the Track 1 prototype does</a:t>
            </a:r>
          </a:p>
        </p:txBody>
      </p:sp>
      <p:sp>
        <p:nvSpPr>
          <p:cNvPr id="3" name="">
            <a:extLst xmlns:a="http://schemas.openxmlformats.org/drawingml/2006/main">
              <a:ext uri="{FF2B5EF4-FFF2-40B4-BE49-F238E27FC236}">
                <a16:creationId xmlns:a16="http://schemas.microsoft.com/office/drawing/2014/main" id="{55C57AF2-0D5E-4B49-864F-5C10236348C1}"/>
              </a:ext>
            </a:extLst>
          </p:cNvPr>
          <p:cNvSpPr>
            <a:spLocks xmlns:a="http://schemas.openxmlformats.org/drawingml/2006/main" noGrp="1"/>
          </p:cNvSpPr>
          <p:nvPr/>
        </p:nvSpPr>
        <p:spPr>
          <a:xfrm xmlns:a="http://schemas.openxmlformats.org/drawingml/2006/main">
            <a:off x="685800" y="1714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EXPERIMENT</a:t>
            </a:r>
          </a:p>
        </p:txBody>
      </p:sp>
      <p:sp>
        <p:nvSpPr>
          <p:cNvPr id="4" name="">
            <a:extLst xmlns:a="http://schemas.openxmlformats.org/drawingml/2006/main">
              <a:ext uri="{FF2B5EF4-FFF2-40B4-BE49-F238E27FC236}">
                <a16:creationId xmlns:a16="http://schemas.microsoft.com/office/drawing/2014/main" id="{1B2E964C-FF9D-4E5A-BA44-842AE2A39D12}"/>
              </a:ext>
            </a:extLst>
          </p:cNvPr>
          <p:cNvSpPr>
            <a:spLocks xmlns:a="http://schemas.openxmlformats.org/drawingml/2006/main" noGrp="1"/>
          </p:cNvSpPr>
          <p:nvPr/>
        </p:nvSpPr>
        <p:spPr>
          <a:xfrm xmlns:a="http://schemas.openxmlformats.org/drawingml/2006/main">
            <a:off x="6858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Build a three-qubit Clifford circuit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Insert Pauli checks with Qiskit Paulice</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Inspect support bits and interactions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Apply a custom syndrome-parity filter</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Compare output distributions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Run a separate T-doped comparison</a:t>
            </a:r>
          </a:p>
        </p:txBody>
      </p:sp>
      <p:sp>
        <p:nvSpPr>
          <p:cNvPr id="5" name="">
            <a:extLst xmlns:a="http://schemas.openxmlformats.org/drawingml/2006/main">
              <a:ext uri="{FF2B5EF4-FFF2-40B4-BE49-F238E27FC236}">
                <a16:creationId xmlns:a16="http://schemas.microsoft.com/office/drawing/2014/main" id="{408CF4F4-4C19-4270-8591-AA9EAB6AEBA5}"/>
              </a:ext>
            </a:extLst>
          </p:cNvPr>
          <p:cNvSpPr>
            <a:spLocks xmlns:a="http://schemas.openxmlformats.org/drawingml/2006/main" noGrp="1"/>
          </p:cNvSpPr>
          <p:nvPr/>
        </p:nvSpPr>
        <p:spPr>
          <a:xfrm xmlns:a="http://schemas.openxmlformats.org/drawingml/2006/main">
            <a:off x="6477000" y="1714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DF708D2D-DD99-42B9-A608-D916DD05120B}"/>
              </a:ext>
            </a:extLst>
          </p:cNvPr>
          <p:cNvSpPr>
            <a:spLocks xmlns:a="http://schemas.openxmlformats.org/drawingml/2006/main" noGrp="1"/>
          </p:cNvSpPr>
          <p:nvPr/>
        </p:nvSpPr>
        <p:spPr>
          <a:xfrm xmlns:a="http://schemas.openxmlformats.org/drawingml/2006/main">
            <a:off x="6477000" y="209550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A working simulator prototype, not a hardware experiment or full fault-tolerant logical computation.</a:t>
            </a:r>
          </a:p>
        </p:txBody>
      </p:sp>
      <p:sp>
        <p:nvSpPr>
          <p:cNvPr id="7" name="">
            <a:extLst xmlns:a="http://schemas.openxmlformats.org/drawingml/2006/main">
              <a:ext uri="{FF2B5EF4-FFF2-40B4-BE49-F238E27FC236}">
                <a16:creationId xmlns:a16="http://schemas.microsoft.com/office/drawing/2014/main" id="{C97460EF-10ED-4DFF-86FC-DB4D9B2BB33A}"/>
              </a:ext>
            </a:extLst>
          </p:cNvPr>
          <p:cNvSpPr>
            <a:spLocks xmlns:a="http://schemas.openxmlformats.org/drawingml/2006/main" noGrp="1"/>
          </p:cNvSpPr>
          <p:nvPr/>
        </p:nvSpPr>
        <p:spPr>
          <a:xfrm xmlns:a="http://schemas.openxmlformats.org/drawingml/2006/main">
            <a:off x="6477000" y="3524250"/>
            <a:ext cx="4667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The T-doped comparison is separate: the documented Paulice workflow is Clifford-focused, so we do not claim validated checks on that circuit.</a:t>
            </a:r>
          </a:p>
        </p:txBody>
      </p:sp>
    </p:spTree>
    <p:extLst>
      <p:ext uri="{BB962C8B-B14F-4D97-AF65-F5344CB8AC3E}">
        <p14:creationId xmlns:p14="http://schemas.microsoft.com/office/powerpoint/2010/main" val="11740381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F21F36-3DC5-43A8-852C-3B22B856A5DA}"/>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B4D2F53D-834D-4155-89D5-20238A20905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Five terms used in the check experiment</a:t>
            </a:r>
          </a:p>
        </p:txBody>
      </p:sp>
      <p:sp>
        <p:nvSpPr>
          <p:cNvPr id="3" name="">
            <a:extLst xmlns:a="http://schemas.openxmlformats.org/drawingml/2006/main">
              <a:ext uri="{FF2B5EF4-FFF2-40B4-BE49-F238E27FC236}">
                <a16:creationId xmlns:a16="http://schemas.microsoft.com/office/drawing/2014/main" id="{E4953CB7-26EC-4ED4-9344-8718A28ECA73}"/>
              </a:ext>
            </a:extLst>
          </p:cNvPr>
          <p:cNvSpPr>
            <a:spLocks xmlns:a="http://schemas.openxmlformats.org/drawingml/2006/main" noGrp="1"/>
          </p:cNvSpPr>
          <p:nvPr/>
        </p:nvSpPr>
        <p:spPr>
          <a:xfrm xmlns:a="http://schemas.openxmlformats.org/drawingml/2006/main">
            <a:off x="6858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Pauli check</a:t>
            </a:r>
          </a:p>
        </p:txBody>
      </p:sp>
      <p:sp>
        <p:nvSpPr>
          <p:cNvPr id="4" name="">
            <a:extLst xmlns:a="http://schemas.openxmlformats.org/drawingml/2006/main">
              <a:ext uri="{FF2B5EF4-FFF2-40B4-BE49-F238E27FC236}">
                <a16:creationId xmlns:a16="http://schemas.microsoft.com/office/drawing/2014/main" id="{FB3B9D31-4DA2-4F14-A7E3-1F4B68C947E8}"/>
              </a:ext>
            </a:extLst>
          </p:cNvPr>
          <p:cNvSpPr>
            <a:spLocks xmlns:a="http://schemas.openxmlformats.org/drawingml/2006/main" noGrp="1"/>
          </p:cNvSpPr>
          <p:nvPr/>
        </p:nvSpPr>
        <p:spPr>
          <a:xfrm xmlns:a="http://schemas.openxmlformats.org/drawingml/2006/main">
            <a:off x="6858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An ancilla-based operation sequence that probes a Pauli-related parity.</a:t>
            </a:r>
          </a:p>
        </p:txBody>
      </p:sp>
      <p:sp>
        <p:nvSpPr>
          <p:cNvPr id="5" name="">
            <a:extLst xmlns:a="http://schemas.openxmlformats.org/drawingml/2006/main">
              <a:ext uri="{FF2B5EF4-FFF2-40B4-BE49-F238E27FC236}">
                <a16:creationId xmlns:a16="http://schemas.microsoft.com/office/drawing/2014/main" id="{D2666B5C-DF79-4D0B-97D6-43DE90AC1F0A}"/>
              </a:ext>
            </a:extLst>
          </p:cNvPr>
          <p:cNvSpPr>
            <a:spLocks xmlns:a="http://schemas.openxmlformats.org/drawingml/2006/main" noGrp="1"/>
          </p:cNvSpPr>
          <p:nvPr/>
        </p:nvSpPr>
        <p:spPr>
          <a:xfrm xmlns:a="http://schemas.openxmlformats.org/drawingml/2006/main">
            <a:off x="62865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a:t>
            </a:r>
          </a:p>
        </p:txBody>
      </p:sp>
      <p:sp>
        <p:nvSpPr>
          <p:cNvPr id="6" name="">
            <a:extLst xmlns:a="http://schemas.openxmlformats.org/drawingml/2006/main">
              <a:ext uri="{FF2B5EF4-FFF2-40B4-BE49-F238E27FC236}">
                <a16:creationId xmlns:a16="http://schemas.microsoft.com/office/drawing/2014/main" id="{A288DA80-A683-4378-8A59-DC6A03719377}"/>
              </a:ext>
            </a:extLst>
          </p:cNvPr>
          <p:cNvSpPr>
            <a:spLocks xmlns:a="http://schemas.openxmlformats.org/drawingml/2006/main" noGrp="1"/>
          </p:cNvSpPr>
          <p:nvPr/>
        </p:nvSpPr>
        <p:spPr>
          <a:xfrm xmlns:a="http://schemas.openxmlformats.org/drawingml/2006/main">
            <a:off x="62865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parity calculated from measured bits; non-zero marks a shot for rejection.</a:t>
            </a:r>
          </a:p>
        </p:txBody>
      </p:sp>
      <p:sp>
        <p:nvSpPr>
          <p:cNvPr id="7" name="">
            <a:extLst xmlns:a="http://schemas.openxmlformats.org/drawingml/2006/main">
              <a:ext uri="{FF2B5EF4-FFF2-40B4-BE49-F238E27FC236}">
                <a16:creationId xmlns:a16="http://schemas.microsoft.com/office/drawing/2014/main" id="{9060CD3A-B30D-4527-BBC7-EFBC4764C9EF}"/>
              </a:ext>
            </a:extLst>
          </p:cNvPr>
          <p:cNvSpPr>
            <a:spLocks xmlns:a="http://schemas.openxmlformats.org/drawingml/2006/main" noGrp="1"/>
          </p:cNvSpPr>
          <p:nvPr/>
        </p:nvSpPr>
        <p:spPr>
          <a:xfrm xmlns:a="http://schemas.openxmlformats.org/drawingml/2006/main">
            <a:off x="6858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Post-selection</a:t>
            </a:r>
          </a:p>
        </p:txBody>
      </p:sp>
      <p:sp>
        <p:nvSpPr>
          <p:cNvPr id="8" name="">
            <a:extLst xmlns:a="http://schemas.openxmlformats.org/drawingml/2006/main">
              <a:ext uri="{FF2B5EF4-FFF2-40B4-BE49-F238E27FC236}">
                <a16:creationId xmlns:a16="http://schemas.microsoft.com/office/drawing/2014/main" id="{6EBABBDE-C422-4F04-845F-14D7EC542966}"/>
              </a:ext>
            </a:extLst>
          </p:cNvPr>
          <p:cNvSpPr>
            <a:spLocks xmlns:a="http://schemas.openxmlformats.org/drawingml/2006/main" noGrp="1"/>
          </p:cNvSpPr>
          <p:nvPr/>
        </p:nvSpPr>
        <p:spPr>
          <a:xfrm xmlns:a="http://schemas.openxmlformats.org/drawingml/2006/main">
            <a:off x="6858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Keep shots that pass the chosen syndrome rule; discard the rest.</a:t>
            </a:r>
          </a:p>
        </p:txBody>
      </p:sp>
      <p:sp>
        <p:nvSpPr>
          <p:cNvPr id="9" name="">
            <a:extLst xmlns:a="http://schemas.openxmlformats.org/drawingml/2006/main">
              <a:ext uri="{FF2B5EF4-FFF2-40B4-BE49-F238E27FC236}">
                <a16:creationId xmlns:a16="http://schemas.microsoft.com/office/drawing/2014/main" id="{47A04DC8-0057-4354-8C55-B40FAF31807C}"/>
              </a:ext>
            </a:extLst>
          </p:cNvPr>
          <p:cNvSpPr>
            <a:spLocks xmlns:a="http://schemas.openxmlformats.org/drawingml/2006/main" noGrp="1"/>
          </p:cNvSpPr>
          <p:nvPr/>
        </p:nvSpPr>
        <p:spPr>
          <a:xfrm xmlns:a="http://schemas.openxmlformats.org/drawingml/2006/main">
            <a:off x="62865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Interaction span</a:t>
            </a:r>
          </a:p>
        </p:txBody>
      </p:sp>
      <p:sp>
        <p:nvSpPr>
          <p:cNvPr id="10" name="">
            <a:extLst xmlns:a="http://schemas.openxmlformats.org/drawingml/2006/main">
              <a:ext uri="{FF2B5EF4-FFF2-40B4-BE49-F238E27FC236}">
                <a16:creationId xmlns:a16="http://schemas.microsoft.com/office/drawing/2014/main" id="{B47A2D98-4A71-4E0E-832B-24214AC9B0E7}"/>
              </a:ext>
            </a:extLst>
          </p:cNvPr>
          <p:cNvSpPr>
            <a:spLocks xmlns:a="http://schemas.openxmlformats.org/drawingml/2006/main" noGrp="1"/>
          </p:cNvSpPr>
          <p:nvPr/>
        </p:nvSpPr>
        <p:spPr>
          <a:xfrm xmlns:a="http://schemas.openxmlformats.org/drawingml/2006/main">
            <a:off x="62865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Instruction-index gap between the first and last recorded check interaction.</a:t>
            </a:r>
          </a:p>
        </p:txBody>
      </p:sp>
      <p:sp>
        <p:nvSpPr>
          <p:cNvPr id="11" name="">
            <a:extLst xmlns:a="http://schemas.openxmlformats.org/drawingml/2006/main">
              <a:ext uri="{FF2B5EF4-FFF2-40B4-BE49-F238E27FC236}">
                <a16:creationId xmlns:a16="http://schemas.microsoft.com/office/drawing/2014/main" id="{A016F8EF-B028-4E42-B6CF-0CE7A700FB87}"/>
              </a:ext>
            </a:extLst>
          </p:cNvPr>
          <p:cNvSpPr>
            <a:spLocks xmlns:a="http://schemas.openxmlformats.org/drawingml/2006/main" noGrp="1"/>
          </p:cNvSpPr>
          <p:nvPr/>
        </p:nvSpPr>
        <p:spPr>
          <a:xfrm xmlns:a="http://schemas.openxmlformats.org/drawingml/2006/main">
            <a:off x="685800" y="4572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Distribution fidelity</a:t>
            </a:r>
          </a:p>
        </p:txBody>
      </p:sp>
      <p:sp>
        <p:nvSpPr>
          <p:cNvPr id="12" name="">
            <a:extLst xmlns:a="http://schemas.openxmlformats.org/drawingml/2006/main">
              <a:ext uri="{FF2B5EF4-FFF2-40B4-BE49-F238E27FC236}">
                <a16:creationId xmlns:a16="http://schemas.microsoft.com/office/drawing/2014/main" id="{4CBB2073-B3D6-41D1-B1EF-C1B51E1AA5A7}"/>
              </a:ext>
            </a:extLst>
          </p:cNvPr>
          <p:cNvSpPr>
            <a:spLocks xmlns:a="http://schemas.openxmlformats.org/drawingml/2006/main" noGrp="1"/>
          </p:cNvSpPr>
          <p:nvPr/>
        </p:nvSpPr>
        <p:spPr>
          <a:xfrm xmlns:a="http://schemas.openxmlformats.org/drawingml/2006/main">
            <a:off x="685800" y="4953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Squared Bhattacharyya overlap between ideal and observed output probabilities.</a:t>
            </a:r>
          </a:p>
        </p:txBody>
      </p:sp>
    </p:spTree>
    <p:extLst>
      <p:ext uri="{BB962C8B-B14F-4D97-AF65-F5344CB8AC3E}">
        <p14:creationId xmlns:p14="http://schemas.microsoft.com/office/powerpoint/2010/main" val="9200572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8CC320-E227-4A7C-90EF-F41B781BF53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47FCBD9-4EDC-4CD7-BFA1-912CC5BA081F}"/>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experimental workflow</a:t>
            </a:r>
          </a:p>
        </p:txBody>
      </p:sp>
      <p:sp>
        <p:nvSpPr>
          <p:cNvPr id="3" name="">
            <a:extLst xmlns:a="http://schemas.openxmlformats.org/drawingml/2006/main">
              <a:ext uri="{FF2B5EF4-FFF2-40B4-BE49-F238E27FC236}">
                <a16:creationId xmlns:a16="http://schemas.microsoft.com/office/drawing/2014/main" id="{2B74D65A-2473-46B2-BFF9-D92F085CBF9C}"/>
              </a:ext>
            </a:extLst>
          </p:cNvPr>
          <p:cNvSpPr>
            <a:spLocks xmlns:a="http://schemas.openxmlformats.org/drawingml/2006/main" noGrp="1"/>
          </p:cNvSpPr>
          <p:nvPr/>
        </p:nvSpPr>
        <p:spPr>
          <a:xfrm xmlns:a="http://schemas.openxmlformats.org/drawingml/2006/main">
            <a:off x="6667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1 · Build</a:t>
            </a:r>
          </a:p>
        </p:txBody>
      </p:sp>
      <p:sp>
        <p:nvSpPr>
          <p:cNvPr id="4" name="">
            <a:extLst xmlns:a="http://schemas.openxmlformats.org/drawingml/2006/main">
              <a:ext uri="{FF2B5EF4-FFF2-40B4-BE49-F238E27FC236}">
                <a16:creationId xmlns:a16="http://schemas.microsoft.com/office/drawing/2014/main" id="{8D8C6035-23BE-477E-86EF-84BEEEA23B43}"/>
              </a:ext>
            </a:extLst>
          </p:cNvPr>
          <p:cNvSpPr>
            <a:spLocks xmlns:a="http://schemas.openxmlformats.org/drawingml/2006/main" noGrp="1"/>
          </p:cNvSpPr>
          <p:nvPr/>
        </p:nvSpPr>
        <p:spPr>
          <a:xfrm xmlns:a="http://schemas.openxmlformats.org/drawingml/2006/main">
            <a:off x="6667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3 data qubits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Clifford gates</a:t>
            </a:r>
          </a:p>
        </p:txBody>
      </p:sp>
      <p:sp>
        <p:nvSpPr>
          <p:cNvPr id="5" name="">
            <a:extLst xmlns:a="http://schemas.openxmlformats.org/drawingml/2006/main">
              <a:ext uri="{FF2B5EF4-FFF2-40B4-BE49-F238E27FC236}">
                <a16:creationId xmlns:a16="http://schemas.microsoft.com/office/drawing/2014/main" id="{6E5B7D31-F82D-40B0-825D-160D43EFF2DB}"/>
              </a:ext>
            </a:extLst>
          </p:cNvPr>
          <p:cNvSpPr>
            <a:spLocks xmlns:a="http://schemas.openxmlformats.org/drawingml/2006/main" noGrp="1"/>
          </p:cNvSpPr>
          <p:nvPr/>
        </p:nvSpPr>
        <p:spPr>
          <a:xfrm xmlns:a="http://schemas.openxmlformats.org/drawingml/2006/main">
            <a:off x="24765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AE79F8A7-EFCA-4CD2-91C2-D7623756F400}"/>
              </a:ext>
            </a:extLst>
          </p:cNvPr>
          <p:cNvSpPr>
            <a:spLocks xmlns:a="http://schemas.openxmlformats.org/drawingml/2006/main" noGrp="1"/>
          </p:cNvSpPr>
          <p:nvPr/>
        </p:nvSpPr>
        <p:spPr>
          <a:xfrm xmlns:a="http://schemas.openxmlformats.org/drawingml/2006/main">
            <a:off x="290512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2 · Generate</a:t>
            </a:r>
          </a:p>
        </p:txBody>
      </p:sp>
      <p:sp>
        <p:nvSpPr>
          <p:cNvPr id="7" name="">
            <a:extLst xmlns:a="http://schemas.openxmlformats.org/drawingml/2006/main">
              <a:ext uri="{FF2B5EF4-FFF2-40B4-BE49-F238E27FC236}">
                <a16:creationId xmlns:a16="http://schemas.microsoft.com/office/drawing/2014/main" id="{329EECCC-69A6-4705-A40A-50C23D04D99E}"/>
              </a:ext>
            </a:extLst>
          </p:cNvPr>
          <p:cNvSpPr>
            <a:spLocks xmlns:a="http://schemas.openxmlformats.org/drawingml/2006/main" noGrp="1"/>
          </p:cNvSpPr>
          <p:nvPr/>
        </p:nvSpPr>
        <p:spPr>
          <a:xfrm xmlns:a="http://schemas.openxmlformats.org/drawingml/2006/main">
            <a:off x="290512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Paulice search</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Insert checks</a:t>
            </a:r>
          </a:p>
        </p:txBody>
      </p:sp>
      <p:sp>
        <p:nvSpPr>
          <p:cNvPr id="8" name="">
            <a:extLst xmlns:a="http://schemas.openxmlformats.org/drawingml/2006/main">
              <a:ext uri="{FF2B5EF4-FFF2-40B4-BE49-F238E27FC236}">
                <a16:creationId xmlns:a16="http://schemas.microsoft.com/office/drawing/2014/main" id="{5FA04939-A40E-4111-B852-1EC744E1E0EF}"/>
              </a:ext>
            </a:extLst>
          </p:cNvPr>
          <p:cNvSpPr>
            <a:spLocks xmlns:a="http://schemas.openxmlformats.org/drawingml/2006/main" noGrp="1"/>
          </p:cNvSpPr>
          <p:nvPr/>
        </p:nvSpPr>
        <p:spPr>
          <a:xfrm xmlns:a="http://schemas.openxmlformats.org/drawingml/2006/main">
            <a:off x="471487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664EB0-8C1F-42BA-9E31-C4A16B2B3822}"/>
              </a:ext>
            </a:extLst>
          </p:cNvPr>
          <p:cNvSpPr>
            <a:spLocks xmlns:a="http://schemas.openxmlformats.org/drawingml/2006/main" noGrp="1"/>
          </p:cNvSpPr>
          <p:nvPr/>
        </p:nvSpPr>
        <p:spPr>
          <a:xfrm xmlns:a="http://schemas.openxmlformats.org/drawingml/2006/main">
            <a:off x="514350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3 · Simulate</a:t>
            </a:r>
          </a:p>
        </p:txBody>
      </p:sp>
      <p:sp>
        <p:nvSpPr>
          <p:cNvPr id="10" name="">
            <a:extLst xmlns:a="http://schemas.openxmlformats.org/drawingml/2006/main">
              <a:ext uri="{FF2B5EF4-FFF2-40B4-BE49-F238E27FC236}">
                <a16:creationId xmlns:a16="http://schemas.microsoft.com/office/drawing/2014/main" id="{2BBE6086-7685-4AFD-BCAA-85506A3823FB}"/>
              </a:ext>
            </a:extLst>
          </p:cNvPr>
          <p:cNvSpPr>
            <a:spLocks xmlns:a="http://schemas.openxmlformats.org/drawingml/2006/main" noGrp="1"/>
          </p:cNvSpPr>
          <p:nvPr/>
        </p:nvSpPr>
        <p:spPr>
          <a:xfrm xmlns:a="http://schemas.openxmlformats.org/drawingml/2006/main">
            <a:off x="514350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Aer noise model</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Sample shots</a:t>
            </a:r>
          </a:p>
        </p:txBody>
      </p:sp>
      <p:sp>
        <p:nvSpPr>
          <p:cNvPr id="11" name="">
            <a:extLst xmlns:a="http://schemas.openxmlformats.org/drawingml/2006/main">
              <a:ext uri="{FF2B5EF4-FFF2-40B4-BE49-F238E27FC236}">
                <a16:creationId xmlns:a16="http://schemas.microsoft.com/office/drawing/2014/main" id="{73FA2E51-D962-4776-9358-81480277D04F}"/>
              </a:ext>
            </a:extLst>
          </p:cNvPr>
          <p:cNvSpPr>
            <a:spLocks xmlns:a="http://schemas.openxmlformats.org/drawingml/2006/main" noGrp="1"/>
          </p:cNvSpPr>
          <p:nvPr/>
        </p:nvSpPr>
        <p:spPr>
          <a:xfrm xmlns:a="http://schemas.openxmlformats.org/drawingml/2006/main">
            <a:off x="69532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94CEB27-EDCA-4268-900B-35D803BD005D}"/>
              </a:ext>
            </a:extLst>
          </p:cNvPr>
          <p:cNvSpPr>
            <a:spLocks xmlns:a="http://schemas.openxmlformats.org/drawingml/2006/main" noGrp="1"/>
          </p:cNvSpPr>
          <p:nvPr/>
        </p:nvSpPr>
        <p:spPr>
          <a:xfrm xmlns:a="http://schemas.openxmlformats.org/drawingml/2006/main">
            <a:off x="738187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4 · Filter</a:t>
            </a:r>
          </a:p>
        </p:txBody>
      </p:sp>
      <p:sp>
        <p:nvSpPr>
          <p:cNvPr id="13" name="">
            <a:extLst xmlns:a="http://schemas.openxmlformats.org/drawingml/2006/main">
              <a:ext uri="{FF2B5EF4-FFF2-40B4-BE49-F238E27FC236}">
                <a16:creationId xmlns:a16="http://schemas.microsoft.com/office/drawing/2014/main" id="{8A5E3F17-5441-40F8-B7A6-A2B7D49DAA02}"/>
              </a:ext>
            </a:extLst>
          </p:cNvPr>
          <p:cNvSpPr>
            <a:spLocks xmlns:a="http://schemas.openxmlformats.org/drawingml/2006/main" noGrp="1"/>
          </p:cNvSpPr>
          <p:nvPr/>
        </p:nvSpPr>
        <p:spPr>
          <a:xfrm xmlns:a="http://schemas.openxmlformats.org/drawingml/2006/main">
            <a:off x="738187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Compute parity</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Accept / reject</a:t>
            </a:r>
          </a:p>
        </p:txBody>
      </p:sp>
      <p:sp>
        <p:nvSpPr>
          <p:cNvPr id="14" name="">
            <a:extLst xmlns:a="http://schemas.openxmlformats.org/drawingml/2006/main">
              <a:ext uri="{FF2B5EF4-FFF2-40B4-BE49-F238E27FC236}">
                <a16:creationId xmlns:a16="http://schemas.microsoft.com/office/drawing/2014/main" id="{A0F090FB-8935-4B9B-B36A-44D7B93F6F68}"/>
              </a:ext>
            </a:extLst>
          </p:cNvPr>
          <p:cNvSpPr>
            <a:spLocks xmlns:a="http://schemas.openxmlformats.org/drawingml/2006/main" noGrp="1"/>
          </p:cNvSpPr>
          <p:nvPr/>
        </p:nvSpPr>
        <p:spPr>
          <a:xfrm xmlns:a="http://schemas.openxmlformats.org/drawingml/2006/main">
            <a:off x="9191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EFA51C7-D566-48F8-9021-F3575A8C22A1}"/>
              </a:ext>
            </a:extLst>
          </p:cNvPr>
          <p:cNvSpPr>
            <a:spLocks xmlns:a="http://schemas.openxmlformats.org/drawingml/2006/main" noGrp="1"/>
          </p:cNvSpPr>
          <p:nvPr/>
        </p:nvSpPr>
        <p:spPr>
          <a:xfrm xmlns:a="http://schemas.openxmlformats.org/drawingml/2006/main">
            <a:off x="96202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5 · Evaluate</a:t>
            </a:r>
          </a:p>
        </p:txBody>
      </p:sp>
      <p:sp>
        <p:nvSpPr>
          <p:cNvPr id="16" name="">
            <a:extLst xmlns:a="http://schemas.openxmlformats.org/drawingml/2006/main">
              <a:ext uri="{FF2B5EF4-FFF2-40B4-BE49-F238E27FC236}">
                <a16:creationId xmlns:a16="http://schemas.microsoft.com/office/drawing/2014/main" id="{E787B2D5-0D7E-483C-9AFC-4588BD67CD84}"/>
              </a:ext>
            </a:extLst>
          </p:cNvPr>
          <p:cNvSpPr>
            <a:spLocks xmlns:a="http://schemas.openxmlformats.org/drawingml/2006/main" noGrp="1"/>
          </p:cNvSpPr>
          <p:nvPr/>
        </p:nvSpPr>
        <p:spPr>
          <a:xfrm xmlns:a="http://schemas.openxmlformats.org/drawingml/2006/main">
            <a:off x="96202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Compare output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distributions</a:t>
            </a:r>
          </a:p>
        </p:txBody>
      </p:sp>
      <p:sp>
        <p:nvSpPr>
          <p:cNvPr id="17" name="">
            <a:extLst xmlns:a="http://schemas.openxmlformats.org/drawingml/2006/main">
              <a:ext uri="{FF2B5EF4-FFF2-40B4-BE49-F238E27FC236}">
                <a16:creationId xmlns:a16="http://schemas.microsoft.com/office/drawing/2014/main" id="{52EFBFD6-9262-4B30-B639-FF412A256C3D}"/>
              </a:ext>
            </a:extLst>
          </p:cNvPr>
          <p:cNvSpPr>
            <a:spLocks xmlns:a="http://schemas.openxmlformats.org/drawingml/2006/main" noGrp="1"/>
          </p:cNvSpPr>
          <p:nvPr/>
        </p:nvSpPr>
        <p:spPr>
          <a:xfrm xmlns:a="http://schemas.openxmlformats.org/drawingml/2006/main">
            <a:off x="685800" y="47625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Tools reported: Python · Qiskit · Qiskit Aer · Qiskit Paulice · NumPy · Matplotlib</a:t>
            </a:r>
          </a:p>
        </p:txBody>
      </p:sp>
    </p:spTree>
    <p:extLst>
      <p:ext uri="{BB962C8B-B14F-4D97-AF65-F5344CB8AC3E}">
        <p14:creationId xmlns:p14="http://schemas.microsoft.com/office/powerpoint/2010/main" val="639804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C2B9B-B01F-4243-8398-0E40BB3E2EB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FF504324-8541-464D-999A-7E9BFC21DB6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custom syndrome-parity filter</a:t>
            </a:r>
          </a:p>
        </p:txBody>
      </p:sp>
      <p:sp>
        <p:nvSpPr>
          <p:cNvPr id="3" name="">
            <a:extLst xmlns:a="http://schemas.openxmlformats.org/drawingml/2006/main">
              <a:ext uri="{FF2B5EF4-FFF2-40B4-BE49-F238E27FC236}">
                <a16:creationId xmlns:a16="http://schemas.microsoft.com/office/drawing/2014/main" id="{DD944CED-912E-4918-957E-6D356048DB36}"/>
              </a:ext>
            </a:extLst>
          </p:cNvPr>
          <p:cNvSpPr>
            <a:spLocks xmlns:a="http://schemas.openxmlformats.org/drawingml/2006/main" noGrp="1"/>
          </p:cNvSpPr>
          <p:nvPr/>
        </p:nvSpPr>
        <p:spPr>
          <a:xfrm xmlns:a="http://schemas.openxmlformats.org/drawingml/2006/main">
            <a:off x="685800" y="18573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For check support (0, 1, 3)</a:t>
            </a:r>
          </a:p>
        </p:txBody>
      </p:sp>
      <p:sp>
        <p:nvSpPr>
          <p:cNvPr id="4" name="">
            <a:extLst xmlns:a="http://schemas.openxmlformats.org/drawingml/2006/main">
              <a:ext uri="{FF2B5EF4-FFF2-40B4-BE49-F238E27FC236}">
                <a16:creationId xmlns:a16="http://schemas.microsoft.com/office/drawing/2014/main" id="{A2E59562-BBEC-4FA5-B23F-1B46FE34F4A7}"/>
              </a:ext>
            </a:extLst>
          </p:cNvPr>
          <p:cNvSpPr>
            <a:spLocks xmlns:a="http://schemas.openxmlformats.org/drawingml/2006/main" noGrp="1"/>
          </p:cNvSpPr>
          <p:nvPr/>
        </p:nvSpPr>
        <p:spPr>
          <a:xfrm xmlns:a="http://schemas.openxmlformats.org/drawingml/2006/main">
            <a:off x="685800" y="24765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61616"/>
                </a:solidFill>
                <a:latin typeface="Arial"/>
                <a:ea typeface="Arial"/>
                <a:cs typeface="Arial"/>
              </a:defRPr>
            </a:defPPr>
            <a:lvl1pPr algn="l">
              <a:defRPr sz="3150" b="1">
                <a:solidFill>
                  <a:srgbClr val="161616"/>
                </a:solidFill>
                <a:latin typeface="Arial"/>
                <a:ea typeface="Arial"/>
                <a:cs typeface="Arial"/>
              </a:defRPr>
            </a:lvl1pPr>
            <a:lvl2pPr algn="l">
              <a:defRPr sz="3150" b="1">
                <a:solidFill>
                  <a:srgbClr val="161616"/>
                </a:solidFill>
                <a:latin typeface="Arial"/>
                <a:ea typeface="Arial"/>
                <a:cs typeface="Arial"/>
              </a:defRPr>
            </a:lvl2pPr>
            <a:lvl3pPr algn="l">
              <a:defRPr sz="3150" b="1">
                <a:solidFill>
                  <a:srgbClr val="161616"/>
                </a:solidFill>
                <a:latin typeface="Arial"/>
                <a:ea typeface="Arial"/>
                <a:cs typeface="Arial"/>
              </a:defRPr>
            </a:lvl3pPr>
            <a:lvl4pPr algn="l">
              <a:defRPr sz="3150" b="1">
                <a:solidFill>
                  <a:srgbClr val="161616"/>
                </a:solidFill>
                <a:latin typeface="Arial"/>
                <a:ea typeface="Arial"/>
                <a:cs typeface="Arial"/>
              </a:defRPr>
            </a:lvl4pPr>
            <a:lvl5pPr algn="l">
              <a:defRPr sz="3150" b="1">
                <a:solidFill>
                  <a:srgbClr val="161616"/>
                </a:solidFill>
                <a:latin typeface="Arial"/>
                <a:ea typeface="Arial"/>
                <a:cs typeface="Arial"/>
              </a:defRPr>
            </a:lvl5pPr>
            <a:lvl6pPr algn="l">
              <a:defRPr sz="3150" b="1">
                <a:solidFill>
                  <a:srgbClr val="161616"/>
                </a:solidFill>
                <a:latin typeface="Arial"/>
                <a:ea typeface="Arial"/>
                <a:cs typeface="Arial"/>
              </a:defRPr>
            </a:lvl6pPr>
            <a:lvl7pPr algn="l">
              <a:defRPr sz="3150" b="1">
                <a:solidFill>
                  <a:srgbClr val="161616"/>
                </a:solidFill>
                <a:latin typeface="Arial"/>
                <a:ea typeface="Arial"/>
                <a:cs typeface="Arial"/>
              </a:defRPr>
            </a:lvl7pPr>
            <a:lvl8pPr algn="l">
              <a:defRPr sz="3150" b="1">
                <a:solidFill>
                  <a:srgbClr val="161616"/>
                </a:solidFill>
                <a:latin typeface="Arial"/>
                <a:ea typeface="Arial"/>
                <a:cs typeface="Arial"/>
              </a:defRPr>
            </a:lvl8pPr>
            <a:lvl9pPr algn="l">
              <a:defRPr sz="3150" b="1">
                <a:solidFill>
                  <a:srgbClr val="161616"/>
                </a:solidFill>
                <a:latin typeface="Arial"/>
                <a:ea typeface="Arial"/>
                <a:cs typeface="Arial"/>
              </a:defRPr>
            </a:lvl9pPr>
          </a:lstStyle>
          <a:p xmlns:a="http://schemas.openxmlformats.org/drawingml/2006/main">
            <a:pPr algn="l">
              <a:defRPr sz="3150" b="1">
                <a:solidFill>
                  <a:srgbClr val="161616"/>
                </a:solidFill>
                <a:latin typeface="Arial"/>
                <a:ea typeface="Arial"/>
                <a:cs typeface="Arial"/>
              </a:defRPr>
            </a:pPr>
            <a:r>
              <a:rPr sz="3150" b="1">
                <a:solidFill>
                  <a:srgbClr val="161616"/>
                </a:solidFill>
                <a:latin typeface="Arial"/>
                <a:ea typeface="Arial"/>
                <a:cs typeface="Arial"/>
              </a:rPr>
              <a:t>S = c₀ ⊕ c₁ ⊕ c₃</a:t>
            </a:r>
          </a:p>
        </p:txBody>
      </p:sp>
      <p:sp>
        <p:nvSpPr>
          <p:cNvPr id="5" name="">
            <a:extLst xmlns:a="http://schemas.openxmlformats.org/drawingml/2006/main">
              <a:ext uri="{FF2B5EF4-FFF2-40B4-BE49-F238E27FC236}">
                <a16:creationId xmlns:a16="http://schemas.microsoft.com/office/drawing/2014/main" id="{8009273D-1667-40C4-9274-C7A19B33790D}"/>
              </a:ext>
            </a:extLst>
          </p:cNvPr>
          <p:cNvSpPr>
            <a:spLocks xmlns:a="http://schemas.openxmlformats.org/drawingml/2006/main" noGrp="1"/>
          </p:cNvSpPr>
          <p:nvPr/>
        </p:nvSpPr>
        <p:spPr>
          <a:xfrm xmlns:a="http://schemas.openxmlformats.org/drawingml/2006/main">
            <a:off x="685800" y="3476625"/>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S = 0  →  accept the shot</a:t>
            </a:r>
          </a:p>
        </p:txBody>
      </p:sp>
      <p:sp>
        <p:nvSpPr>
          <p:cNvPr id="6" name="">
            <a:extLst xmlns:a="http://schemas.openxmlformats.org/drawingml/2006/main">
              <a:ext uri="{FF2B5EF4-FFF2-40B4-BE49-F238E27FC236}">
                <a16:creationId xmlns:a16="http://schemas.microsoft.com/office/drawing/2014/main" id="{0DA0DFB2-9BF1-49FE-8F17-4E6CE454F010}"/>
              </a:ext>
            </a:extLst>
          </p:cNvPr>
          <p:cNvSpPr>
            <a:spLocks xmlns:a="http://schemas.openxmlformats.org/drawingml/2006/main" noGrp="1"/>
          </p:cNvSpPr>
          <p:nvPr/>
        </p:nvSpPr>
        <p:spPr>
          <a:xfrm xmlns:a="http://schemas.openxmlformats.org/drawingml/2006/main">
            <a:off x="685800" y="40005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832B"/>
                </a:solidFill>
                <a:latin typeface="Arial"/>
                <a:ea typeface="Arial"/>
                <a:cs typeface="Arial"/>
              </a:defRPr>
            </a:defPPr>
            <a:lvl1pPr algn="l">
              <a:defRPr sz="1875" b="1">
                <a:solidFill>
                  <a:srgbClr val="FF832B"/>
                </a:solidFill>
                <a:latin typeface="Arial"/>
                <a:ea typeface="Arial"/>
                <a:cs typeface="Arial"/>
              </a:defRPr>
            </a:lvl1pPr>
            <a:lvl2pPr algn="l">
              <a:defRPr sz="1875" b="1">
                <a:solidFill>
                  <a:srgbClr val="FF832B"/>
                </a:solidFill>
                <a:latin typeface="Arial"/>
                <a:ea typeface="Arial"/>
                <a:cs typeface="Arial"/>
              </a:defRPr>
            </a:lvl2pPr>
            <a:lvl3pPr algn="l">
              <a:defRPr sz="1875" b="1">
                <a:solidFill>
                  <a:srgbClr val="FF832B"/>
                </a:solidFill>
                <a:latin typeface="Arial"/>
                <a:ea typeface="Arial"/>
                <a:cs typeface="Arial"/>
              </a:defRPr>
            </a:lvl3pPr>
            <a:lvl4pPr algn="l">
              <a:defRPr sz="1875" b="1">
                <a:solidFill>
                  <a:srgbClr val="FF832B"/>
                </a:solidFill>
                <a:latin typeface="Arial"/>
                <a:ea typeface="Arial"/>
                <a:cs typeface="Arial"/>
              </a:defRPr>
            </a:lvl4pPr>
            <a:lvl5pPr algn="l">
              <a:defRPr sz="1875" b="1">
                <a:solidFill>
                  <a:srgbClr val="FF832B"/>
                </a:solidFill>
                <a:latin typeface="Arial"/>
                <a:ea typeface="Arial"/>
                <a:cs typeface="Arial"/>
              </a:defRPr>
            </a:lvl5pPr>
            <a:lvl6pPr algn="l">
              <a:defRPr sz="1875" b="1">
                <a:solidFill>
                  <a:srgbClr val="FF832B"/>
                </a:solidFill>
                <a:latin typeface="Arial"/>
                <a:ea typeface="Arial"/>
                <a:cs typeface="Arial"/>
              </a:defRPr>
            </a:lvl6pPr>
            <a:lvl7pPr algn="l">
              <a:defRPr sz="1875" b="1">
                <a:solidFill>
                  <a:srgbClr val="FF832B"/>
                </a:solidFill>
                <a:latin typeface="Arial"/>
                <a:ea typeface="Arial"/>
                <a:cs typeface="Arial"/>
              </a:defRPr>
            </a:lvl7pPr>
            <a:lvl8pPr algn="l">
              <a:defRPr sz="1875" b="1">
                <a:solidFill>
                  <a:srgbClr val="FF832B"/>
                </a:solidFill>
                <a:latin typeface="Arial"/>
                <a:ea typeface="Arial"/>
                <a:cs typeface="Arial"/>
              </a:defRPr>
            </a:lvl8pPr>
            <a:lvl9pPr algn="l">
              <a:defRPr sz="1875" b="1">
                <a:solidFill>
                  <a:srgbClr val="FF832B"/>
                </a:solidFill>
                <a:latin typeface="Arial"/>
                <a:ea typeface="Arial"/>
                <a:cs typeface="Arial"/>
              </a:defRPr>
            </a:lvl9pPr>
          </a:lstStyle>
          <a:p xmlns:a="http://schemas.openxmlformats.org/drawingml/2006/main">
            <a:pPr algn="l">
              <a:defRPr sz="1875" b="1">
                <a:solidFill>
                  <a:srgbClr val="FF832B"/>
                </a:solidFill>
                <a:latin typeface="Arial"/>
                <a:ea typeface="Arial"/>
                <a:cs typeface="Arial"/>
              </a:defRPr>
            </a:pPr>
            <a:r>
              <a:rPr sz="1875" b="1">
                <a:solidFill>
                  <a:srgbClr val="FF832B"/>
                </a:solidFill>
                <a:latin typeface="Arial"/>
                <a:ea typeface="Arial"/>
                <a:cs typeface="Arial"/>
              </a:rPr>
              <a:t>S = 1  →  reject the shot</a:t>
            </a:r>
          </a:p>
        </p:txBody>
      </p:sp>
      <p:sp>
        <p:nvSpPr>
          <p:cNvPr id="7" name="">
            <a:extLst xmlns:a="http://schemas.openxmlformats.org/drawingml/2006/main">
              <a:ext uri="{FF2B5EF4-FFF2-40B4-BE49-F238E27FC236}">
                <a16:creationId xmlns:a16="http://schemas.microsoft.com/office/drawing/2014/main" id="{26477924-FA22-4BA6-BE09-C3B53A32A582}"/>
              </a:ext>
            </a:extLst>
          </p:cNvPr>
          <p:cNvSpPr>
            <a:spLocks xmlns:a="http://schemas.openxmlformats.org/drawingml/2006/main" noGrp="1"/>
          </p:cNvSpPr>
          <p:nvPr/>
        </p:nvSpPr>
        <p:spPr>
          <a:xfrm xmlns:a="http://schemas.openxmlformats.org/drawingml/2006/main">
            <a:off x="6477000" y="18573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What the rule does</a:t>
            </a:r>
          </a:p>
        </p:txBody>
      </p:sp>
      <p:sp>
        <p:nvSpPr>
          <p:cNvPr id="8" name="">
            <a:extLst xmlns:a="http://schemas.openxmlformats.org/drawingml/2006/main">
              <a:ext uri="{FF2B5EF4-FFF2-40B4-BE49-F238E27FC236}">
                <a16:creationId xmlns:a16="http://schemas.microsoft.com/office/drawing/2014/main" id="{A8737B81-8D4E-4BBF-9D0F-EC0252DB5E5F}"/>
              </a:ext>
            </a:extLst>
          </p:cNvPr>
          <p:cNvSpPr>
            <a:spLocks xmlns:a="http://schemas.openxmlformats.org/drawingml/2006/main" noGrp="1"/>
          </p:cNvSpPr>
          <p:nvPr/>
        </p:nvSpPr>
        <p:spPr>
          <a:xfrm xmlns:a="http://schemas.openxmlformats.org/drawingml/2006/main">
            <a:off x="6477000" y="2305050"/>
            <a:ext cx="4524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reads selected measured bits and computes their XOR parity.</a:t>
            </a:r>
          </a:p>
        </p:txBody>
      </p:sp>
      <p:sp>
        <p:nvSpPr>
          <p:cNvPr id="9" name="">
            <a:extLst xmlns:a="http://schemas.openxmlformats.org/drawingml/2006/main">
              <a:ext uri="{FF2B5EF4-FFF2-40B4-BE49-F238E27FC236}">
                <a16:creationId xmlns:a16="http://schemas.microsoft.com/office/drawing/2014/main" id="{96F63D31-2787-4A17-9DF4-0FACDA9F2C44}"/>
              </a:ext>
            </a:extLst>
          </p:cNvPr>
          <p:cNvSpPr>
            <a:spLocks xmlns:a="http://schemas.openxmlformats.org/drawingml/2006/main" noGrp="1"/>
          </p:cNvSpPr>
          <p:nvPr/>
        </p:nvSpPr>
        <p:spPr>
          <a:xfrm xmlns:a="http://schemas.openxmlformats.org/drawingml/2006/main">
            <a:off x="6477000" y="35718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Important limit</a:t>
            </a:r>
          </a:p>
        </p:txBody>
      </p:sp>
      <p:sp>
        <p:nvSpPr>
          <p:cNvPr id="10" name="">
            <a:extLst xmlns:a="http://schemas.openxmlformats.org/drawingml/2006/main">
              <a:ext uri="{FF2B5EF4-FFF2-40B4-BE49-F238E27FC236}">
                <a16:creationId xmlns:a16="http://schemas.microsoft.com/office/drawing/2014/main" id="{E6734001-2999-4CF4-9C34-78251AA548AA}"/>
              </a:ext>
            </a:extLst>
          </p:cNvPr>
          <p:cNvSpPr>
            <a:spLocks xmlns:a="http://schemas.openxmlformats.org/drawingml/2006/main" noGrp="1"/>
          </p:cNvSpPr>
          <p:nvPr/>
        </p:nvSpPr>
        <p:spPr>
          <a:xfrm xmlns:a="http://schemas.openxmlformats.org/drawingml/2006/main">
            <a:off x="6477000" y="4019550"/>
            <a:ext cx="4667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exact expression is specific to support (0, 1, 3). Other check layouts need support-aware parity rules. Passing a check is not proof a shot is error-free.</a:t>
            </a:r>
          </a:p>
        </p:txBody>
      </p:sp>
    </p:spTree>
    <p:extLst>
      <p:ext uri="{BB962C8B-B14F-4D97-AF65-F5344CB8AC3E}">
        <p14:creationId xmlns:p14="http://schemas.microsoft.com/office/powerpoint/2010/main" val="9796765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A1DFB3-773B-4DDD-B674-33F7136CF81D}"/>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CE1A772-090E-48F7-9D59-008256DB77B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improved the first result</a:t>
            </a:r>
          </a:p>
        </p:txBody>
      </p:sp>
      <p:graphicFrame>
        <p:nvGraphicFramePr>
          <p:cNvPr id="3" name="Chart">
            <a:extLst xmlns:a="http://schemas.openxmlformats.org/drawingml/2006/main">
              <a:ext uri="{FF2B5EF4-FFF2-40B4-BE49-F238E27FC236}">
                <a16:creationId xmlns:a16="http://schemas.microsoft.com/office/drawing/2014/main" id="{C52A2DE6-81AD-4041-AB7F-EE6B8BF225A2}"/>
              </a:ext>
            </a:extLst>
          </p:cNvPr>
          <p:cNvGraphicFramePr/>
          <p:nvPr/>
        </p:nvGraphicFramePr>
        <p:xfrm>
          <a:off xmlns:a="http://schemas.openxmlformats.org/drawingml/2006/main" x="666750" y="18097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6547892abe9742ac"/>
          </a:graphicData>
        </a:graphic>
      </p:graphicFrame>
      <p:sp>
        <p:nvSpPr>
          <p:cNvPr id="4" name="">
            <a:extLst xmlns:a="http://schemas.openxmlformats.org/drawingml/2006/main">
              <a:ext uri="{FF2B5EF4-FFF2-40B4-BE49-F238E27FC236}">
                <a16:creationId xmlns:a16="http://schemas.microsoft.com/office/drawing/2014/main" id="{CF398C94-0063-4A64-ACFE-B1924F01CC2F}"/>
              </a:ext>
            </a:extLst>
          </p:cNvPr>
          <p:cNvSpPr>
            <a:spLocks xmlns:a="http://schemas.openxmlformats.org/drawingml/2006/main" noGrp="1"/>
          </p:cNvSpPr>
          <p:nvPr/>
        </p:nvSpPr>
        <p:spPr>
          <a:xfrm xmlns:a="http://schemas.openxmlformats.org/drawingml/2006/main">
            <a:off x="80010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Accepted shots</a:t>
            </a:r>
          </a:p>
        </p:txBody>
      </p:sp>
      <p:sp>
        <p:nvSpPr>
          <p:cNvPr id="5" name="">
            <a:extLst xmlns:a="http://schemas.openxmlformats.org/drawingml/2006/main">
              <a:ext uri="{FF2B5EF4-FFF2-40B4-BE49-F238E27FC236}">
                <a16:creationId xmlns:a16="http://schemas.microsoft.com/office/drawing/2014/main" id="{C51AF391-4907-408F-A817-6011DB6DCB44}"/>
              </a:ext>
            </a:extLst>
          </p:cNvPr>
          <p:cNvSpPr>
            <a:spLocks xmlns:a="http://schemas.openxmlformats.org/drawingml/2006/main" noGrp="1"/>
          </p:cNvSpPr>
          <p:nvPr/>
        </p:nvSpPr>
        <p:spPr>
          <a:xfrm xmlns:a="http://schemas.openxmlformats.org/drawingml/2006/main">
            <a:off x="8001000" y="25241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009D9A"/>
                </a:solidFill>
                <a:latin typeface="Arial"/>
                <a:ea typeface="Arial"/>
                <a:cs typeface="Arial"/>
              </a:defRPr>
            </a:defPPr>
            <a:lvl1pPr algn="l">
              <a:defRPr sz="2700" b="1">
                <a:solidFill>
                  <a:srgbClr val="009D9A"/>
                </a:solidFill>
                <a:latin typeface="Arial"/>
                <a:ea typeface="Arial"/>
                <a:cs typeface="Arial"/>
              </a:defRPr>
            </a:lvl1pPr>
            <a:lvl2pPr algn="l">
              <a:defRPr sz="2700" b="1">
                <a:solidFill>
                  <a:srgbClr val="009D9A"/>
                </a:solidFill>
                <a:latin typeface="Arial"/>
                <a:ea typeface="Arial"/>
                <a:cs typeface="Arial"/>
              </a:defRPr>
            </a:lvl2pPr>
            <a:lvl3pPr algn="l">
              <a:defRPr sz="2700" b="1">
                <a:solidFill>
                  <a:srgbClr val="009D9A"/>
                </a:solidFill>
                <a:latin typeface="Arial"/>
                <a:ea typeface="Arial"/>
                <a:cs typeface="Arial"/>
              </a:defRPr>
            </a:lvl3pPr>
            <a:lvl4pPr algn="l">
              <a:defRPr sz="2700" b="1">
                <a:solidFill>
                  <a:srgbClr val="009D9A"/>
                </a:solidFill>
                <a:latin typeface="Arial"/>
                <a:ea typeface="Arial"/>
                <a:cs typeface="Arial"/>
              </a:defRPr>
            </a:lvl4pPr>
            <a:lvl5pPr algn="l">
              <a:defRPr sz="2700" b="1">
                <a:solidFill>
                  <a:srgbClr val="009D9A"/>
                </a:solidFill>
                <a:latin typeface="Arial"/>
                <a:ea typeface="Arial"/>
                <a:cs typeface="Arial"/>
              </a:defRPr>
            </a:lvl5pPr>
            <a:lvl6pPr algn="l">
              <a:defRPr sz="2700" b="1">
                <a:solidFill>
                  <a:srgbClr val="009D9A"/>
                </a:solidFill>
                <a:latin typeface="Arial"/>
                <a:ea typeface="Arial"/>
                <a:cs typeface="Arial"/>
              </a:defRPr>
            </a:lvl6pPr>
            <a:lvl7pPr algn="l">
              <a:defRPr sz="2700" b="1">
                <a:solidFill>
                  <a:srgbClr val="009D9A"/>
                </a:solidFill>
                <a:latin typeface="Arial"/>
                <a:ea typeface="Arial"/>
                <a:cs typeface="Arial"/>
              </a:defRPr>
            </a:lvl7pPr>
            <a:lvl8pPr algn="l">
              <a:defRPr sz="2700" b="1">
                <a:solidFill>
                  <a:srgbClr val="009D9A"/>
                </a:solidFill>
                <a:latin typeface="Arial"/>
                <a:ea typeface="Arial"/>
                <a:cs typeface="Arial"/>
              </a:defRPr>
            </a:lvl8pPr>
            <a:lvl9pPr algn="l">
              <a:defRPr sz="2700" b="1">
                <a:solidFill>
                  <a:srgbClr val="009D9A"/>
                </a:solidFill>
                <a:latin typeface="Arial"/>
                <a:ea typeface="Arial"/>
                <a:cs typeface="Arial"/>
              </a:defRPr>
            </a:lvl9pPr>
          </a:lstStyle>
          <a:p xmlns:a="http://schemas.openxmlformats.org/drawingml/2006/main">
            <a:pPr algn="l">
              <a:defRPr sz="2700" b="1">
                <a:solidFill>
                  <a:srgbClr val="009D9A"/>
                </a:solidFill>
                <a:latin typeface="Arial"/>
                <a:ea typeface="Arial"/>
                <a:cs typeface="Arial"/>
              </a:defRPr>
            </a:pPr>
            <a:r>
              <a:rPr sz="2700" b="1">
                <a:solidFill>
                  <a:srgbClr val="009D9A"/>
                </a:solidFill>
                <a:latin typeface="Arial"/>
                <a:ea typeface="Arial"/>
                <a:cs typeface="Arial"/>
              </a:rPr>
              <a:t>9,380 / 10,000</a:t>
            </a:r>
          </a:p>
        </p:txBody>
      </p:sp>
      <p:sp>
        <p:nvSpPr>
          <p:cNvPr id="6" name="">
            <a:extLst xmlns:a="http://schemas.openxmlformats.org/drawingml/2006/main">
              <a:ext uri="{FF2B5EF4-FFF2-40B4-BE49-F238E27FC236}">
                <a16:creationId xmlns:a16="http://schemas.microsoft.com/office/drawing/2014/main" id="{29DBA8D7-24F7-4EE3-B2B3-906FAAA588CA}"/>
              </a:ext>
            </a:extLst>
          </p:cNvPr>
          <p:cNvSpPr>
            <a:spLocks xmlns:a="http://schemas.openxmlformats.org/drawingml/2006/main" noGrp="1"/>
          </p:cNvSpPr>
          <p:nvPr/>
        </p:nvSpPr>
        <p:spPr>
          <a:xfrm xmlns:a="http://schemas.openxmlformats.org/drawingml/2006/main">
            <a:off x="8001000" y="314325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93.8% acceptance · 6.2% rejected</a:t>
            </a:r>
          </a:p>
        </p:txBody>
      </p:sp>
      <p:sp>
        <p:nvSpPr>
          <p:cNvPr id="7" name="">
            <a:extLst xmlns:a="http://schemas.openxmlformats.org/drawingml/2006/main">
              <a:ext uri="{FF2B5EF4-FFF2-40B4-BE49-F238E27FC236}">
                <a16:creationId xmlns:a16="http://schemas.microsoft.com/office/drawing/2014/main" id="{1054B600-7C65-47FD-BA1C-22DA73BE0523}"/>
              </a:ext>
            </a:extLst>
          </p:cNvPr>
          <p:cNvSpPr>
            <a:spLocks xmlns:a="http://schemas.openxmlformats.org/drawingml/2006/main" noGrp="1"/>
          </p:cNvSpPr>
          <p:nvPr/>
        </p:nvSpPr>
        <p:spPr>
          <a:xfrm xmlns:a="http://schemas.openxmlformats.org/drawingml/2006/main">
            <a:off x="8001000" y="4143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 this run, filtering raised fidelity above the no-check baseline.</a:t>
            </a:r>
          </a:p>
        </p:txBody>
      </p:sp>
    </p:spTree>
    <p:extLst>
      <p:ext uri="{BB962C8B-B14F-4D97-AF65-F5344CB8AC3E}">
        <p14:creationId xmlns:p14="http://schemas.microsoft.com/office/powerpoint/2010/main" val="1298670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0A074E-1650-44D5-9791-08E41C95475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AEEC0CE-929D-4297-98A3-1D2E46BFD1B9}"/>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Four check configurations were compared</a:t>
            </a:r>
          </a:p>
        </p:txBody>
      </p:sp>
      <p:sp>
        <p:nvSpPr>
          <p:cNvPr id="3" name="">
            <a:extLst xmlns:a="http://schemas.openxmlformats.org/drawingml/2006/main">
              <a:ext uri="{FF2B5EF4-FFF2-40B4-BE49-F238E27FC236}">
                <a16:creationId xmlns:a16="http://schemas.microsoft.com/office/drawing/2014/main" id="{A8D19DE8-792A-47FC-B6CB-6428D420F3E6}"/>
              </a:ext>
            </a:extLst>
          </p:cNvPr>
          <p:cNvSpPr>
            <a:spLocks xmlns:a="http://schemas.openxmlformats.org/drawingml/2006/main" noGrp="1"/>
          </p:cNvSpPr>
          <p:nvPr/>
        </p:nvSpPr>
        <p:spPr>
          <a:xfrm xmlns:a="http://schemas.openxmlformats.org/drawingml/2006/main">
            <a:off x="685800" y="1857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Configuration</a:t>
            </a:r>
          </a:p>
        </p:txBody>
      </p:sp>
      <p:sp>
        <p:nvSpPr>
          <p:cNvPr id="4" name="">
            <a:extLst xmlns:a="http://schemas.openxmlformats.org/drawingml/2006/main">
              <a:ext uri="{FF2B5EF4-FFF2-40B4-BE49-F238E27FC236}">
                <a16:creationId xmlns:a16="http://schemas.microsoft.com/office/drawing/2014/main" id="{DDB424A5-C5DA-4509-BB0D-02B7C344908C}"/>
              </a:ext>
            </a:extLst>
          </p:cNvPr>
          <p:cNvSpPr>
            <a:spLocks xmlns:a="http://schemas.openxmlformats.org/drawingml/2006/main" noGrp="1"/>
          </p:cNvSpPr>
          <p:nvPr/>
        </p:nvSpPr>
        <p:spPr>
          <a:xfrm xmlns:a="http://schemas.openxmlformats.org/drawingml/2006/main">
            <a:off x="6858000" y="1857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Reported span</a:t>
            </a:r>
          </a:p>
        </p:txBody>
      </p:sp>
      <p:sp>
        <p:nvSpPr>
          <p:cNvPr id="5" name="">
            <a:extLst xmlns:a="http://schemas.openxmlformats.org/drawingml/2006/main">
              <a:ext uri="{FF2B5EF4-FFF2-40B4-BE49-F238E27FC236}">
                <a16:creationId xmlns:a16="http://schemas.microsoft.com/office/drawing/2014/main" id="{F95585B1-3966-431D-AB0E-1BC411D0A0B7}"/>
              </a:ext>
            </a:extLst>
          </p:cNvPr>
          <p:cNvSpPr>
            <a:spLocks xmlns:a="http://schemas.openxmlformats.org/drawingml/2006/main" noGrp="1"/>
          </p:cNvSpPr>
          <p:nvPr/>
        </p:nvSpPr>
        <p:spPr>
          <a:xfrm xmlns:a="http://schemas.openxmlformats.org/drawingml/2006/main">
            <a:off x="685800" y="23812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a:t>
            </a:r>
          </a:p>
        </p:txBody>
      </p:sp>
      <p:sp>
        <p:nvSpPr>
          <p:cNvPr id="6" name="">
            <a:extLst xmlns:a="http://schemas.openxmlformats.org/drawingml/2006/main">
              <a:ext uri="{FF2B5EF4-FFF2-40B4-BE49-F238E27FC236}">
                <a16:creationId xmlns:a16="http://schemas.microsoft.com/office/drawing/2014/main" id="{127AF34D-4DD4-4BC4-BECF-FECB009304EE}"/>
              </a:ext>
            </a:extLst>
          </p:cNvPr>
          <p:cNvSpPr>
            <a:spLocks xmlns:a="http://schemas.openxmlformats.org/drawingml/2006/main" noGrp="1"/>
          </p:cNvSpPr>
          <p:nvPr/>
        </p:nvSpPr>
        <p:spPr>
          <a:xfrm xmlns:a="http://schemas.openxmlformats.org/drawingml/2006/main">
            <a:off x="6858000" y="2381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22 instruction positions</a:t>
            </a:r>
          </a:p>
        </p:txBody>
      </p:sp>
      <p:sp>
        <p:nvSpPr>
          <p:cNvPr id="7" name="">
            <a:extLst xmlns:a="http://schemas.openxmlformats.org/drawingml/2006/main">
              <a:ext uri="{FF2B5EF4-FFF2-40B4-BE49-F238E27FC236}">
                <a16:creationId xmlns:a16="http://schemas.microsoft.com/office/drawing/2014/main" id="{D020EA50-2CE1-4292-90EC-CCF77184F1E6}"/>
              </a:ext>
            </a:extLst>
          </p:cNvPr>
          <p:cNvSpPr>
            <a:spLocks xmlns:a="http://schemas.openxmlformats.org/drawingml/2006/main" noGrp="1"/>
          </p:cNvSpPr>
          <p:nvPr/>
        </p:nvSpPr>
        <p:spPr>
          <a:xfrm xmlns:a="http://schemas.openxmlformats.org/drawingml/2006/main">
            <a:off x="685800" y="30861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Genetic Seed 1</a:t>
            </a:r>
          </a:p>
        </p:txBody>
      </p:sp>
      <p:sp>
        <p:nvSpPr>
          <p:cNvPr id="8" name="">
            <a:extLst xmlns:a="http://schemas.openxmlformats.org/drawingml/2006/main">
              <a:ext uri="{FF2B5EF4-FFF2-40B4-BE49-F238E27FC236}">
                <a16:creationId xmlns:a16="http://schemas.microsoft.com/office/drawing/2014/main" id="{FA1E8FAF-C2F1-4559-B5C0-3B3810FA807A}"/>
              </a:ext>
            </a:extLst>
          </p:cNvPr>
          <p:cNvSpPr>
            <a:spLocks xmlns:a="http://schemas.openxmlformats.org/drawingml/2006/main" noGrp="1"/>
          </p:cNvSpPr>
          <p:nvPr/>
        </p:nvSpPr>
        <p:spPr>
          <a:xfrm xmlns:a="http://schemas.openxmlformats.org/drawingml/2006/main">
            <a:off x="6858000" y="3086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16 instruction positions</a:t>
            </a:r>
          </a:p>
        </p:txBody>
      </p:sp>
      <p:sp>
        <p:nvSpPr>
          <p:cNvPr id="9" name="">
            <a:extLst xmlns:a="http://schemas.openxmlformats.org/drawingml/2006/main">
              <a:ext uri="{FF2B5EF4-FFF2-40B4-BE49-F238E27FC236}">
                <a16:creationId xmlns:a16="http://schemas.microsoft.com/office/drawing/2014/main" id="{9E0AB3E8-9D57-4ACE-B2D6-2524D83BB395}"/>
              </a:ext>
            </a:extLst>
          </p:cNvPr>
          <p:cNvSpPr>
            <a:spLocks xmlns:a="http://schemas.openxmlformats.org/drawingml/2006/main" noGrp="1"/>
          </p:cNvSpPr>
          <p:nvPr/>
        </p:nvSpPr>
        <p:spPr>
          <a:xfrm xmlns:a="http://schemas.openxmlformats.org/drawingml/2006/main">
            <a:off x="685800" y="37909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Genetic 7</a:t>
            </a:r>
          </a:p>
        </p:txBody>
      </p:sp>
      <p:sp>
        <p:nvSpPr>
          <p:cNvPr id="10" name="">
            <a:extLst xmlns:a="http://schemas.openxmlformats.org/drawingml/2006/main">
              <a:ext uri="{FF2B5EF4-FFF2-40B4-BE49-F238E27FC236}">
                <a16:creationId xmlns:a16="http://schemas.microsoft.com/office/drawing/2014/main" id="{E046F512-32CE-4458-977F-2238265F42FB}"/>
              </a:ext>
            </a:extLst>
          </p:cNvPr>
          <p:cNvSpPr>
            <a:spLocks xmlns:a="http://schemas.openxmlformats.org/drawingml/2006/main" noGrp="1"/>
          </p:cNvSpPr>
          <p:nvPr/>
        </p:nvSpPr>
        <p:spPr>
          <a:xfrm xmlns:a="http://schemas.openxmlformats.org/drawingml/2006/main">
            <a:off x="6858000" y="3790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9 instruction positions</a:t>
            </a:r>
          </a:p>
        </p:txBody>
      </p:sp>
      <p:sp>
        <p:nvSpPr>
          <p:cNvPr id="11" name="">
            <a:extLst xmlns:a="http://schemas.openxmlformats.org/drawingml/2006/main">
              <a:ext uri="{FF2B5EF4-FFF2-40B4-BE49-F238E27FC236}">
                <a16:creationId xmlns:a16="http://schemas.microsoft.com/office/drawing/2014/main" id="{0434A603-DFBC-4C65-886D-3A76C8FF5595}"/>
              </a:ext>
            </a:extLst>
          </p:cNvPr>
          <p:cNvSpPr>
            <a:spLocks xmlns:a="http://schemas.openxmlformats.org/drawingml/2006/main" noGrp="1"/>
          </p:cNvSpPr>
          <p:nvPr/>
        </p:nvSpPr>
        <p:spPr>
          <a:xfrm xmlns:a="http://schemas.openxmlformats.org/drawingml/2006/main">
            <a:off x="685800" y="44958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 Genetic</a:t>
            </a:r>
          </a:p>
        </p:txBody>
      </p:sp>
      <p:sp>
        <p:nvSpPr>
          <p:cNvPr id="12" name="">
            <a:extLst xmlns:a="http://schemas.openxmlformats.org/drawingml/2006/main">
              <a:ext uri="{FF2B5EF4-FFF2-40B4-BE49-F238E27FC236}">
                <a16:creationId xmlns:a16="http://schemas.microsoft.com/office/drawing/2014/main" id="{6351747B-F635-4B04-A917-C57B74D99A0F}"/>
              </a:ext>
            </a:extLst>
          </p:cNvPr>
          <p:cNvSpPr>
            <a:spLocks xmlns:a="http://schemas.openxmlformats.org/drawingml/2006/main" noGrp="1"/>
          </p:cNvSpPr>
          <p:nvPr/>
        </p:nvSpPr>
        <p:spPr>
          <a:xfrm xmlns:a="http://schemas.openxmlformats.org/drawingml/2006/main">
            <a:off x="6858000" y="44958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8 instruction positions</a:t>
            </a:r>
          </a:p>
        </p:txBody>
      </p:sp>
      <p:sp>
        <p:nvSpPr>
          <p:cNvPr id="13" name="">
            <a:extLst xmlns:a="http://schemas.openxmlformats.org/drawingml/2006/main">
              <a:ext uri="{FF2B5EF4-FFF2-40B4-BE49-F238E27FC236}">
                <a16:creationId xmlns:a16="http://schemas.microsoft.com/office/drawing/2014/main" id="{A4C1EB9C-D90D-448A-991F-8FAA5979F072}"/>
              </a:ext>
            </a:extLst>
          </p:cNvPr>
          <p:cNvSpPr>
            <a:spLocks xmlns:a="http://schemas.openxmlformats.org/drawingml/2006/main" noGrp="1"/>
          </p:cNvSpPr>
          <p:nvPr/>
        </p:nvSpPr>
        <p:spPr>
          <a:xfrm xmlns:a="http://schemas.openxmlformats.org/drawingml/2006/main">
            <a:off x="685800" y="5476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Span = last minus first recorded check-ancilla CX instruction index. It is an instruction-position proxy, not physical time.</a:t>
            </a:r>
          </a:p>
        </p:txBody>
      </p:sp>
    </p:spTree>
    <p:extLst>
      <p:ext uri="{BB962C8B-B14F-4D97-AF65-F5344CB8AC3E}">
        <p14:creationId xmlns:p14="http://schemas.microsoft.com/office/powerpoint/2010/main" val="2614109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3DCBBC-EC86-4461-BAC4-8489F05A229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C91AF26-893F-4CA5-BD4A-27301C5E89BD}"/>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helped, but did not beat baseline</a:t>
            </a:r>
          </a:p>
        </p:txBody>
      </p:sp>
      <p:graphicFrame>
        <p:nvGraphicFramePr>
          <p:cNvPr id="3" name="Chart">
            <a:extLst xmlns:a="http://schemas.openxmlformats.org/drawingml/2006/main">
              <a:ext uri="{FF2B5EF4-FFF2-40B4-BE49-F238E27FC236}">
                <a16:creationId xmlns:a16="http://schemas.microsoft.com/office/drawing/2014/main" id="{A51470FD-F5B9-40D9-9EDC-54AC06540B8C}"/>
              </a:ext>
            </a:extLst>
          </p:cNvPr>
          <p:cNvGraphicFramePr/>
          <p:nvPr/>
        </p:nvGraphicFramePr>
        <p:xfrm>
          <a:off xmlns:a="http://schemas.openxmlformats.org/drawingml/2006/main" x="619125" y="1762125"/>
          <a:ext xmlns:a="http://schemas.openxmlformats.org/drawingml/2006/main" cx="7715250" cy="3952875"/>
        </p:xfrm>
        <a:graphic xmlns:a="http://schemas.openxmlformats.org/drawingml/2006/main">
          <a:graphicData uri="http://schemas.openxmlformats.org/drawingml/2006/chart">
            <c:chart xmlns:r="http://schemas.openxmlformats.org/officeDocument/2006/relationships" xmlns:c="http://schemas.openxmlformats.org/drawingml/2006/chart" r:id="Ra488642cbfec4240"/>
          </a:graphicData>
        </a:graphic>
      </p:graphicFrame>
      <p:sp>
        <p:nvSpPr>
          <p:cNvPr id="4" name="">
            <a:extLst xmlns:a="http://schemas.openxmlformats.org/drawingml/2006/main">
              <a:ext uri="{FF2B5EF4-FFF2-40B4-BE49-F238E27FC236}">
                <a16:creationId xmlns:a16="http://schemas.microsoft.com/office/drawing/2014/main" id="{F85AF921-38C1-4CFF-ACCC-2C9CC7259CAD}"/>
              </a:ext>
            </a:extLst>
          </p:cNvPr>
          <p:cNvSpPr>
            <a:spLocks xmlns:a="http://schemas.openxmlformats.org/drawingml/2006/main" noGrp="1"/>
          </p:cNvSpPr>
          <p:nvPr/>
        </p:nvSpPr>
        <p:spPr>
          <a:xfrm xmlns:a="http://schemas.openxmlformats.org/drawingml/2006/main">
            <a:off x="8763000" y="2238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Best checked result</a:t>
            </a:r>
          </a:p>
        </p:txBody>
      </p:sp>
      <p:sp>
        <p:nvSpPr>
          <p:cNvPr id="5" name="">
            <a:extLst xmlns:a="http://schemas.openxmlformats.org/drawingml/2006/main">
              <a:ext uri="{FF2B5EF4-FFF2-40B4-BE49-F238E27FC236}">
                <a16:creationId xmlns:a16="http://schemas.microsoft.com/office/drawing/2014/main" id="{68480B49-253B-42C3-B26C-A002ABC4E3AB}"/>
              </a:ext>
            </a:extLst>
          </p:cNvPr>
          <p:cNvSpPr>
            <a:spLocks xmlns:a="http://schemas.openxmlformats.org/drawingml/2006/main" noGrp="1"/>
          </p:cNvSpPr>
          <p:nvPr/>
        </p:nvSpPr>
        <p:spPr>
          <a:xfrm xmlns:a="http://schemas.openxmlformats.org/drawingml/2006/main">
            <a:off x="87630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09D9A"/>
                </a:solidFill>
                <a:latin typeface="Arial"/>
                <a:ea typeface="Arial"/>
                <a:cs typeface="Arial"/>
              </a:defRPr>
            </a:defPPr>
            <a:lvl1pPr algn="l">
              <a:defRPr sz="2775" b="1">
                <a:solidFill>
                  <a:srgbClr val="009D9A"/>
                </a:solidFill>
                <a:latin typeface="Arial"/>
                <a:ea typeface="Arial"/>
                <a:cs typeface="Arial"/>
              </a:defRPr>
            </a:lvl1pPr>
            <a:lvl2pPr algn="l">
              <a:defRPr sz="2775" b="1">
                <a:solidFill>
                  <a:srgbClr val="009D9A"/>
                </a:solidFill>
                <a:latin typeface="Arial"/>
                <a:ea typeface="Arial"/>
                <a:cs typeface="Arial"/>
              </a:defRPr>
            </a:lvl2pPr>
            <a:lvl3pPr algn="l">
              <a:defRPr sz="2775" b="1">
                <a:solidFill>
                  <a:srgbClr val="009D9A"/>
                </a:solidFill>
                <a:latin typeface="Arial"/>
                <a:ea typeface="Arial"/>
                <a:cs typeface="Arial"/>
              </a:defRPr>
            </a:lvl3pPr>
            <a:lvl4pPr algn="l">
              <a:defRPr sz="2775" b="1">
                <a:solidFill>
                  <a:srgbClr val="009D9A"/>
                </a:solidFill>
                <a:latin typeface="Arial"/>
                <a:ea typeface="Arial"/>
                <a:cs typeface="Arial"/>
              </a:defRPr>
            </a:lvl4pPr>
            <a:lvl5pPr algn="l">
              <a:defRPr sz="2775" b="1">
                <a:solidFill>
                  <a:srgbClr val="009D9A"/>
                </a:solidFill>
                <a:latin typeface="Arial"/>
                <a:ea typeface="Arial"/>
                <a:cs typeface="Arial"/>
              </a:defRPr>
            </a:lvl5pPr>
            <a:lvl6pPr algn="l">
              <a:defRPr sz="2775" b="1">
                <a:solidFill>
                  <a:srgbClr val="009D9A"/>
                </a:solidFill>
                <a:latin typeface="Arial"/>
                <a:ea typeface="Arial"/>
                <a:cs typeface="Arial"/>
              </a:defRPr>
            </a:lvl6pPr>
            <a:lvl7pPr algn="l">
              <a:defRPr sz="2775" b="1">
                <a:solidFill>
                  <a:srgbClr val="009D9A"/>
                </a:solidFill>
                <a:latin typeface="Arial"/>
                <a:ea typeface="Arial"/>
                <a:cs typeface="Arial"/>
              </a:defRPr>
            </a:lvl7pPr>
            <a:lvl8pPr algn="l">
              <a:defRPr sz="2775" b="1">
                <a:solidFill>
                  <a:srgbClr val="009D9A"/>
                </a:solidFill>
                <a:latin typeface="Arial"/>
                <a:ea typeface="Arial"/>
                <a:cs typeface="Arial"/>
              </a:defRPr>
            </a:lvl8pPr>
            <a:lvl9pPr algn="l">
              <a:defRPr sz="2775" b="1">
                <a:solidFill>
                  <a:srgbClr val="009D9A"/>
                </a:solidFill>
                <a:latin typeface="Arial"/>
                <a:ea typeface="Arial"/>
                <a:cs typeface="Arial"/>
              </a:defRPr>
            </a:lvl9pPr>
          </a:lstStyle>
          <a:p xmlns:a="http://schemas.openxmlformats.org/drawingml/2006/main">
            <a:pPr algn="l">
              <a:defRPr sz="2775" b="1">
                <a:solidFill>
                  <a:srgbClr val="009D9A"/>
                </a:solidFill>
                <a:latin typeface="Arial"/>
                <a:ea typeface="Arial"/>
                <a:cs typeface="Arial"/>
              </a:defRPr>
            </a:pPr>
            <a:r>
              <a:rPr sz="2775" b="1">
                <a:solidFill>
                  <a:srgbClr val="009D9A"/>
                </a:solidFill>
                <a:latin typeface="Arial"/>
                <a:ea typeface="Arial"/>
                <a:cs typeface="Arial"/>
              </a:rPr>
              <a:t>0.97833</a:t>
            </a:r>
          </a:p>
        </p:txBody>
      </p:sp>
      <p:sp>
        <p:nvSpPr>
          <p:cNvPr id="6" name="">
            <a:extLst xmlns:a="http://schemas.openxmlformats.org/drawingml/2006/main">
              <a:ext uri="{FF2B5EF4-FFF2-40B4-BE49-F238E27FC236}">
                <a16:creationId xmlns:a16="http://schemas.microsoft.com/office/drawing/2014/main" id="{8C08D1AB-10B8-4F72-BC79-A395838D5FF8}"/>
              </a:ext>
            </a:extLst>
          </p:cNvPr>
          <p:cNvSpPr>
            <a:spLocks xmlns:a="http://schemas.openxmlformats.org/drawingml/2006/main" noGrp="1"/>
          </p:cNvSpPr>
          <p:nvPr/>
        </p:nvSpPr>
        <p:spPr>
          <a:xfrm xmlns:a="http://schemas.openxmlformats.org/drawingml/2006/main">
            <a:off x="8763000" y="3143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61616"/>
                </a:solidFill>
                <a:latin typeface="Arial"/>
                <a:ea typeface="Arial"/>
                <a:cs typeface="Arial"/>
              </a:defRPr>
            </a:defPPr>
            <a:lvl1pPr algn="l">
              <a:defRPr sz="1350" b="0">
                <a:solidFill>
                  <a:srgbClr val="161616"/>
                </a:solidFill>
                <a:latin typeface="Arial"/>
                <a:ea typeface="Arial"/>
                <a:cs typeface="Arial"/>
              </a:defRPr>
            </a:lvl1pPr>
            <a:lvl2pPr algn="l">
              <a:defRPr sz="1350" b="0">
                <a:solidFill>
                  <a:srgbClr val="161616"/>
                </a:solidFill>
                <a:latin typeface="Arial"/>
                <a:ea typeface="Arial"/>
                <a:cs typeface="Arial"/>
              </a:defRPr>
            </a:lvl2pPr>
            <a:lvl3pPr algn="l">
              <a:defRPr sz="1350" b="0">
                <a:solidFill>
                  <a:srgbClr val="161616"/>
                </a:solidFill>
                <a:latin typeface="Arial"/>
                <a:ea typeface="Arial"/>
                <a:cs typeface="Arial"/>
              </a:defRPr>
            </a:lvl3pPr>
            <a:lvl4pPr algn="l">
              <a:defRPr sz="1350" b="0">
                <a:solidFill>
                  <a:srgbClr val="161616"/>
                </a:solidFill>
                <a:latin typeface="Arial"/>
                <a:ea typeface="Arial"/>
                <a:cs typeface="Arial"/>
              </a:defRPr>
            </a:lvl4pPr>
            <a:lvl5pPr algn="l">
              <a:defRPr sz="1350" b="0">
                <a:solidFill>
                  <a:srgbClr val="161616"/>
                </a:solidFill>
                <a:latin typeface="Arial"/>
                <a:ea typeface="Arial"/>
                <a:cs typeface="Arial"/>
              </a:defRPr>
            </a:lvl5pPr>
            <a:lvl6pPr algn="l">
              <a:defRPr sz="1350" b="0">
                <a:solidFill>
                  <a:srgbClr val="161616"/>
                </a:solidFill>
                <a:latin typeface="Arial"/>
                <a:ea typeface="Arial"/>
                <a:cs typeface="Arial"/>
              </a:defRPr>
            </a:lvl6pPr>
            <a:lvl7pPr algn="l">
              <a:defRPr sz="1350" b="0">
                <a:solidFill>
                  <a:srgbClr val="161616"/>
                </a:solidFill>
                <a:latin typeface="Arial"/>
                <a:ea typeface="Arial"/>
                <a:cs typeface="Arial"/>
              </a:defRPr>
            </a:lvl7pPr>
            <a:lvl8pPr algn="l">
              <a:defRPr sz="1350" b="0">
                <a:solidFill>
                  <a:srgbClr val="161616"/>
                </a:solidFill>
                <a:latin typeface="Arial"/>
                <a:ea typeface="Arial"/>
                <a:cs typeface="Arial"/>
              </a:defRPr>
            </a:lvl8pPr>
            <a:lvl9pPr algn="l">
              <a:defRPr sz="1350" b="0">
                <a:solidFill>
                  <a:srgbClr val="161616"/>
                </a:solidFill>
                <a:latin typeface="Arial"/>
                <a:ea typeface="Arial"/>
                <a:cs typeface="Arial"/>
              </a:defRPr>
            </a:lvl9pPr>
          </a:lstStyle>
          <a:p xmlns:a="http://schemas.openxmlformats.org/drawingml/2006/main">
            <a:pPr algn="l">
              <a:defRPr sz="1350" b="0">
                <a:solidFill>
                  <a:srgbClr val="161616"/>
                </a:solidFill>
                <a:latin typeface="Arial"/>
                <a:ea typeface="Arial"/>
                <a:cs typeface="Arial"/>
              </a:defRPr>
            </a:pPr>
            <a:r>
              <a:rPr sz="1350" b="0">
                <a:solidFill>
                  <a:srgbClr val="161616"/>
                </a:solidFill>
                <a:latin typeface="Arial"/>
                <a:ea typeface="Arial"/>
                <a:cs typeface="Arial"/>
              </a:rPr>
              <a:t>Genetic Seed 1</a:t>
            </a:r>
          </a:p>
        </p:txBody>
      </p:sp>
      <p:sp>
        <p:nvSpPr>
          <p:cNvPr id="7" name="">
            <a:extLst xmlns:a="http://schemas.openxmlformats.org/drawingml/2006/main">
              <a:ext uri="{FF2B5EF4-FFF2-40B4-BE49-F238E27FC236}">
                <a16:creationId xmlns:a16="http://schemas.microsoft.com/office/drawing/2014/main" id="{E9E7E442-B903-44D0-A15E-2CA8B4D59C6B}"/>
              </a:ext>
            </a:extLst>
          </p:cNvPr>
          <p:cNvSpPr>
            <a:spLocks xmlns:a="http://schemas.openxmlformats.org/drawingml/2006/main" noGrp="1"/>
          </p:cNvSpPr>
          <p:nvPr/>
        </p:nvSpPr>
        <p:spPr>
          <a:xfrm xmlns:a="http://schemas.openxmlformats.org/drawingml/2006/main">
            <a:off x="8763000" y="39528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No-check baseline</a:t>
            </a:r>
          </a:p>
        </p:txBody>
      </p:sp>
      <p:sp>
        <p:nvSpPr>
          <p:cNvPr id="8" name="">
            <a:extLst xmlns:a="http://schemas.openxmlformats.org/drawingml/2006/main">
              <a:ext uri="{FF2B5EF4-FFF2-40B4-BE49-F238E27FC236}">
                <a16:creationId xmlns:a16="http://schemas.microsoft.com/office/drawing/2014/main" id="{98C844D9-62E4-49B0-8536-E21A9619B753}"/>
              </a:ext>
            </a:extLst>
          </p:cNvPr>
          <p:cNvSpPr>
            <a:spLocks xmlns:a="http://schemas.openxmlformats.org/drawingml/2006/main" noGrp="1"/>
          </p:cNvSpPr>
          <p:nvPr/>
        </p:nvSpPr>
        <p:spPr>
          <a:xfrm xmlns:a="http://schemas.openxmlformats.org/drawingml/2006/main">
            <a:off x="8763000" y="43815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F62FE"/>
                </a:solidFill>
                <a:latin typeface="Arial"/>
                <a:ea typeface="Arial"/>
                <a:cs typeface="Arial"/>
              </a:defRPr>
            </a:defPPr>
            <a:lvl1pPr algn="l">
              <a:defRPr sz="2775" b="1">
                <a:solidFill>
                  <a:srgbClr val="0F62FE"/>
                </a:solidFill>
                <a:latin typeface="Arial"/>
                <a:ea typeface="Arial"/>
                <a:cs typeface="Arial"/>
              </a:defRPr>
            </a:lvl1pPr>
            <a:lvl2pPr algn="l">
              <a:defRPr sz="2775" b="1">
                <a:solidFill>
                  <a:srgbClr val="0F62FE"/>
                </a:solidFill>
                <a:latin typeface="Arial"/>
                <a:ea typeface="Arial"/>
                <a:cs typeface="Arial"/>
              </a:defRPr>
            </a:lvl2pPr>
            <a:lvl3pPr algn="l">
              <a:defRPr sz="2775" b="1">
                <a:solidFill>
                  <a:srgbClr val="0F62FE"/>
                </a:solidFill>
                <a:latin typeface="Arial"/>
                <a:ea typeface="Arial"/>
                <a:cs typeface="Arial"/>
              </a:defRPr>
            </a:lvl3pPr>
            <a:lvl4pPr algn="l">
              <a:defRPr sz="2775" b="1">
                <a:solidFill>
                  <a:srgbClr val="0F62FE"/>
                </a:solidFill>
                <a:latin typeface="Arial"/>
                <a:ea typeface="Arial"/>
                <a:cs typeface="Arial"/>
              </a:defRPr>
            </a:lvl4pPr>
            <a:lvl5pPr algn="l">
              <a:defRPr sz="2775" b="1">
                <a:solidFill>
                  <a:srgbClr val="0F62FE"/>
                </a:solidFill>
                <a:latin typeface="Arial"/>
                <a:ea typeface="Arial"/>
                <a:cs typeface="Arial"/>
              </a:defRPr>
            </a:lvl5pPr>
            <a:lvl6pPr algn="l">
              <a:defRPr sz="2775" b="1">
                <a:solidFill>
                  <a:srgbClr val="0F62FE"/>
                </a:solidFill>
                <a:latin typeface="Arial"/>
                <a:ea typeface="Arial"/>
                <a:cs typeface="Arial"/>
              </a:defRPr>
            </a:lvl6pPr>
            <a:lvl7pPr algn="l">
              <a:defRPr sz="2775" b="1">
                <a:solidFill>
                  <a:srgbClr val="0F62FE"/>
                </a:solidFill>
                <a:latin typeface="Arial"/>
                <a:ea typeface="Arial"/>
                <a:cs typeface="Arial"/>
              </a:defRPr>
            </a:lvl7pPr>
            <a:lvl8pPr algn="l">
              <a:defRPr sz="2775" b="1">
                <a:solidFill>
                  <a:srgbClr val="0F62FE"/>
                </a:solidFill>
                <a:latin typeface="Arial"/>
                <a:ea typeface="Arial"/>
                <a:cs typeface="Arial"/>
              </a:defRPr>
            </a:lvl8pPr>
            <a:lvl9pPr algn="l">
              <a:defRPr sz="2775" b="1">
                <a:solidFill>
                  <a:srgbClr val="0F62FE"/>
                </a:solidFill>
                <a:latin typeface="Arial"/>
                <a:ea typeface="Arial"/>
                <a:cs typeface="Arial"/>
              </a:defRPr>
            </a:lvl9pPr>
          </a:lstStyle>
          <a:p xmlns:a="http://schemas.openxmlformats.org/drawingml/2006/main">
            <a:pPr algn="l">
              <a:defRPr sz="2775" b="1">
                <a:solidFill>
                  <a:srgbClr val="0F62FE"/>
                </a:solidFill>
                <a:latin typeface="Arial"/>
                <a:ea typeface="Arial"/>
                <a:cs typeface="Arial"/>
              </a:defRPr>
            </a:pPr>
            <a:r>
              <a:rPr sz="2775" b="1">
                <a:solidFill>
                  <a:srgbClr val="0F62FE"/>
                </a:solidFill>
                <a:latin typeface="Arial"/>
                <a:ea typeface="Arial"/>
                <a:cs typeface="Arial"/>
              </a:rPr>
              <a:t>0.97958</a:t>
            </a:r>
          </a:p>
        </p:txBody>
      </p:sp>
      <p:sp>
        <p:nvSpPr>
          <p:cNvPr id="9" name="">
            <a:extLst xmlns:a="http://schemas.openxmlformats.org/drawingml/2006/main">
              <a:ext uri="{FF2B5EF4-FFF2-40B4-BE49-F238E27FC236}">
                <a16:creationId xmlns:a16="http://schemas.microsoft.com/office/drawing/2014/main" id="{3636950C-8C97-4913-9AE6-E97BD8B13462}"/>
              </a:ext>
            </a:extLst>
          </p:cNvPr>
          <p:cNvSpPr>
            <a:spLocks xmlns:a="http://schemas.openxmlformats.org/drawingml/2006/main" noGrp="1"/>
          </p:cNvSpPr>
          <p:nvPr/>
        </p:nvSpPr>
        <p:spPr>
          <a:xfrm xmlns:a="http://schemas.openxmlformats.org/drawingml/2006/main">
            <a:off x="685800" y="5953125"/>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5252"/>
                </a:solidFill>
                <a:latin typeface="Arial"/>
                <a:ea typeface="Arial"/>
                <a:cs typeface="Arial"/>
              </a:defRPr>
            </a:defPPr>
            <a:lvl1pPr algn="l">
              <a:defRPr sz="1200" b="0">
                <a:solidFill>
                  <a:srgbClr val="525252"/>
                </a:solidFill>
                <a:latin typeface="Arial"/>
                <a:ea typeface="Arial"/>
                <a:cs typeface="Arial"/>
              </a:defRPr>
            </a:lvl1pPr>
            <a:lvl2pPr algn="l">
              <a:defRPr sz="1200" b="0">
                <a:solidFill>
                  <a:srgbClr val="525252"/>
                </a:solidFill>
                <a:latin typeface="Arial"/>
                <a:ea typeface="Arial"/>
                <a:cs typeface="Arial"/>
              </a:defRPr>
            </a:lvl2pPr>
            <a:lvl3pPr algn="l">
              <a:defRPr sz="1200" b="0">
                <a:solidFill>
                  <a:srgbClr val="525252"/>
                </a:solidFill>
                <a:latin typeface="Arial"/>
                <a:ea typeface="Arial"/>
                <a:cs typeface="Arial"/>
              </a:defRPr>
            </a:lvl3pPr>
            <a:lvl4pPr algn="l">
              <a:defRPr sz="1200" b="0">
                <a:solidFill>
                  <a:srgbClr val="525252"/>
                </a:solidFill>
                <a:latin typeface="Arial"/>
                <a:ea typeface="Arial"/>
                <a:cs typeface="Arial"/>
              </a:defRPr>
            </a:lvl4pPr>
            <a:lvl5pPr algn="l">
              <a:defRPr sz="1200" b="0">
                <a:solidFill>
                  <a:srgbClr val="525252"/>
                </a:solidFill>
                <a:latin typeface="Arial"/>
                <a:ea typeface="Arial"/>
                <a:cs typeface="Arial"/>
              </a:defRPr>
            </a:lvl5pPr>
            <a:lvl6pPr algn="l">
              <a:defRPr sz="1200" b="0">
                <a:solidFill>
                  <a:srgbClr val="525252"/>
                </a:solidFill>
                <a:latin typeface="Arial"/>
                <a:ea typeface="Arial"/>
                <a:cs typeface="Arial"/>
              </a:defRPr>
            </a:lvl6pPr>
            <a:lvl7pPr algn="l">
              <a:defRPr sz="1200" b="0">
                <a:solidFill>
                  <a:srgbClr val="525252"/>
                </a:solidFill>
                <a:latin typeface="Arial"/>
                <a:ea typeface="Arial"/>
                <a:cs typeface="Arial"/>
              </a:defRPr>
            </a:lvl7pPr>
            <a:lvl8pPr algn="l">
              <a:defRPr sz="1200" b="0">
                <a:solidFill>
                  <a:srgbClr val="525252"/>
                </a:solidFill>
                <a:latin typeface="Arial"/>
                <a:ea typeface="Arial"/>
                <a:cs typeface="Arial"/>
              </a:defRPr>
            </a:lvl8pPr>
            <a:lvl9pPr algn="l">
              <a:defRPr sz="1200" b="0">
                <a:solidFill>
                  <a:srgbClr val="525252"/>
                </a:solidFill>
                <a:latin typeface="Arial"/>
                <a:ea typeface="Arial"/>
                <a:cs typeface="Arial"/>
              </a:defRPr>
            </a:lvl9pPr>
          </a:lstStyle>
          <a:p xmlns:a="http://schemas.openxmlformats.org/drawingml/2006/main">
            <a:pPr algn="l">
              <a:defRPr sz="1200" b="0">
                <a:solidFill>
                  <a:srgbClr val="525252"/>
                </a:solidFill>
                <a:latin typeface="Arial"/>
                <a:ea typeface="Arial"/>
                <a:cs typeface="Arial"/>
              </a:defRPr>
            </a:pPr>
            <a:r>
              <a:rPr sz="1200" b="0">
                <a:solidFill>
                  <a:srgbClr val="525252"/>
                </a:solidFill>
                <a:latin typeface="Arial"/>
                <a:ea typeface="Arial"/>
                <a:cs typeface="Arial"/>
              </a:rPr>
              <a:t>Plot values rounded to 3 decimals except reported exact values.</a:t>
            </a:r>
          </a:p>
        </p:txBody>
      </p:sp>
    </p:spTree>
    <p:extLst>
      <p:ext uri="{BB962C8B-B14F-4D97-AF65-F5344CB8AC3E}">
        <p14:creationId xmlns:p14="http://schemas.microsoft.com/office/powerpoint/2010/main" val="787416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2BE9AF-4B84-49F0-B8EC-96B3324BD3B0}"/>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A9DBED0-2FEA-4F8E-861C-D947FB82E8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Greater check separation did not mean higher fidelity</a:t>
            </a:r>
          </a:p>
        </p:txBody>
      </p:sp>
      <p:graphicFrame>
        <p:nvGraphicFramePr>
          <p:cNvPr id="3" name="Chart">
            <a:extLst xmlns:a="http://schemas.openxmlformats.org/drawingml/2006/main">
              <a:ext uri="{FF2B5EF4-FFF2-40B4-BE49-F238E27FC236}">
                <a16:creationId xmlns:a16="http://schemas.microsoft.com/office/drawing/2014/main" id="{4E921504-ACA3-413F-A0CF-FA48D490EB79}"/>
              </a:ext>
            </a:extLst>
          </p:cNvPr>
          <p:cNvGraphicFramePr/>
          <p:nvPr/>
        </p:nvGraphicFramePr>
        <p:xfrm>
          <a:off xmlns:a="http://schemas.openxmlformats.org/drawingml/2006/main" x="666750" y="18097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0ff5633a5dcd4345"/>
          </a:graphicData>
        </a:graphic>
      </p:graphicFrame>
      <p:sp>
        <p:nvSpPr>
          <p:cNvPr id="4" name="">
            <a:extLst xmlns:a="http://schemas.openxmlformats.org/drawingml/2006/main">
              <a:ext uri="{FF2B5EF4-FFF2-40B4-BE49-F238E27FC236}">
                <a16:creationId xmlns:a16="http://schemas.microsoft.com/office/drawing/2014/main" id="{DEDA4E94-F666-4878-B079-F7A30753946C}"/>
              </a:ext>
            </a:extLst>
          </p:cNvPr>
          <p:cNvSpPr>
            <a:spLocks xmlns:a="http://schemas.openxmlformats.org/drawingml/2006/main" noGrp="1"/>
          </p:cNvSpPr>
          <p:nvPr/>
        </p:nvSpPr>
        <p:spPr>
          <a:xfrm xmlns:a="http://schemas.openxmlformats.org/drawingml/2006/main">
            <a:off x="8096250" y="22383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No monotonic trend</a:t>
            </a:r>
          </a:p>
        </p:txBody>
      </p:sp>
      <p:sp>
        <p:nvSpPr>
          <p:cNvPr id="5" name="">
            <a:extLst xmlns:a="http://schemas.openxmlformats.org/drawingml/2006/main">
              <a:ext uri="{FF2B5EF4-FFF2-40B4-BE49-F238E27FC236}">
                <a16:creationId xmlns:a16="http://schemas.microsoft.com/office/drawing/2014/main" id="{FD53BBF4-90DB-4C35-8796-E93EAE2764C4}"/>
              </a:ext>
            </a:extLst>
          </p:cNvPr>
          <p:cNvSpPr>
            <a:spLocks xmlns:a="http://schemas.openxmlformats.org/drawingml/2006/main" noGrp="1"/>
          </p:cNvSpPr>
          <p:nvPr/>
        </p:nvSpPr>
        <p:spPr>
          <a:xfrm xmlns:a="http://schemas.openxmlformats.org/drawingml/2006/main">
            <a:off x="8096250" y="27146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The observed fidelity does not consistently rise or fall as the reported span changes.</a:t>
            </a:r>
          </a:p>
        </p:txBody>
      </p:sp>
      <p:sp>
        <p:nvSpPr>
          <p:cNvPr id="6" name="">
            <a:extLst xmlns:a="http://schemas.openxmlformats.org/drawingml/2006/main">
              <a:ext uri="{FF2B5EF4-FFF2-40B4-BE49-F238E27FC236}">
                <a16:creationId xmlns:a16="http://schemas.microsoft.com/office/drawing/2014/main" id="{BF7BEB3E-01C1-46B5-A5F0-DA025A9C7640}"/>
              </a:ext>
            </a:extLst>
          </p:cNvPr>
          <p:cNvSpPr>
            <a:spLocks xmlns:a="http://schemas.openxmlformats.org/drawingml/2006/main" noGrp="1"/>
          </p:cNvSpPr>
          <p:nvPr/>
        </p:nvSpPr>
        <p:spPr>
          <a:xfrm xmlns:a="http://schemas.openxmlformats.org/drawingml/2006/main">
            <a:off x="8096250" y="4048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Confounding factors</a:t>
            </a:r>
          </a:p>
        </p:txBody>
      </p:sp>
      <p:sp>
        <p:nvSpPr>
          <p:cNvPr id="7" name="">
            <a:extLst xmlns:a="http://schemas.openxmlformats.org/drawingml/2006/main">
              <a:ext uri="{FF2B5EF4-FFF2-40B4-BE49-F238E27FC236}">
                <a16:creationId xmlns:a16="http://schemas.microsoft.com/office/drawing/2014/main" id="{634EF0E9-F360-4D8D-9959-8A30CB55C079}"/>
              </a:ext>
            </a:extLst>
          </p:cNvPr>
          <p:cNvSpPr>
            <a:spLocks xmlns:a="http://schemas.openxmlformats.org/drawingml/2006/main" noGrp="1"/>
          </p:cNvSpPr>
          <p:nvPr/>
        </p:nvSpPr>
        <p:spPr>
          <a:xfrm xmlns:a="http://schemas.openxmlformats.org/drawingml/2006/main">
            <a:off x="8096250" y="4524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Check count, support, and circuit overhead also differ between configurations.</a:t>
            </a:r>
          </a:p>
        </p:txBody>
      </p:sp>
    </p:spTree>
    <p:extLst>
      <p:ext uri="{BB962C8B-B14F-4D97-AF65-F5344CB8AC3E}">
        <p14:creationId xmlns:p14="http://schemas.microsoft.com/office/powerpoint/2010/main" val="442491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F3A40E-D54A-465D-84C2-67CA05469D4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2DB73B2E-680A-4A44-B211-87FDD4B6002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A separate comparison tested a T-doped circuit</a:t>
            </a:r>
          </a:p>
        </p:txBody>
      </p:sp>
      <p:graphicFrame>
        <p:nvGraphicFramePr>
          <p:cNvPr id="3" name="Chart">
            <a:extLst xmlns:a="http://schemas.openxmlformats.org/drawingml/2006/main">
              <a:ext uri="{FF2B5EF4-FFF2-40B4-BE49-F238E27FC236}">
                <a16:creationId xmlns:a16="http://schemas.microsoft.com/office/drawing/2014/main" id="{EA9937AD-5A7B-4DF0-BD09-BC55C879463A}"/>
              </a:ext>
            </a:extLst>
          </p:cNvPr>
          <p:cNvGraphicFramePr/>
          <p:nvPr/>
        </p:nvGraphicFramePr>
        <p:xfrm>
          <a:off xmlns:a="http://schemas.openxmlformats.org/drawingml/2006/main" x="762000" y="1809750"/>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2e94b38f9023414c"/>
          </a:graphicData>
        </a:graphic>
      </p:graphicFrame>
      <p:sp>
        <p:nvSpPr>
          <p:cNvPr id="4" name="">
            <a:extLst xmlns:a="http://schemas.openxmlformats.org/drawingml/2006/main">
              <a:ext uri="{FF2B5EF4-FFF2-40B4-BE49-F238E27FC236}">
                <a16:creationId xmlns:a16="http://schemas.microsoft.com/office/drawing/2014/main" id="{D1FF98E9-AAFF-40B6-ADA9-76DCECC7C9E1}"/>
              </a:ext>
            </a:extLst>
          </p:cNvPr>
          <p:cNvSpPr>
            <a:spLocks xmlns:a="http://schemas.openxmlformats.org/drawingml/2006/main" noGrp="1"/>
          </p:cNvSpPr>
          <p:nvPr/>
        </p:nvSpPr>
        <p:spPr>
          <a:xfrm xmlns:a="http://schemas.openxmlformats.org/drawingml/2006/main">
            <a:off x="7953375"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Observed difference</a:t>
            </a:r>
          </a:p>
        </p:txBody>
      </p:sp>
      <p:sp>
        <p:nvSpPr>
          <p:cNvPr id="5" name="">
            <a:extLst xmlns:a="http://schemas.openxmlformats.org/drawingml/2006/main">
              <a:ext uri="{FF2B5EF4-FFF2-40B4-BE49-F238E27FC236}">
                <a16:creationId xmlns:a16="http://schemas.microsoft.com/office/drawing/2014/main" id="{F171881F-B989-4A63-B0A2-EA66E7B7C652}"/>
              </a:ext>
            </a:extLst>
          </p:cNvPr>
          <p:cNvSpPr>
            <a:spLocks xmlns:a="http://schemas.openxmlformats.org/drawingml/2006/main" noGrp="1"/>
          </p:cNvSpPr>
          <p:nvPr/>
        </p:nvSpPr>
        <p:spPr>
          <a:xfrm xmlns:a="http://schemas.openxmlformats.org/drawingml/2006/main">
            <a:off x="7953375" y="2524125"/>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+0.00582</a:t>
            </a:r>
          </a:p>
        </p:txBody>
      </p:sp>
      <p:sp>
        <p:nvSpPr>
          <p:cNvPr id="6" name="">
            <a:extLst xmlns:a="http://schemas.openxmlformats.org/drawingml/2006/main">
              <a:ext uri="{FF2B5EF4-FFF2-40B4-BE49-F238E27FC236}">
                <a16:creationId xmlns:a16="http://schemas.microsoft.com/office/drawing/2014/main" id="{04B02265-EEFA-464C-B678-0BEF6655368A}"/>
              </a:ext>
            </a:extLst>
          </p:cNvPr>
          <p:cNvSpPr>
            <a:spLocks xmlns:a="http://schemas.openxmlformats.org/drawingml/2006/main" noGrp="1"/>
          </p:cNvSpPr>
          <p:nvPr/>
        </p:nvSpPr>
        <p:spPr>
          <a:xfrm xmlns:a="http://schemas.openxmlformats.org/drawingml/2006/main">
            <a:off x="7953375" y="309562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61616"/>
                </a:solidFill>
                <a:latin typeface="Arial"/>
                <a:ea typeface="Arial"/>
                <a:cs typeface="Arial"/>
              </a:defRPr>
            </a:defPPr>
            <a:lvl1pPr algn="l">
              <a:defRPr sz="1425" b="0">
                <a:solidFill>
                  <a:srgbClr val="161616"/>
                </a:solidFill>
                <a:latin typeface="Arial"/>
                <a:ea typeface="Arial"/>
                <a:cs typeface="Arial"/>
              </a:defRPr>
            </a:lvl1pPr>
            <a:lvl2pPr algn="l">
              <a:defRPr sz="1425" b="0">
                <a:solidFill>
                  <a:srgbClr val="161616"/>
                </a:solidFill>
                <a:latin typeface="Arial"/>
                <a:ea typeface="Arial"/>
                <a:cs typeface="Arial"/>
              </a:defRPr>
            </a:lvl2pPr>
            <a:lvl3pPr algn="l">
              <a:defRPr sz="1425" b="0">
                <a:solidFill>
                  <a:srgbClr val="161616"/>
                </a:solidFill>
                <a:latin typeface="Arial"/>
                <a:ea typeface="Arial"/>
                <a:cs typeface="Arial"/>
              </a:defRPr>
            </a:lvl3pPr>
            <a:lvl4pPr algn="l">
              <a:defRPr sz="1425" b="0">
                <a:solidFill>
                  <a:srgbClr val="161616"/>
                </a:solidFill>
                <a:latin typeface="Arial"/>
                <a:ea typeface="Arial"/>
                <a:cs typeface="Arial"/>
              </a:defRPr>
            </a:lvl4pPr>
            <a:lvl5pPr algn="l">
              <a:defRPr sz="1425" b="0">
                <a:solidFill>
                  <a:srgbClr val="161616"/>
                </a:solidFill>
                <a:latin typeface="Arial"/>
                <a:ea typeface="Arial"/>
                <a:cs typeface="Arial"/>
              </a:defRPr>
            </a:lvl5pPr>
            <a:lvl6pPr algn="l">
              <a:defRPr sz="1425" b="0">
                <a:solidFill>
                  <a:srgbClr val="161616"/>
                </a:solidFill>
                <a:latin typeface="Arial"/>
                <a:ea typeface="Arial"/>
                <a:cs typeface="Arial"/>
              </a:defRPr>
            </a:lvl6pPr>
            <a:lvl7pPr algn="l">
              <a:defRPr sz="1425" b="0">
                <a:solidFill>
                  <a:srgbClr val="161616"/>
                </a:solidFill>
                <a:latin typeface="Arial"/>
                <a:ea typeface="Arial"/>
                <a:cs typeface="Arial"/>
              </a:defRPr>
            </a:lvl7pPr>
            <a:lvl8pPr algn="l">
              <a:defRPr sz="1425" b="0">
                <a:solidFill>
                  <a:srgbClr val="161616"/>
                </a:solidFill>
                <a:latin typeface="Arial"/>
                <a:ea typeface="Arial"/>
                <a:cs typeface="Arial"/>
              </a:defRPr>
            </a:lvl8pPr>
            <a:lvl9pPr algn="l">
              <a:defRPr sz="1425" b="0">
                <a:solidFill>
                  <a:srgbClr val="161616"/>
                </a:solidFill>
                <a:latin typeface="Arial"/>
                <a:ea typeface="Arial"/>
                <a:cs typeface="Arial"/>
              </a:defRPr>
            </a:lvl9pPr>
          </a:lstStyle>
          <a:p xmlns:a="http://schemas.openxmlformats.org/drawingml/2006/main">
            <a:pPr algn="l">
              <a:defRPr sz="1425" b="0">
                <a:solidFill>
                  <a:srgbClr val="161616"/>
                </a:solidFill>
                <a:latin typeface="Arial"/>
                <a:ea typeface="Arial"/>
                <a:cs typeface="Arial"/>
              </a:defRPr>
            </a:pPr>
            <a:r>
              <a:rPr sz="1425" b="0">
                <a:solidFill>
                  <a:srgbClr val="161616"/>
                </a:solidFill>
                <a:latin typeface="Arial"/>
                <a:ea typeface="Arial"/>
                <a:cs typeface="Arial"/>
              </a:rPr>
              <a:t>for the T-doped circuit in this run</a:t>
            </a:r>
          </a:p>
        </p:txBody>
      </p:sp>
      <p:sp>
        <p:nvSpPr>
          <p:cNvPr id="7" name="">
            <a:extLst xmlns:a="http://schemas.openxmlformats.org/drawingml/2006/main">
              <a:ext uri="{FF2B5EF4-FFF2-40B4-BE49-F238E27FC236}">
                <a16:creationId xmlns:a16="http://schemas.microsoft.com/office/drawing/2014/main" id="{2E63A31A-87A2-40ED-9653-EAFCE80C0295}"/>
              </a:ext>
            </a:extLst>
          </p:cNvPr>
          <p:cNvSpPr>
            <a:spLocks xmlns:a="http://schemas.openxmlformats.org/drawingml/2006/main" noGrp="1"/>
          </p:cNvSpPr>
          <p:nvPr/>
        </p:nvSpPr>
        <p:spPr>
          <a:xfrm xmlns:a="http://schemas.openxmlformats.org/drawingml/2006/main">
            <a:off x="7953375" y="4095750"/>
            <a:ext cx="323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does not show that T gates improve robustness. Each circuit is compared with its own ideal output distribution.</a:t>
            </a:r>
          </a:p>
        </p:txBody>
      </p:sp>
    </p:spTree>
    <p:extLst>
      <p:ext uri="{BB962C8B-B14F-4D97-AF65-F5344CB8AC3E}">
        <p14:creationId xmlns:p14="http://schemas.microsoft.com/office/powerpoint/2010/main" val="11827419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2DE3AC-793E-403B-9EB3-3CA150E8710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E85CB7F-DCDA-4927-ACB9-F8ED53420DAA}"/>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this Track 1 study does not establish</a:t>
            </a:r>
          </a:p>
        </p:txBody>
      </p:sp>
      <p:sp>
        <p:nvSpPr>
          <p:cNvPr id="3" name="">
            <a:extLst xmlns:a="http://schemas.openxmlformats.org/drawingml/2006/main">
              <a:ext uri="{FF2B5EF4-FFF2-40B4-BE49-F238E27FC236}">
                <a16:creationId xmlns:a16="http://schemas.microsoft.com/office/drawing/2014/main" id="{887C8E29-42B1-44F4-B58F-273E23C4ECB9}"/>
              </a:ext>
            </a:extLst>
          </p:cNvPr>
          <p:cNvSpPr>
            <a:spLocks xmlns:a="http://schemas.openxmlformats.org/drawingml/2006/main" noGrp="1"/>
          </p:cNvSpPr>
          <p:nvPr/>
        </p:nvSpPr>
        <p:spPr>
          <a:xfrm xmlns:a="http://schemas.openxmlformats.org/drawingml/2006/main">
            <a:off x="68580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SIMULATION LIMITS</a:t>
            </a:r>
          </a:p>
        </p:txBody>
      </p:sp>
      <p:sp>
        <p:nvSpPr>
          <p:cNvPr id="4" name="">
            <a:extLst xmlns:a="http://schemas.openxmlformats.org/drawingml/2006/main">
              <a:ext uri="{FF2B5EF4-FFF2-40B4-BE49-F238E27FC236}">
                <a16:creationId xmlns:a16="http://schemas.microsoft.com/office/drawing/2014/main" id="{5A62A6C4-1E45-4A37-8248-F633A2E0416F}"/>
              </a:ext>
            </a:extLst>
          </p:cNvPr>
          <p:cNvSpPr>
            <a:spLocks xmlns:a="http://schemas.openxmlformats.org/drawingml/2006/main" noGrp="1"/>
          </p:cNvSpPr>
          <p:nvPr/>
        </p:nvSpPr>
        <p:spPr>
          <a:xfrm xmlns:a="http://schemas.openxmlformats.org/drawingml/2006/main">
            <a:off x="685800" y="2238375"/>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No hardware run or calibrated hardware noise</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One run per configuration; uncertainty not measured</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Zero syndrome can still miss errors</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Check operations add circuit overhead</a:t>
            </a:r>
          </a:p>
        </p:txBody>
      </p:sp>
      <p:sp>
        <p:nvSpPr>
          <p:cNvPr id="5" name="">
            <a:extLst xmlns:a="http://schemas.openxmlformats.org/drawingml/2006/main">
              <a:ext uri="{FF2B5EF4-FFF2-40B4-BE49-F238E27FC236}">
                <a16:creationId xmlns:a16="http://schemas.microsoft.com/office/drawing/2014/main" id="{083C4641-DDE3-471B-93AF-337D25F6B93F}"/>
              </a:ext>
            </a:extLst>
          </p:cNvPr>
          <p:cNvSpPr>
            <a:spLocks xmlns:a="http://schemas.openxmlformats.org/drawingml/2006/main" noGrp="1"/>
          </p:cNvSpPr>
          <p:nvPr/>
        </p:nvSpPr>
        <p:spPr>
          <a:xfrm xmlns:a="http://schemas.openxmlformats.org/drawingml/2006/main">
            <a:off x="6334125" y="18097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METRIC AND SCOPE LIMITS</a:t>
            </a:r>
          </a:p>
        </p:txBody>
      </p:sp>
      <p:sp>
        <p:nvSpPr>
          <p:cNvPr id="6" name="">
            <a:extLst xmlns:a="http://schemas.openxmlformats.org/drawingml/2006/main">
              <a:ext uri="{FF2B5EF4-FFF2-40B4-BE49-F238E27FC236}">
                <a16:creationId xmlns:a16="http://schemas.microsoft.com/office/drawing/2014/main" id="{AD960EDE-C871-4046-87FA-30C11E90654F}"/>
              </a:ext>
            </a:extLst>
          </p:cNvPr>
          <p:cNvSpPr>
            <a:spLocks xmlns:a="http://schemas.openxmlformats.org/drawingml/2006/main" noGrp="1"/>
          </p:cNvSpPr>
          <p:nvPr/>
        </p:nvSpPr>
        <p:spPr>
          <a:xfrm xmlns:a="http://schemas.openxmlformats.org/drawingml/2006/main">
            <a:off x="6334125" y="2238375"/>
            <a:ext cx="5143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Fidelity is for classical output distributions, not the full quantum state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Span is instruction-index distance, not physical time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Multi-check configurations need a complete span metric</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Paulice workflow is Clifford-focused; T-doped checks were not validated</a:t>
            </a:r>
          </a:p>
        </p:txBody>
      </p:sp>
      <p:sp>
        <p:nvSpPr>
          <p:cNvPr id="7" name="">
            <a:extLst xmlns:a="http://schemas.openxmlformats.org/drawingml/2006/main">
              <a:ext uri="{FF2B5EF4-FFF2-40B4-BE49-F238E27FC236}">
                <a16:creationId xmlns:a16="http://schemas.microsoft.com/office/drawing/2014/main" id="{2082FCCC-F0D2-4CDC-9536-F60CC1054FF3}"/>
              </a:ext>
            </a:extLst>
          </p:cNvPr>
          <p:cNvSpPr>
            <a:spLocks xmlns:a="http://schemas.openxmlformats.org/drawingml/2006/main" noGrp="1"/>
          </p:cNvSpPr>
          <p:nvPr/>
        </p:nvSpPr>
        <p:spPr>
          <a:xfrm xmlns:a="http://schemas.openxmlformats.org/drawingml/2006/main">
            <a:off x="685800" y="542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8A3FFC"/>
                </a:solidFill>
                <a:latin typeface="Arial"/>
                <a:ea typeface="Arial"/>
                <a:cs typeface="Arial"/>
              </a:defRPr>
            </a:defPPr>
            <a:lvl1pPr algn="l">
              <a:defRPr sz="1800" b="1">
                <a:solidFill>
                  <a:srgbClr val="8A3FFC"/>
                </a:solidFill>
                <a:latin typeface="Arial"/>
                <a:ea typeface="Arial"/>
                <a:cs typeface="Arial"/>
              </a:defRPr>
            </a:lvl1pPr>
            <a:lvl2pPr algn="l">
              <a:defRPr sz="1800" b="1">
                <a:solidFill>
                  <a:srgbClr val="8A3FFC"/>
                </a:solidFill>
                <a:latin typeface="Arial"/>
                <a:ea typeface="Arial"/>
                <a:cs typeface="Arial"/>
              </a:defRPr>
            </a:lvl2pPr>
            <a:lvl3pPr algn="l">
              <a:defRPr sz="1800" b="1">
                <a:solidFill>
                  <a:srgbClr val="8A3FFC"/>
                </a:solidFill>
                <a:latin typeface="Arial"/>
                <a:ea typeface="Arial"/>
                <a:cs typeface="Arial"/>
              </a:defRPr>
            </a:lvl3pPr>
            <a:lvl4pPr algn="l">
              <a:defRPr sz="1800" b="1">
                <a:solidFill>
                  <a:srgbClr val="8A3FFC"/>
                </a:solidFill>
                <a:latin typeface="Arial"/>
                <a:ea typeface="Arial"/>
                <a:cs typeface="Arial"/>
              </a:defRPr>
            </a:lvl4pPr>
            <a:lvl5pPr algn="l">
              <a:defRPr sz="1800" b="1">
                <a:solidFill>
                  <a:srgbClr val="8A3FFC"/>
                </a:solidFill>
                <a:latin typeface="Arial"/>
                <a:ea typeface="Arial"/>
                <a:cs typeface="Arial"/>
              </a:defRPr>
            </a:lvl5pPr>
            <a:lvl6pPr algn="l">
              <a:defRPr sz="1800" b="1">
                <a:solidFill>
                  <a:srgbClr val="8A3FFC"/>
                </a:solidFill>
                <a:latin typeface="Arial"/>
                <a:ea typeface="Arial"/>
                <a:cs typeface="Arial"/>
              </a:defRPr>
            </a:lvl6pPr>
            <a:lvl7pPr algn="l">
              <a:defRPr sz="1800" b="1">
                <a:solidFill>
                  <a:srgbClr val="8A3FFC"/>
                </a:solidFill>
                <a:latin typeface="Arial"/>
                <a:ea typeface="Arial"/>
                <a:cs typeface="Arial"/>
              </a:defRPr>
            </a:lvl7pPr>
            <a:lvl8pPr algn="l">
              <a:defRPr sz="1800" b="1">
                <a:solidFill>
                  <a:srgbClr val="8A3FFC"/>
                </a:solidFill>
                <a:latin typeface="Arial"/>
                <a:ea typeface="Arial"/>
                <a:cs typeface="Arial"/>
              </a:defRPr>
            </a:lvl8pPr>
            <a:lvl9pPr algn="l">
              <a:defRPr sz="1800" b="1">
                <a:solidFill>
                  <a:srgbClr val="8A3FFC"/>
                </a:solidFill>
                <a:latin typeface="Arial"/>
                <a:ea typeface="Arial"/>
                <a:cs typeface="Arial"/>
              </a:defRPr>
            </a:lvl9pPr>
          </a:lstStyle>
          <a:p xmlns:a="http://schemas.openxmlformats.org/drawingml/2006/main">
            <a:pPr algn="l">
              <a:defRPr sz="1800" b="1">
                <a:solidFill>
                  <a:srgbClr val="8A3FFC"/>
                </a:solidFill>
                <a:latin typeface="Arial"/>
                <a:ea typeface="Arial"/>
                <a:cs typeface="Arial"/>
              </a:defRPr>
            </a:pPr>
            <a:r>
              <a:rPr sz="1800" b="1">
                <a:solidFill>
                  <a:srgbClr val="8A3FFC"/>
                </a:solidFill>
                <a:latin typeface="Arial"/>
                <a:ea typeface="Arial"/>
                <a:cs typeface="Arial"/>
              </a:rPr>
              <a:t>Treat the findings as a small exploratory simulator study.</a:t>
            </a:r>
          </a:p>
        </p:txBody>
      </p:sp>
    </p:spTree>
    <p:extLst>
      <p:ext uri="{BB962C8B-B14F-4D97-AF65-F5344CB8AC3E}">
        <p14:creationId xmlns:p14="http://schemas.microsoft.com/office/powerpoint/2010/main" val="19591888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DB24A-01BD-4863-90C6-9F95703C7BE4}"/>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50FDF6C6-8DD1-4B8D-B8F7-26DEAEB817B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takeaway and next steps</a:t>
            </a:r>
          </a:p>
        </p:txBody>
      </p:sp>
      <p:sp>
        <p:nvSpPr>
          <p:cNvPr id="3" name="">
            <a:extLst xmlns:a="http://schemas.openxmlformats.org/drawingml/2006/main">
              <a:ext uri="{FF2B5EF4-FFF2-40B4-BE49-F238E27FC236}">
                <a16:creationId xmlns:a16="http://schemas.microsoft.com/office/drawing/2014/main" id="{E18494C9-9505-42B0-BD75-E611F45A9469}"/>
              </a:ext>
            </a:extLst>
          </p:cNvPr>
          <p:cNvSpPr>
            <a:spLocks xmlns:a="http://schemas.openxmlformats.org/drawingml/2006/main" noGrp="1"/>
          </p:cNvSpPr>
          <p:nvPr/>
        </p:nvSpPr>
        <p:spPr>
          <a:xfrm xmlns:a="http://schemas.openxmlformats.org/drawingml/2006/main">
            <a:off x="685800"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What the study achieved</a:t>
            </a:r>
          </a:p>
        </p:txBody>
      </p:sp>
      <p:sp>
        <p:nvSpPr>
          <p:cNvPr id="4" name="">
            <a:extLst xmlns:a="http://schemas.openxmlformats.org/drawingml/2006/main">
              <a:ext uri="{FF2B5EF4-FFF2-40B4-BE49-F238E27FC236}">
                <a16:creationId xmlns:a16="http://schemas.microsoft.com/office/drawing/2014/main" id="{996D4709-A4FC-43FA-B59A-4231DA054A9E}"/>
              </a:ext>
            </a:extLst>
          </p:cNvPr>
          <p:cNvSpPr>
            <a:spLocks xmlns:a="http://schemas.openxmlformats.org/drawingml/2006/main" noGrp="1"/>
          </p:cNvSpPr>
          <p:nvPr/>
        </p:nvSpPr>
        <p:spPr>
          <a:xfrm xmlns:a="http://schemas.openxmlformats.org/drawingml/2006/main">
            <a:off x="685800" y="2286000"/>
            <a:ext cx="4857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noisy three-qubit Clifford simulation, Paulice-generated checks, a custom syndrome filter, and comparisons across check configurations plus a separate T-doped run.</a:t>
            </a:r>
          </a:p>
        </p:txBody>
      </p:sp>
      <p:sp>
        <p:nvSpPr>
          <p:cNvPr id="5" name="">
            <a:extLst xmlns:a="http://schemas.openxmlformats.org/drawingml/2006/main">
              <a:ext uri="{FF2B5EF4-FFF2-40B4-BE49-F238E27FC236}">
                <a16:creationId xmlns:a16="http://schemas.microsoft.com/office/drawing/2014/main" id="{7C365BF0-243C-4926-BA82-5B3D0DFEB3A5}"/>
              </a:ext>
            </a:extLst>
          </p:cNvPr>
          <p:cNvSpPr>
            <a:spLocks xmlns:a="http://schemas.openxmlformats.org/drawingml/2006/main" noGrp="1"/>
          </p:cNvSpPr>
          <p:nvPr/>
        </p:nvSpPr>
        <p:spPr>
          <a:xfrm xmlns:a="http://schemas.openxmlformats.org/drawingml/2006/main">
            <a:off x="6429375"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What to test next</a:t>
            </a:r>
          </a:p>
        </p:txBody>
      </p:sp>
      <p:sp>
        <p:nvSpPr>
          <p:cNvPr id="6" name="">
            <a:extLst xmlns:a="http://schemas.openxmlformats.org/drawingml/2006/main">
              <a:ext uri="{FF2B5EF4-FFF2-40B4-BE49-F238E27FC236}">
                <a16:creationId xmlns:a16="http://schemas.microsoft.com/office/drawing/2014/main" id="{66203C39-F44B-453E-983D-7E9BBBE7BD31}"/>
              </a:ext>
            </a:extLst>
          </p:cNvPr>
          <p:cNvSpPr>
            <a:spLocks xmlns:a="http://schemas.openxmlformats.org/drawingml/2006/main" noGrp="1"/>
          </p:cNvSpPr>
          <p:nvPr/>
        </p:nvSpPr>
        <p:spPr>
          <a:xfrm xmlns:a="http://schemas.openxmlformats.org/drawingml/2006/main">
            <a:off x="6429375" y="2286000"/>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Repeat with multiple random seeds and confidence intervals; vary separation while holding support and check count fixed; define a full multi-ancilla metric; test calibrated noise.</a:t>
            </a:r>
          </a:p>
        </p:txBody>
      </p:sp>
      <p:sp>
        <p:nvSpPr>
          <p:cNvPr id="7" name="">
            <a:extLst xmlns:a="http://schemas.openxmlformats.org/drawingml/2006/main">
              <a:ext uri="{FF2B5EF4-FFF2-40B4-BE49-F238E27FC236}">
                <a16:creationId xmlns:a16="http://schemas.microsoft.com/office/drawing/2014/main" id="{FF16583A-D548-436B-BE6D-01E021DF5B08}"/>
              </a:ext>
            </a:extLst>
          </p:cNvPr>
          <p:cNvSpPr>
            <a:spLocks xmlns:a="http://schemas.openxmlformats.org/drawingml/2006/main" noGrp="1"/>
          </p:cNvSpPr>
          <p:nvPr/>
        </p:nvSpPr>
        <p:spPr>
          <a:xfrm xmlns:a="http://schemas.openxmlformats.org/drawingml/2006/main">
            <a:off x="685800" y="47625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61616"/>
                </a:solidFill>
                <a:latin typeface="Arial"/>
                <a:ea typeface="Arial"/>
                <a:cs typeface="Arial"/>
              </a:defRPr>
            </a:defPPr>
            <a:lvl1pPr algn="l">
              <a:defRPr sz="1800" b="1">
                <a:solidFill>
                  <a:srgbClr val="161616"/>
                </a:solidFill>
                <a:latin typeface="Arial"/>
                <a:ea typeface="Arial"/>
                <a:cs typeface="Arial"/>
              </a:defRPr>
            </a:lvl1pPr>
            <a:lvl2pPr algn="l">
              <a:defRPr sz="1800" b="1">
                <a:solidFill>
                  <a:srgbClr val="161616"/>
                </a:solidFill>
                <a:latin typeface="Arial"/>
                <a:ea typeface="Arial"/>
                <a:cs typeface="Arial"/>
              </a:defRPr>
            </a:lvl2pPr>
            <a:lvl3pPr algn="l">
              <a:defRPr sz="1800" b="1">
                <a:solidFill>
                  <a:srgbClr val="161616"/>
                </a:solidFill>
                <a:latin typeface="Arial"/>
                <a:ea typeface="Arial"/>
                <a:cs typeface="Arial"/>
              </a:defRPr>
            </a:lvl3pPr>
            <a:lvl4pPr algn="l">
              <a:defRPr sz="1800" b="1">
                <a:solidFill>
                  <a:srgbClr val="161616"/>
                </a:solidFill>
                <a:latin typeface="Arial"/>
                <a:ea typeface="Arial"/>
                <a:cs typeface="Arial"/>
              </a:defRPr>
            </a:lvl4pPr>
            <a:lvl5pPr algn="l">
              <a:defRPr sz="1800" b="1">
                <a:solidFill>
                  <a:srgbClr val="161616"/>
                </a:solidFill>
                <a:latin typeface="Arial"/>
                <a:ea typeface="Arial"/>
                <a:cs typeface="Arial"/>
              </a:defRPr>
            </a:lvl5pPr>
            <a:lvl6pPr algn="l">
              <a:defRPr sz="1800" b="1">
                <a:solidFill>
                  <a:srgbClr val="161616"/>
                </a:solidFill>
                <a:latin typeface="Arial"/>
                <a:ea typeface="Arial"/>
                <a:cs typeface="Arial"/>
              </a:defRPr>
            </a:lvl6pPr>
            <a:lvl7pPr algn="l">
              <a:defRPr sz="1800" b="1">
                <a:solidFill>
                  <a:srgbClr val="161616"/>
                </a:solidFill>
                <a:latin typeface="Arial"/>
                <a:ea typeface="Arial"/>
                <a:cs typeface="Arial"/>
              </a:defRPr>
            </a:lvl7pPr>
            <a:lvl8pPr algn="l">
              <a:defRPr sz="1800" b="1">
                <a:solidFill>
                  <a:srgbClr val="161616"/>
                </a:solidFill>
                <a:latin typeface="Arial"/>
                <a:ea typeface="Arial"/>
                <a:cs typeface="Arial"/>
              </a:defRPr>
            </a:lvl8pPr>
            <a:lvl9pPr algn="l">
              <a:defRPr sz="1800" b="1">
                <a:solidFill>
                  <a:srgbClr val="161616"/>
                </a:solidFill>
                <a:latin typeface="Arial"/>
                <a:ea typeface="Arial"/>
                <a:cs typeface="Arial"/>
              </a:defRPr>
            </a:lvl9pPr>
          </a:lstStyle>
          <a:p xmlns:a="http://schemas.openxmlformats.org/drawingml/2006/main">
            <a:pPr algn="l">
              <a:defRPr sz="1800" b="1">
                <a:solidFill>
                  <a:srgbClr val="161616"/>
                </a:solidFill>
                <a:latin typeface="Arial"/>
                <a:ea typeface="Arial"/>
                <a:cs typeface="Arial"/>
              </a:defRPr>
            </a:pPr>
            <a:r>
              <a:rPr sz="1800" b="1">
                <a:solidFill>
                  <a:srgbClr val="161616"/>
                </a:solidFill>
                <a:latin typeface="Arial"/>
                <a:ea typeface="Arial"/>
                <a:cs typeface="Arial"/>
              </a:rPr>
              <a:t>Takeaway: filtering improved the checked output distributions in the reported runs, but the placement study does not isolate a causal effect of separation.</a:t>
            </a:r>
          </a:p>
        </p:txBody>
      </p:sp>
    </p:spTree>
    <p:extLst>
      <p:ext uri="{BB962C8B-B14F-4D97-AF65-F5344CB8AC3E}">
        <p14:creationId xmlns:p14="http://schemas.microsoft.com/office/powerpoint/2010/main" val="14619427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427168-17CA-4038-8DE8-8BC737ADF6DB}"/>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14B0C51-14DD-4AE6-8E08-98A8DEB7C4D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Questions judges may ask</a:t>
            </a:r>
          </a:p>
        </p:txBody>
      </p:sp>
      <p:sp>
        <p:nvSpPr>
          <p:cNvPr id="3" name="">
            <a:extLst xmlns:a="http://schemas.openxmlformats.org/drawingml/2006/main">
              <a:ext uri="{FF2B5EF4-FFF2-40B4-BE49-F238E27FC236}">
                <a16:creationId xmlns:a16="http://schemas.microsoft.com/office/drawing/2014/main" id="{73272543-F921-4704-9B00-FD10806CD276}"/>
              </a:ext>
            </a:extLst>
          </p:cNvPr>
          <p:cNvSpPr>
            <a:spLocks xmlns:a="http://schemas.openxmlformats.org/drawingml/2006/main" noGrp="1"/>
          </p:cNvSpPr>
          <p:nvPr/>
        </p:nvSpPr>
        <p:spPr>
          <a:xfrm xmlns:a="http://schemas.openxmlformats.org/drawingml/2006/main">
            <a:off x="685800" y="1666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What is the fidelity metric?</a:t>
            </a:r>
          </a:p>
        </p:txBody>
      </p:sp>
      <p:sp>
        <p:nvSpPr>
          <p:cNvPr id="4" name="">
            <a:extLst xmlns:a="http://schemas.openxmlformats.org/drawingml/2006/main">
              <a:ext uri="{FF2B5EF4-FFF2-40B4-BE49-F238E27FC236}">
                <a16:creationId xmlns:a16="http://schemas.microsoft.com/office/drawing/2014/main" id="{C9C0D03D-8A00-4C3E-A9B1-45F0C003A248}"/>
              </a:ext>
            </a:extLst>
          </p:cNvPr>
          <p:cNvSpPr>
            <a:spLocks xmlns:a="http://schemas.openxmlformats.org/drawingml/2006/main" noGrp="1"/>
          </p:cNvSpPr>
          <p:nvPr/>
        </p:nvSpPr>
        <p:spPr>
          <a:xfrm xmlns:a="http://schemas.openxmlformats.org/drawingml/2006/main">
            <a:off x="685800" y="207645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Squared Bhattacharyya coefficient between ideal and observed classical output distributions.</a:t>
            </a:r>
          </a:p>
        </p:txBody>
      </p:sp>
      <p:sp>
        <p:nvSpPr>
          <p:cNvPr id="5" name="">
            <a:extLst xmlns:a="http://schemas.openxmlformats.org/drawingml/2006/main">
              <a:ext uri="{FF2B5EF4-FFF2-40B4-BE49-F238E27FC236}">
                <a16:creationId xmlns:a16="http://schemas.microsoft.com/office/drawing/2014/main" id="{8F97E5A1-A3BF-4202-B483-19B00D5FDC8D}"/>
              </a:ext>
            </a:extLst>
          </p:cNvPr>
          <p:cNvSpPr>
            <a:spLocks xmlns:a="http://schemas.openxmlformats.org/drawingml/2006/main" noGrp="1"/>
          </p:cNvSpPr>
          <p:nvPr/>
        </p:nvSpPr>
        <p:spPr>
          <a:xfrm xmlns:a="http://schemas.openxmlformats.org/drawingml/2006/main">
            <a:off x="6305550" y="1666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D9A"/>
                </a:solidFill>
                <a:latin typeface="Arial"/>
                <a:ea typeface="Arial"/>
                <a:cs typeface="Arial"/>
              </a:defRPr>
            </a:defPPr>
            <a:lvl1pPr algn="l">
              <a:defRPr sz="1425" b="1">
                <a:solidFill>
                  <a:srgbClr val="009D9A"/>
                </a:solidFill>
                <a:latin typeface="Arial"/>
                <a:ea typeface="Arial"/>
                <a:cs typeface="Arial"/>
              </a:defRPr>
            </a:lvl1pPr>
            <a:lvl2pPr algn="l">
              <a:defRPr sz="1425" b="1">
                <a:solidFill>
                  <a:srgbClr val="009D9A"/>
                </a:solidFill>
                <a:latin typeface="Arial"/>
                <a:ea typeface="Arial"/>
                <a:cs typeface="Arial"/>
              </a:defRPr>
            </a:lvl2pPr>
            <a:lvl3pPr algn="l">
              <a:defRPr sz="1425" b="1">
                <a:solidFill>
                  <a:srgbClr val="009D9A"/>
                </a:solidFill>
                <a:latin typeface="Arial"/>
                <a:ea typeface="Arial"/>
                <a:cs typeface="Arial"/>
              </a:defRPr>
            </a:lvl3pPr>
            <a:lvl4pPr algn="l">
              <a:defRPr sz="1425" b="1">
                <a:solidFill>
                  <a:srgbClr val="009D9A"/>
                </a:solidFill>
                <a:latin typeface="Arial"/>
                <a:ea typeface="Arial"/>
                <a:cs typeface="Arial"/>
              </a:defRPr>
            </a:lvl4pPr>
            <a:lvl5pPr algn="l">
              <a:defRPr sz="1425" b="1">
                <a:solidFill>
                  <a:srgbClr val="009D9A"/>
                </a:solidFill>
                <a:latin typeface="Arial"/>
                <a:ea typeface="Arial"/>
                <a:cs typeface="Arial"/>
              </a:defRPr>
            </a:lvl5pPr>
            <a:lvl6pPr algn="l">
              <a:defRPr sz="1425" b="1">
                <a:solidFill>
                  <a:srgbClr val="009D9A"/>
                </a:solidFill>
                <a:latin typeface="Arial"/>
                <a:ea typeface="Arial"/>
                <a:cs typeface="Arial"/>
              </a:defRPr>
            </a:lvl6pPr>
            <a:lvl7pPr algn="l">
              <a:defRPr sz="1425" b="1">
                <a:solidFill>
                  <a:srgbClr val="009D9A"/>
                </a:solidFill>
                <a:latin typeface="Arial"/>
                <a:ea typeface="Arial"/>
                <a:cs typeface="Arial"/>
              </a:defRPr>
            </a:lvl7pPr>
            <a:lvl8pPr algn="l">
              <a:defRPr sz="1425" b="1">
                <a:solidFill>
                  <a:srgbClr val="009D9A"/>
                </a:solidFill>
                <a:latin typeface="Arial"/>
                <a:ea typeface="Arial"/>
                <a:cs typeface="Arial"/>
              </a:defRPr>
            </a:lvl8pPr>
            <a:lvl9pPr algn="l">
              <a:defRPr sz="1425" b="1">
                <a:solidFill>
                  <a:srgbClr val="009D9A"/>
                </a:solidFill>
                <a:latin typeface="Arial"/>
                <a:ea typeface="Arial"/>
                <a:cs typeface="Arial"/>
              </a:defRPr>
            </a:lvl9pPr>
          </a:lstStyle>
          <a:p xmlns:a="http://schemas.openxmlformats.org/drawingml/2006/main">
            <a:pPr algn="l">
              <a:defRPr sz="1425" b="1">
                <a:solidFill>
                  <a:srgbClr val="009D9A"/>
                </a:solidFill>
                <a:latin typeface="Arial"/>
                <a:ea typeface="Arial"/>
                <a:cs typeface="Arial"/>
              </a:defRPr>
            </a:pPr>
            <a:r>
              <a:rPr sz="1425" b="1">
                <a:solidFill>
                  <a:srgbClr val="009D9A"/>
                </a:solidFill>
                <a:latin typeface="Arial"/>
                <a:ea typeface="Arial"/>
                <a:cs typeface="Arial"/>
              </a:rPr>
              <a:t>Does zero syndrome mean no error?</a:t>
            </a:r>
          </a:p>
        </p:txBody>
      </p:sp>
      <p:sp>
        <p:nvSpPr>
          <p:cNvPr id="6" name="">
            <a:extLst xmlns:a="http://schemas.openxmlformats.org/drawingml/2006/main">
              <a:ext uri="{FF2B5EF4-FFF2-40B4-BE49-F238E27FC236}">
                <a16:creationId xmlns:a16="http://schemas.microsoft.com/office/drawing/2014/main" id="{35237F64-1592-48DD-BD05-5705900058D9}"/>
              </a:ext>
            </a:extLst>
          </p:cNvPr>
          <p:cNvSpPr>
            <a:spLocks xmlns:a="http://schemas.openxmlformats.org/drawingml/2006/main" noGrp="1"/>
          </p:cNvSpPr>
          <p:nvPr/>
        </p:nvSpPr>
        <p:spPr>
          <a:xfrm xmlns:a="http://schemas.openxmlformats.org/drawingml/2006/main">
            <a:off x="6305550" y="207645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No. It means the measured parity passed; undetected errors can remain.</a:t>
            </a:r>
          </a:p>
        </p:txBody>
      </p:sp>
      <p:sp>
        <p:nvSpPr>
          <p:cNvPr id="7" name="">
            <a:extLst xmlns:a="http://schemas.openxmlformats.org/drawingml/2006/main">
              <a:ext uri="{FF2B5EF4-FFF2-40B4-BE49-F238E27FC236}">
                <a16:creationId xmlns:a16="http://schemas.microsoft.com/office/drawing/2014/main" id="{EE5F1D0D-A97E-4CF9-A9CF-BE276E2B1398}"/>
              </a:ext>
            </a:extLst>
          </p:cNvPr>
          <p:cNvSpPr>
            <a:spLocks xmlns:a="http://schemas.openxmlformats.org/drawingml/2006/main" noGrp="1"/>
          </p:cNvSpPr>
          <p:nvPr/>
        </p:nvSpPr>
        <p:spPr>
          <a:xfrm xmlns:a="http://schemas.openxmlformats.org/drawingml/2006/main">
            <a:off x="68580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Why did checks lower raw fidelity?</a:t>
            </a:r>
          </a:p>
        </p:txBody>
      </p:sp>
      <p:sp>
        <p:nvSpPr>
          <p:cNvPr id="8" name="">
            <a:extLst xmlns:a="http://schemas.openxmlformats.org/drawingml/2006/main">
              <a:ext uri="{FF2B5EF4-FFF2-40B4-BE49-F238E27FC236}">
                <a16:creationId xmlns:a16="http://schemas.microsoft.com/office/drawing/2014/main" id="{960F5DB6-EFAB-430A-ADF4-1EDC48C1EB69}"/>
              </a:ext>
            </a:extLst>
          </p:cNvPr>
          <p:cNvSpPr>
            <a:spLocks xmlns:a="http://schemas.openxmlformats.org/drawingml/2006/main" noGrp="1"/>
          </p:cNvSpPr>
          <p:nvPr/>
        </p:nvSpPr>
        <p:spPr>
          <a:xfrm xmlns:a="http://schemas.openxmlformats.org/drawingml/2006/main">
            <a:off x="685800" y="34575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They add operations and depth, increasing noise exposure.</a:t>
            </a:r>
          </a:p>
        </p:txBody>
      </p:sp>
      <p:sp>
        <p:nvSpPr>
          <p:cNvPr id="9" name="">
            <a:extLst xmlns:a="http://schemas.openxmlformats.org/drawingml/2006/main">
              <a:ext uri="{FF2B5EF4-FFF2-40B4-BE49-F238E27FC236}">
                <a16:creationId xmlns:a16="http://schemas.microsoft.com/office/drawing/2014/main" id="{B687105B-4C6B-4E8E-9CB0-6B230CEFFAA2}"/>
              </a:ext>
            </a:extLst>
          </p:cNvPr>
          <p:cNvSpPr>
            <a:spLocks xmlns:a="http://schemas.openxmlformats.org/drawingml/2006/main" noGrp="1"/>
          </p:cNvSpPr>
          <p:nvPr/>
        </p:nvSpPr>
        <p:spPr>
          <a:xfrm xmlns:a="http://schemas.openxmlformats.org/drawingml/2006/main">
            <a:off x="6305550" y="30480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09D9A"/>
                </a:solidFill>
                <a:latin typeface="Arial"/>
                <a:ea typeface="Arial"/>
                <a:cs typeface="Arial"/>
              </a:defRPr>
            </a:defPPr>
            <a:lvl1pPr algn="l">
              <a:defRPr sz="1425" b="1">
                <a:solidFill>
                  <a:srgbClr val="009D9A"/>
                </a:solidFill>
                <a:latin typeface="Arial"/>
                <a:ea typeface="Arial"/>
                <a:cs typeface="Arial"/>
              </a:defRPr>
            </a:lvl1pPr>
            <a:lvl2pPr algn="l">
              <a:defRPr sz="1425" b="1">
                <a:solidFill>
                  <a:srgbClr val="009D9A"/>
                </a:solidFill>
                <a:latin typeface="Arial"/>
                <a:ea typeface="Arial"/>
                <a:cs typeface="Arial"/>
              </a:defRPr>
            </a:lvl2pPr>
            <a:lvl3pPr algn="l">
              <a:defRPr sz="1425" b="1">
                <a:solidFill>
                  <a:srgbClr val="009D9A"/>
                </a:solidFill>
                <a:latin typeface="Arial"/>
                <a:ea typeface="Arial"/>
                <a:cs typeface="Arial"/>
              </a:defRPr>
            </a:lvl3pPr>
            <a:lvl4pPr algn="l">
              <a:defRPr sz="1425" b="1">
                <a:solidFill>
                  <a:srgbClr val="009D9A"/>
                </a:solidFill>
                <a:latin typeface="Arial"/>
                <a:ea typeface="Arial"/>
                <a:cs typeface="Arial"/>
              </a:defRPr>
            </a:lvl4pPr>
            <a:lvl5pPr algn="l">
              <a:defRPr sz="1425" b="1">
                <a:solidFill>
                  <a:srgbClr val="009D9A"/>
                </a:solidFill>
                <a:latin typeface="Arial"/>
                <a:ea typeface="Arial"/>
                <a:cs typeface="Arial"/>
              </a:defRPr>
            </a:lvl5pPr>
            <a:lvl6pPr algn="l">
              <a:defRPr sz="1425" b="1">
                <a:solidFill>
                  <a:srgbClr val="009D9A"/>
                </a:solidFill>
                <a:latin typeface="Arial"/>
                <a:ea typeface="Arial"/>
                <a:cs typeface="Arial"/>
              </a:defRPr>
            </a:lvl6pPr>
            <a:lvl7pPr algn="l">
              <a:defRPr sz="1425" b="1">
                <a:solidFill>
                  <a:srgbClr val="009D9A"/>
                </a:solidFill>
                <a:latin typeface="Arial"/>
                <a:ea typeface="Arial"/>
                <a:cs typeface="Arial"/>
              </a:defRPr>
            </a:lvl7pPr>
            <a:lvl8pPr algn="l">
              <a:defRPr sz="1425" b="1">
                <a:solidFill>
                  <a:srgbClr val="009D9A"/>
                </a:solidFill>
                <a:latin typeface="Arial"/>
                <a:ea typeface="Arial"/>
                <a:cs typeface="Arial"/>
              </a:defRPr>
            </a:lvl8pPr>
            <a:lvl9pPr algn="l">
              <a:defRPr sz="1425" b="1">
                <a:solidFill>
                  <a:srgbClr val="009D9A"/>
                </a:solidFill>
                <a:latin typeface="Arial"/>
                <a:ea typeface="Arial"/>
                <a:cs typeface="Arial"/>
              </a:defRPr>
            </a:lvl9pPr>
          </a:lstStyle>
          <a:p xmlns:a="http://schemas.openxmlformats.org/drawingml/2006/main">
            <a:pPr algn="l">
              <a:defRPr sz="1425" b="1">
                <a:solidFill>
                  <a:srgbClr val="009D9A"/>
                </a:solidFill>
                <a:latin typeface="Arial"/>
                <a:ea typeface="Arial"/>
                <a:cs typeface="Arial"/>
              </a:defRPr>
            </a:pPr>
            <a:r>
              <a:rPr sz="1425" b="1">
                <a:solidFill>
                  <a:srgbClr val="009D9A"/>
                </a:solidFill>
                <a:latin typeface="Arial"/>
                <a:ea typeface="Arial"/>
                <a:cs typeface="Arial"/>
              </a:rPr>
              <a:t>Does span cause the fidelity change?</a:t>
            </a:r>
          </a:p>
        </p:txBody>
      </p:sp>
      <p:sp>
        <p:nvSpPr>
          <p:cNvPr id="10" name="">
            <a:extLst xmlns:a="http://schemas.openxmlformats.org/drawingml/2006/main">
              <a:ext uri="{FF2B5EF4-FFF2-40B4-BE49-F238E27FC236}">
                <a16:creationId xmlns:a16="http://schemas.microsoft.com/office/drawing/2014/main" id="{CEE749A7-02BD-48BF-8487-0720D47C3DEA}"/>
              </a:ext>
            </a:extLst>
          </p:cNvPr>
          <p:cNvSpPr>
            <a:spLocks xmlns:a="http://schemas.openxmlformats.org/drawingml/2006/main" noGrp="1"/>
          </p:cNvSpPr>
          <p:nvPr/>
        </p:nvSpPr>
        <p:spPr>
          <a:xfrm xmlns:a="http://schemas.openxmlformats.org/drawingml/2006/main">
            <a:off x="6305550" y="3457575"/>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Not established. Check support and overhead also varied.</a:t>
            </a:r>
          </a:p>
        </p:txBody>
      </p:sp>
      <p:sp>
        <p:nvSpPr>
          <p:cNvPr id="11" name="">
            <a:extLst xmlns:a="http://schemas.openxmlformats.org/drawingml/2006/main">
              <a:ext uri="{FF2B5EF4-FFF2-40B4-BE49-F238E27FC236}">
                <a16:creationId xmlns:a16="http://schemas.microsoft.com/office/drawing/2014/main" id="{40C43A3F-3573-47BD-85E6-EBB4AAD24221}"/>
              </a:ext>
            </a:extLst>
          </p:cNvPr>
          <p:cNvSpPr>
            <a:spLocks xmlns:a="http://schemas.openxmlformats.org/drawingml/2006/main" noGrp="1"/>
          </p:cNvSpPr>
          <p:nvPr/>
        </p:nvSpPr>
        <p:spPr>
          <a:xfrm xmlns:a="http://schemas.openxmlformats.org/drawingml/2006/main">
            <a:off x="685800" y="442912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Why no Paulice checks on the T circuit?</a:t>
            </a:r>
          </a:p>
        </p:txBody>
      </p:sp>
      <p:sp>
        <p:nvSpPr>
          <p:cNvPr id="12" name="">
            <a:extLst xmlns:a="http://schemas.openxmlformats.org/drawingml/2006/main">
              <a:ext uri="{FF2B5EF4-FFF2-40B4-BE49-F238E27FC236}">
                <a16:creationId xmlns:a16="http://schemas.microsoft.com/office/drawing/2014/main" id="{44F70716-242D-43B9-8066-3AAE734D2BCA}"/>
              </a:ext>
            </a:extLst>
          </p:cNvPr>
          <p:cNvSpPr>
            <a:spLocks xmlns:a="http://schemas.openxmlformats.org/drawingml/2006/main" noGrp="1"/>
          </p:cNvSpPr>
          <p:nvPr/>
        </p:nvSpPr>
        <p:spPr>
          <a:xfrm xmlns:a="http://schemas.openxmlformats.org/drawingml/2006/main">
            <a:off x="685800" y="4838700"/>
            <a:ext cx="509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The documented workflow is Clifford-focused; non-Clifford support is future work.</a:t>
            </a:r>
          </a:p>
        </p:txBody>
      </p:sp>
    </p:spTree>
    <p:extLst>
      <p:ext uri="{BB962C8B-B14F-4D97-AF65-F5344CB8AC3E}">
        <p14:creationId xmlns:p14="http://schemas.microsoft.com/office/powerpoint/2010/main" val="1110237123"/>
      </p:ext>
    </p:extLst>
  </p:cSld>
</p:sld>
</file>

<file path=ppt/theme/theme1.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PresentationFormat>Converted Presentation</ap:PresentationFormat>
  <ap:Slides>23</ap:Slides>
  <ap:Notes>23</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title>Qiskit Fall Fest 2026 - Tracks 1 and 2</dc:title>
  <dcterms:created xsi:type="dcterms:W3CDTF">2026-10-31T06:10:59.3980000Z</dcterms:created>
  <dcterms:modified xsi:type="dcterms:W3CDTF">2026-10-31T06:10:59.3980000Z</dcterms:modified>
</cp:coreProperties>
</file>