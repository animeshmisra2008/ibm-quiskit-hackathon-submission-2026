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b36f1a1ffd422f" /><Relationship Type="http://schemas.openxmlformats.org/officeDocument/2006/relationships/extended-properties" Target="/docProps/app.xml" Id="R753472ecc8ef4af1" /><Relationship Type="http://schemas.openxmlformats.org/officeDocument/2006/relationships/officeDocument" Target="/ppt/presentation.xml" Id="Rc2e1d096db044d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1f33d7bf724bd1"/>
  </p:sldMasterIdLst>
  <p:notesMasterIdLst>
    <p:notesMasterId xmlns:r="http://schemas.openxmlformats.org/officeDocument/2006/relationships" r:id="R18a81c66d4ea4b11"/>
  </p:notesMasterIdLst>
  <p:sldIdLst>
    <p:sldId xmlns:r="http://schemas.openxmlformats.org/officeDocument/2006/relationships" id="256" r:id="Rece5fa498c0b4ee6"/>
    <p:sldId xmlns:r="http://schemas.openxmlformats.org/officeDocument/2006/relationships" id="257" r:id="R6653dbffc9ba43ef"/>
    <p:sldId xmlns:r="http://schemas.openxmlformats.org/officeDocument/2006/relationships" id="258" r:id="Rf9162d3d747f45e8"/>
    <p:sldId xmlns:r="http://schemas.openxmlformats.org/officeDocument/2006/relationships" id="259" r:id="R76148ff61e844852"/>
    <p:sldId xmlns:r="http://schemas.openxmlformats.org/officeDocument/2006/relationships" id="260" r:id="Rd05d660096b24f76"/>
    <p:sldId xmlns:r="http://schemas.openxmlformats.org/officeDocument/2006/relationships" id="261" r:id="R3adf1b5c34d140b1"/>
    <p:sldId xmlns:r="http://schemas.openxmlformats.org/officeDocument/2006/relationships" id="262" r:id="R8652cff8ae014964"/>
    <p:sldId xmlns:r="http://schemas.openxmlformats.org/officeDocument/2006/relationships" id="263" r:id="Rc4a546142ce74c88"/>
    <p:sldId xmlns:r="http://schemas.openxmlformats.org/officeDocument/2006/relationships" id="264" r:id="R26066d307d9b41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0a3b98170448ef" /><Relationship Type="http://schemas.openxmlformats.org/officeDocument/2006/relationships/slideMaster" Target="/ppt/slideMasters/slideMaster1.xml" Id="R471f33d7bf724bd1" /><Relationship Type="http://schemas.openxmlformats.org/officeDocument/2006/relationships/notesMaster" Target="/ppt/notesMasters/notesMaster1.xml" Id="R18a81c66d4ea4b11" /><Relationship Type="http://schemas.openxmlformats.org/officeDocument/2006/relationships/presProps" Target="/ppt/presProps.xml" Id="R82aa96707d38426d" /><Relationship Type="http://schemas.openxmlformats.org/officeDocument/2006/relationships/tableStyles" Target="/ppt/tableStyles.xml" Id="Rbc5a12dde2ad44dc" /><Relationship Type="http://schemas.openxmlformats.org/officeDocument/2006/relationships/slide" Target="/ppt/slides/slide1.xml" Id="Rece5fa498c0b4ee6" /><Relationship Type="http://schemas.openxmlformats.org/officeDocument/2006/relationships/slide" Target="/ppt/slides/slide2.xml" Id="R6653dbffc9ba43ef" /><Relationship Type="http://schemas.openxmlformats.org/officeDocument/2006/relationships/slide" Target="/ppt/slides/slide3.xml" Id="Rf9162d3d747f45e8" /><Relationship Type="http://schemas.openxmlformats.org/officeDocument/2006/relationships/slide" Target="/ppt/slides/slide4.xml" Id="R76148ff61e844852" /><Relationship Type="http://schemas.openxmlformats.org/officeDocument/2006/relationships/slide" Target="/ppt/slides/slide5.xml" Id="Rd05d660096b24f76" /><Relationship Type="http://schemas.openxmlformats.org/officeDocument/2006/relationships/slide" Target="/ppt/slides/slide6.xml" Id="R3adf1b5c34d140b1" /><Relationship Type="http://schemas.openxmlformats.org/officeDocument/2006/relationships/slide" Target="/ppt/slides/slide7.xml" Id="R8652cff8ae014964" /><Relationship Type="http://schemas.openxmlformats.org/officeDocument/2006/relationships/slide" Target="/ppt/slides/slide8.xml" Id="Rc4a546142ce74c88" /><Relationship Type="http://schemas.openxmlformats.org/officeDocument/2006/relationships/slide" Target="/ppt/slides/slide9.xml" Id="R26066d307d9b41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6e45713cb34f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a59cf1427f4e47" /><Relationship Type="http://schemas.openxmlformats.org/officeDocument/2006/relationships/notesMaster" Target="/ppt/notesMasters/notesMaster1.xml" Id="R79d72abc4baf41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583d57ac564900" /><Relationship Type="http://schemas.openxmlformats.org/officeDocument/2006/relationships/notesMaster" Target="/ppt/notesMasters/notesMaster1.xml" Id="R006abe06ded84e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5fc54b6306440f" /><Relationship Type="http://schemas.openxmlformats.org/officeDocument/2006/relationships/notesMaster" Target="/ppt/notesMasters/notesMaster1.xml" Id="R6a09c7e3f84645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21146de3154dfd" /><Relationship Type="http://schemas.openxmlformats.org/officeDocument/2006/relationships/notesMaster" Target="/ppt/notesMasters/notesMaster1.xml" Id="Rc321371a0fde46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e58c09587c4885" /><Relationship Type="http://schemas.openxmlformats.org/officeDocument/2006/relationships/notesMaster" Target="/ppt/notesMasters/notesMaster1.xml" Id="R61de0a005fbc4a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e17e7f38744f42" /><Relationship Type="http://schemas.openxmlformats.org/officeDocument/2006/relationships/notesMaster" Target="/ppt/notesMasters/notesMaster1.xml" Id="Rd829000e461e44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0e7455767c4002" /><Relationship Type="http://schemas.openxmlformats.org/officeDocument/2006/relationships/notesMaster" Target="/ppt/notesMasters/notesMaster1.xml" Id="Rc4a35b30439147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78e47b78c04966" /><Relationship Type="http://schemas.openxmlformats.org/officeDocument/2006/relationships/notesMaster" Target="/ppt/notesMasters/notesMaster1.xml" Id="Ra1bbd9e08dfb40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4c62663ac74750" /><Relationship Type="http://schemas.openxmlformats.org/officeDocument/2006/relationships/notesMaster" Target="/ppt/notesMasters/notesMaster1.xml" Id="R313045db59f14b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built a small simulation to see whether error-mitigation tools can recover a useful measurement after noise is added. The assignment asks for SLC, NoiseLearnerV3, and PNA. This deck states clearly where the local simulator uses synthetic calibration rates in place of a hardware noise-learning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simple: the project does not require the audience to know quantum mechanics. A measurement is an average from repeated simulated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center-qubit X measurement is the quantity that PNA corrects. We also calculate exact state fidelity from the simulator's density matrix as a separate measure of how much the whole state was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SLC assigns importance to candidate Pauli error terms and can trade a bounded bias for lower sampling cost. PNA propagates the inverse of learned noise into an observable. The official NoiseLearnerV3 accepts an IBM Quantum backend/service job; IBM documents that it has no local fake-backend mode. Sources: https://qiskit.github.io/qiskit-addon-slc/guides/quickstart.html ; https://qiskit.github.io/qiskit-addon-pna/tutorials/01_generate_noise_mitigating_observable.html ;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the middle noise setting, the learned model included 78 candidate error terms. SLC kept 53 for mitigation and set a bounded bias limit of 0.05. This reduced local PNA preprocessing from about 1.29 seconds to 1.13 seconds. The sampling-cost estimate fell from about 2.61 to 1.92.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 value is about 0.971. At 1× noise, the uncorrected value fell to 0.674. Full PNA brought it to 0.954; SLC-selected PNA brought it to 0.938. SLC saves work but can leave more bias, which is the intended tradeoff.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ideal-state fidelity projector is the observable |psi&gt;&lt;psi| for the noiseless output. We run PNA on that projector, then evaluate it exactly against the noisy density matrix as a local simulation metric. At 1x noise, raw state fidelity is 0.695 and the full-PNA estimate is 1.004. Because PNA uses an approximate correction, the estimate can exceed the physical maximum of one. Treat it as near ideal, not as a literal fidelity over 1. SLC is applied to the center-X observable workflow on the previous slides; this full projector-fidelity estimate uses full PNA.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chart compares the time needed to prepare the correction calculation at each noise strength. At 1x, SLC plus PNA took 1.12 seconds versus 1.23 seconds for full PNA, about 9% less. These are local computer preprocessing times, not QPU execution times.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results show the algorithmic flow but are not hardware results because calibration rates are synthetic. The official assignment asks for NoiseLearnerV3 and a simulated noisy backend; official documentation says NoiseLearnerV3 does not have a local testing mode. If an IBM Quantum account and backend become available, replace the synthetic model with the output of the official noise learner. Source: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2dd02a40a44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ada639d864c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68a15414840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4702831319435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73bfce8bf24f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7def9bec246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0E6232-2F73-431F-8B6F-11857ADEEC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FA51A2E-7D1D-4FA5-AF78-1752B4246A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31D77E5-7766-4CB3-AD79-C8030C4ADB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574517-D5E3-43BB-BA65-53340E75DA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231FC38-E09C-4F3C-9A12-388B8CD300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39775F-6D67-4536-84E2-7CD0832783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FFC578-136D-40DE-B83B-F579F3FC79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8AF369-3D7C-4544-8BFB-21DA902C97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BD2D8D-4A21-4FFF-9D52-704636DE6C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A06554-FF2B-4B96-9D40-CA7D151CDF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088d338f494470" /><Relationship Type="http://schemas.openxmlformats.org/officeDocument/2006/relationships/slideLayout" Target="/ppt/slideLayouts/slideLayout1.xml" Id="R73dbb31f83bd40d5" /><Relationship Type="http://schemas.openxmlformats.org/officeDocument/2006/relationships/slideLayout" Target="/ppt/slideLayouts/slideLayout2.xml" Id="Rd765958ef58a4adb" /><Relationship Type="http://schemas.openxmlformats.org/officeDocument/2006/relationships/slideLayout" Target="/ppt/slideLayouts/slideLayout3.xml" Id="Rc4b52ac8ab8c4063" /><Relationship Type="http://schemas.openxmlformats.org/officeDocument/2006/relationships/slideLayout" Target="/ppt/slideLayouts/slideLayout4.xml" Id="R8cc85f5f389d48a0" /><Relationship Type="http://schemas.openxmlformats.org/officeDocument/2006/relationships/slideLayout" Target="/ppt/slideLayouts/slideLayout5.xml" Id="Rbe9570beb3124a16" /><Relationship Type="http://schemas.openxmlformats.org/officeDocument/2006/relationships/slideLayout" Target="/ppt/slideLayouts/slideLayout6.xml" Id="Re833b2acb3274d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dbb31f83bd40d5"/>
    <p:sldLayoutId xmlns:r="http://schemas.openxmlformats.org/officeDocument/2006/relationships" id="2147483650" r:id="Rd765958ef58a4adb"/>
    <p:sldLayoutId xmlns:r="http://schemas.openxmlformats.org/officeDocument/2006/relationships" id="2147483651" r:id="Rc4b52ac8ab8c4063"/>
    <p:sldLayoutId xmlns:r="http://schemas.openxmlformats.org/officeDocument/2006/relationships" id="2147483652" r:id="R8cc85f5f389d48a0"/>
    <p:sldLayoutId xmlns:r="http://schemas.openxmlformats.org/officeDocument/2006/relationships" id="2147483653" r:id="Rbe9570beb3124a16"/>
    <p:sldLayoutId xmlns:r="http://schemas.openxmlformats.org/officeDocument/2006/relationships" id="2147483654" r:id="Re833b2acb3274d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cd94ac539a46ce" /><Relationship Type="http://schemas.openxmlformats.org/officeDocument/2006/relationships/notesSlide" Target="/ppt/notesSlides/notesSlide1.xml" Id="Rbef57df1177b4b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02a72fde3a498a" /><Relationship Type="http://schemas.openxmlformats.org/officeDocument/2006/relationships/notesSlide" Target="/ppt/notesSlides/notesSlide2.xml" Id="R2be6c652f1f242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7f22e0eed74d89" /><Relationship Type="http://schemas.openxmlformats.org/officeDocument/2006/relationships/notesSlide" Target="/ppt/notesSlides/notesSlide3.xml" Id="R22310938171a40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a5a03d3d00401e" /><Relationship Type="http://schemas.openxmlformats.org/officeDocument/2006/relationships/notesSlide" Target="/ppt/notesSlides/notesSlide4.xml" Id="R9b60290328b348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2082c85dff45b9" /><Relationship Type="http://schemas.openxmlformats.org/officeDocument/2006/relationships/chart" Target="/ppt/slides/charts/chart1.xml" Id="R8f887af875e54a76" /><Relationship Type="http://schemas.openxmlformats.org/officeDocument/2006/relationships/notesSlide" Target="/ppt/notesSlides/notesSlide5.xml" Id="Rf17f9f77e2584e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4a3e6735a44019" /><Relationship Type="http://schemas.openxmlformats.org/officeDocument/2006/relationships/chart" Target="/ppt/slides/charts/chart2.xml" Id="R6bb3004850804554" /><Relationship Type="http://schemas.openxmlformats.org/officeDocument/2006/relationships/notesSlide" Target="/ppt/notesSlides/notesSlide6.xml" Id="R625541d7bde34f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c95f954d01478f" /><Relationship Type="http://schemas.openxmlformats.org/officeDocument/2006/relationships/chart" Target="/ppt/slides/charts/chart3.xml" Id="R279bc6c9ef1b479e" /><Relationship Type="http://schemas.openxmlformats.org/officeDocument/2006/relationships/notesSlide" Target="/ppt/notesSlides/notesSlide7.xml" Id="Rd198cfb4de0748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786babf3354a97" /><Relationship Type="http://schemas.openxmlformats.org/officeDocument/2006/relationships/chart" Target="/ppt/slides/charts/chart4.xml" Id="Rc56394da4b9546be" /><Relationship Type="http://schemas.openxmlformats.org/officeDocument/2006/relationships/notesSlide" Target="/ppt/notesSlides/notesSlide8.xml" Id="Rdaed3fe260a146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f81e1f2b4f4eaa" /><Relationship Type="http://schemas.openxmlformats.org/officeDocument/2006/relationships/notesSlide" Target="/ppt/notesSlides/notesSlide9.xml" Id="Rb88d0a209f60482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Error terms retained for PNA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model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78</c:v>
                </c:pt>
                <c:pt idx="1">
                  <c:v>78</c:v>
                </c:pt>
                <c:pt idx="2">
                  <c:v>78</c:v>
                </c:pt>
              </c:numCache>
            </c:numRef>
          </c:val>
        </c:ser>
        <c:ser>
          <c:idx val="1"/>
          <c:order val="1"/>
          <c:tx>
            <c:v>After SLC</c:v>
          </c:tx>
          <c:spPr>
            <a:solidFill xmlns:a="http://schemas.openxmlformats.org/drawingml/2006/main">
              <a:srgbClr val="0F62FE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47</c:v>
                </c:pt>
                <c:pt idx="1">
                  <c:v>52</c:v>
                </c:pt>
                <c:pt idx="2">
                  <c:v>56</c:v>
                </c:pt>
              </c:numCache>
            </c:numRef>
          </c:val>
        </c:ser>
        <c:dLbls>
          <c:delete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Center-qubit X expectation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0.981</c:v>
                </c:pt>
                <c:pt idx="1">
                  <c:v>0.981</c:v>
                </c:pt>
                <c:pt idx="2">
                  <c:v>0.981</c:v>
                </c:pt>
              </c:numCache>
            </c:numRef>
          </c:val>
          <c:smooth val="0"/>
        </c:ser>
        <c:ser>
          <c:idx val="1"/>
          <c:order val="1"/>
          <c:tx>
            <c:v>Noisy</c:v>
          </c:tx>
          <c:spPr>
            <a:solidFill xmlns:a="http://schemas.openxmlformats.org/drawingml/2006/main">
              <a:srgbClr val="FF832B"/>
            </a:solidFill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0.818</c:v>
                </c:pt>
                <c:pt idx="1">
                  <c:v>0.687</c:v>
                </c:pt>
                <c:pt idx="2">
                  <c:v>0.482</c:v>
                </c:pt>
              </c:numCache>
            </c:numRef>
          </c:val>
          <c:smooth val="0"/>
        </c:ser>
        <c:ser>
          <c:idx val="2"/>
          <c:order val="2"/>
          <c:tx>
            <c:v>Full PNA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0.969</c:v>
                </c:pt>
                <c:pt idx="1">
                  <c:v>0.977</c:v>
                </c:pt>
                <c:pt idx="2">
                  <c:v>0.953</c:v>
                </c:pt>
              </c:numCache>
            </c:numRef>
          </c:val>
          <c:smooth val="0"/>
        </c:ser>
        <c:ser>
          <c:idx val="3"/>
          <c:order val="3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marker>
            <c:symbol val="none"/>
          </c:marker>
          <c:cat>
            <c:strRef>
              <c:f>'Chart Data'!$G$2:$G$4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0.946</c:v>
                </c:pt>
                <c:pt idx="1">
                  <c:v>0.962</c:v>
                </c:pt>
                <c:pt idx="2">
                  <c:v>0.966</c:v>
                </c:pt>
              </c:numCache>
            </c:numRef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Ideal-state fidelity by noise strength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v>Noisy state</c:v>
          </c:tx>
          <c:spPr>
            <a:solidFill xmlns:a="http://schemas.openxmlformats.org/drawingml/2006/main">
              <a:srgbClr val="8A3FFC"/>
            </a:solidFill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0.833</c:v>
                </c:pt>
                <c:pt idx="1">
                  <c:v>0.695</c:v>
                </c:pt>
                <c:pt idx="2">
                  <c:v>0.488</c:v>
                </c:pt>
              </c:numCache>
            </c:numRef>
          </c:val>
          <c:smooth val="0"/>
        </c:ser>
        <c:ser>
          <c:idx val="2"/>
          <c:order val="2"/>
          <c:tx>
            <c:v>Full PNA estimate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Data'!$F$2:$F$4</c:f>
              <c:numCache>
                <c:formatCode>0.00</c:formatCode>
                <c:ptCount val="3"/>
                <c:pt idx="0">
                  <c:v>1.001</c:v>
                </c:pt>
                <c:pt idx="1">
                  <c:v>1.004</c:v>
                </c:pt>
                <c:pt idx="2">
                  <c:v>1.017</c:v>
                </c:pt>
              </c:numCache>
            </c:numRef>
          </c:val>
          <c:smooth val="0"/>
        </c:ser>
        <c:dLbls>
          <c:delete val="1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preprocessing time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PNA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1.29</c:v>
                </c:pt>
                <c:pt idx="1">
                  <c:v>1.23</c:v>
                </c:pt>
                <c:pt idx="2">
                  <c:v>1.22</c:v>
                </c:pt>
              </c:numCache>
            </c:numRef>
          </c:val>
        </c:ser>
        <c:ser>
          <c:idx val="1"/>
          <c:order val="1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1.22</c:v>
                </c:pt>
                <c:pt idx="1">
                  <c:v>1.12</c:v>
                </c:pt>
                <c:pt idx="2">
                  <c:v>1.08</c:v>
                </c:pt>
              </c:numCache>
            </c:numRef>
          </c:val>
        </c:ser>
        <c:dLbls>
          <c:delete val="0"/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latin typeface="Arial"/>
                    <a:ea typeface="Arial"/>
                    <a:cs typeface="Arial"/>
                  </a:rPr>
                  <a:t>Seconds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457A2-9000-452E-88CD-D29001AB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D429D-6011-467B-8319-94D80843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Making quantum</a:t>
            </a:r>
          </a:p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results more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F1D5B-5078-4F38-A0D8-EED21EDB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small noisy simulation using Shaded Lightcones and Propagated Noise Absorption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E7D77-2964-423C-9308-FB3A3F0C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Five qubits · Eight CZ gates · Three noise levels</a:t>
            </a:r>
          </a:p>
        </p:txBody>
      </p:sp>
    </p:spTree>
    <p:extLst>
      <p:ext uri="{BB962C8B-B14F-4D97-AF65-F5344CB8AC3E}">
        <p14:creationId xmlns:p14="http://schemas.microsoft.com/office/powerpoint/2010/main" val="14874980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FD883-87B5-44A3-92C7-65C62E4C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A3165-F3A8-46C0-8EE4-889EA03C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basic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8B10E-830C-46D2-96B3-1EBEEF89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1"/>
          </a:bodyPr>
          <a:lstStyle xmlns:a="http://schemas.openxmlformats.org/drawingml/2006/main">
            <a:def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A qubit stores quantum information. A gate changes it. Noise makes gates imperfect.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D8703-AF39-4A8F-A655-C6556F88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QUBIT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D5E84-D825-44DB-A625-3748415F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quantum version of a bit.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782D6-6CBA-495E-9EF6-AF0628EF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FDAB6-969C-4095-BC45-9B69062E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An operation applied to one or more qubits.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DB2D2-B0B1-477C-8464-232F8AB5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A8238-29AE-488E-8327-8EB7799D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small unwanted change during an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AF934-7533-4270-B801-243A0AD4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repeat the same calculation many times and compare the average result with an ideal reference.</a:t>
            </a:r>
          </a:p>
        </p:txBody>
      </p:sp>
    </p:spTree>
    <p:extLst>
      <p:ext uri="{BB962C8B-B14F-4D97-AF65-F5344CB8AC3E}">
        <p14:creationId xmlns:p14="http://schemas.microsoft.com/office/powerpoint/2010/main" val="10425715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12476-12E9-4DAD-BC24-9F1C9676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74A95-4A5C-481C-BEC1-979DD5FC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D6B9B-3C36-4496-AD38-41081209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Circuit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367C8-0C88-48EE-B1EF-68D19FAA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5 qubits in a chain, with 8 CZ entangling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1A7F2-A823-4E90-B436-50713DEE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438D7-DC60-48AE-AC39-C6908963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Average X value of the center qubit, estimated with Qiskit’s Estimator primitive.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08EEC-71DD-49E5-9568-2139C252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0B2E9-33CA-46A4-A116-3DE1955E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 simulation vs. simulated noisy circuit, then full PNA vs. SLC-selected PNA.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64773-F8AD-4341-887D-6AF7F22A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6B367-C0CF-4119-B197-24FCBB6B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0.5×, 1× and 2× the same modeled error rates.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F51DB-AAF2-4809-AD32-F4F38BDF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State fidelity is calculated directly from the simulator’s density matrix.</a:t>
            </a:r>
          </a:p>
        </p:txBody>
      </p:sp>
    </p:spTree>
    <p:extLst>
      <p:ext uri="{BB962C8B-B14F-4D97-AF65-F5344CB8AC3E}">
        <p14:creationId xmlns:p14="http://schemas.microsoft.com/office/powerpoint/2010/main" val="558291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27E8B-CA5A-4D21-8DA8-CFACBF93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D29D8-CCC0-471E-857F-E4738E74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How the tools fit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6140B-ECD8-46D3-9526-B6D118BD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  Estimate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1327B-52D3-4913-9921-A135F68E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526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Use a known, simulated calibration model for this local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3455A-05CE-468E-B75D-F824E0E5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2  Focus the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018A8-58A9-476E-8743-09352262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9825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ranks errors by how much they can affect the chosen measurement.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719B3-1B0C-4B6A-B8B2-C48B5F69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3  Correct the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0C85D-1CE2-47B2-ADCB-1CE70736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670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folds the modeled correction into the measured quantity.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D16B8-77B4-4935-BB23-C1DF1282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Why not NoiseLearnerV3 here?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C2AEA-7093-4AA8-9FFE-133F403E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Its official workflow submits learning jobs to IBM Quantum. No IBM account is configured on this computer, so local rates are simulated inputs, not hardware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2225305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26E7B-AE0C-4C1D-B70A-4D45CC67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A0EC8-4ECC-49B0-B343-80F28BE6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reduced the error model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E8F6C28A-66EE-481C-89F6-F1817406BA7A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887af875e54a7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1AE9F-56A1-40B3-9DB6-04338A9B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33%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4195D-0023-49AC-893A-B6DC57D8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527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fewer modeled error terms at 1×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83F82-3F22-4936-89C3-50BE390C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C3ADC-62CC-433C-9E3F-C21B25CC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less PNA setup time in this small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7F784-D092-443E-9C50-291EC9CB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noise, the SLC bias bound was 0.047 (under the 0.05 limit we set).</a:t>
            </a:r>
          </a:p>
        </p:txBody>
      </p:sp>
    </p:spTree>
    <p:extLst>
      <p:ext uri="{BB962C8B-B14F-4D97-AF65-F5344CB8AC3E}">
        <p14:creationId xmlns:p14="http://schemas.microsoft.com/office/powerpoint/2010/main" val="5439168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84785-A7F3-40CB-BB75-8ADE9946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87CF5-37BD-4D07-95F3-86BE13F2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recovered the measured value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27E26DDC-222C-4A95-B444-C21C45D467D6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7620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b300485080455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ACF08-26B7-4CE6-BA2D-BC88B22A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B2FA1-5200-4BAA-ACC1-D8E992DA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03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832B"/>
                </a:solidFill>
                <a:latin typeface="Arial"/>
                <a:ea typeface="Arial"/>
                <a:cs typeface="Arial"/>
              </a:rPr>
              <a:t>0.687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BD7AD-555C-4D50-B106-64E4ACBD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146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without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EBD15-FCA7-493A-9DED-67A06341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0.977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E8FCC-787E-4563-8D40-56B6FAE5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full PNA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C2F76-B098-43B2-9035-3282AF05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0.962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D385B-F97B-4447-B534-AA4E0D33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43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SLC + PNA</a:t>
            </a:r>
          </a:p>
        </p:txBody>
      </p:sp>
    </p:spTree>
    <p:extLst>
      <p:ext uri="{BB962C8B-B14F-4D97-AF65-F5344CB8AC3E}">
        <p14:creationId xmlns:p14="http://schemas.microsoft.com/office/powerpoint/2010/main" val="628885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38303-C6C6-48D5-AED8-AF8C7FDE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6A474-EA65-4B31-89DC-9BCFDDEB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lifted the fidelity estimate near ideal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D3EA4B1-42A3-46FA-BFBE-9054B68330B7}"/>
              </a:ext>
            </a:extLst>
          </p:cNvPr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704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9bc6c9ef1b479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EACE2-0980-4613-B7A8-FBC0D444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90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AA204-329D-4D29-85BD-BB8C82A0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384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0.695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C80B5-3EF7-4AE3-AFEE-18176F93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noisy-state fidelity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061E1-ECD6-4C07-8C09-96ADFDF4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6237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1.004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C5230-D36B-40BE-BBAD-7E57DC77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672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full-PNA projector estimate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AB420-4496-4AFD-B400-C30048F8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The PNA estimate can slightly exceed 1 because this correction is approximate. Fidelity itself cannot exceed 1; read this as near ideal.</a:t>
            </a:r>
          </a:p>
        </p:txBody>
      </p:sp>
    </p:spTree>
    <p:extLst>
      <p:ext uri="{BB962C8B-B14F-4D97-AF65-F5344CB8AC3E}">
        <p14:creationId xmlns:p14="http://schemas.microsoft.com/office/powerpoint/2010/main" val="3525476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3499F-0155-4560-A154-E7C1D87F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43E44-D853-4DBA-91F4-AF80ABFF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lowered setup time across the sweep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8907D22-A7FB-4496-90F1-207612B9A335}"/>
              </a:ext>
            </a:extLst>
          </p:cNvPr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6394da4b9546b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2628B-AEAF-4A53-8349-AB06D772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8F565-AD47-4834-9D16-EF18B25D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1.23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EF664-DD6F-4A3D-9AAB-765145B4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full PNA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01C36-6582-4E4B-B596-30A7AC50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1.12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AF81D-E7B4-4D19-A83A-A3A97DAB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434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SLC + PNA setup (9% less)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E1431-2BE4-4431-BCE9-59FC1A65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Times are local preprocessing measurements, not quantum-hardware run times.</a:t>
            </a:r>
          </a:p>
        </p:txBody>
      </p:sp>
    </p:spTree>
    <p:extLst>
      <p:ext uri="{BB962C8B-B14F-4D97-AF65-F5344CB8AC3E}">
        <p14:creationId xmlns:p14="http://schemas.microsoft.com/office/powerpoint/2010/main" val="20838929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2D6D9-19BB-447F-8084-3E2CD486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59463-9668-4812-B3C3-1237B8F6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E99DC-4F83-4F24-BDF1-7D22348C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PNA helped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6234F-83F5-41E6-9546-06EC5949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moved the measured value closer to the ideal result at all three noise levels.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D1561-87CE-4A0A-A1F2-B22946D3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SLC traded a little accuracy for lower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33694-1AC3-442C-B91F-0D2496D3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dropped low-impact error terms and lowered the estimated sampling cost, with a small allowed bias.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66584-46F0-4EC1-B4AD-EA1FE13C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Next step for a hardware-ready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29045-4E00-45B9-B51A-51FD8275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Connect NoiseLearnerV3 to an IBM Quantum backend, then rerun the same workflow with measured rates.</a:t>
            </a:r>
          </a:p>
        </p:txBody>
      </p:sp>
    </p:spTree>
    <p:extLst>
      <p:ext uri="{BB962C8B-B14F-4D97-AF65-F5344CB8AC3E}">
        <p14:creationId xmlns:p14="http://schemas.microsoft.com/office/powerpoint/2010/main" val="10190040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2026-10-31T04:24:30.9280000Z</dcterms:created>
  <dcterms:modified xsi:type="dcterms:W3CDTF">2026-10-31T04:24:30.9280000Z</dcterms:modified>
</coreProperties>
</file>