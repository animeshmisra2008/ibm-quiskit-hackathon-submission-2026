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fa3fd2f4ca452a" /><Relationship Type="http://schemas.openxmlformats.org/officeDocument/2006/relationships/extended-properties" Target="/docProps/app.xml" Id="R4f05091d3f6a4f97" /><Relationship Type="http://schemas.openxmlformats.org/officeDocument/2006/relationships/officeDocument" Target="/ppt/presentation.xml" Id="R14af06fddb854f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ae88c120684cfa"/>
  </p:sldMasterIdLst>
  <p:notesMasterIdLst>
    <p:notesMasterId xmlns:r="http://schemas.openxmlformats.org/officeDocument/2006/relationships" r:id="R5eeaafc05fe04fcf"/>
  </p:notesMasterIdLst>
  <p:sldIdLst>
    <p:sldId xmlns:r="http://schemas.openxmlformats.org/officeDocument/2006/relationships" id="256" r:id="R6516aedf222346a9"/>
    <p:sldId xmlns:r="http://schemas.openxmlformats.org/officeDocument/2006/relationships" id="257" r:id="R39b433941c624c60"/>
    <p:sldId xmlns:r="http://schemas.openxmlformats.org/officeDocument/2006/relationships" id="258" r:id="Reaa265b14cdc48ff"/>
    <p:sldId xmlns:r="http://schemas.openxmlformats.org/officeDocument/2006/relationships" id="259" r:id="R96f58e7621cd4b1f"/>
    <p:sldId xmlns:r="http://schemas.openxmlformats.org/officeDocument/2006/relationships" id="260" r:id="R4312e3363b594532"/>
    <p:sldId xmlns:r="http://schemas.openxmlformats.org/officeDocument/2006/relationships" id="261" r:id="R659e8551ac6d4b8d"/>
    <p:sldId xmlns:r="http://schemas.openxmlformats.org/officeDocument/2006/relationships" id="262" r:id="R3871f090084c40cc"/>
    <p:sldId xmlns:r="http://schemas.openxmlformats.org/officeDocument/2006/relationships" id="263" r:id="Re254f6de117641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752dc81d834752" /><Relationship Type="http://schemas.openxmlformats.org/officeDocument/2006/relationships/slideMaster" Target="/ppt/slideMasters/slideMaster1.xml" Id="Rb6ae88c120684cfa" /><Relationship Type="http://schemas.openxmlformats.org/officeDocument/2006/relationships/notesMaster" Target="/ppt/notesMasters/notesMaster1.xml" Id="R5eeaafc05fe04fcf" /><Relationship Type="http://schemas.openxmlformats.org/officeDocument/2006/relationships/presProps" Target="/ppt/presProps.xml" Id="Re6c85f1f70424ce5" /><Relationship Type="http://schemas.openxmlformats.org/officeDocument/2006/relationships/tableStyles" Target="/ppt/tableStyles.xml" Id="R99196f50eefa4eb1" /><Relationship Type="http://schemas.openxmlformats.org/officeDocument/2006/relationships/slide" Target="/ppt/slides/slide1.xml" Id="R6516aedf222346a9" /><Relationship Type="http://schemas.openxmlformats.org/officeDocument/2006/relationships/slide" Target="/ppt/slides/slide2.xml" Id="R39b433941c624c60" /><Relationship Type="http://schemas.openxmlformats.org/officeDocument/2006/relationships/slide" Target="/ppt/slides/slide3.xml" Id="Reaa265b14cdc48ff" /><Relationship Type="http://schemas.openxmlformats.org/officeDocument/2006/relationships/slide" Target="/ppt/slides/slide4.xml" Id="R96f58e7621cd4b1f" /><Relationship Type="http://schemas.openxmlformats.org/officeDocument/2006/relationships/slide" Target="/ppt/slides/slide5.xml" Id="R4312e3363b594532" /><Relationship Type="http://schemas.openxmlformats.org/officeDocument/2006/relationships/slide" Target="/ppt/slides/slide6.xml" Id="R659e8551ac6d4b8d" /><Relationship Type="http://schemas.openxmlformats.org/officeDocument/2006/relationships/slide" Target="/ppt/slides/slide7.xml" Id="R3871f090084c40cc" /><Relationship Type="http://schemas.openxmlformats.org/officeDocument/2006/relationships/slide" Target="/ppt/slides/slide8.xml" Id="Re254f6de117641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4547f922424c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1a86eccdba4406" /><Relationship Type="http://schemas.openxmlformats.org/officeDocument/2006/relationships/notesMaster" Target="/ppt/notesMasters/notesMaster1.xml" Id="Rd1b8d33115bc44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0cce7f149d4624" /><Relationship Type="http://schemas.openxmlformats.org/officeDocument/2006/relationships/notesMaster" Target="/ppt/notesMasters/notesMaster1.xml" Id="Rc62e871635d54b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be08689429479c" /><Relationship Type="http://schemas.openxmlformats.org/officeDocument/2006/relationships/notesMaster" Target="/ppt/notesMasters/notesMaster1.xml" Id="Reabc482b164f49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068326440a4a5d" /><Relationship Type="http://schemas.openxmlformats.org/officeDocument/2006/relationships/notesMaster" Target="/ppt/notesMasters/notesMaster1.xml" Id="R21e69f312bff45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cf989f4ebf4480" /><Relationship Type="http://schemas.openxmlformats.org/officeDocument/2006/relationships/notesMaster" Target="/ppt/notesMasters/notesMaster1.xml" Id="R3e94003c649b40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418dde76f24b91" /><Relationship Type="http://schemas.openxmlformats.org/officeDocument/2006/relationships/notesMaster" Target="/ppt/notesMasters/notesMaster1.xml" Id="R68fd77add1d84c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85b59de5ca41fe" /><Relationship Type="http://schemas.openxmlformats.org/officeDocument/2006/relationships/notesMaster" Target="/ppt/notesMasters/notesMaster1.xml" Id="R1ddd3dbf676547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94058385de4297" /><Relationship Type="http://schemas.openxmlformats.org/officeDocument/2006/relationships/notesMaster" Target="/ppt/notesMasters/notesMaster1.xml" Id="R11437bb3834c4d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built a small simulation to see whether error-mitigation tools can recover a useful measurement after noise is added. The assignment asks for SLC, NoiseLearnerV3, and PNA. This deck states clearly where the local simulator uses synthetic calibration rates in place of a hardware noise-learning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the project does not require the audience to know quantum mechanics. A measurement is an average from repeated simulated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center-qubit X measurement is the quantity that PNA corrects. We also calculate exact state fidelity from the simulator's density matrix as a separate measure of how much the whole state was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SLC assigns importance to candidate Pauli error terms and can trade a bounded bias for lower sampling cost. PNA propagates the inverse of learned noise into an observable. The official NoiseLearnerV3 accepts an IBM Quantum backend/service job; IBM documents that it has no local fake-backend mode. Sources: https://qiskit.github.io/qiskit-addon-slc/guides/quickstart.html ; https://qiskit.github.io/qiskit-addon-pna/tutorials/01_generate_noise_mitigating_observable.html ;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middle noise setting, the learned model included 78 candidate error terms. SLC kept 53 for mitigation and set a bounded bias limit of 0.05. This reduced local PNA preprocessing from about 1.29 seconds to 1.13 seconds. The sampling-cost estimate fell from about 2.61 to 1.92.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 value is about 0.971. At 1× noise, the uncorrected value fell to 0.674. Full PNA brought it to 0.954; SLC-selected PNA brought it to 0.938. SLC saves work but can leave more bias, which is the intended tradeoff.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ideal-state fidelity projector is the observable |psi&gt;&lt;psi| for the noiseless output. We run PNA on that projector, then evaluate it exactly against the noisy density matrix as a local simulation metric. At 1x noise, raw state fidelity is 0.695 and the full-PNA estimate is 1.004. Because PNA uses an approximate correction, the estimate can exceed the physical maximum of one. Treat it as near ideal, not as a literal fidelity over 1. SLC is applied to the center-X observable workflow on the previous slides; this full projector-fidelity estimate uses full PNA.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results show the algorithmic flow but are not hardware results because calibration rates are synthetic. The official assignment asks for NoiseLearnerV3 and a simulated noisy backend; official documentation says NoiseLearnerV3 does not have a local testing mode. If an IBM Quantum account and backend become available, replace the synthetic model with the output of the official noise learner. Source: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b349375fa449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7b2dcfe0447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e1bddf0914a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dcc577bcb48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96a05705241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e469c258e4c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5452D9-F00D-4BB5-AC7D-9AC71561CE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E6DD6F6-C356-4FF3-9666-E4275E53BE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592129-B403-4F76-8AC9-864517A258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D49B5E-B114-4186-8F82-C74E01D8A9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0F2659-4528-4962-AA71-8B5AFBB8D8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543B55-635E-4963-9731-DF621BF250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4E6A18-9798-49B4-AA14-068E921703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2D68AF3-4EC8-40C1-A3C2-0AC4A12768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4D9FFF-5ACF-4E0D-9A8C-C412DCDD0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617239-E2D7-4609-8BE9-E802486287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e089e16d994ec2" /><Relationship Type="http://schemas.openxmlformats.org/officeDocument/2006/relationships/slideLayout" Target="/ppt/slideLayouts/slideLayout1.xml" Id="R2da086265b9841fd" /><Relationship Type="http://schemas.openxmlformats.org/officeDocument/2006/relationships/slideLayout" Target="/ppt/slideLayouts/slideLayout2.xml" Id="Ra55f11e09b8d4372" /><Relationship Type="http://schemas.openxmlformats.org/officeDocument/2006/relationships/slideLayout" Target="/ppt/slideLayouts/slideLayout3.xml" Id="R1ae6fcfdec894d06" /><Relationship Type="http://schemas.openxmlformats.org/officeDocument/2006/relationships/slideLayout" Target="/ppt/slideLayouts/slideLayout4.xml" Id="R6a7cae624d3f4749" /><Relationship Type="http://schemas.openxmlformats.org/officeDocument/2006/relationships/slideLayout" Target="/ppt/slideLayouts/slideLayout5.xml" Id="R5c1d023e97014d82" /><Relationship Type="http://schemas.openxmlformats.org/officeDocument/2006/relationships/slideLayout" Target="/ppt/slideLayouts/slideLayout6.xml" Id="R8bf72e5cc72742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a086265b9841fd"/>
    <p:sldLayoutId xmlns:r="http://schemas.openxmlformats.org/officeDocument/2006/relationships" id="2147483650" r:id="Ra55f11e09b8d4372"/>
    <p:sldLayoutId xmlns:r="http://schemas.openxmlformats.org/officeDocument/2006/relationships" id="2147483651" r:id="R1ae6fcfdec894d06"/>
    <p:sldLayoutId xmlns:r="http://schemas.openxmlformats.org/officeDocument/2006/relationships" id="2147483652" r:id="R6a7cae624d3f4749"/>
    <p:sldLayoutId xmlns:r="http://schemas.openxmlformats.org/officeDocument/2006/relationships" id="2147483653" r:id="R5c1d023e97014d82"/>
    <p:sldLayoutId xmlns:r="http://schemas.openxmlformats.org/officeDocument/2006/relationships" id="2147483654" r:id="R8bf72e5cc72742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72c6765ee548ab" /><Relationship Type="http://schemas.openxmlformats.org/officeDocument/2006/relationships/notesSlide" Target="/ppt/notesSlides/notesSlide1.xml" Id="Rd2418367429549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4c1d527f194c0d" /><Relationship Type="http://schemas.openxmlformats.org/officeDocument/2006/relationships/notesSlide" Target="/ppt/notesSlides/notesSlide2.xml" Id="R3ed45402e3fc48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a40f9f81c641fe" /><Relationship Type="http://schemas.openxmlformats.org/officeDocument/2006/relationships/notesSlide" Target="/ppt/notesSlides/notesSlide3.xml" Id="Rb45ff4690dd74e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8443f132234356" /><Relationship Type="http://schemas.openxmlformats.org/officeDocument/2006/relationships/notesSlide" Target="/ppt/notesSlides/notesSlide4.xml" Id="Rb98a69804de046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1c4fff8c7d488b" /><Relationship Type="http://schemas.openxmlformats.org/officeDocument/2006/relationships/chart" Target="/ppt/slides/charts/chart1.xml" Id="R0c0cd99abfae4bea" /><Relationship Type="http://schemas.openxmlformats.org/officeDocument/2006/relationships/notesSlide" Target="/ppt/notesSlides/notesSlide5.xml" Id="Ra285862f985848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eefcfb8074256" /><Relationship Type="http://schemas.openxmlformats.org/officeDocument/2006/relationships/chart" Target="/ppt/slides/charts/chart2.xml" Id="R16b49f833cdc4b58" /><Relationship Type="http://schemas.openxmlformats.org/officeDocument/2006/relationships/notesSlide" Target="/ppt/notesSlides/notesSlide6.xml" Id="R714c2fdef17648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4333fbc7f54d06" /><Relationship Type="http://schemas.openxmlformats.org/officeDocument/2006/relationships/chart" Target="/ppt/slides/charts/chart3.xml" Id="Rdc7df01742ed4f32" /><Relationship Type="http://schemas.openxmlformats.org/officeDocument/2006/relationships/notesSlide" Target="/ppt/notesSlides/notesSlide7.xml" Id="Rcdf89c2e51f049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8ab8f93cc54147" /><Relationship Type="http://schemas.openxmlformats.org/officeDocument/2006/relationships/notesSlide" Target="/ppt/notesSlides/notesSlide8.xml" Id="R6d7e6febd868467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Error terms retained for PNA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model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78</c:v>
                </c:pt>
                <c:pt idx="1">
                  <c:v>78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v>After SLC</c:v>
          </c:tx>
          <c:spPr>
            <a:solidFill xmlns:a="http://schemas.openxmlformats.org/drawingml/2006/main">
              <a:srgbClr val="0F62FE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47</c:v>
                </c:pt>
                <c:pt idx="1">
                  <c:v>52</c:v>
                </c:pt>
                <c:pt idx="2">
                  <c:v>56</c:v>
                </c:pt>
              </c:numCache>
            </c:numRef>
          </c:val>
        </c:ser>
        <c:dLbls>
          <c:delete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Center-qubit X expectation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0.981</c:v>
                </c:pt>
                <c:pt idx="1">
                  <c:v>0.981</c:v>
                </c:pt>
                <c:pt idx="2">
                  <c:v>0.981</c:v>
                </c:pt>
              </c:numCache>
            </c:numRef>
          </c:val>
          <c:smooth val="0"/>
        </c:ser>
        <c:ser>
          <c:idx val="1"/>
          <c:order val="1"/>
          <c:tx>
            <c:v>Noisy</c:v>
          </c:tx>
          <c:spPr>
            <a:solidFill xmlns:a="http://schemas.openxmlformats.org/drawingml/2006/main">
              <a:srgbClr val="FF832B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0.818</c:v>
                </c:pt>
                <c:pt idx="1">
                  <c:v>0.687</c:v>
                </c:pt>
                <c:pt idx="2">
                  <c:v>0.482</c:v>
                </c:pt>
              </c:numCache>
            </c:numRef>
          </c:val>
          <c:smooth val="0"/>
        </c:ser>
        <c:ser>
          <c:idx val="2"/>
          <c:order val="2"/>
          <c:tx>
            <c:v>Full PNA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0.969</c:v>
                </c:pt>
                <c:pt idx="1">
                  <c:v>0.977</c:v>
                </c:pt>
                <c:pt idx="2">
                  <c:v>0.953</c:v>
                </c:pt>
              </c:numCache>
            </c:numRef>
          </c:val>
          <c:smooth val="0"/>
        </c:ser>
        <c:ser>
          <c:idx val="3"/>
          <c:order val="3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Ref>
              <c:f>'Chart Data'!$G$2:$G$4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0.946</c:v>
                </c:pt>
                <c:pt idx="1">
                  <c:v>0.962</c:v>
                </c:pt>
                <c:pt idx="2">
                  <c:v>0.966</c:v>
                </c:pt>
              </c:numCache>
            </c:numRef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Ideal-state fidelity by noise strength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v>Noisy state</c:v>
          </c:tx>
          <c:spPr>
            <a:solidFill xmlns:a="http://schemas.openxmlformats.org/drawingml/2006/main">
              <a:srgbClr val="8A3FFC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0.833</c:v>
                </c:pt>
                <c:pt idx="1">
                  <c:v>0.695</c:v>
                </c:pt>
                <c:pt idx="2">
                  <c:v>0.488</c:v>
                </c:pt>
              </c:numCache>
            </c:numRef>
          </c:val>
          <c:smooth val="0"/>
        </c:ser>
        <c:ser>
          <c:idx val="2"/>
          <c:order val="2"/>
          <c:tx>
            <c:v>Full PNA estimate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1.001</c:v>
                </c:pt>
                <c:pt idx="1">
                  <c:v>1.004</c:v>
                </c:pt>
                <c:pt idx="2">
                  <c:v>1.017</c:v>
                </c:pt>
              </c:numCache>
            </c:numRef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76F3D-C85C-4CBA-850F-45F2321A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2D812-1EB5-4FCC-B29A-ED66E5E8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Making quantum</a:t>
            </a:r>
          </a:p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results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654F8-931D-4592-AFAE-CBA501A6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small noisy simulation using Shaded Lightcones and Propagated Noise Absorption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94DFA-93CC-4051-9171-E683D165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Five qubits · Eight CZ gates · Three noise levels</a:t>
            </a:r>
          </a:p>
        </p:txBody>
      </p:sp>
    </p:spTree>
    <p:extLst>
      <p:ext uri="{BB962C8B-B14F-4D97-AF65-F5344CB8AC3E}">
        <p14:creationId xmlns:p14="http://schemas.microsoft.com/office/powerpoint/2010/main" val="229974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224C6-02B1-4AF2-9CA5-7CD0C4BF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571E8-EA8F-4F61-A19F-F4297FB7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basic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7FF9E-0CCF-405A-A61B-4AED9075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>
            <a:def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qubit stores quantum information. A gate changes it. Noise makes gates imperfect.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A7662-CE96-492F-BCBB-624DA12E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QUBIT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4E7D8-2744-414B-99B7-0F0A1693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quantum version of a 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B4DB7-94B1-43C5-A534-4F3B7FE0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0B131-4D1F-40CF-8AD4-EAD2E0F8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 operation applied to one or more qubits.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8F47A-93CF-4CEF-8F12-A4081CFF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A94C7-C9E3-4B48-BB3F-F7EDE214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small unwanted change during an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E9608-50DA-4224-812F-42FE5D96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repeat the same calculation many times and compare the average result with an ideal reference.</a:t>
            </a:r>
          </a:p>
        </p:txBody>
      </p:sp>
    </p:spTree>
    <p:extLst>
      <p:ext uri="{BB962C8B-B14F-4D97-AF65-F5344CB8AC3E}">
        <p14:creationId xmlns:p14="http://schemas.microsoft.com/office/powerpoint/2010/main" val="1681823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B725C-64E8-4F5E-9066-78A3EE26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FABCB-CA9D-428A-8BE4-68E6EAFF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484A2-C2BB-429B-80C5-1F8EBC34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41841-2FDF-46E1-87CF-BDC3E299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qubits in a chain, with 8 CZ entangling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66577-2438-4354-AB50-D4B3626C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DA6B0-172E-4114-8086-7B048924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Average X value of the center qubit, estimated with Qiskit’s Estimator primitive.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BBF5A-3D5B-4107-BD79-E1E693E3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A0CC7-5610-42D4-A47A-D9D72F66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 simulation vs. simulated noisy circuit, then full PNA vs. SLC-selected PNA.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0C727-D29E-4A75-9BD0-2530BD19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E064E-D269-48CC-BB90-62A7C5CA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0.5×, 1× and 2× the same modeled error rates.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02C52-1771-43E2-8C0B-782F2A67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State fidelity is calculated directly from the simulator’s density matrix.</a:t>
            </a:r>
          </a:p>
        </p:txBody>
      </p:sp>
    </p:spTree>
    <p:extLst>
      <p:ext uri="{BB962C8B-B14F-4D97-AF65-F5344CB8AC3E}">
        <p14:creationId xmlns:p14="http://schemas.microsoft.com/office/powerpoint/2010/main" val="56137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90F38-6436-43BA-846D-3039CB66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5E749-B9AF-4BD4-9B94-7D0869A0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How the tools fit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13F99-4ED8-4673-ABF8-875B5520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  Estimate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6BBF6-C706-406B-A7F7-95CC7C74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 a known, simulated calibration model for this local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66B9C-1F9A-47C9-8FFF-A5BC12B9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2  Focus the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25ACA-AA64-4488-AE24-7D2352F7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9825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ranks errors by how much they can affect the chosen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AB28F-5CC4-4137-9F9C-3B0DC86D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3  Correct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7FDA1-56F7-44D2-987D-874768B3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folds the modeled correction into the measured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B9D4B-981C-4239-89E8-236D7611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Why not NoiseLearnerV3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64FB8-EB66-4254-BCAC-09338557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Its official workflow submits learning jobs to IBM Quantum. No IBM account is configured on this computer, so local rates are simulated inputs, not hardware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96874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7073E-7A73-4A66-B166-9892EBCF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A03DC-4FDD-4377-A2CF-FA6FC0AE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reduced the error model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9661A5A-D1EC-4857-A2A1-B0BC7D64D364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0cd99abfae4be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081F2-7A2D-4353-A648-52300F85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33%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55974-C17E-48B8-AB66-642A2B67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fewer modeled error terms at 1×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8A2D4-896C-416A-BE6B-A20AD112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BC147-D95D-4654-89DD-422995E2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less PNA setup time in this small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56254-D6BA-438B-B2C6-FF905460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noise, the SLC bias bound was 0.047 (under the 0.05 limit we set).</a:t>
            </a:r>
          </a:p>
        </p:txBody>
      </p:sp>
    </p:spTree>
    <p:extLst>
      <p:ext uri="{BB962C8B-B14F-4D97-AF65-F5344CB8AC3E}">
        <p14:creationId xmlns:p14="http://schemas.microsoft.com/office/powerpoint/2010/main" val="13899403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B187A-CC84-4910-AD52-7BBB9BA3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981C2-699B-4938-AA6F-D498BF6E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recovered the measured value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EF31DA7-972D-4A14-97C3-DC81B92C9D3E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b49f833cdc4b5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E4669-0CC4-4E32-B6DA-D1CC194E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2448C-F559-4317-8EE6-04112882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832B"/>
                </a:solidFill>
                <a:latin typeface="Arial"/>
                <a:ea typeface="Arial"/>
                <a:cs typeface="Arial"/>
              </a:rPr>
              <a:t>0.687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C66E8-B86F-4872-B811-B6AC868D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without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F7A53-9F16-428E-A707-C8DAD81E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0.977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DB0D8-E88E-4FFD-8F8C-8782CA49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full PNA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5602A-F634-485E-9744-F1A47C9E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0.962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2CB96-52C3-4F00-9B39-5AD7DE1F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SLC + PNA</a:t>
            </a:r>
          </a:p>
        </p:txBody>
      </p:sp>
    </p:spTree>
    <p:extLst>
      <p:ext uri="{BB962C8B-B14F-4D97-AF65-F5344CB8AC3E}">
        <p14:creationId xmlns:p14="http://schemas.microsoft.com/office/powerpoint/2010/main" val="12672297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57AA2-33D5-4F92-AF6E-25B6BCC0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5BDF5-DBEC-480A-803D-DCF17A0B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lifted the fidelity estimate near ideal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1F30DCB9-9E59-42FF-83E4-4F13AFE7F39D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7df01742ed4f3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F7543-32AF-443A-9197-3BAB31D2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0ADBA-4420-4CD9-95F6-85D472D5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38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0.695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27AC2-4842-485F-B2D9-34817120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noisy-state fidelity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BD430-7C33-477B-97AE-F11A6FD2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1.004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57BA9-B27D-4D5D-827A-E07D83A3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full-PNA projector estimate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28D56-585B-49BE-AFF2-1BBFC54A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PNA estimate can slightly exceed 1 because this correction is approximate. Fidelity itself cannot exceed 1; read this as near ideal.</a:t>
            </a:r>
          </a:p>
        </p:txBody>
      </p:sp>
    </p:spTree>
    <p:extLst>
      <p:ext uri="{BB962C8B-B14F-4D97-AF65-F5344CB8AC3E}">
        <p14:creationId xmlns:p14="http://schemas.microsoft.com/office/powerpoint/2010/main" val="8372521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33648-FDC3-428B-ACBB-954BD626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09701-FA37-4FF3-B843-D9058939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48F26-28AE-40B8-B93E-8CAEC978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PNA helped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A0C68-A11B-4862-B809-513AE595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moved the measured value closer to the ideal result at all three noise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EC3D7-00E0-4626-A2EF-56C30451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SLC traded a little accuracy for lower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41EF0-DDD2-4220-BA66-928230D2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dropped low-impact error terms and lowered the estimated sampling cost, with a small allowed bias.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7897B-1AE0-4799-81A3-7290AA1B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Next step for a hardware-ready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2AC0C-8D3F-4300-AEBA-6D8C0F4F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Connect NoiseLearnerV3 to an IBM Quantum backend, then rerun the same workflow with measured rates.</a:t>
            </a:r>
          </a:p>
        </p:txBody>
      </p:sp>
    </p:spTree>
    <p:extLst>
      <p:ext uri="{BB962C8B-B14F-4D97-AF65-F5344CB8AC3E}">
        <p14:creationId xmlns:p14="http://schemas.microsoft.com/office/powerpoint/2010/main" val="968379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2026-10-31T04:17:58.0900000Z</dcterms:created>
  <dcterms:modified xsi:type="dcterms:W3CDTF">2026-10-31T04:17:58.0900000Z</dcterms:modified>
</coreProperties>
</file>