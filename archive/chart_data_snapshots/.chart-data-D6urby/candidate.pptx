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1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2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3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cab8119762247b9" /><Relationship Type="http://schemas.openxmlformats.org/officeDocument/2006/relationships/extended-properties" Target="/docProps/app.xml" Id="R2cf3ebaed4ca40dd" /><Relationship Type="http://schemas.openxmlformats.org/officeDocument/2006/relationships/officeDocument" Target="/ppt/presentation.xml" Id="Re323bbb3e46a4c3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f48aa46af8b46c0"/>
  </p:sldMasterIdLst>
  <p:notesMasterIdLst>
    <p:notesMasterId xmlns:r="http://schemas.openxmlformats.org/officeDocument/2006/relationships" r:id="R3ac23d76af354dc0"/>
  </p:notesMasterIdLst>
  <p:sldIdLst>
    <p:sldId xmlns:r="http://schemas.openxmlformats.org/officeDocument/2006/relationships" id="256" r:id="R5333f7cad213469a"/>
    <p:sldId xmlns:r="http://schemas.openxmlformats.org/officeDocument/2006/relationships" id="257" r:id="R124330ce109b485e"/>
    <p:sldId xmlns:r="http://schemas.openxmlformats.org/officeDocument/2006/relationships" id="258" r:id="Rd93aa34424ff44c6"/>
    <p:sldId xmlns:r="http://schemas.openxmlformats.org/officeDocument/2006/relationships" id="259" r:id="R5cf043995afa4551"/>
    <p:sldId xmlns:r="http://schemas.openxmlformats.org/officeDocument/2006/relationships" id="260" r:id="R8efa77ee5ffb4993"/>
    <p:sldId xmlns:r="http://schemas.openxmlformats.org/officeDocument/2006/relationships" id="261" r:id="R268474eeffd34036"/>
    <p:sldId xmlns:r="http://schemas.openxmlformats.org/officeDocument/2006/relationships" id="262" r:id="R8a170be979eb423e"/>
    <p:sldId xmlns:r="http://schemas.openxmlformats.org/officeDocument/2006/relationships" id="263" r:id="R4efd70d98f1f497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551d687ea55431e" /><Relationship Type="http://schemas.openxmlformats.org/officeDocument/2006/relationships/slideMaster" Target="/ppt/slideMasters/slideMaster1.xml" Id="Rff48aa46af8b46c0" /><Relationship Type="http://schemas.openxmlformats.org/officeDocument/2006/relationships/notesMaster" Target="/ppt/notesMasters/notesMaster1.xml" Id="R3ac23d76af354dc0" /><Relationship Type="http://schemas.openxmlformats.org/officeDocument/2006/relationships/presProps" Target="/ppt/presProps.xml" Id="R0fb55b5238fe433d" /><Relationship Type="http://schemas.openxmlformats.org/officeDocument/2006/relationships/tableStyles" Target="/ppt/tableStyles.xml" Id="R077a36cdd0084373" /><Relationship Type="http://schemas.openxmlformats.org/officeDocument/2006/relationships/slide" Target="/ppt/slides/slide1.xml" Id="R5333f7cad213469a" /><Relationship Type="http://schemas.openxmlformats.org/officeDocument/2006/relationships/slide" Target="/ppt/slides/slide2.xml" Id="R124330ce109b485e" /><Relationship Type="http://schemas.openxmlformats.org/officeDocument/2006/relationships/slide" Target="/ppt/slides/slide3.xml" Id="Rd93aa34424ff44c6" /><Relationship Type="http://schemas.openxmlformats.org/officeDocument/2006/relationships/slide" Target="/ppt/slides/slide4.xml" Id="R5cf043995afa4551" /><Relationship Type="http://schemas.openxmlformats.org/officeDocument/2006/relationships/slide" Target="/ppt/slides/slide5.xml" Id="R8efa77ee5ffb4993" /><Relationship Type="http://schemas.openxmlformats.org/officeDocument/2006/relationships/slide" Target="/ppt/slides/slide6.xml" Id="R268474eeffd34036" /><Relationship Type="http://schemas.openxmlformats.org/officeDocument/2006/relationships/slide" Target="/ppt/slides/slide7.xml" Id="R8a170be979eb423e" /><Relationship Type="http://schemas.openxmlformats.org/officeDocument/2006/relationships/slide" Target="/ppt/slides/slide8.xml" Id="R4efd70d98f1f497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abe302825ef43e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ae39ced45a6479d" /><Relationship Type="http://schemas.openxmlformats.org/officeDocument/2006/relationships/notesMaster" Target="/ppt/notesMasters/notesMaster1.xml" Id="Rab1243004d224ee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78035d8876741f0" /><Relationship Type="http://schemas.openxmlformats.org/officeDocument/2006/relationships/notesMaster" Target="/ppt/notesMasters/notesMaster1.xml" Id="Rfcfcc08a1956485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e1d865a789644dc" /><Relationship Type="http://schemas.openxmlformats.org/officeDocument/2006/relationships/notesMaster" Target="/ppt/notesMasters/notesMaster1.xml" Id="R07c87e1878b143c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c65da4e65384b54" /><Relationship Type="http://schemas.openxmlformats.org/officeDocument/2006/relationships/notesMaster" Target="/ppt/notesMasters/notesMaster1.xml" Id="R43085125b90b4a6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02e0d35cdc546af" /><Relationship Type="http://schemas.openxmlformats.org/officeDocument/2006/relationships/notesMaster" Target="/ppt/notesMasters/notesMaster1.xml" Id="R50f76d9eacfa448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fdd40c5e9e741be" /><Relationship Type="http://schemas.openxmlformats.org/officeDocument/2006/relationships/notesMaster" Target="/ppt/notesMasters/notesMaster1.xml" Id="R8a582a25ae984f2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378d28c535045b2" /><Relationship Type="http://schemas.openxmlformats.org/officeDocument/2006/relationships/notesMaster" Target="/ppt/notesMasters/notesMaster1.xml" Id="R329471b1ffaa4c4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4c0bb41ae4e4974" /><Relationship Type="http://schemas.openxmlformats.org/officeDocument/2006/relationships/notesMaster" Target="/ppt/notesMasters/notesMaster1.xml" Id="R64e9ca2855234b1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We built a small simulation to see whether error-mitigation tools can recover a useful measurement after noise is added. The assignment asks for SLC, NoiseLearnerV3, and PNA. This deck states clearly where the local simulator uses synthetic calibration rates in place of a hardware noise-learning job.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Keep the explanation simple: the project does not require the audience to know quantum mechanics. A measurement is an average from repeated simulated runs.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center-qubit X measurement is the quantity that PNA corrects. We also calculate exact state fidelity from the simulator's density matrix as a separate measure of how much the whole state was changed.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SLC assigns importance to candidate Pauli error terms and can trade a bounded bias for lower sampling cost. PNA propagates the inverse of learned noise into an observable. The official NoiseLearnerV3 accepts an IBM Quantum backend/service job; IBM documents that it has no local fake-backend mode. Sources: https://qiskit.github.io/qiskit-addon-slc/guides/quickstart.html ; https://qiskit.github.io/qiskit-addon-pna/tutorials/01_generate_noise_mitigating_observable.html ; https://quantum.cloud.ibm.com/docs/en/guides/migrate-to-client-side-primitives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At the middle noise setting, the learned model included 78 candidate error terms. SLC kept 53 for mitigation and set a bounded bias limit of 0.05. This reduced local PNA preprocessing from about 1.29 seconds to 1.13 seconds. The sampling-cost estimate fell from about 2.61 to 1.92.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ideal value is about 0.971. At 1× noise, the uncorrected value fell to 0.674. Full PNA brought it to 0.954; SLC-selected PNA brought it to 0.938. SLC saves work but can leave more bias, which is the intended tradeoff.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State fidelity is computed exactly from the noisy simulator density matrix against the ideal output. It drops from 0.833 at 0.5× noise to 0.488 at 2× noise. This metric is a separate check: PNA produces a corrected estimate for the selected observable, not a corrected full state.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local results show the algorithmic flow but are not hardware results because calibration rates are synthetic. The official assignment asks for NoiseLearnerV3 and a simulated noisy backend; official documentation says NoiseLearnerV3 does not have a local testing mode. If an IBM Quantum account and backend become available, replace the synthetic model with the output of the official noise learner. Source: https://quantum.cloud.ibm.com/docs/en/guides/migrate-to-client-side-primitives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80bf31da68043d8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528cc4b58d54e14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52fb2cbbbe7451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1fbfda508894342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e7cf78969d44c69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d86ced3add7455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113E4F1-0B58-4E8B-9DAE-CDF2DCF5483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1B6CB80E-568D-4145-9B65-76B67A8C07D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9B6764F9-5937-4B00-8FBF-6FC6E505359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F291C77-4725-4EF3-BF21-DE2D345880D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637302FA-8093-4C9A-BB9A-E41741869D8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AB03D77F-65C8-428E-9300-62C6BF589AE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3C959AE-1B1C-4DFC-8FA8-B95B5B6C3E1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9CA12332-A1A7-43B5-984B-18138CDD06B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C5C320E-8622-40F0-A106-D530622BB85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03AAD0E-EB6E-4BBC-9873-7CD7FED3054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92b44ceba89444d" /><Relationship Type="http://schemas.openxmlformats.org/officeDocument/2006/relationships/slideLayout" Target="/ppt/slideLayouts/slideLayout1.xml" Id="R94f2f8b1ad234e5d" /><Relationship Type="http://schemas.openxmlformats.org/officeDocument/2006/relationships/slideLayout" Target="/ppt/slideLayouts/slideLayout2.xml" Id="Rc01df517240d4493" /><Relationship Type="http://schemas.openxmlformats.org/officeDocument/2006/relationships/slideLayout" Target="/ppt/slideLayouts/slideLayout3.xml" Id="Rda711346b9814503" /><Relationship Type="http://schemas.openxmlformats.org/officeDocument/2006/relationships/slideLayout" Target="/ppt/slideLayouts/slideLayout4.xml" Id="Rec1d83f3988f4ea3" /><Relationship Type="http://schemas.openxmlformats.org/officeDocument/2006/relationships/slideLayout" Target="/ppt/slideLayouts/slideLayout5.xml" Id="R0527b62e56084e8c" /><Relationship Type="http://schemas.openxmlformats.org/officeDocument/2006/relationships/slideLayout" Target="/ppt/slideLayouts/slideLayout6.xml" Id="R3f6e86d56f7648c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4f2f8b1ad234e5d"/>
    <p:sldLayoutId xmlns:r="http://schemas.openxmlformats.org/officeDocument/2006/relationships" id="2147483650" r:id="Rc01df517240d4493"/>
    <p:sldLayoutId xmlns:r="http://schemas.openxmlformats.org/officeDocument/2006/relationships" id="2147483651" r:id="Rda711346b9814503"/>
    <p:sldLayoutId xmlns:r="http://schemas.openxmlformats.org/officeDocument/2006/relationships" id="2147483652" r:id="Rec1d83f3988f4ea3"/>
    <p:sldLayoutId xmlns:r="http://schemas.openxmlformats.org/officeDocument/2006/relationships" id="2147483653" r:id="R0527b62e56084e8c"/>
    <p:sldLayoutId xmlns:r="http://schemas.openxmlformats.org/officeDocument/2006/relationships" id="2147483654" r:id="R3f6e86d56f7648c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2d741dbc9a845e6" /><Relationship Type="http://schemas.openxmlformats.org/officeDocument/2006/relationships/notesSlide" Target="/ppt/notesSlides/notesSlide1.xml" Id="R424f171b8b4c4f9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4594cedd10f4789" /><Relationship Type="http://schemas.openxmlformats.org/officeDocument/2006/relationships/notesSlide" Target="/ppt/notesSlides/notesSlide2.xml" Id="Rad40efdb6cca413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cfb69aeff844aea" /><Relationship Type="http://schemas.openxmlformats.org/officeDocument/2006/relationships/notesSlide" Target="/ppt/notesSlides/notesSlide3.xml" Id="R283083a2fbbf444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5b27513cf474996" /><Relationship Type="http://schemas.openxmlformats.org/officeDocument/2006/relationships/notesSlide" Target="/ppt/notesSlides/notesSlide4.xml" Id="Rfeac130ff897414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4ae0ea9700f4e73" /><Relationship Type="http://schemas.openxmlformats.org/officeDocument/2006/relationships/chart" Target="/ppt/slides/charts/chart1.xml" Id="Rcfb866b760bb40c3" /><Relationship Type="http://schemas.openxmlformats.org/officeDocument/2006/relationships/notesSlide" Target="/ppt/notesSlides/notesSlide5.xml" Id="R68ed177001184b2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4d061481a784816" /><Relationship Type="http://schemas.openxmlformats.org/officeDocument/2006/relationships/chart" Target="/ppt/slides/charts/chart2.xml" Id="Rcb7f93ea8da741e6" /><Relationship Type="http://schemas.openxmlformats.org/officeDocument/2006/relationships/notesSlide" Target="/ppt/notesSlides/notesSlide6.xml" Id="R6f163ba06afd486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39057f276284df8" /><Relationship Type="http://schemas.openxmlformats.org/officeDocument/2006/relationships/chart" Target="/ppt/slides/charts/chart3.xml" Id="Raa22e771661249bf" /><Relationship Type="http://schemas.openxmlformats.org/officeDocument/2006/relationships/notesSlide" Target="/ppt/notesSlides/notesSlide7.xml" Id="R1eb6efcbb7df42d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e53aba9277a4807" /><Relationship Type="http://schemas.openxmlformats.org/officeDocument/2006/relationships/notesSlide" Target="/ppt/notesSlides/notesSlide8.xml" Id="R99f329eb1272412a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425" b="1">
                <a:solidFill>
                  <a:srgbClr val="161616"/>
                </a:solidFill>
                <a:latin typeface="Arial"/>
                <a:ea typeface="Arial"/>
                <a:cs typeface="Arial"/>
              </a:rPr>
              <a:t>Error terms retained for PNA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425" b="1">
              <a:solidFill>
                <a:srgbClr val="161616"/>
              </a:solidFill>
              <a:latin typeface="Arial"/>
              <a:ea typeface="Arial"/>
              <a:cs typeface="Arial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Full model</c:v>
          </c:tx>
          <c:spPr>
            <a:solidFill xmlns:a="http://schemas.openxmlformats.org/drawingml/2006/main">
              <a:srgbClr val="525252"/>
            </a:solidFill>
          </c:spPr>
          <c:invertIfNegative val="0"/>
          <c:cat>
            <c:strRef>
              <c:f>'Chart Data'!$A$2:$A$4</c:f>
              <c:strCache>
                <c:ptCount val="3"/>
                <c:pt idx="0">
                  <c:v>0.5× noise</c:v>
                </c:pt>
                <c:pt idx="1">
                  <c:v>1× noise</c:v>
                </c:pt>
                <c:pt idx="2">
                  <c:v>2× noise</c:v>
                </c:pt>
              </c:strCache>
            </c:strRef>
          </c:cat>
          <c:val>
            <c:numRef>
              <c:f>'Chart Data'!$B$2:$B$4</c:f>
              <c:numCache>
                <c:formatCode>General</c:formatCode>
                <c:ptCount val="3"/>
                <c:pt idx="0">
                  <c:v>78</c:v>
                </c:pt>
                <c:pt idx="1">
                  <c:v>78</c:v>
                </c:pt>
                <c:pt idx="2">
                  <c:v>78</c:v>
                </c:pt>
              </c:numCache>
            </c:numRef>
          </c:val>
        </c:ser>
        <c:ser>
          <c:idx val="1"/>
          <c:order val="1"/>
          <c:tx>
            <c:v>After SLC</c:v>
          </c:tx>
          <c:spPr>
            <a:solidFill xmlns:a="http://schemas.openxmlformats.org/drawingml/2006/main">
              <a:srgbClr val="0F62FE"/>
            </a:solidFill>
          </c:spPr>
          <c:invertIfNegative val="0"/>
          <c:cat>
            <c:strRef>
              <c:f>'Chart Data'!$C$2:$C$4</c:f>
              <c:strCache>
                <c:ptCount val="3"/>
                <c:pt idx="0">
                  <c:v>0.5× noise</c:v>
                </c:pt>
                <c:pt idx="1">
                  <c:v>1× noise</c:v>
                </c:pt>
                <c:pt idx="2">
                  <c:v>2× noise</c:v>
                </c:pt>
              </c:strCache>
            </c:strRef>
          </c:cat>
          <c:val>
            <c:numRef>
              <c:f>'Chart Data'!$D$2:$D$4</c:f>
              <c:numCache>
                <c:formatCode>General</c:formatCode>
                <c:ptCount val="3"/>
                <c:pt idx="0">
                  <c:v>47</c:v>
                </c:pt>
                <c:pt idx="1">
                  <c:v>53</c:v>
                </c:pt>
                <c:pt idx="2">
                  <c:v>56</c:v>
                </c:pt>
              </c:numCache>
            </c:numRef>
          </c:val>
        </c:ser>
        <c:dLbls>
          <c:delete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9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DE1E6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15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  <a:prstDash val="solid"/>
    </a:ln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425" b="1">
                <a:solidFill>
                  <a:srgbClr val="161616"/>
                </a:solidFill>
                <a:latin typeface="Arial"/>
                <a:ea typeface="Arial"/>
                <a:cs typeface="Arial"/>
              </a:rPr>
              <a:t>Center-qubit X expectation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425" b="1">
              <a:solidFill>
                <a:srgbClr val="161616"/>
              </a:solidFill>
              <a:latin typeface="Arial"/>
              <a:ea typeface="Arial"/>
              <a:cs typeface="Arial"/>
            </a:defRPr>
          </a:pPr>
        </a:p>
      </c:txPr>
    </c:title>
    <c:plotArea>
      <c:lineChart>
        <c:grouping val="standard"/>
        <c:varyColors val="0"/>
        <c:ser>
          <c:idx val="0"/>
          <c:order val="0"/>
          <c:tx>
            <c:v>Ideal</c:v>
          </c:tx>
          <c:spPr>
            <a:solidFill xmlns:a="http://schemas.openxmlformats.org/drawingml/2006/main">
              <a:srgbClr val="525252"/>
            </a:solidFill>
          </c:spPr>
          <c:marker>
            <c:symbol val="none"/>
          </c:marker>
          <c:cat>
            <c:strRef>
              <c:f>'Chart Data'!$A$2:$A$4</c:f>
              <c:strCache>
                <c:ptCount val="3"/>
                <c:pt idx="0">
                  <c:v>0.5×</c:v>
                </c:pt>
                <c:pt idx="1">
                  <c:v>1×</c:v>
                </c:pt>
                <c:pt idx="2">
                  <c:v>2×</c:v>
                </c:pt>
              </c:strCache>
            </c:strRef>
          </c:cat>
          <c:val>
            <c:numRef>
              <c:f>'Chart Data'!$B$2:$B$4</c:f>
              <c:numCache>
                <c:formatCode>General</c:formatCode>
                <c:ptCount val="3"/>
                <c:pt idx="0">
                  <c:v>0.971</c:v>
                </c:pt>
                <c:pt idx="1">
                  <c:v>0.971</c:v>
                </c:pt>
                <c:pt idx="2">
                  <c:v>0.971</c:v>
                </c:pt>
              </c:numCache>
            </c:numRef>
          </c:val>
          <c:smooth val="0"/>
        </c:ser>
        <c:ser>
          <c:idx val="1"/>
          <c:order val="1"/>
          <c:tx>
            <c:v>Noisy</c:v>
          </c:tx>
          <c:spPr>
            <a:solidFill xmlns:a="http://schemas.openxmlformats.org/drawingml/2006/main">
              <a:srgbClr val="FF832B"/>
            </a:solidFill>
          </c:spPr>
          <c:marker>
            <c:symbol val="none"/>
          </c:marker>
          <c:cat>
            <c:strRef>
              <c:f>'Chart Data'!$C$2:$C$4</c:f>
              <c:strCache>
                <c:ptCount val="3"/>
                <c:pt idx="0">
                  <c:v>0.5×</c:v>
                </c:pt>
                <c:pt idx="1">
                  <c:v>1×</c:v>
                </c:pt>
                <c:pt idx="2">
                  <c:v>2×</c:v>
                </c:pt>
              </c:strCache>
            </c:strRef>
          </c:cat>
          <c:val>
            <c:numRef>
              <c:f>'Chart Data'!$D$2:$D$4</c:f>
              <c:numCache>
                <c:formatCode>General</c:formatCode>
                <c:ptCount val="3"/>
                <c:pt idx="0">
                  <c:v>0.809</c:v>
                </c:pt>
                <c:pt idx="1">
                  <c:v>0.674</c:v>
                </c:pt>
                <c:pt idx="2">
                  <c:v>0.467</c:v>
                </c:pt>
              </c:numCache>
            </c:numRef>
          </c:val>
          <c:smooth val="0"/>
        </c:ser>
        <c:ser>
          <c:idx val="2"/>
          <c:order val="2"/>
          <c:tx>
            <c:v>Full PNA</c:v>
          </c:tx>
          <c:spPr>
            <a:solidFill xmlns:a="http://schemas.openxmlformats.org/drawingml/2006/main">
              <a:srgbClr val="0F62FE"/>
            </a:solidFill>
          </c:spPr>
          <c:marker>
            <c:symbol val="none"/>
          </c:marker>
          <c:cat>
            <c:strRef>
              <c:f>'Chart Data'!$E$2:$E$4</c:f>
              <c:strCache>
                <c:ptCount val="3"/>
                <c:pt idx="0">
                  <c:v>0.5×</c:v>
                </c:pt>
                <c:pt idx="1">
                  <c:v>1×</c:v>
                </c:pt>
                <c:pt idx="2">
                  <c:v>2×</c:v>
                </c:pt>
              </c:strCache>
            </c:strRef>
          </c:cat>
          <c:val>
            <c:numRef>
              <c:f>'Chart Data'!$F$2:$F$4</c:f>
              <c:numCache>
                <c:formatCode>General</c:formatCode>
                <c:ptCount val="3"/>
                <c:pt idx="0">
                  <c:v>0.962</c:v>
                </c:pt>
                <c:pt idx="1">
                  <c:v>0.954</c:v>
                </c:pt>
                <c:pt idx="2">
                  <c:v>0.936</c:v>
                </c:pt>
              </c:numCache>
            </c:numRef>
          </c:val>
          <c:smooth val="0"/>
        </c:ser>
        <c:ser>
          <c:idx val="3"/>
          <c:order val="3"/>
          <c:tx>
            <c:v>SLC + PNA</c:v>
          </c:tx>
          <c:spPr>
            <a:solidFill xmlns:a="http://schemas.openxmlformats.org/drawingml/2006/main">
              <a:srgbClr val="009D9A"/>
            </a:solidFill>
          </c:spPr>
          <c:marker>
            <c:symbol val="none"/>
          </c:marker>
          <c:cat>
            <c:strRef>
              <c:f>'Chart Data'!$G$2:$G$4</c:f>
              <c:strCache>
                <c:ptCount val="3"/>
                <c:pt idx="0">
                  <c:v>0.5×</c:v>
                </c:pt>
                <c:pt idx="1">
                  <c:v>1×</c:v>
                </c:pt>
                <c:pt idx="2">
                  <c:v>2×</c:v>
                </c:pt>
              </c:strCache>
            </c:strRef>
          </c:cat>
          <c:val>
            <c:numRef>
              <c:f>'Chart Data'!$H$2:$H$4</c:f>
              <c:numCache>
                <c:formatCode>General</c:formatCode>
                <c:ptCount val="3"/>
                <c:pt idx="0">
                  <c:v>0.94</c:v>
                </c:pt>
                <c:pt idx="1">
                  <c:v>0.938</c:v>
                </c:pt>
                <c:pt idx="2">
                  <c:v>0.936</c:v>
                </c:pt>
              </c:numCache>
            </c:numRef>
          </c:val>
          <c:smooth val="0"/>
        </c:ser>
        <c:dLbls>
          <c:delete val="1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1"/>
          <c:min val="0.4"/>
        </c:scaling>
        <c:delete val="0"/>
        <c:axPos val="l"/>
        <c:majorGridlines>
          <c:spPr>
            <a:ln xmlns:a="http://schemas.openxmlformats.org/drawingml/2006/main" w="9525">
              <a:solidFill>
                <a:srgbClr val="DDE1E6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0.1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75"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  <a:prstDash val="solid"/>
    </a:ln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425" b="1">
                <a:solidFill>
                  <a:srgbClr val="161616"/>
                </a:solidFill>
                <a:latin typeface="Arial"/>
                <a:ea typeface="Arial"/>
                <a:cs typeface="Arial"/>
              </a:rPr>
              <a:t>Exact simulated state fidelity before measurement correction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425" b="1">
              <a:solidFill>
                <a:srgbClr val="161616"/>
              </a:solidFill>
              <a:latin typeface="Arial"/>
              <a:ea typeface="Arial"/>
              <a:cs typeface="Arial"/>
            </a:defRPr>
          </a:pPr>
        </a:p>
      </c:txPr>
    </c:title>
    <c:plotArea>
      <c:lineChart>
        <c:grouping val="standard"/>
        <c:varyColors val="0"/>
        <c:ser>
          <c:idx val="0"/>
          <c:order val="0"/>
          <c:tx>
            <c:v>State fidelity</c:v>
          </c:tx>
          <c:spPr>
            <a:solidFill xmlns:a="http://schemas.openxmlformats.org/drawingml/2006/main">
              <a:srgbClr val="8A3FFC"/>
            </a:solidFill>
          </c:spPr>
          <c:marker>
            <c:symbol val="none"/>
          </c:marker>
          <c:cat>
            <c:strRef>
              <c:f>'Chart Data'!$A$2:$A$4</c:f>
              <c:strCache>
                <c:ptCount val="3"/>
                <c:pt idx="0">
                  <c:v>0.5× noise</c:v>
                </c:pt>
                <c:pt idx="1">
                  <c:v>1× noise</c:v>
                </c:pt>
                <c:pt idx="2">
                  <c:v>2× noise</c:v>
                </c:pt>
              </c:strCache>
            </c:strRef>
          </c:cat>
          <c:val>
            <c:numRef>
              <c:f>'Chart Data'!$B$2:$B$4</c:f>
              <c:numCache>
                <c:formatCode>0%</c:formatCode>
                <c:ptCount val="3"/>
                <c:pt idx="0">
                  <c:v>0.833</c:v>
                </c:pt>
                <c:pt idx="1">
                  <c:v>0.695</c:v>
                </c:pt>
                <c:pt idx="2">
                  <c:v>0.488</c:v>
                </c:pt>
              </c:numCache>
            </c:numRef>
          </c:val>
          <c:smooth val="0"/>
        </c:ser>
        <c:dLbls>
          <c:delete val="0"/>
          <c:numFmt formatCode="0.00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>
                  <a:latin typeface="Arial"/>
                  <a:ea typeface="Arial"/>
                  <a:cs typeface="Arial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0.9"/>
          <c:min val="0.4"/>
        </c:scaling>
        <c:delete val="0"/>
        <c:axPos val="l"/>
        <c:majorGridlines>
          <c:spPr>
            <a:ln xmlns:a="http://schemas.openxmlformats.org/drawingml/2006/main" w="9525">
              <a:solidFill>
                <a:srgbClr val="DDE1E6"/>
              </a:solidFill>
              <a:prstDash val="solid"/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0.1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  <a:prstDash val="solid"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4F4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7E99B9-12B4-4C0E-8502-C3E3851D0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42950"/>
            <a:ext cx="904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62FE"/>
                </a:solidFill>
                <a:latin typeface="Arial"/>
                <a:ea typeface="Arial"/>
                <a:cs typeface="Arial"/>
              </a:rPr>
              <a:t>QISKIT FALL FEST 2026 · TRACK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2FB7D5-C46C-4660-B487-09C847E5B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57350"/>
            <a:ext cx="9239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46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  <a:lvl1pPr algn="l">
              <a:defRPr sz="46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  <a:lvl2pPr algn="l">
              <a:defRPr sz="46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2pPr>
            <a:lvl3pPr algn="l">
              <a:defRPr sz="46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3pPr>
            <a:lvl4pPr algn="l">
              <a:defRPr sz="46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4pPr>
            <a:lvl5pPr algn="l">
              <a:defRPr sz="46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5pPr>
            <a:lvl6pPr algn="l">
              <a:defRPr sz="46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6pPr>
            <a:lvl7pPr algn="l">
              <a:defRPr sz="46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7pPr>
            <a:lvl8pPr algn="l">
              <a:defRPr sz="46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8pPr>
            <a:lvl9pPr algn="l">
              <a:defRPr sz="46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46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161616"/>
                </a:solidFill>
                <a:latin typeface="Arial"/>
                <a:ea typeface="Arial"/>
                <a:cs typeface="Arial"/>
              </a:rPr>
              <a:t>Making quantum</a:t>
            </a:r>
          </a:p>
          <a:p xmlns:a="http://schemas.openxmlformats.org/drawingml/2006/main">
            <a:pPr algn="l">
              <a:defRPr sz="46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161616"/>
                </a:solidFill>
                <a:latin typeface="Arial"/>
                <a:ea typeface="Arial"/>
                <a:cs typeface="Arial"/>
              </a:rPr>
              <a:t>results more reliable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863CF0-5D7D-43BE-9CA7-E00794F0D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86200"/>
            <a:ext cx="8763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02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25252"/>
                </a:solidFill>
                <a:latin typeface="Arial"/>
                <a:ea typeface="Arial"/>
                <a:cs typeface="Arial"/>
              </a:rPr>
              <a:t>A small noisy simulation using Shaded Lightcones and Propagated Noise Absorption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485AFC-2132-4B2B-BA3D-7BE19DA14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19700"/>
            <a:ext cx="857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61616"/>
                </a:solidFill>
                <a:latin typeface="Arial"/>
                <a:ea typeface="Arial"/>
                <a:cs typeface="Arial"/>
              </a:rPr>
              <a:t>Five qubits · Eight CZ gates · Three noise levels</a:t>
            </a:r>
          </a:p>
        </p:txBody>
      </p:sp>
    </p:spTree>
    <p:extLst>
      <p:ext uri="{BB962C8B-B14F-4D97-AF65-F5344CB8AC3E}">
        <p14:creationId xmlns:p14="http://schemas.microsoft.com/office/powerpoint/2010/main" val="191453054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9248D0-FA99-48E8-9BEF-3EC58C93B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F62FE"/>
                </a:solidFill>
                <a:latin typeface="Arial"/>
                <a:ea typeface="Arial"/>
                <a:cs typeface="Arial"/>
              </a:rPr>
              <a:t>QISKIT FALL FEST 2026 · TRACK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61C9F6-A317-496E-8FC8-3FE286703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81050"/>
            <a:ext cx="108966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  <a:lvl1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  <a:lvl2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2pPr>
            <a:lvl3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3pPr>
            <a:lvl4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4pPr>
            <a:lvl5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5pPr>
            <a:lvl6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6pPr>
            <a:lvl7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7pPr>
            <a:lvl8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8pPr>
            <a:lvl9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61616"/>
                </a:solidFill>
                <a:latin typeface="Arial"/>
                <a:ea typeface="Arial"/>
                <a:cs typeface="Arial"/>
              </a:rPr>
              <a:t>The basic idea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E4EA59-D0E6-4E66-B192-61F2F9B7A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95450"/>
            <a:ext cx="10382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3391"/>
          </a:bodyPr>
          <a:lstStyle xmlns:a="http://schemas.openxmlformats.org/drawingml/2006/main">
            <a:defPPr algn="l">
              <a:defRPr sz="2175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  <a:lvl1pPr algn="l">
              <a:defRPr sz="2175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  <a:lvl2pPr algn="l">
              <a:defRPr sz="2175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2pPr>
            <a:lvl3pPr algn="l">
              <a:defRPr sz="2175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3pPr>
            <a:lvl4pPr algn="l">
              <a:defRPr sz="2175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4pPr>
            <a:lvl5pPr algn="l">
              <a:defRPr sz="2175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5pPr>
            <a:lvl6pPr algn="l">
              <a:defRPr sz="2175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6pPr>
            <a:lvl7pPr algn="l">
              <a:defRPr sz="2175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7pPr>
            <a:lvl8pPr algn="l">
              <a:defRPr sz="2175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8pPr>
            <a:lvl9pPr algn="l">
              <a:defRPr sz="2175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61616"/>
                </a:solidFill>
                <a:latin typeface="Arial"/>
                <a:ea typeface="Arial"/>
                <a:cs typeface="Arial"/>
              </a:rPr>
              <a:t>A qubit stores quantum information. A gate changes it. Noise makes gates imperfect.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A4D4AB-32E1-4B1E-97C6-BC5B658A9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1952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62FE"/>
                </a:solidFill>
                <a:latin typeface="Arial"/>
                <a:ea typeface="Arial"/>
                <a:cs typeface="Arial"/>
              </a:rPr>
              <a:t>QUBIT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EAAFCC-87F3-49B3-ABE9-E9F0C2126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19450"/>
            <a:ext cx="2628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The quantum version of a bit.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B580FF-C6C7-461B-BDAC-89B5548C0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857500"/>
            <a:ext cx="1952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62FE"/>
                </a:solidFill>
                <a:latin typeface="Arial"/>
                <a:ea typeface="Arial"/>
                <a:cs typeface="Arial"/>
              </a:rPr>
              <a:t>GATE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17E497-003E-4F76-B2B3-288566869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219450"/>
            <a:ext cx="2857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An operation applied to one or more qubits.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6E60D1-F1ED-4237-B5CE-27F7113DE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857500"/>
            <a:ext cx="1952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62FE"/>
                </a:solidFill>
                <a:latin typeface="Arial"/>
                <a:ea typeface="Arial"/>
                <a:cs typeface="Arial"/>
              </a:rPr>
              <a:t>NOISE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B509AD-355B-4F9E-A04E-AF06F4E2A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219450"/>
            <a:ext cx="30956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A small unwanted change during an operation.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C330FD-8B55-4947-87F9-4FB428499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9906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25252"/>
                </a:solidFill>
                <a:latin typeface="Arial"/>
                <a:ea typeface="Arial"/>
                <a:cs typeface="Arial"/>
              </a:rPr>
              <a:t>We repeat the same calculation many times and compare the average result with an ideal reference.</a:t>
            </a:r>
          </a:p>
        </p:txBody>
      </p:sp>
    </p:spTree>
    <p:extLst>
      <p:ext uri="{BB962C8B-B14F-4D97-AF65-F5344CB8AC3E}">
        <p14:creationId xmlns:p14="http://schemas.microsoft.com/office/powerpoint/2010/main" val="79155240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25D3C1-B7BF-4723-9D74-9E79BD6DA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F62FE"/>
                </a:solidFill>
                <a:latin typeface="Arial"/>
                <a:ea typeface="Arial"/>
                <a:cs typeface="Arial"/>
              </a:rPr>
              <a:t>QISKIT FALL FEST 2026 · TRACK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49ECF3-9C76-4089-8D8E-7C687F897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81050"/>
            <a:ext cx="108966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  <a:lvl1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  <a:lvl2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2pPr>
            <a:lvl3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3pPr>
            <a:lvl4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4pPr>
            <a:lvl5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5pPr>
            <a:lvl6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6pPr>
            <a:lvl7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7pPr>
            <a:lvl8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8pPr>
            <a:lvl9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61616"/>
                </a:solidFill>
                <a:latin typeface="Arial"/>
                <a:ea typeface="Arial"/>
                <a:cs typeface="Arial"/>
              </a:rPr>
              <a:t>The experiment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A050F5-3872-4CB9-A603-A2C7B74E5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81175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F62FE"/>
                </a:solidFill>
                <a:latin typeface="Arial"/>
                <a:ea typeface="Arial"/>
                <a:cs typeface="Arial"/>
              </a:rPr>
              <a:t>Circuit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51008E-9D6F-4102-9A5C-D9317A4B4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4762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9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5 qubits in a chain, with 8 CZ entangling gates.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A040E8-EF6D-48C4-89D0-7B6B52966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781175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F62FE"/>
                </a:solidFill>
                <a:latin typeface="Arial"/>
                <a:ea typeface="Arial"/>
                <a:cs typeface="Arial"/>
              </a:rPr>
              <a:t>Measurement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A69195-EB08-4BD4-9FB9-AF4EE3072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152650"/>
            <a:ext cx="4762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9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Average X value of the center qubit.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8A72C4-0408-45CC-8101-77AE6D2C9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76625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F62FE"/>
                </a:solidFill>
                <a:latin typeface="Arial"/>
                <a:ea typeface="Arial"/>
                <a:cs typeface="Arial"/>
              </a:rPr>
              <a:t>Comparison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44AA42-FCE4-4951-9371-51892BFDB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48100"/>
            <a:ext cx="4762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Ideal simulation vs. simulated noisy circuit, then full PNA vs. SLC-selected PNA.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43198B-307E-4DDD-9F83-A980E1047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476625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F62FE"/>
                </a:solidFill>
                <a:latin typeface="Arial"/>
                <a:ea typeface="Arial"/>
                <a:cs typeface="Arial"/>
              </a:rPr>
              <a:t>Noise levels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D5E95F-84B3-49BA-803E-F541DD9C0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848100"/>
            <a:ext cx="476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0.5×, 1× and 2× the same modeled error rates.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9B8D76-C5CA-46EE-95C3-70DED9D99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72100"/>
            <a:ext cx="1038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5252"/>
                </a:solidFill>
                <a:latin typeface="Arial"/>
                <a:ea typeface="Arial"/>
                <a:cs typeface="Arial"/>
              </a:rPr>
              <a:t>State fidelity is calculated directly from the simulator’s density matrix.</a:t>
            </a:r>
          </a:p>
        </p:txBody>
      </p:sp>
    </p:spTree>
    <p:extLst>
      <p:ext uri="{BB962C8B-B14F-4D97-AF65-F5344CB8AC3E}">
        <p14:creationId xmlns:p14="http://schemas.microsoft.com/office/powerpoint/2010/main" val="138955369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FA2A50-6A97-4320-8CA1-5275CBA02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F62FE"/>
                </a:solidFill>
                <a:latin typeface="Arial"/>
                <a:ea typeface="Arial"/>
                <a:cs typeface="Arial"/>
              </a:rPr>
              <a:t>QISKIT FALL FEST 2026 · TRACK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6E62D1-0164-4113-AD21-C178AA6C0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81050"/>
            <a:ext cx="108966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  <a:lvl1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  <a:lvl2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2pPr>
            <a:lvl3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3pPr>
            <a:lvl4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4pPr>
            <a:lvl5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5pPr>
            <a:lvl6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6pPr>
            <a:lvl7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7pPr>
            <a:lvl8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8pPr>
            <a:lvl9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61616"/>
                </a:solidFill>
                <a:latin typeface="Arial"/>
                <a:ea typeface="Arial"/>
                <a:cs typeface="Arial"/>
              </a:rPr>
              <a:t>How the tools fit together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2636CD-80BE-4907-91B0-603399019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304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F62FE"/>
                </a:solidFill>
                <a:latin typeface="Arial"/>
                <a:ea typeface="Arial"/>
                <a:cs typeface="Arial"/>
              </a:rPr>
              <a:t>1  Estimate errors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28393B-31DD-4DC0-B47F-C96AF486B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752600"/>
            <a:ext cx="7429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Use a known, simulated calibration model for this local experiment.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35CA1A-557A-472D-8B86-333F5BB1C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09825"/>
            <a:ext cx="304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9D9A"/>
                </a:solidFill>
                <a:latin typeface="Arial"/>
                <a:ea typeface="Arial"/>
                <a:cs typeface="Arial"/>
              </a:rPr>
              <a:t>2  Focus the work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AFF981-7842-4C81-AC77-CEF88DC2D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409825"/>
            <a:ext cx="7429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SLC ranks errors by how much they can affect the chosen measurement.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7C895A-ACE1-4716-8D9A-DB4AE882E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67050"/>
            <a:ext cx="304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8A3FFC"/>
                </a:solidFill>
                <a:latin typeface="Arial"/>
                <a:ea typeface="Arial"/>
                <a:cs typeface="Arial"/>
              </a:rPr>
              <a:t>3  Correct the result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8FBBAB-C40A-4A58-92F0-9731C3483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067050"/>
            <a:ext cx="7429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PNA folds the modeled correction into the measured quantity.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7F1033-8F1A-4231-9CF4-21DCF2358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19550"/>
            <a:ext cx="619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9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61616"/>
                </a:solidFill>
                <a:latin typeface="Arial"/>
                <a:ea typeface="Arial"/>
                <a:cs typeface="Arial"/>
              </a:rPr>
              <a:t>Why not NoiseLearnerV3 here?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FAA58B-885A-4A4E-A932-4E0CADF1C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0"/>
            <a:ext cx="10287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5252"/>
                </a:solidFill>
                <a:latin typeface="Arial"/>
                <a:ea typeface="Arial"/>
                <a:cs typeface="Arial"/>
              </a:rPr>
              <a:t>Its official workflow submits learning jobs to IBM Quantum. No IBM account is configured on this computer, so local rates are simulated inputs, not hardware measurements.</a:t>
            </a:r>
          </a:p>
        </p:txBody>
      </p:sp>
    </p:spTree>
    <p:extLst>
      <p:ext uri="{BB962C8B-B14F-4D97-AF65-F5344CB8AC3E}">
        <p14:creationId xmlns:p14="http://schemas.microsoft.com/office/powerpoint/2010/main" val="200440782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824125-00E5-4E26-9683-B63EBED3A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F62FE"/>
                </a:solidFill>
                <a:latin typeface="Arial"/>
                <a:ea typeface="Arial"/>
                <a:cs typeface="Arial"/>
              </a:rPr>
              <a:t>QISKIT FALL FEST 2026 · TRACK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3CABAE-7597-490C-B04C-27912E6F8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81050"/>
            <a:ext cx="108966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  <a:lvl1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  <a:lvl2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2pPr>
            <a:lvl3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3pPr>
            <a:lvl4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4pPr>
            <a:lvl5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5pPr>
            <a:lvl6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6pPr>
            <a:lvl7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7pPr>
            <a:lvl8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8pPr>
            <a:lvl9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61616"/>
                </a:solidFill>
                <a:latin typeface="Arial"/>
                <a:ea typeface="Arial"/>
                <a:cs typeface="Arial"/>
              </a:rPr>
              <a:t>SLC reduced the error model</a:t>
            </a:r>
          </a:p>
        </p:txBody>
      </p:sp>
      <p:graphicFrame>
        <p:nvGraphicFramePr>
          <p:cNvPr id="3" name="Chart">
            <a:extLst xmlns:a="http://schemas.openxmlformats.org/drawingml/2006/main">
              <a:ext uri="{FF2B5EF4-FFF2-40B4-BE49-F238E27FC236}">
                <a16:creationId xmlns:a16="http://schemas.microsoft.com/office/drawing/2014/main" id="{5CE0CEAD-AFC2-4FEF-900B-5C6E4535B444}"/>
              </a:ext>
            </a:extLst>
          </p:cNvPr>
          <p:cNvGraphicFramePr/>
          <p:nvPr/>
        </p:nvGraphicFramePr>
        <p:xfrm>
          <a:off xmlns:a="http://schemas.openxmlformats.org/drawingml/2006/main" x="666750" y="1809750"/>
          <a:ext xmlns:a="http://schemas.openxmlformats.org/drawingml/2006/main" cx="6667500" cy="3810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fb866b760bb40c3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598065-DCC2-4C14-9D81-6BD4E358C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190750"/>
            <a:ext cx="2286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45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defPPr>
            <a:lvl1pPr algn="l">
              <a:defRPr sz="45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1pPr>
            <a:lvl2pPr algn="l">
              <a:defRPr sz="45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2pPr>
            <a:lvl3pPr algn="l">
              <a:defRPr sz="45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3pPr>
            <a:lvl4pPr algn="l">
              <a:defRPr sz="45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4pPr>
            <a:lvl5pPr algn="l">
              <a:defRPr sz="45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5pPr>
            <a:lvl6pPr algn="l">
              <a:defRPr sz="45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6pPr>
            <a:lvl7pPr algn="l">
              <a:defRPr sz="45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7pPr>
            <a:lvl8pPr algn="l">
              <a:defRPr sz="45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8pPr>
            <a:lvl9pPr algn="l">
              <a:defRPr sz="45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45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0F62FE"/>
                </a:solidFill>
                <a:latin typeface="Arial"/>
                <a:ea typeface="Arial"/>
                <a:cs typeface="Arial"/>
              </a:rPr>
              <a:t>32%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C2D93B-5E0F-4626-93CF-993E150A6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952750"/>
            <a:ext cx="3000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fewer modeled error terms at 1× noise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B1C75D-63EB-41BB-A950-04FC42EB1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3857625"/>
            <a:ext cx="2286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4500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defPPr>
            <a:lvl1pPr algn="l">
              <a:defRPr sz="4500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1pPr>
            <a:lvl2pPr algn="l">
              <a:defRPr sz="4500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2pPr>
            <a:lvl3pPr algn="l">
              <a:defRPr sz="4500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3pPr>
            <a:lvl4pPr algn="l">
              <a:defRPr sz="4500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4pPr>
            <a:lvl5pPr algn="l">
              <a:defRPr sz="4500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5pPr>
            <a:lvl6pPr algn="l">
              <a:defRPr sz="4500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6pPr>
            <a:lvl7pPr algn="l">
              <a:defRPr sz="4500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7pPr>
            <a:lvl8pPr algn="l">
              <a:defRPr sz="4500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8pPr>
            <a:lvl9pPr algn="l">
              <a:defRPr sz="4500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4500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009D9A"/>
                </a:solidFill>
                <a:latin typeface="Arial"/>
                <a:ea typeface="Arial"/>
                <a:cs typeface="Arial"/>
              </a:rPr>
              <a:t>12%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9E13B9-D266-47EA-86CD-1A94F3AE4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4619625"/>
            <a:ext cx="3000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less PNA setup time in this small run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375760-4D56-4C79-81F2-2128F65AC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57875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5252"/>
                </a:solidFill>
                <a:latin typeface="Arial"/>
                <a:ea typeface="Arial"/>
                <a:cs typeface="Arial"/>
              </a:rPr>
              <a:t>At 1× noise, the SLC bias bound was 0.046 (under the 0.05 limit we set).</a:t>
            </a:r>
          </a:p>
        </p:txBody>
      </p:sp>
    </p:spTree>
    <p:extLst>
      <p:ext uri="{BB962C8B-B14F-4D97-AF65-F5344CB8AC3E}">
        <p14:creationId xmlns:p14="http://schemas.microsoft.com/office/powerpoint/2010/main" val="72709993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CB9378-550C-40B5-AB60-6416C7329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F62FE"/>
                </a:solidFill>
                <a:latin typeface="Arial"/>
                <a:ea typeface="Arial"/>
                <a:cs typeface="Arial"/>
              </a:rPr>
              <a:t>QISKIT FALL FEST 2026 · TRACK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ED3156-4401-4273-9292-82528CD30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81050"/>
            <a:ext cx="108966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  <a:lvl1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  <a:lvl2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2pPr>
            <a:lvl3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3pPr>
            <a:lvl4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4pPr>
            <a:lvl5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5pPr>
            <a:lvl6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6pPr>
            <a:lvl7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7pPr>
            <a:lvl8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8pPr>
            <a:lvl9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61616"/>
                </a:solidFill>
                <a:latin typeface="Arial"/>
                <a:ea typeface="Arial"/>
                <a:cs typeface="Arial"/>
              </a:rPr>
              <a:t>PNA recovered the measured value</a:t>
            </a:r>
          </a:p>
        </p:txBody>
      </p:sp>
      <p:graphicFrame>
        <p:nvGraphicFramePr>
          <p:cNvPr id="3" name="Chart">
            <a:extLst xmlns:a="http://schemas.openxmlformats.org/drawingml/2006/main">
              <a:ext uri="{FF2B5EF4-FFF2-40B4-BE49-F238E27FC236}">
                <a16:creationId xmlns:a16="http://schemas.microsoft.com/office/drawing/2014/main" id="{094248E7-EA98-4A88-89C6-DD2952056520}"/>
              </a:ext>
            </a:extLst>
          </p:cNvPr>
          <p:cNvGraphicFramePr/>
          <p:nvPr/>
        </p:nvGraphicFramePr>
        <p:xfrm>
          <a:off xmlns:a="http://schemas.openxmlformats.org/drawingml/2006/main" x="609600" y="1695450"/>
          <a:ext xmlns:a="http://schemas.openxmlformats.org/drawingml/2006/main" cx="7620000" cy="4191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b7f93ea8da741e6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D730A1-1E99-4DC6-AA87-1B0BDF11D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13360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525252"/>
                </a:solidFill>
                <a:latin typeface="Arial"/>
                <a:ea typeface="Arial"/>
                <a:cs typeface="Arial"/>
              </a:rPr>
              <a:t>At 1× noise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DC72F3-317C-4818-B7F5-CB8BAFD71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600325"/>
            <a:ext cx="219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FF832B"/>
                </a:solidFill>
                <a:latin typeface="Arial"/>
                <a:ea typeface="Arial"/>
                <a:cs typeface="Arial"/>
              </a:defRPr>
            </a:defPPr>
            <a:lvl1pPr algn="l">
              <a:defRPr sz="3150" b="1">
                <a:solidFill>
                  <a:srgbClr val="FF832B"/>
                </a:solidFill>
                <a:latin typeface="Arial"/>
                <a:ea typeface="Arial"/>
                <a:cs typeface="Arial"/>
              </a:defRPr>
            </a:lvl1pPr>
            <a:lvl2pPr algn="l">
              <a:defRPr sz="3150" b="1">
                <a:solidFill>
                  <a:srgbClr val="FF832B"/>
                </a:solidFill>
                <a:latin typeface="Arial"/>
                <a:ea typeface="Arial"/>
                <a:cs typeface="Arial"/>
              </a:defRPr>
            </a:lvl2pPr>
            <a:lvl3pPr algn="l">
              <a:defRPr sz="3150" b="1">
                <a:solidFill>
                  <a:srgbClr val="FF832B"/>
                </a:solidFill>
                <a:latin typeface="Arial"/>
                <a:ea typeface="Arial"/>
                <a:cs typeface="Arial"/>
              </a:defRPr>
            </a:lvl3pPr>
            <a:lvl4pPr algn="l">
              <a:defRPr sz="3150" b="1">
                <a:solidFill>
                  <a:srgbClr val="FF832B"/>
                </a:solidFill>
                <a:latin typeface="Arial"/>
                <a:ea typeface="Arial"/>
                <a:cs typeface="Arial"/>
              </a:defRPr>
            </a:lvl4pPr>
            <a:lvl5pPr algn="l">
              <a:defRPr sz="3150" b="1">
                <a:solidFill>
                  <a:srgbClr val="FF832B"/>
                </a:solidFill>
                <a:latin typeface="Arial"/>
                <a:ea typeface="Arial"/>
                <a:cs typeface="Arial"/>
              </a:defRPr>
            </a:lvl5pPr>
            <a:lvl6pPr algn="l">
              <a:defRPr sz="3150" b="1">
                <a:solidFill>
                  <a:srgbClr val="FF832B"/>
                </a:solidFill>
                <a:latin typeface="Arial"/>
                <a:ea typeface="Arial"/>
                <a:cs typeface="Arial"/>
              </a:defRPr>
            </a:lvl6pPr>
            <a:lvl7pPr algn="l">
              <a:defRPr sz="3150" b="1">
                <a:solidFill>
                  <a:srgbClr val="FF832B"/>
                </a:solidFill>
                <a:latin typeface="Arial"/>
                <a:ea typeface="Arial"/>
                <a:cs typeface="Arial"/>
              </a:defRPr>
            </a:lvl7pPr>
            <a:lvl8pPr algn="l">
              <a:defRPr sz="3150" b="1">
                <a:solidFill>
                  <a:srgbClr val="FF832B"/>
                </a:solidFill>
                <a:latin typeface="Arial"/>
                <a:ea typeface="Arial"/>
                <a:cs typeface="Arial"/>
              </a:defRPr>
            </a:lvl8pPr>
            <a:lvl9pPr algn="l">
              <a:defRPr sz="3150" b="1">
                <a:solidFill>
                  <a:srgbClr val="FF83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FF832B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F832B"/>
                </a:solidFill>
                <a:latin typeface="Arial"/>
                <a:ea typeface="Arial"/>
                <a:cs typeface="Arial"/>
              </a:rPr>
              <a:t>0.674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B075A1-DCDD-41B9-8E08-D98EEF1C2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114675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5252"/>
                </a:solidFill>
                <a:latin typeface="Arial"/>
                <a:ea typeface="Arial"/>
                <a:cs typeface="Arial"/>
              </a:rPr>
              <a:t>without correction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CBD83D-099D-4000-B91A-094F74E2F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714750"/>
            <a:ext cx="219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defPPr>
            <a:lvl1pPr algn="l">
              <a:defRPr sz="31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1pPr>
            <a:lvl2pPr algn="l">
              <a:defRPr sz="31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2pPr>
            <a:lvl3pPr algn="l">
              <a:defRPr sz="31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3pPr>
            <a:lvl4pPr algn="l">
              <a:defRPr sz="31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4pPr>
            <a:lvl5pPr algn="l">
              <a:defRPr sz="31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5pPr>
            <a:lvl6pPr algn="l">
              <a:defRPr sz="31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6pPr>
            <a:lvl7pPr algn="l">
              <a:defRPr sz="31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7pPr>
            <a:lvl8pPr algn="l">
              <a:defRPr sz="31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8pPr>
            <a:lvl9pPr algn="l">
              <a:defRPr sz="31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F62FE"/>
                </a:solidFill>
                <a:latin typeface="Arial"/>
                <a:ea typeface="Arial"/>
                <a:cs typeface="Arial"/>
              </a:rPr>
              <a:t>0.954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695369-8151-43E2-BF03-3EF2CB0C0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2291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5252"/>
                </a:solidFill>
                <a:latin typeface="Arial"/>
                <a:ea typeface="Arial"/>
                <a:cs typeface="Arial"/>
              </a:rPr>
              <a:t>with full PNA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A73EC1-06E7-4E34-B045-570F62CA2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829175"/>
            <a:ext cx="219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defPPr>
            <a:lvl1pPr algn="l">
              <a:defRPr sz="3150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1pPr>
            <a:lvl2pPr algn="l">
              <a:defRPr sz="3150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2pPr>
            <a:lvl3pPr algn="l">
              <a:defRPr sz="3150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3pPr>
            <a:lvl4pPr algn="l">
              <a:defRPr sz="3150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4pPr>
            <a:lvl5pPr algn="l">
              <a:defRPr sz="3150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5pPr>
            <a:lvl6pPr algn="l">
              <a:defRPr sz="3150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6pPr>
            <a:lvl7pPr algn="l">
              <a:defRPr sz="3150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7pPr>
            <a:lvl8pPr algn="l">
              <a:defRPr sz="3150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8pPr>
            <a:lvl9pPr algn="l">
              <a:defRPr sz="3150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09D9A"/>
                </a:solidFill>
                <a:latin typeface="Arial"/>
                <a:ea typeface="Arial"/>
                <a:cs typeface="Arial"/>
              </a:rPr>
              <a:t>0.938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37982E-CDD7-41FD-B49C-A70E97596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343525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5252"/>
                </a:solidFill>
                <a:latin typeface="Arial"/>
                <a:ea typeface="Arial"/>
                <a:cs typeface="Arial"/>
              </a:rPr>
              <a:t>with SLC + PNA</a:t>
            </a:r>
          </a:p>
        </p:txBody>
      </p:sp>
    </p:spTree>
    <p:extLst>
      <p:ext uri="{BB962C8B-B14F-4D97-AF65-F5344CB8AC3E}">
        <p14:creationId xmlns:p14="http://schemas.microsoft.com/office/powerpoint/2010/main" val="5283167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12571A-6272-41B9-B027-654B70C83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F62FE"/>
                </a:solidFill>
                <a:latin typeface="Arial"/>
                <a:ea typeface="Arial"/>
                <a:cs typeface="Arial"/>
              </a:rPr>
              <a:t>QISKIT FALL FEST 2026 · TRACK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025988-E0DD-4292-8696-64E15F1D1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81050"/>
            <a:ext cx="108966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  <a:lvl1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  <a:lvl2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2pPr>
            <a:lvl3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3pPr>
            <a:lvl4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4pPr>
            <a:lvl5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5pPr>
            <a:lvl6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6pPr>
            <a:lvl7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7pPr>
            <a:lvl8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8pPr>
            <a:lvl9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61616"/>
                </a:solidFill>
                <a:latin typeface="Arial"/>
                <a:ea typeface="Arial"/>
                <a:cs typeface="Arial"/>
              </a:rPr>
              <a:t>More noise lowered state fidelity</a:t>
            </a:r>
          </a:p>
        </p:txBody>
      </p:sp>
      <p:graphicFrame>
        <p:nvGraphicFramePr>
          <p:cNvPr id="3" name="Chart">
            <a:extLst xmlns:a="http://schemas.openxmlformats.org/drawingml/2006/main">
              <a:ext uri="{FF2B5EF4-FFF2-40B4-BE49-F238E27FC236}">
                <a16:creationId xmlns:a16="http://schemas.microsoft.com/office/drawing/2014/main" id="{3D1A3790-B067-464B-914B-2DDB128037D1}"/>
              </a:ext>
            </a:extLst>
          </p:cNvPr>
          <p:cNvGraphicFramePr/>
          <p:nvPr/>
        </p:nvGraphicFramePr>
        <p:xfrm>
          <a:off xmlns:a="http://schemas.openxmlformats.org/drawingml/2006/main" x="714375" y="1762125"/>
          <a:ext xmlns:a="http://schemas.openxmlformats.org/drawingml/2006/main" cx="7048500" cy="3905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a22e771661249bf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C3C37C-DA5F-4718-B787-B6F1BD0D8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381250"/>
            <a:ext cx="2476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37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defPPr>
            <a:lvl1pPr algn="l">
              <a:defRPr sz="337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lvl1pPr>
            <a:lvl2pPr algn="l">
              <a:defRPr sz="337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lvl2pPr>
            <a:lvl3pPr algn="l">
              <a:defRPr sz="337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lvl3pPr>
            <a:lvl4pPr algn="l">
              <a:defRPr sz="337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lvl4pPr>
            <a:lvl5pPr algn="l">
              <a:defRPr sz="337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lvl5pPr>
            <a:lvl6pPr algn="l">
              <a:defRPr sz="337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lvl6pPr>
            <a:lvl7pPr algn="l">
              <a:defRPr sz="337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lvl7pPr>
            <a:lvl8pPr algn="l">
              <a:defRPr sz="337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lvl8pPr>
            <a:lvl9pPr algn="l">
              <a:defRPr sz="337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37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8A3FFC"/>
                </a:solidFill>
                <a:latin typeface="Arial"/>
                <a:ea typeface="Arial"/>
                <a:cs typeface="Arial"/>
              </a:rPr>
              <a:t>0.833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3601F4-CDE5-44A1-9AD5-18E98A020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000375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5252"/>
                </a:solidFill>
                <a:latin typeface="Arial"/>
                <a:ea typeface="Arial"/>
                <a:cs typeface="Arial"/>
              </a:rPr>
              <a:t>at 0.5× noise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4D6B3C-7E10-44DC-AC65-521276C91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943350"/>
            <a:ext cx="2476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37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defPPr>
            <a:lvl1pPr algn="l">
              <a:defRPr sz="337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lvl1pPr>
            <a:lvl2pPr algn="l">
              <a:defRPr sz="337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lvl2pPr>
            <a:lvl3pPr algn="l">
              <a:defRPr sz="337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lvl3pPr>
            <a:lvl4pPr algn="l">
              <a:defRPr sz="337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lvl4pPr>
            <a:lvl5pPr algn="l">
              <a:defRPr sz="337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lvl5pPr>
            <a:lvl6pPr algn="l">
              <a:defRPr sz="337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lvl6pPr>
            <a:lvl7pPr algn="l">
              <a:defRPr sz="337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lvl7pPr>
            <a:lvl8pPr algn="l">
              <a:defRPr sz="337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lvl8pPr>
            <a:lvl9pPr algn="l">
              <a:defRPr sz="337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37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8A3FFC"/>
                </a:solidFill>
                <a:latin typeface="Arial"/>
                <a:ea typeface="Arial"/>
                <a:cs typeface="Arial"/>
              </a:rPr>
              <a:t>0.488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1FC1A6-BEC2-4688-A086-C8B3A442B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562475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5252"/>
                </a:solidFill>
                <a:latin typeface="Arial"/>
                <a:ea typeface="Arial"/>
                <a:cs typeface="Arial"/>
              </a:rPr>
              <a:t>at 2× noise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E86BAC-9CF2-4502-B33C-BDCE5F3EF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92455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5252"/>
                </a:solidFill>
                <a:latin typeface="Arial"/>
                <a:ea typeface="Arial"/>
                <a:cs typeface="Arial"/>
              </a:rPr>
              <a:t>PNA corrects a chosen measurement; it does not rebuild the full quantum state. These are simulator fidelity checks before measurement correction.</a:t>
            </a:r>
          </a:p>
        </p:txBody>
      </p:sp>
    </p:spTree>
    <p:extLst>
      <p:ext uri="{BB962C8B-B14F-4D97-AF65-F5344CB8AC3E}">
        <p14:creationId xmlns:p14="http://schemas.microsoft.com/office/powerpoint/2010/main" val="177628992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3E4CA9-1F82-4967-848A-2330AE5CA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F62FE"/>
                </a:solidFill>
                <a:latin typeface="Arial"/>
                <a:ea typeface="Arial"/>
                <a:cs typeface="Arial"/>
              </a:rPr>
              <a:t>QISKIT FALL FEST 2026 · TRACK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C0E205-9C38-4F32-9A50-CA4CDF04C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81050"/>
            <a:ext cx="108966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  <a:lvl1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  <a:lvl2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2pPr>
            <a:lvl3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3pPr>
            <a:lvl4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4pPr>
            <a:lvl5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5pPr>
            <a:lvl6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6pPr>
            <a:lvl7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7pPr>
            <a:lvl8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8pPr>
            <a:lvl9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61616"/>
                </a:solidFill>
                <a:latin typeface="Arial"/>
                <a:ea typeface="Arial"/>
                <a:cs typeface="Arial"/>
              </a:rPr>
              <a:t>What we learned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BA09ED-4268-4356-AA69-F1C3B4089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295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F62FE"/>
                </a:solidFill>
                <a:latin typeface="Arial"/>
                <a:ea typeface="Arial"/>
                <a:cs typeface="Arial"/>
              </a:rPr>
              <a:t>PNA helped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773DAA-44D4-4EDB-A726-38BCBE483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28850"/>
            <a:ext cx="971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It moved the measured value closer to the ideal result at all three noise levels.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ACC9D2-5AA5-49C6-863F-D72A6CCDD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14700"/>
            <a:ext cx="619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9D9A"/>
                </a:solidFill>
                <a:latin typeface="Arial"/>
                <a:ea typeface="Arial"/>
                <a:cs typeface="Arial"/>
              </a:rPr>
              <a:t>SLC traded a little accuracy for lower cost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450816-8089-44B1-93DB-84A9BC085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81425"/>
            <a:ext cx="9715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It dropped low-impact error terms and lowered the estimated sampling cost, with a small allowed bias.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6FBB5F-F5DB-4C0A-9D9E-C67794034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76800"/>
            <a:ext cx="685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8A3FFC"/>
                </a:solidFill>
                <a:latin typeface="Arial"/>
                <a:ea typeface="Arial"/>
                <a:cs typeface="Arial"/>
              </a:rPr>
              <a:t>Next step for a hardware-ready result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9B60E3-786D-4C87-A8B6-B370785FE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43525"/>
            <a:ext cx="10096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Connect NoiseLearnerV3 to an IBM Quantum backend, then rerun the same workflow with measured rates.</a:t>
            </a:r>
          </a:p>
        </p:txBody>
      </p:sp>
    </p:spTree>
    <p:extLst>
      <p:ext uri="{BB962C8B-B14F-4D97-AF65-F5344CB8AC3E}">
        <p14:creationId xmlns:p14="http://schemas.microsoft.com/office/powerpoint/2010/main" val="29799550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2026-10-31T04:11:12.8540000Z</dcterms:created>
  <dcterms:modified xsi:type="dcterms:W3CDTF">2026-10-31T04:11:12.8540000Z</dcterms:modified>
</coreProperties>
</file>