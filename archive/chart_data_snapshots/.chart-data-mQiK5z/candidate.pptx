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76fb6553a74c81" /><Relationship Type="http://schemas.openxmlformats.org/officeDocument/2006/relationships/extended-properties" Target="/docProps/app.xml" Id="R667afabe95b54410" /><Relationship Type="http://schemas.openxmlformats.org/officeDocument/2006/relationships/officeDocument" Target="/ppt/presentation.xml" Id="R0acd379fdc584e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8956e242184bc7"/>
  </p:sldMasterIdLst>
  <p:notesMasterIdLst>
    <p:notesMasterId xmlns:r="http://schemas.openxmlformats.org/officeDocument/2006/relationships" r:id="Red324ffe2ec643ad"/>
  </p:notesMasterIdLst>
  <p:sldIdLst>
    <p:sldId xmlns:r="http://schemas.openxmlformats.org/officeDocument/2006/relationships" id="256" r:id="Ra5dac76ff7294835"/>
    <p:sldId xmlns:r="http://schemas.openxmlformats.org/officeDocument/2006/relationships" id="257" r:id="R49028a4ad1114528"/>
    <p:sldId xmlns:r="http://schemas.openxmlformats.org/officeDocument/2006/relationships" id="258" r:id="R941f4b6670064d2e"/>
    <p:sldId xmlns:r="http://schemas.openxmlformats.org/officeDocument/2006/relationships" id="259" r:id="Ra666be8e9a484f00"/>
    <p:sldId xmlns:r="http://schemas.openxmlformats.org/officeDocument/2006/relationships" id="260" r:id="R0e41dfb9f4b84069"/>
    <p:sldId xmlns:r="http://schemas.openxmlformats.org/officeDocument/2006/relationships" id="261" r:id="R0975ff92cf624816"/>
    <p:sldId xmlns:r="http://schemas.openxmlformats.org/officeDocument/2006/relationships" id="262" r:id="Rcbfc52408bdc4b0b"/>
    <p:sldId xmlns:r="http://schemas.openxmlformats.org/officeDocument/2006/relationships" id="263" r:id="R42a4039287dc4c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b3bb23c48c4f46" /><Relationship Type="http://schemas.openxmlformats.org/officeDocument/2006/relationships/slideMaster" Target="/ppt/slideMasters/slideMaster1.xml" Id="Rea8956e242184bc7" /><Relationship Type="http://schemas.openxmlformats.org/officeDocument/2006/relationships/notesMaster" Target="/ppt/notesMasters/notesMaster1.xml" Id="Red324ffe2ec643ad" /><Relationship Type="http://schemas.openxmlformats.org/officeDocument/2006/relationships/presProps" Target="/ppt/presProps.xml" Id="R8467fce991a7460e" /><Relationship Type="http://schemas.openxmlformats.org/officeDocument/2006/relationships/tableStyles" Target="/ppt/tableStyles.xml" Id="R54a0621f982543d6" /><Relationship Type="http://schemas.openxmlformats.org/officeDocument/2006/relationships/slide" Target="/ppt/slides/slide1.xml" Id="Ra5dac76ff7294835" /><Relationship Type="http://schemas.openxmlformats.org/officeDocument/2006/relationships/slide" Target="/ppt/slides/slide2.xml" Id="R49028a4ad1114528" /><Relationship Type="http://schemas.openxmlformats.org/officeDocument/2006/relationships/slide" Target="/ppt/slides/slide3.xml" Id="R941f4b6670064d2e" /><Relationship Type="http://schemas.openxmlformats.org/officeDocument/2006/relationships/slide" Target="/ppt/slides/slide4.xml" Id="Ra666be8e9a484f00" /><Relationship Type="http://schemas.openxmlformats.org/officeDocument/2006/relationships/slide" Target="/ppt/slides/slide5.xml" Id="R0e41dfb9f4b84069" /><Relationship Type="http://schemas.openxmlformats.org/officeDocument/2006/relationships/slide" Target="/ppt/slides/slide6.xml" Id="R0975ff92cf624816" /><Relationship Type="http://schemas.openxmlformats.org/officeDocument/2006/relationships/slide" Target="/ppt/slides/slide7.xml" Id="Rcbfc52408bdc4b0b" /><Relationship Type="http://schemas.openxmlformats.org/officeDocument/2006/relationships/slide" Target="/ppt/slides/slide8.xml" Id="R42a4039287dc4c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cf39601cf94a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7865972b184505" /><Relationship Type="http://schemas.openxmlformats.org/officeDocument/2006/relationships/notesMaster" Target="/ppt/notesMasters/notesMaster1.xml" Id="R5b8512ca2d4f4b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c6c5813e524c2d" /><Relationship Type="http://schemas.openxmlformats.org/officeDocument/2006/relationships/notesMaster" Target="/ppt/notesMasters/notesMaster1.xml" Id="Rd7b280b1fb3448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824b49e98a4503" /><Relationship Type="http://schemas.openxmlformats.org/officeDocument/2006/relationships/notesMaster" Target="/ppt/notesMasters/notesMaster1.xml" Id="R8ed25353300248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0bc4a7acce4bb4" /><Relationship Type="http://schemas.openxmlformats.org/officeDocument/2006/relationships/notesMaster" Target="/ppt/notesMasters/notesMaster1.xml" Id="R8abb58424cb24f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19198cef4f4c38" /><Relationship Type="http://schemas.openxmlformats.org/officeDocument/2006/relationships/notesMaster" Target="/ppt/notesMasters/notesMaster1.xml" Id="Refabef547be644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b246a02f5645bb" /><Relationship Type="http://schemas.openxmlformats.org/officeDocument/2006/relationships/notesMaster" Target="/ppt/notesMasters/notesMaster1.xml" Id="Rd4b508a3fbca43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2ce6d8ca8e4863" /><Relationship Type="http://schemas.openxmlformats.org/officeDocument/2006/relationships/notesMaster" Target="/ppt/notesMasters/notesMaster1.xml" Id="R016dd834fd0849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f6cf43cbf540fd" /><Relationship Type="http://schemas.openxmlformats.org/officeDocument/2006/relationships/notesMaster" Target="/ppt/notesMasters/notesMaster1.xml" Id="Ra4963330716c43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built a small simulation to see whether error-mitigation tools can recover a useful measurement after noise is added. The assignment asks for SLC, NoiseLearnerV3, and PNA. This deck states clearly where the local simulator uses synthetic calibration rates in place of a hardware noise-learning job.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explanation simple: the project does not require the audience to know quantum mechanics. A measurement is an average from repeated simulated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center-qubit X measurement is the quantity that PNA corrects. We also calculate exact state fidelity from the simulator's density matrix as a separate measure of how much the whole state was 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SLC assigns importance to candidate Pauli error terms and can trade a bounded bias for lower sampling cost. PNA propagates the inverse of learned noise into an observable. The official NoiseLearnerV3 accepts an IBM Quantum backend/service job; IBM documents that it has no local fake-backend mode. Sources: https://qiskit.github.io/qiskit-addon-slc/guides/quickstart.html ; https://qiskit.github.io/qiskit-addon-pna/tutorials/01_generate_noise_mitigating_observable.html ; https://quantum.cloud.ibm.com/docs/en/guides/migrate-to-client-side-primitives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the middle noise setting, the learned model included 78 candidate error terms. SLC kept 53 for mitigation and set a bounded bias limit of 0.05. This reduced local PNA preprocessing from about 1.29 seconds to 1.13 seconds. The sampling-cost estimate fell from about 2.61 to 1.92.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ideal value is about 0.971. At 1× noise, the uncorrected value fell to 0.674. Full PNA brought it to 0.954; SLC-selected PNA brought it to 0.938. SLC saves work but can leave more bias, which is the intended tradeoff.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ideal-state fidelity projector is the observable |psi&gt;&lt;psi| for the noiseless output. We run PNA on that projector, then evaluate it exactly against the noisy density matrix as a local simulation metric. At 1x noise, raw state fidelity is 0.695 and the full-PNA estimate is 1.005. Because PNA uses a truncated approximate correction, the estimate can exceed the physical maximum of one. Treat it as near ideal, not as a literal fidelity over 1. SLC is applied to the center-X observable workflow on the previous slides; this full projector-fidelity estimate uses full PNA.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local results show the algorithmic flow but are not hardware results because calibration rates are synthetic. The official assignment asks for NoiseLearnerV3 and a simulated noisy backend; official documentation says NoiseLearnerV3 does not have a local testing mode. If an IBM Quantum account and backend become available, replace the synthetic model with the output of the official noise learner. Source: https://quantum.cloud.ibm.com/docs/en/guides/migrate-to-client-side-primitives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9c4aefac3d425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58fd0ff06d40e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aa54189944475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55fa57ccb1478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5926db333a450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1af76d6fe743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868087-B278-4672-BB90-1B63C857E6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C75B761-6D11-41CC-BF20-6B169A14E66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1CE4FC1-7B7D-4D02-BB5A-E0F47B8EC6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100D19-635E-4650-9D5A-C7E9DB904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2333E0C-5348-428E-8393-62D2B9A04F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336CFF5-A966-4BF2-9EC0-3A7A08B128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04C2DA-5862-4846-920D-A6D5E8A6C1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775B0EE-94CA-4424-8F1D-B127E151FC5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E0A604-FCFF-48AA-96C1-06D8AEF4C4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8278E1-E58E-4894-831F-F268A42919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baca1e27714f9c" /><Relationship Type="http://schemas.openxmlformats.org/officeDocument/2006/relationships/slideLayout" Target="/ppt/slideLayouts/slideLayout1.xml" Id="R1bd1d8159a554002" /><Relationship Type="http://schemas.openxmlformats.org/officeDocument/2006/relationships/slideLayout" Target="/ppt/slideLayouts/slideLayout2.xml" Id="R1dcdbd5a85134c7e" /><Relationship Type="http://schemas.openxmlformats.org/officeDocument/2006/relationships/slideLayout" Target="/ppt/slideLayouts/slideLayout3.xml" Id="R2971916a265d4b48" /><Relationship Type="http://schemas.openxmlformats.org/officeDocument/2006/relationships/slideLayout" Target="/ppt/slideLayouts/slideLayout4.xml" Id="R3f510fd581804ecf" /><Relationship Type="http://schemas.openxmlformats.org/officeDocument/2006/relationships/slideLayout" Target="/ppt/slideLayouts/slideLayout5.xml" Id="R9202bd7d141d4280" /><Relationship Type="http://schemas.openxmlformats.org/officeDocument/2006/relationships/slideLayout" Target="/ppt/slideLayouts/slideLayout6.xml" Id="Rc433ab2c9f224f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d1d8159a554002"/>
    <p:sldLayoutId xmlns:r="http://schemas.openxmlformats.org/officeDocument/2006/relationships" id="2147483650" r:id="R1dcdbd5a85134c7e"/>
    <p:sldLayoutId xmlns:r="http://schemas.openxmlformats.org/officeDocument/2006/relationships" id="2147483651" r:id="R2971916a265d4b48"/>
    <p:sldLayoutId xmlns:r="http://schemas.openxmlformats.org/officeDocument/2006/relationships" id="2147483652" r:id="R3f510fd581804ecf"/>
    <p:sldLayoutId xmlns:r="http://schemas.openxmlformats.org/officeDocument/2006/relationships" id="2147483653" r:id="R9202bd7d141d4280"/>
    <p:sldLayoutId xmlns:r="http://schemas.openxmlformats.org/officeDocument/2006/relationships" id="2147483654" r:id="Rc433ab2c9f224f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d9a34a09f34213" /><Relationship Type="http://schemas.openxmlformats.org/officeDocument/2006/relationships/notesSlide" Target="/ppt/notesSlides/notesSlide1.xml" Id="R1ec661c2fd0449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0d7ba0a121472e" /><Relationship Type="http://schemas.openxmlformats.org/officeDocument/2006/relationships/notesSlide" Target="/ppt/notesSlides/notesSlide2.xml" Id="R425ae8ae862c4e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d7306a6d684dce" /><Relationship Type="http://schemas.openxmlformats.org/officeDocument/2006/relationships/notesSlide" Target="/ppt/notesSlides/notesSlide3.xml" Id="R49af2e89537244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64ca608efb4608" /><Relationship Type="http://schemas.openxmlformats.org/officeDocument/2006/relationships/notesSlide" Target="/ppt/notesSlides/notesSlide4.xml" Id="Rd35443f388b746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e4a82d17344fc9" /><Relationship Type="http://schemas.openxmlformats.org/officeDocument/2006/relationships/chart" Target="/ppt/slides/charts/chart1.xml" Id="R1847ac202fd54f6c" /><Relationship Type="http://schemas.openxmlformats.org/officeDocument/2006/relationships/notesSlide" Target="/ppt/notesSlides/notesSlide5.xml" Id="R0b6e055a904b44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695db6e9d5407c" /><Relationship Type="http://schemas.openxmlformats.org/officeDocument/2006/relationships/chart" Target="/ppt/slides/charts/chart2.xml" Id="R1e42d956e2a94a59" /><Relationship Type="http://schemas.openxmlformats.org/officeDocument/2006/relationships/notesSlide" Target="/ppt/notesSlides/notesSlide6.xml" Id="R582983d1b3334b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1ec8a3ec174ce4" /><Relationship Type="http://schemas.openxmlformats.org/officeDocument/2006/relationships/chart" Target="/ppt/slides/charts/chart3.xml" Id="R1f5e42c5d1fb428a" /><Relationship Type="http://schemas.openxmlformats.org/officeDocument/2006/relationships/notesSlide" Target="/ppt/notesSlides/notesSlide7.xml" Id="Ra154c483ce444c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4d1e8765cc4cfa" /><Relationship Type="http://schemas.openxmlformats.org/officeDocument/2006/relationships/notesSlide" Target="/ppt/notesSlides/notesSlide8.xml" Id="Rd0fa76cb9c5044f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Error terms retained for PNA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Full model</c:v>
          </c:tx>
          <c:spPr>
            <a:solidFill xmlns:a="http://schemas.openxmlformats.org/drawingml/2006/main">
              <a:srgbClr val="525252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78</c:v>
                </c:pt>
                <c:pt idx="1">
                  <c:v>78</c:v>
                </c:pt>
                <c:pt idx="2">
                  <c:v>78</c:v>
                </c:pt>
              </c:numCache>
            </c:numRef>
          </c:val>
        </c:ser>
        <c:ser>
          <c:idx val="1"/>
          <c:order val="1"/>
          <c:tx>
            <c:v>After SLC</c:v>
          </c:tx>
          <c:spPr>
            <a:solidFill xmlns:a="http://schemas.openxmlformats.org/drawingml/2006/main">
              <a:srgbClr val="0F62FE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47</c:v>
                </c:pt>
                <c:pt idx="1">
                  <c:v>52</c:v>
                </c:pt>
                <c:pt idx="2">
                  <c:v>56</c:v>
                </c:pt>
              </c:numCache>
            </c:numRef>
          </c:val>
        </c:ser>
        <c:dLbls>
          <c:delete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Center-qubit X expectation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Ideal</c:v>
          </c:tx>
          <c:spPr>
            <a:solidFill xmlns:a="http://schemas.openxmlformats.org/drawingml/2006/main">
              <a:srgbClr val="525252"/>
            </a:solidFill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0.981</c:v>
                </c:pt>
                <c:pt idx="1">
                  <c:v>0.981</c:v>
                </c:pt>
                <c:pt idx="2">
                  <c:v>0.981</c:v>
                </c:pt>
              </c:numCache>
            </c:numRef>
          </c:val>
          <c:smooth val="0"/>
        </c:ser>
        <c:ser>
          <c:idx val="1"/>
          <c:order val="1"/>
          <c:tx>
            <c:v>Noisy</c:v>
          </c:tx>
          <c:spPr>
            <a:solidFill xmlns:a="http://schemas.openxmlformats.org/drawingml/2006/main">
              <a:srgbClr val="FF832B"/>
            </a:solidFill>
          </c:spPr>
          <c:marker>
            <c:symbol val="none"/>
          </c:marker>
          <c:cat>
            <c:strRef>
              <c:f>'Chart Data'!$C$2:$C$4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0.818</c:v>
                </c:pt>
                <c:pt idx="1">
                  <c:v>0.687</c:v>
                </c:pt>
                <c:pt idx="2">
                  <c:v>0.482</c:v>
                </c:pt>
              </c:numCache>
            </c:numRef>
          </c:val>
          <c:smooth val="0"/>
        </c:ser>
        <c:ser>
          <c:idx val="2"/>
          <c:order val="2"/>
          <c:tx>
            <c:v>Full PNA</c:v>
          </c:tx>
          <c:spPr>
            <a:solidFill xmlns:a="http://schemas.openxmlformats.org/drawingml/2006/main">
              <a:srgbClr val="0F62FE"/>
            </a:solidFill>
          </c:spPr>
          <c:marker>
            <c:symbol val="none"/>
          </c:marker>
          <c:cat>
            <c:strRef>
              <c:f>'Chart Data'!$E$2:$E$4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0.969</c:v>
                </c:pt>
                <c:pt idx="1">
                  <c:v>0.977</c:v>
                </c:pt>
                <c:pt idx="2">
                  <c:v>0.953</c:v>
                </c:pt>
              </c:numCache>
            </c:numRef>
          </c:val>
          <c:smooth val="0"/>
        </c:ser>
        <c:ser>
          <c:idx val="3"/>
          <c:order val="3"/>
          <c:tx>
            <c:v>SLC + PNA</c:v>
          </c:tx>
          <c:spPr>
            <a:solidFill xmlns:a="http://schemas.openxmlformats.org/drawingml/2006/main">
              <a:srgbClr val="009D9A"/>
            </a:solidFill>
          </c:spPr>
          <c:marker>
            <c:symbol val="none"/>
          </c:marker>
          <c:cat>
            <c:strRef>
              <c:f>'Chart Data'!$G$2:$G$4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Data'!$H$2:$H$4</c:f>
              <c:numCache>
                <c:formatCode>General</c:formatCode>
                <c:ptCount val="3"/>
                <c:pt idx="0">
                  <c:v>0.946</c:v>
                </c:pt>
                <c:pt idx="1">
                  <c:v>0.962</c:v>
                </c:pt>
                <c:pt idx="2">
                  <c:v>0.966</c:v>
                </c:pt>
              </c:numCache>
            </c:numRef>
          </c:val>
          <c:smooth val="0"/>
        </c:ser>
        <c:dLbls>
          <c:delete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Ideal-state fidelity by noise strength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Ideal</c:v>
          </c:tx>
          <c:spPr>
            <a:solidFill xmlns:a="http://schemas.openxmlformats.org/drawingml/2006/main">
              <a:srgbClr val="525252"/>
            </a:solidFill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v>Noisy state</c:v>
          </c:tx>
          <c:spPr>
            <a:solidFill xmlns:a="http://schemas.openxmlformats.org/drawingml/2006/main">
              <a:srgbClr val="8A3FFC"/>
            </a:solidFill>
          </c:spPr>
          <c:marker>
            <c:symbol val="none"/>
          </c:marker>
          <c:cat>
            <c:strRef>
              <c:f>'Chart Data'!$C$2:$C$4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0.833</c:v>
                </c:pt>
                <c:pt idx="1">
                  <c:v>0.695</c:v>
                </c:pt>
                <c:pt idx="2">
                  <c:v>0.488</c:v>
                </c:pt>
              </c:numCache>
            </c:numRef>
          </c:val>
          <c:smooth val="0"/>
        </c:ser>
        <c:ser>
          <c:idx val="2"/>
          <c:order val="2"/>
          <c:tx>
            <c:v>Full PNA estimate</c:v>
          </c:tx>
          <c:spPr>
            <a:solidFill xmlns:a="http://schemas.openxmlformats.org/drawingml/2006/main">
              <a:srgbClr val="0F62FE"/>
            </a:solidFill>
          </c:spPr>
          <c:marker>
            <c:symbol val="none"/>
          </c:marker>
          <c:cat>
            <c:strRef>
              <c:f>'Chart Data'!$E$2:$E$4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Data'!$F$2:$F$4</c:f>
              <c:numCache>
                <c:formatCode>0.00</c:formatCode>
                <c:ptCount val="3"/>
                <c:pt idx="0">
                  <c:v>1.001</c:v>
                </c:pt>
                <c:pt idx="1">
                  <c:v>1.004</c:v>
                </c:pt>
                <c:pt idx="2">
                  <c:v>1.017</c:v>
                </c:pt>
              </c:numCache>
            </c:numRef>
          </c:val>
          <c:smooth val="0"/>
        </c:ser>
        <c:dLbls>
          <c:delete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4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5772A-4054-41C8-90F0-5FE4EED2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E8B8BA-F07A-42F8-AC4D-E987563F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923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Making quantum</a:t>
            </a:r>
          </a:p>
          <a:p xmlns:a="http://schemas.openxmlformats.org/drawingml/2006/main">
            <a: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results more reliable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755BF-BE8A-4159-B199-3FA183EC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 small noisy simulation using Shaded Lightcones and Propagated Noise Absorption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26A850-1C61-4780-8CEE-FF8049FA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Five qubits · Eight CZ gates · Three noise levels</a:t>
            </a:r>
          </a:p>
        </p:txBody>
      </p:sp>
    </p:spTree>
    <p:extLst>
      <p:ext uri="{BB962C8B-B14F-4D97-AF65-F5344CB8AC3E}">
        <p14:creationId xmlns:p14="http://schemas.microsoft.com/office/powerpoint/2010/main" val="4667066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F95E4-E375-4947-AAF5-1782B1A9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18F25-6D6D-4B38-950B-4D6DCC39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basic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42A78-1A65-42BC-B6CC-F857B9CD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91"/>
          </a:bodyPr>
          <a:lstStyle xmlns:a="http://schemas.openxmlformats.org/drawingml/2006/main">
            <a:def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A qubit stores quantum information. A gate changes it. Noise makes gates imperfect.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8CEBE-A175-478A-A82C-EF3998DA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QUBIT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D3781-8B55-4E44-809B-CFAA87D4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quantum version of a bit.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14903-AAF5-4DA3-9367-8F5E0254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F64A2-ACC7-46AC-B7BF-90FC9E49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194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An operation applied to one or more qubits.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9F1CC9-3F8D-420F-A767-4EE45FB2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NOISE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B7D01F-8D90-4243-A8C8-5ECFBB7A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19450"/>
            <a:ext cx="309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 small unwanted change during an operation.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B9432B-0BBF-4756-B508-2C94FB60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We repeat the same calculation many times and compare the average result with an ideal reference.</a:t>
            </a:r>
          </a:p>
        </p:txBody>
      </p:sp>
    </p:spTree>
    <p:extLst>
      <p:ext uri="{BB962C8B-B14F-4D97-AF65-F5344CB8AC3E}">
        <p14:creationId xmlns:p14="http://schemas.microsoft.com/office/powerpoint/2010/main" val="17833039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0F3E8F-1D59-4C6A-B666-24CA4569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AFFE2-3374-49AE-A021-63110665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6F636-9731-4C41-B221-F86BE856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Circuit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679BE-9D62-4905-BA6E-784CBECC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5 qubits in a chain, with 8 CZ entangling gates.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0AED1-DCFE-4E93-96EB-1FC25CCF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811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34AED-8FFD-487A-A220-2F6216C1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Average X value of the center qubit, estimated with Qiskit’s Estimator primitive.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876328-F1E7-4686-94BB-953F6C54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Comparison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CEDF5-1E78-4C47-B84A-B23E25E3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Ideal simulation vs. simulated noisy circuit, then full PNA vs. SLC-selected PNA.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77EE4-4F85-4CC1-B171-00F8E11D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766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Noise levels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1A47AC-7277-43DE-B7CB-80E65051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481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0.5×, 1× and 2× the same modeled error rates.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EDF81-9BF0-4BED-AD2E-5645A6A5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State fidelity is calculated directly from the simulator’s density matrix.</a:t>
            </a:r>
          </a:p>
        </p:txBody>
      </p:sp>
    </p:spTree>
    <p:extLst>
      <p:ext uri="{BB962C8B-B14F-4D97-AF65-F5344CB8AC3E}">
        <p14:creationId xmlns:p14="http://schemas.microsoft.com/office/powerpoint/2010/main" val="11245999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DD407-2790-4F64-9259-7B684269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16FCF-DE1A-4E7C-B6ED-08DA2E5A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How the tools fit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2F8E00-735E-4D6E-A1D0-5206967B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1  Estimate errors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F21E8-6E16-498D-85C0-2A504564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526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Use a known, simulated calibration model for this local experiment.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B9A90-C9E7-4CCA-BB8D-AB01F39D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2  Focus the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0F0DD-1EF6-47F3-8BCA-B7327E90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09825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SLC ranks errors by how much they can affect the chosen measurement.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5D3E4-6A97-4312-9F2A-ADBB9BA0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3  Correct the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7C75BD-5F81-4B47-A4A5-33AB9FD6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670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folds the modeled correction into the measured quantity.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08110-8724-4D58-8CD7-86D74DAC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Why not NoiseLearnerV3 here?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73D57E-42A9-41B8-9CB8-5F6F35EF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Its official workflow submits learning jobs to IBM Quantum. No IBM account is configured on this computer, so local rates are simulated inputs, not hardware measurements.</a:t>
            </a:r>
          </a:p>
        </p:txBody>
      </p:sp>
    </p:spTree>
    <p:extLst>
      <p:ext uri="{BB962C8B-B14F-4D97-AF65-F5344CB8AC3E}">
        <p14:creationId xmlns:p14="http://schemas.microsoft.com/office/powerpoint/2010/main" val="7227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CE491-80A2-4731-8F55-37B4D021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4E520-A294-44DC-BAC3-A9590677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SLC reduced the error model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D81BF334-702A-498D-ABE1-3B725676E2A5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6667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847ac202fd54f6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F59FB-1875-477D-84D9-DAFA7083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907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33%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8CA7E-C321-4EE4-97B9-880FBB12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527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fewer modeled error terms at 1× noise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83DA0-DFEB-4E2D-B49C-827E776C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5762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7B956-6FF5-4632-B944-3EAF5D29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19625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less PNA setup time in this small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B8975-BDD6-4477-82A4-45B264E3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noise, the SLC bias bound was 0.046 (under the 0.05 limit we set).</a:t>
            </a:r>
          </a:p>
        </p:txBody>
      </p:sp>
    </p:spTree>
    <p:extLst>
      <p:ext uri="{BB962C8B-B14F-4D97-AF65-F5344CB8AC3E}">
        <p14:creationId xmlns:p14="http://schemas.microsoft.com/office/powerpoint/2010/main" val="9215451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23D9B2-5635-48C8-9175-2101DB3D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7A127-677D-4B5A-B712-00973E13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recovered the measured value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BE5E6A48-B73F-4121-9303-7B16E753B45E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7620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42d956e2a94a59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57D71-188C-4882-9F4C-4CB63491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C7E15-3368-4CB6-A2CE-0CA87FB5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03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832B"/>
                </a:solidFill>
                <a:latin typeface="Arial"/>
                <a:ea typeface="Arial"/>
                <a:cs typeface="Arial"/>
              </a:rPr>
              <a:t>0.687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0E3E3-C8AC-4AFB-BC0B-AB932F9C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146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without correction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7CAC3-B314-41F4-AA17-E0EAC4C8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0.977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B9D67-67D6-4DE5-B916-A40E289C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29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 full PNA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BBC59-BC3C-4FDE-A56C-CE57E0CC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0.962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832AD-FA04-43D7-BDE5-7613AEEF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435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 SLC + PNA</a:t>
            </a:r>
          </a:p>
        </p:txBody>
      </p:sp>
    </p:spTree>
    <p:extLst>
      <p:ext uri="{BB962C8B-B14F-4D97-AF65-F5344CB8AC3E}">
        <p14:creationId xmlns:p14="http://schemas.microsoft.com/office/powerpoint/2010/main" val="6539190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75086-A6C2-497F-8802-C6C8D15D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7E09B-8EFA-497A-87F8-0FE83107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lifted the fidelity estimate near ideal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235DB50E-BB47-48C2-B8C8-751D61B2C65D}"/>
              </a:ext>
            </a:extLst>
          </p:cNvPr>
          <p:cNvGraphicFramePr/>
          <p:nvPr/>
        </p:nvGraphicFramePr>
        <p:xfrm>
          <a:off xmlns:a="http://schemas.openxmlformats.org/drawingml/2006/main" x="714375" y="1762125"/>
          <a:ext xmlns:a="http://schemas.openxmlformats.org/drawingml/2006/main" cx="7048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5e42c5d1fb428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606CC-EA6B-49FA-920E-F8AF7300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90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44E77-F875-4662-9969-7AF0C566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384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0.695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85802-4955-496B-9BBB-F0B17D33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432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noisy-state fidelity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411CD-674A-4664-AD15-DD29D8A7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623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1.004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787E8A-F6A0-4631-912D-F70E7CCC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6720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full-PNA projector estimate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F6149-7E3D-40F3-9616-A77C0204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PNA estimate can slightly exceed 1 because this correction is approximate. Fidelity itself cannot exceed 1; read this as near ideal.</a:t>
            </a:r>
          </a:p>
        </p:txBody>
      </p:sp>
    </p:spTree>
    <p:extLst>
      <p:ext uri="{BB962C8B-B14F-4D97-AF65-F5344CB8AC3E}">
        <p14:creationId xmlns:p14="http://schemas.microsoft.com/office/powerpoint/2010/main" val="7144656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75761F-5732-4C5A-B8E8-26B0F20D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055B4-603A-46F5-BB4F-A79B96B8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What we learned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92DF7-3D40-4EC9-A53B-ADBB5660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PNA helped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6B528-3F7C-419B-8FA6-03642FF1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It moved the measured value closer to the ideal result at all three noise levels.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D0B5E-B748-46C2-B35E-66ECE214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SLC traded a little accuracy for lower cost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11B2F-3119-42A6-BA84-F744B28E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It dropped low-impact error terms and lowered the estimated sampling cost, with a small allowed bias.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B1F6D-953A-4339-9714-044C1BED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Next step for a hardware-ready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D21BD-297D-439F-B9E5-155830A5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Connect NoiseLearnerV3 to an IBM Quantum backend, then rerun the same workflow with measured rates.</a:t>
            </a:r>
          </a:p>
        </p:txBody>
      </p:sp>
    </p:spTree>
    <p:extLst>
      <p:ext uri="{BB962C8B-B14F-4D97-AF65-F5344CB8AC3E}">
        <p14:creationId xmlns:p14="http://schemas.microsoft.com/office/powerpoint/2010/main" val="2655086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2026-10-31T04:17:05.8390000Z</dcterms:created>
  <dcterms:modified xsi:type="dcterms:W3CDTF">2026-10-31T04:17:05.8400000Z</dcterms:modified>
</coreProperties>
</file>