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5d8748a16624626" /><Relationship Type="http://schemas.openxmlformats.org/officeDocument/2006/relationships/extended-properties" Target="/docProps/app.xml" Id="R38f040fcd3cf443b" /><Relationship Type="http://schemas.openxmlformats.org/officeDocument/2006/relationships/officeDocument" Target="/ppt/presentation.xml" Id="Rb17d0ffa9f154aaf" /></Relationships>
</file>

<file path=ppt/presentation.xml><?xml version="1.0" encoding="utf-8"?>
<p:presentation xmlns:p="http://schemas.openxmlformats.org/presentationml/2006/main">
  <p:sldMasterIdLst>
    <p:sldMasterId xmlns:r="http://schemas.openxmlformats.org/officeDocument/2006/relationships" id="2147483648" r:id="R815134ebbcf6402e"/>
  </p:sldMasterIdLst>
  <p:notesMasterIdLst>
    <p:notesMasterId xmlns:r="http://schemas.openxmlformats.org/officeDocument/2006/relationships" r:id="Rd5edcac938d84ec9"/>
  </p:notesMasterIdLst>
  <p:sldIdLst>
    <p:sldId xmlns:r="http://schemas.openxmlformats.org/officeDocument/2006/relationships" id="256" r:id="Rdcdc948e9f094af0"/>
    <p:sldId xmlns:r="http://schemas.openxmlformats.org/officeDocument/2006/relationships" id="257" r:id="Red9e552d7c7e432c"/>
    <p:sldId xmlns:r="http://schemas.openxmlformats.org/officeDocument/2006/relationships" id="258" r:id="R2ef6c162b5754892"/>
    <p:sldId xmlns:r="http://schemas.openxmlformats.org/officeDocument/2006/relationships" id="259" r:id="R705f3ad9a32d47f7"/>
    <p:sldId xmlns:r="http://schemas.openxmlformats.org/officeDocument/2006/relationships" id="260" r:id="R505b6a69a778405f"/>
    <p:sldId xmlns:r="http://schemas.openxmlformats.org/officeDocument/2006/relationships" id="261" r:id="R36c4a3beb57c4b8a"/>
    <p:sldId xmlns:r="http://schemas.openxmlformats.org/officeDocument/2006/relationships" id="262" r:id="Rc55e155e85a84206"/>
    <p:sldId xmlns:r="http://schemas.openxmlformats.org/officeDocument/2006/relationships" id="263" r:id="Re75d7f70d3f34f36"/>
    <p:sldId xmlns:r="http://schemas.openxmlformats.org/officeDocument/2006/relationships" id="264" r:id="Ref48b053081c45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a36a0ff1dc4de2" /><Relationship Type="http://schemas.openxmlformats.org/officeDocument/2006/relationships/slideMaster" Target="/ppt/slideMasters/slideMaster1.xml" Id="R815134ebbcf6402e" /><Relationship Type="http://schemas.openxmlformats.org/officeDocument/2006/relationships/notesMaster" Target="/ppt/notesMasters/notesMaster1.xml" Id="Rd5edcac938d84ec9" /><Relationship Type="http://schemas.openxmlformats.org/officeDocument/2006/relationships/presProps" Target="/ppt/presProps.xml" Id="Rc213e9b1022a4e29" /><Relationship Type="http://schemas.openxmlformats.org/officeDocument/2006/relationships/tableStyles" Target="/ppt/tableStyles.xml" Id="R535802b8352f4082" /><Relationship Type="http://schemas.openxmlformats.org/officeDocument/2006/relationships/slide" Target="/ppt/slides/slide1.xml" Id="Rdcdc948e9f094af0" /><Relationship Type="http://schemas.openxmlformats.org/officeDocument/2006/relationships/slide" Target="/ppt/slides/slide2.xml" Id="Red9e552d7c7e432c" /><Relationship Type="http://schemas.openxmlformats.org/officeDocument/2006/relationships/slide" Target="/ppt/slides/slide3.xml" Id="R2ef6c162b5754892" /><Relationship Type="http://schemas.openxmlformats.org/officeDocument/2006/relationships/slide" Target="/ppt/slides/slide4.xml" Id="R705f3ad9a32d47f7" /><Relationship Type="http://schemas.openxmlformats.org/officeDocument/2006/relationships/slide" Target="/ppt/slides/slide5.xml" Id="R505b6a69a778405f" /><Relationship Type="http://schemas.openxmlformats.org/officeDocument/2006/relationships/slide" Target="/ppt/slides/slide6.xml" Id="R36c4a3beb57c4b8a" /><Relationship Type="http://schemas.openxmlformats.org/officeDocument/2006/relationships/slide" Target="/ppt/slides/slide7.xml" Id="Rc55e155e85a84206" /><Relationship Type="http://schemas.openxmlformats.org/officeDocument/2006/relationships/slide" Target="/ppt/slides/slide8.xml" Id="Re75d7f70d3f34f36" /><Relationship Type="http://schemas.openxmlformats.org/officeDocument/2006/relationships/slide" Target="/ppt/slides/slide9.xml" Id="Ref48b053081c45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7cd1d182ec4a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751f6d84c24e26" /><Relationship Type="http://schemas.openxmlformats.org/officeDocument/2006/relationships/notesMaster" Target="/ppt/notesMasters/notesMaster1.xml" Id="R4cbd2a5e1606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0de283b1c84e8a" /><Relationship Type="http://schemas.openxmlformats.org/officeDocument/2006/relationships/notesMaster" Target="/ppt/notesMasters/notesMaster1.xml" Id="R1eeb59107b7b49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0c475579f24324" /><Relationship Type="http://schemas.openxmlformats.org/officeDocument/2006/relationships/notesMaster" Target="/ppt/notesMasters/notesMaster1.xml" Id="Rdbb90f6cd9f34a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aaaef9184d4ace" /><Relationship Type="http://schemas.openxmlformats.org/officeDocument/2006/relationships/notesMaster" Target="/ppt/notesMasters/notesMaster1.xml" Id="Rc2e733ecf32740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dfdf6f33db4b1a" /><Relationship Type="http://schemas.openxmlformats.org/officeDocument/2006/relationships/notesMaster" Target="/ppt/notesMasters/notesMaster1.xml" Id="R995609d0f13d43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3666d3eeb94e49" /><Relationship Type="http://schemas.openxmlformats.org/officeDocument/2006/relationships/notesMaster" Target="/ppt/notesMasters/notesMaster1.xml" Id="R70073ae9579543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f93b3a0649448b" /><Relationship Type="http://schemas.openxmlformats.org/officeDocument/2006/relationships/notesMaster" Target="/ppt/notesMasters/notesMaster1.xml" Id="Rf644e232fa574d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e2182f0c874e33" /><Relationship Type="http://schemas.openxmlformats.org/officeDocument/2006/relationships/notesMaster" Target="/ppt/notesMasters/notesMaster1.xml" Id="R34758e4ca05b45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a3b18701314501" /><Relationship Type="http://schemas.openxmlformats.org/officeDocument/2006/relationships/notesMaster" Target="/ppt/notesMasters/notesMaster1.xml" Id="Rf6ed6e07ebde4c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small simulation to see whether error-mitigation tools can recover a useful measurement after noise is added. The assignment asks for SLC, NoiseLearnerV3, and PNA. This deck states clearly where the local simulator uses synthetic calibration rates in place of a hardware noise-learning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the project does not require the audience to know quantum mechanics. A measurement is an average from repeated simulated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center-qubit X measurement is the quantity that PNA corrects. We also calculate exact state fidelity from the simulator's density matrix as a separate measure of how much the whole state was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SLC assigns importance to candidate Pauli error terms and can trade a bounded bias for lower sampling cost. PNA propagates the inverse of learned noise into an observable. The official NoiseLearnerV3 accepts an IBM Quantum backend/service job; IBM documents that it has no local fake-backend mode. Sources: https://qiskit.github.io/qiskit-addon-slc/guides/quickstart.html ; https://qiskit.github.io/qiskit-addon-pna/tutorials/01_generate_noise_mitigating_observable.html ;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middle noise setting, the synthetic model included 78 candidate error terms. SLC kept 52 nonzero terms and set a bias bound of 0.047. PNA preprocessing took 1.30 seconds with the full model and 1.11 seconds after SLC. The estimated sampling cost changed from 2.61 to 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 value is 0.981. At 1× noise, the uncorrected sampled value was 0.687. Full PNA estimated 0.977; SLC-selected PNA estimated 0.962. SLC saves work but can leave more bias, which is the intended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ideal-state fidelity projector is the observable |psi&gt;&lt;psi| for the noiseless output. We run PNA on that projector, then evaluate it exactly against the noisy density matrix as a local simulation metric. At 1x noise, raw state fidelity is 0.695 and the full-PNA estimate is 1.004. Because PNA uses an approximate correction, the estimate can exceed the physical maximum of one. Treat it as near ideal, not as a literal fidelity over 1. SLC is applied to the center-X observable workflow on the previous slides; this full projector-fidelity estimate uses full PNA.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time needed to prepare the correction calculation at each noise strength. At 1x, SLC plus PNA took 1.11 seconds versus 1.30 seconds for full PNA, about 14% less. These are local computer preprocessing times, not QPU execution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results show the algorithmic flow but are not hardware results because calibration rates are synthetic. The official assignment asks for NoiseLearnerV3 and a simulated noisy backend; official documentation says NoiseLearnerV3 does not have a local testing mode. If an IBM Quantum account and backend become available, replace the synthetic model with the output of the official noise learner. Source: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b9d855cc5147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d5edcd5e0d44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d99cd79e8f4d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309a7e1dbe4f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c39e859a084c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c9dfa18ce54c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AB7BF2-B691-4FE8-A370-0529EB56F4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DC967A-6DE0-449B-ABC5-69B1093DC9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1841EB-49B7-454F-9A18-3F7A58730A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0B4B9E-C0F8-48AA-B57F-C87DFD363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99034A-0174-4AD5-AFC6-F8CAA5C5FA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C8EF16-E36B-4B8E-A8FC-1A06EFF489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6C7DB5-0492-43E3-BE69-A36B0EEECD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179823-5309-41DB-9380-E2629A3D2F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570D55-CFF1-445C-9364-B27691BF3E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2306B1-7292-4652-A390-B77FA89A1C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f4b0e2269e46a0" /><Relationship Type="http://schemas.openxmlformats.org/officeDocument/2006/relationships/slideLayout" Target="/ppt/slideLayouts/slideLayout1.xml" Id="R87a397bc08f14d89" /><Relationship Type="http://schemas.openxmlformats.org/officeDocument/2006/relationships/slideLayout" Target="/ppt/slideLayouts/slideLayout2.xml" Id="R4d7fca05e518432c" /><Relationship Type="http://schemas.openxmlformats.org/officeDocument/2006/relationships/slideLayout" Target="/ppt/slideLayouts/slideLayout3.xml" Id="R08dfb0903cec4066" /><Relationship Type="http://schemas.openxmlformats.org/officeDocument/2006/relationships/slideLayout" Target="/ppt/slideLayouts/slideLayout4.xml" Id="R9dc668278fbb4be4" /><Relationship Type="http://schemas.openxmlformats.org/officeDocument/2006/relationships/slideLayout" Target="/ppt/slideLayouts/slideLayout5.xml" Id="R6fc22644604e4134" /><Relationship Type="http://schemas.openxmlformats.org/officeDocument/2006/relationships/slideLayout" Target="/ppt/slideLayouts/slideLayout6.xml" Id="Rf9ef6c3ede6449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a397bc08f14d89"/>
    <p:sldLayoutId xmlns:r="http://schemas.openxmlformats.org/officeDocument/2006/relationships" id="2147483650" r:id="R4d7fca05e518432c"/>
    <p:sldLayoutId xmlns:r="http://schemas.openxmlformats.org/officeDocument/2006/relationships" id="2147483651" r:id="R08dfb0903cec4066"/>
    <p:sldLayoutId xmlns:r="http://schemas.openxmlformats.org/officeDocument/2006/relationships" id="2147483652" r:id="R9dc668278fbb4be4"/>
    <p:sldLayoutId xmlns:r="http://schemas.openxmlformats.org/officeDocument/2006/relationships" id="2147483653" r:id="R6fc22644604e4134"/>
    <p:sldLayoutId xmlns:r="http://schemas.openxmlformats.org/officeDocument/2006/relationships" id="2147483654" r:id="Rf9ef6c3ede6449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8bca333fca49fb" /><Relationship Type="http://schemas.openxmlformats.org/officeDocument/2006/relationships/notesSlide" Target="/ppt/notesSlides/notesSlide1.xml" Id="R8764d042979341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c29a429f5a4083" /><Relationship Type="http://schemas.openxmlformats.org/officeDocument/2006/relationships/notesSlide" Target="/ppt/notesSlides/notesSlide2.xml" Id="Re34daf4eff3a46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3b3163dd754a79" /><Relationship Type="http://schemas.openxmlformats.org/officeDocument/2006/relationships/notesSlide" Target="/ppt/notesSlides/notesSlide3.xml" Id="R324781a4d6e847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32b248bb384a17" /><Relationship Type="http://schemas.openxmlformats.org/officeDocument/2006/relationships/notesSlide" Target="/ppt/notesSlides/notesSlide4.xml" Id="R18ed393ecabf4c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e7c3e590aa4814" /><Relationship Type="http://schemas.openxmlformats.org/officeDocument/2006/relationships/chart" Target="/ppt/slides/charts/chart1.xml" Id="R62176b519bd94cc8" /><Relationship Type="http://schemas.openxmlformats.org/officeDocument/2006/relationships/notesSlide" Target="/ppt/notesSlides/notesSlide5.xml" Id="Rc9c82d07f12c43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74d4470a964f84" /><Relationship Type="http://schemas.openxmlformats.org/officeDocument/2006/relationships/chart" Target="/ppt/slides/charts/chart2.xml" Id="Rf27c492c2dbc427d" /><Relationship Type="http://schemas.openxmlformats.org/officeDocument/2006/relationships/notesSlide" Target="/ppt/notesSlides/notesSlide6.xml" Id="R9da7be0b5bf747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af9c7a2b4347f1" /><Relationship Type="http://schemas.openxmlformats.org/officeDocument/2006/relationships/chart" Target="/ppt/slides/charts/chart3.xml" Id="Rbfa5db7133364b20" /><Relationship Type="http://schemas.openxmlformats.org/officeDocument/2006/relationships/notesSlide" Target="/ppt/notesSlides/notesSlide7.xml" Id="Rb39c4a97ea6044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cd364ea1a44bdc" /><Relationship Type="http://schemas.openxmlformats.org/officeDocument/2006/relationships/chart" Target="/ppt/slides/charts/chart4.xml" Id="R33ca89c424ce43b5" /><Relationship Type="http://schemas.openxmlformats.org/officeDocument/2006/relationships/notesSlide" Target="/ppt/notesSlides/notesSlide8.xml" Id="R9df073e210d24b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3020eec2f84a82" /><Relationship Type="http://schemas.openxmlformats.org/officeDocument/2006/relationships/notesSlide" Target="/ppt/notesSlides/notesSlide9.xml" Id="R3b2a9aba16384f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Error terms retained for PNA</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model</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78</c:v>
                </c:pt>
                <c:pt idx="1">
                  <c:v>78</c:v>
                </c:pt>
                <c:pt idx="2">
                  <c:v>78</c:v>
                </c:pt>
              </c:numCache>
            </c:numRef>
          </c:val>
        </c:ser>
        <c:ser>
          <c:idx val="1"/>
          <c:order val="1"/>
          <c:tx>
            <c:v>After SLC</c:v>
          </c:tx>
          <c:spPr>
            <a:solidFill xmlns:a="http://schemas.openxmlformats.org/drawingml/2006/main">
              <a:srgbClr val="0F62FE"/>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47</c:v>
                </c:pt>
                <c:pt idx="1">
                  <c:v>52</c:v>
                </c:pt>
                <c:pt idx="2">
                  <c:v>56</c:v>
                </c:pt>
              </c:numCache>
            </c:numRef>
          </c:val>
        </c:ser>
        <c:dLbls>
          <c:delete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Center-qubit X expectation</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c:v>
                </c:pt>
                <c:pt idx="1">
                  <c:v>1×</c:v>
                </c:pt>
                <c:pt idx="2">
                  <c:v>2×</c:v>
                </c:pt>
              </c:strCache>
            </c:strRef>
          </c:cat>
          <c:val>
            <c:numRef>
              <c:f>'Chart Data'!$B$2:$B$4</c:f>
              <c:numCache>
                <c:formatCode>General</c:formatCode>
                <c:ptCount val="3"/>
                <c:pt idx="0">
                  <c:v>0.981</c:v>
                </c:pt>
                <c:pt idx="1">
                  <c:v>0.981</c:v>
                </c:pt>
                <c:pt idx="2">
                  <c:v>0.981</c:v>
                </c:pt>
              </c:numCache>
            </c:numRef>
          </c:val>
          <c:smooth val="0"/>
        </c:ser>
        <c:ser>
          <c:idx val="1"/>
          <c:order val="1"/>
          <c:tx>
            <c:v>Noisy</c:v>
          </c:tx>
          <c:spPr>
            <a:solidFill xmlns:a="http://schemas.openxmlformats.org/drawingml/2006/main">
              <a:srgbClr val="FF832B"/>
            </a:solidFill>
          </c:spPr>
          <c:marker>
            <c:symbol val="none"/>
          </c:marker>
          <c:cat>
            <c:strRef>
              <c:f>'Chart Data'!$C$2:$C$4</c:f>
              <c:strCache>
                <c:ptCount val="3"/>
                <c:pt idx="0">
                  <c:v>0.5×</c:v>
                </c:pt>
                <c:pt idx="1">
                  <c:v>1×</c:v>
                </c:pt>
                <c:pt idx="2">
                  <c:v>2×</c:v>
                </c:pt>
              </c:strCache>
            </c:strRef>
          </c:cat>
          <c:val>
            <c:numRef>
              <c:f>'Chart Data'!$D$2:$D$4</c:f>
              <c:numCache>
                <c:formatCode>General</c:formatCode>
                <c:ptCount val="3"/>
                <c:pt idx="0">
                  <c:v>0.818</c:v>
                </c:pt>
                <c:pt idx="1">
                  <c:v>0.687</c:v>
                </c:pt>
                <c:pt idx="2">
                  <c:v>0.482</c:v>
                </c:pt>
              </c:numCache>
            </c:numRef>
          </c:val>
          <c:smooth val="0"/>
        </c:ser>
        <c:ser>
          <c:idx val="2"/>
          <c:order val="2"/>
          <c:tx>
            <c:v>Full PNA</c:v>
          </c:tx>
          <c:spPr>
            <a:solidFill xmlns:a="http://schemas.openxmlformats.org/drawingml/2006/main">
              <a:srgbClr val="0F62FE"/>
            </a:solidFill>
          </c:spPr>
          <c:marker>
            <c:symbol val="none"/>
          </c:marker>
          <c:cat>
            <c:strRef>
              <c:f>'Chart Data'!$E$2:$E$4</c:f>
              <c:strCache>
                <c:ptCount val="3"/>
                <c:pt idx="0">
                  <c:v>0.5×</c:v>
                </c:pt>
                <c:pt idx="1">
                  <c:v>1×</c:v>
                </c:pt>
                <c:pt idx="2">
                  <c:v>2×</c:v>
                </c:pt>
              </c:strCache>
            </c:strRef>
          </c:cat>
          <c:val>
            <c:numRef>
              <c:f>'Chart Data'!$F$2:$F$4</c:f>
              <c:numCache>
                <c:formatCode>General</c:formatCode>
                <c:ptCount val="3"/>
                <c:pt idx="0">
                  <c:v>0.969</c:v>
                </c:pt>
                <c:pt idx="1">
                  <c:v>0.977</c:v>
                </c:pt>
                <c:pt idx="2">
                  <c:v>0.953</c:v>
                </c:pt>
              </c:numCache>
            </c:numRef>
          </c:val>
          <c:smooth val="0"/>
        </c:ser>
        <c:ser>
          <c:idx val="3"/>
          <c:order val="3"/>
          <c:tx>
            <c:v>SLC + PNA</c:v>
          </c:tx>
          <c:spPr>
            <a:solidFill xmlns:a="http://schemas.openxmlformats.org/drawingml/2006/main">
              <a:srgbClr val="009D9A"/>
            </a:solidFill>
          </c:spPr>
          <c:marker>
            <c:symbol val="none"/>
          </c:marker>
          <c:cat>
            <c:strRef>
              <c:f>'Chart Data'!$G$2:$G$4</c:f>
              <c:strCache>
                <c:ptCount val="3"/>
                <c:pt idx="0">
                  <c:v>0.5×</c:v>
                </c:pt>
                <c:pt idx="1">
                  <c:v>1×</c:v>
                </c:pt>
                <c:pt idx="2">
                  <c:v>2×</c:v>
                </c:pt>
              </c:strCache>
            </c:strRef>
          </c:cat>
          <c:val>
            <c:numRef>
              <c:f>'Chart Data'!$H$2:$H$4</c:f>
              <c:numCache>
                <c:formatCode>General</c:formatCode>
                <c:ptCount val="3"/>
                <c:pt idx="0">
                  <c:v>0.946</c:v>
                </c:pt>
                <c:pt idx="1">
                  <c:v>0.962</c:v>
                </c:pt>
                <c:pt idx="2">
                  <c:v>0.966</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Ideal-state fidelity by noise strength</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 noise</c:v>
                </c:pt>
                <c:pt idx="1">
                  <c:v>1× noise</c:v>
                </c:pt>
                <c:pt idx="2">
                  <c:v>2× noise</c:v>
                </c:pt>
              </c:strCache>
            </c:strRef>
          </c:cat>
          <c:val>
            <c:numRef>
              <c:f>'Chart Data'!$B$2:$B$4</c:f>
              <c:numCache>
                <c:formatCode>0.00</c:formatCode>
                <c:ptCount val="3"/>
                <c:pt idx="0">
                  <c:v>1</c:v>
                </c:pt>
                <c:pt idx="1">
                  <c:v>1</c:v>
                </c:pt>
                <c:pt idx="2">
                  <c:v>1</c:v>
                </c:pt>
              </c:numCache>
            </c:numRef>
          </c:val>
          <c:smooth val="0"/>
        </c:ser>
        <c:ser>
          <c:idx val="1"/>
          <c:order val="1"/>
          <c:tx>
            <c:v>Noisy state</c:v>
          </c:tx>
          <c:spPr>
            <a:solidFill xmlns:a="http://schemas.openxmlformats.org/drawingml/2006/main">
              <a:srgbClr val="8A3FFC"/>
            </a:solidFill>
          </c:spPr>
          <c:marker>
            <c:symbol val="none"/>
          </c:marker>
          <c:cat>
            <c:strRef>
              <c:f>'Chart Data'!$C$2:$C$4</c:f>
              <c:strCache>
                <c:ptCount val="3"/>
                <c:pt idx="0">
                  <c:v>0.5× noise</c:v>
                </c:pt>
                <c:pt idx="1">
                  <c:v>1× noise</c:v>
                </c:pt>
                <c:pt idx="2">
                  <c:v>2× noise</c:v>
                </c:pt>
              </c:strCache>
            </c:strRef>
          </c:cat>
          <c:val>
            <c:numRef>
              <c:f>'Chart Data'!$D$2:$D$4</c:f>
              <c:numCache>
                <c:formatCode>0.00</c:formatCode>
                <c:ptCount val="3"/>
                <c:pt idx="0">
                  <c:v>0.833</c:v>
                </c:pt>
                <c:pt idx="1">
                  <c:v>0.695</c:v>
                </c:pt>
                <c:pt idx="2">
                  <c:v>0.488</c:v>
                </c:pt>
              </c:numCache>
            </c:numRef>
          </c:val>
          <c:smooth val="0"/>
        </c:ser>
        <c:ser>
          <c:idx val="2"/>
          <c:order val="2"/>
          <c:tx>
            <c:v>Full PNA estimate</c:v>
          </c:tx>
          <c:spPr>
            <a:solidFill xmlns:a="http://schemas.openxmlformats.org/drawingml/2006/main">
              <a:srgbClr val="0F62FE"/>
            </a:solidFill>
          </c:spPr>
          <c:marker>
            <c:symbol val="none"/>
          </c:marker>
          <c:cat>
            <c:strRef>
              <c:f>'Chart Data'!$E$2:$E$4</c:f>
              <c:strCache>
                <c:ptCount val="3"/>
                <c:pt idx="0">
                  <c:v>0.5× noise</c:v>
                </c:pt>
                <c:pt idx="1">
                  <c:v>1× noise</c:v>
                </c:pt>
                <c:pt idx="2">
                  <c:v>2× noise</c:v>
                </c:pt>
              </c:strCache>
            </c:strRef>
          </c:cat>
          <c:val>
            <c:numRef>
              <c:f>'Chart Data'!$F$2:$F$4</c:f>
              <c:numCache>
                <c:formatCode>0.00</c:formatCode>
                <c:ptCount val="3"/>
                <c:pt idx="0">
                  <c:v>1.001</c:v>
                </c:pt>
                <c:pt idx="1">
                  <c:v>1.004</c:v>
                </c:pt>
                <c:pt idx="2">
                  <c:v>1.017</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05"/>
          <c:min val="0.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PNA preprocessing time</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PNA</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1.25</c:v>
                </c:pt>
                <c:pt idx="1">
                  <c:v>1.3</c:v>
                </c:pt>
                <c:pt idx="2">
                  <c:v>1.26</c:v>
                </c:pt>
              </c:numCache>
            </c:numRef>
          </c:val>
        </c:ser>
        <c:ser>
          <c:idx val="1"/>
          <c:order val="1"/>
          <c:tx>
            <c:v>SLC + PNA</c:v>
          </c:tx>
          <c:spPr>
            <a:solidFill xmlns:a="http://schemas.openxmlformats.org/drawingml/2006/main">
              <a:srgbClr val="009D9A"/>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1.15</c:v>
                </c:pt>
                <c:pt idx="1">
                  <c:v>1.11</c:v>
                </c:pt>
                <c:pt idx="2">
                  <c:v>1.18</c:v>
                </c:pt>
              </c:numCache>
            </c:numRef>
          </c:val>
        </c:ser>
        <c:dLbls>
          <c:delete val="0"/>
          <c:numFmt formatCode="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DE1E6"/>
              </a:solidFill>
              <a:prstDash val="solid"/>
            </a:ln>
          </c:spPr>
        </c:majorGridlines>
        <c:title>
          <c:tx>
            <c:rich>
              <a:bodyPr xmlns:a="http://schemas.openxmlformats.org/drawingml/2006/main"/>
              <a:lstStyle xmlns:a="http://schemas.openxmlformats.org/drawingml/2006/main"/>
              <a:p xmlns:a="http://schemas.openxmlformats.org/drawingml/2006/main">
                <a:r>
                  <a:rPr sz="1050">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4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0CA576-FE1D-4C83-9D34-F958D0E9B615}"/>
              </a:ext>
            </a:extLst>
          </p:cNvPr>
          <p:cNvSpPr>
            <a:spLocks xmlns:a="http://schemas.openxmlformats.org/drawingml/2006/main" noGrp="1"/>
          </p:cNvSpPr>
          <p:nvPr/>
        </p:nvSpPr>
        <p:spPr>
          <a:xfrm xmlns:a="http://schemas.openxmlformats.org/drawingml/2006/main">
            <a:off x="723900" y="7429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4B9A00A3-378E-4C2F-85E0-43EBD9A8E25B}"/>
              </a:ext>
            </a:extLst>
          </p:cNvPr>
          <p:cNvSpPr>
            <a:spLocks xmlns:a="http://schemas.openxmlformats.org/drawingml/2006/main" noGrp="1"/>
          </p:cNvSpPr>
          <p:nvPr/>
        </p:nvSpPr>
        <p:spPr>
          <a:xfrm xmlns:a="http://schemas.openxmlformats.org/drawingml/2006/main">
            <a:off x="723900" y="1657350"/>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61616"/>
                </a:solidFill>
                <a:latin typeface="Arial"/>
                <a:ea typeface="Arial"/>
                <a:cs typeface="Arial"/>
              </a:defRPr>
            </a:defPPr>
            <a:lvl1pPr algn="l">
              <a:defRPr sz="4650" b="1">
                <a:solidFill>
                  <a:srgbClr val="161616"/>
                </a:solidFill>
                <a:latin typeface="Arial"/>
                <a:ea typeface="Arial"/>
                <a:cs typeface="Arial"/>
              </a:defRPr>
            </a:lvl1pPr>
            <a:lvl2pPr algn="l">
              <a:defRPr sz="4650" b="1">
                <a:solidFill>
                  <a:srgbClr val="161616"/>
                </a:solidFill>
                <a:latin typeface="Arial"/>
                <a:ea typeface="Arial"/>
                <a:cs typeface="Arial"/>
              </a:defRPr>
            </a:lvl2pPr>
            <a:lvl3pPr algn="l">
              <a:defRPr sz="4650" b="1">
                <a:solidFill>
                  <a:srgbClr val="161616"/>
                </a:solidFill>
                <a:latin typeface="Arial"/>
                <a:ea typeface="Arial"/>
                <a:cs typeface="Arial"/>
              </a:defRPr>
            </a:lvl3pPr>
            <a:lvl4pPr algn="l">
              <a:defRPr sz="4650" b="1">
                <a:solidFill>
                  <a:srgbClr val="161616"/>
                </a:solidFill>
                <a:latin typeface="Arial"/>
                <a:ea typeface="Arial"/>
                <a:cs typeface="Arial"/>
              </a:defRPr>
            </a:lvl4pPr>
            <a:lvl5pPr algn="l">
              <a:defRPr sz="4650" b="1">
                <a:solidFill>
                  <a:srgbClr val="161616"/>
                </a:solidFill>
                <a:latin typeface="Arial"/>
                <a:ea typeface="Arial"/>
                <a:cs typeface="Arial"/>
              </a:defRPr>
            </a:lvl5pPr>
            <a:lvl6pPr algn="l">
              <a:defRPr sz="4650" b="1">
                <a:solidFill>
                  <a:srgbClr val="161616"/>
                </a:solidFill>
                <a:latin typeface="Arial"/>
                <a:ea typeface="Arial"/>
                <a:cs typeface="Arial"/>
              </a:defRPr>
            </a:lvl6pPr>
            <a:lvl7pPr algn="l">
              <a:defRPr sz="4650" b="1">
                <a:solidFill>
                  <a:srgbClr val="161616"/>
                </a:solidFill>
                <a:latin typeface="Arial"/>
                <a:ea typeface="Arial"/>
                <a:cs typeface="Arial"/>
              </a:defRPr>
            </a:lvl7pPr>
            <a:lvl8pPr algn="l">
              <a:defRPr sz="4650" b="1">
                <a:solidFill>
                  <a:srgbClr val="161616"/>
                </a:solidFill>
                <a:latin typeface="Arial"/>
                <a:ea typeface="Arial"/>
                <a:cs typeface="Arial"/>
              </a:defRPr>
            </a:lvl8pPr>
            <a:lvl9pPr algn="l">
              <a:defRPr sz="4650" b="1">
                <a:solidFill>
                  <a:srgbClr val="161616"/>
                </a:solidFill>
                <a:latin typeface="Arial"/>
                <a:ea typeface="Arial"/>
                <a:cs typeface="Arial"/>
              </a:defRPr>
            </a:lvl9pPr>
          </a:lstStyle>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Making quantum</a:t>
            </a:r>
          </a:p>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results more reliable</a:t>
            </a:r>
          </a:p>
        </p:txBody>
      </p:sp>
      <p:sp>
        <p:nvSpPr>
          <p:cNvPr id="3" name="">
            <a:extLst xmlns:a="http://schemas.openxmlformats.org/drawingml/2006/main">
              <a:ext uri="{FF2B5EF4-FFF2-40B4-BE49-F238E27FC236}">
                <a16:creationId xmlns:a16="http://schemas.microsoft.com/office/drawing/2014/main" id="{3D99CD0F-99E7-483E-926D-A680B1E17067}"/>
              </a:ext>
            </a:extLst>
          </p:cNvPr>
          <p:cNvSpPr>
            <a:spLocks xmlns:a="http://schemas.openxmlformats.org/drawingml/2006/main" noGrp="1"/>
          </p:cNvSpPr>
          <p:nvPr/>
        </p:nvSpPr>
        <p:spPr>
          <a:xfrm xmlns:a="http://schemas.openxmlformats.org/drawingml/2006/main">
            <a:off x="762000" y="3886200"/>
            <a:ext cx="876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525252"/>
                </a:solidFill>
                <a:latin typeface="Arial"/>
                <a:ea typeface="Arial"/>
                <a:cs typeface="Arial"/>
              </a:defRPr>
            </a:defPPr>
            <a:lvl1pPr algn="l">
              <a:defRPr sz="2025" b="0">
                <a:solidFill>
                  <a:srgbClr val="525252"/>
                </a:solidFill>
                <a:latin typeface="Arial"/>
                <a:ea typeface="Arial"/>
                <a:cs typeface="Arial"/>
              </a:defRPr>
            </a:lvl1pPr>
            <a:lvl2pPr algn="l">
              <a:defRPr sz="2025" b="0">
                <a:solidFill>
                  <a:srgbClr val="525252"/>
                </a:solidFill>
                <a:latin typeface="Arial"/>
                <a:ea typeface="Arial"/>
                <a:cs typeface="Arial"/>
              </a:defRPr>
            </a:lvl2pPr>
            <a:lvl3pPr algn="l">
              <a:defRPr sz="2025" b="0">
                <a:solidFill>
                  <a:srgbClr val="525252"/>
                </a:solidFill>
                <a:latin typeface="Arial"/>
                <a:ea typeface="Arial"/>
                <a:cs typeface="Arial"/>
              </a:defRPr>
            </a:lvl3pPr>
            <a:lvl4pPr algn="l">
              <a:defRPr sz="2025" b="0">
                <a:solidFill>
                  <a:srgbClr val="525252"/>
                </a:solidFill>
                <a:latin typeface="Arial"/>
                <a:ea typeface="Arial"/>
                <a:cs typeface="Arial"/>
              </a:defRPr>
            </a:lvl4pPr>
            <a:lvl5pPr algn="l">
              <a:defRPr sz="2025" b="0">
                <a:solidFill>
                  <a:srgbClr val="525252"/>
                </a:solidFill>
                <a:latin typeface="Arial"/>
                <a:ea typeface="Arial"/>
                <a:cs typeface="Arial"/>
              </a:defRPr>
            </a:lvl5pPr>
            <a:lvl6pPr algn="l">
              <a:defRPr sz="2025" b="0">
                <a:solidFill>
                  <a:srgbClr val="525252"/>
                </a:solidFill>
                <a:latin typeface="Arial"/>
                <a:ea typeface="Arial"/>
                <a:cs typeface="Arial"/>
              </a:defRPr>
            </a:lvl6pPr>
            <a:lvl7pPr algn="l">
              <a:defRPr sz="2025" b="0">
                <a:solidFill>
                  <a:srgbClr val="525252"/>
                </a:solidFill>
                <a:latin typeface="Arial"/>
                <a:ea typeface="Arial"/>
                <a:cs typeface="Arial"/>
              </a:defRPr>
            </a:lvl7pPr>
            <a:lvl8pPr algn="l">
              <a:defRPr sz="2025" b="0">
                <a:solidFill>
                  <a:srgbClr val="525252"/>
                </a:solidFill>
                <a:latin typeface="Arial"/>
                <a:ea typeface="Arial"/>
                <a:cs typeface="Arial"/>
              </a:defRPr>
            </a:lvl8pPr>
            <a:lvl9pPr algn="l">
              <a:defRPr sz="2025" b="0">
                <a:solidFill>
                  <a:srgbClr val="525252"/>
                </a:solidFill>
                <a:latin typeface="Arial"/>
                <a:ea typeface="Arial"/>
                <a:cs typeface="Arial"/>
              </a:defRPr>
            </a:lvl9pPr>
          </a:lstStyle>
          <a:p xmlns:a="http://schemas.openxmlformats.org/drawingml/2006/main">
            <a:pPr algn="l">
              <a:defRPr sz="2025" b="0">
                <a:solidFill>
                  <a:srgbClr val="525252"/>
                </a:solidFill>
                <a:latin typeface="Arial"/>
                <a:ea typeface="Arial"/>
                <a:cs typeface="Arial"/>
              </a:defRPr>
            </a:pPr>
            <a:r>
              <a:rPr sz="2025" b="0">
                <a:solidFill>
                  <a:srgbClr val="525252"/>
                </a:solidFill>
                <a:latin typeface="Arial"/>
                <a:ea typeface="Arial"/>
                <a:cs typeface="Arial"/>
              </a:rPr>
              <a:t>A small noisy simulation using Shaded Lightcones and Propagated Noise Absorption</a:t>
            </a:r>
          </a:p>
        </p:txBody>
      </p:sp>
      <p:sp>
        <p:nvSpPr>
          <p:cNvPr id="4" name="">
            <a:extLst xmlns:a="http://schemas.openxmlformats.org/drawingml/2006/main">
              <a:ext uri="{FF2B5EF4-FFF2-40B4-BE49-F238E27FC236}">
                <a16:creationId xmlns:a16="http://schemas.microsoft.com/office/drawing/2014/main" id="{E1AAEAF2-A11B-4403-AA39-0C32A5DEF725}"/>
              </a:ext>
            </a:extLst>
          </p:cNvPr>
          <p:cNvSpPr>
            <a:spLocks xmlns:a="http://schemas.openxmlformats.org/drawingml/2006/main" noGrp="1"/>
          </p:cNvSpPr>
          <p:nvPr/>
        </p:nvSpPr>
        <p:spPr>
          <a:xfrm xmlns:a="http://schemas.openxmlformats.org/drawingml/2006/main">
            <a:off x="762000" y="52197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61616"/>
                </a:solidFill>
                <a:latin typeface="Arial"/>
                <a:ea typeface="Arial"/>
                <a:cs typeface="Arial"/>
              </a:defRPr>
            </a:defPPr>
            <a:lvl1pPr algn="l">
              <a:defRPr sz="1650" b="1">
                <a:solidFill>
                  <a:srgbClr val="161616"/>
                </a:solidFill>
                <a:latin typeface="Arial"/>
                <a:ea typeface="Arial"/>
                <a:cs typeface="Arial"/>
              </a:defRPr>
            </a:lvl1pPr>
            <a:lvl2pPr algn="l">
              <a:defRPr sz="1650" b="1">
                <a:solidFill>
                  <a:srgbClr val="161616"/>
                </a:solidFill>
                <a:latin typeface="Arial"/>
                <a:ea typeface="Arial"/>
                <a:cs typeface="Arial"/>
              </a:defRPr>
            </a:lvl2pPr>
            <a:lvl3pPr algn="l">
              <a:defRPr sz="1650" b="1">
                <a:solidFill>
                  <a:srgbClr val="161616"/>
                </a:solidFill>
                <a:latin typeface="Arial"/>
                <a:ea typeface="Arial"/>
                <a:cs typeface="Arial"/>
              </a:defRPr>
            </a:lvl3pPr>
            <a:lvl4pPr algn="l">
              <a:defRPr sz="1650" b="1">
                <a:solidFill>
                  <a:srgbClr val="161616"/>
                </a:solidFill>
                <a:latin typeface="Arial"/>
                <a:ea typeface="Arial"/>
                <a:cs typeface="Arial"/>
              </a:defRPr>
            </a:lvl4pPr>
            <a:lvl5pPr algn="l">
              <a:defRPr sz="1650" b="1">
                <a:solidFill>
                  <a:srgbClr val="161616"/>
                </a:solidFill>
                <a:latin typeface="Arial"/>
                <a:ea typeface="Arial"/>
                <a:cs typeface="Arial"/>
              </a:defRPr>
            </a:lvl5pPr>
            <a:lvl6pPr algn="l">
              <a:defRPr sz="1650" b="1">
                <a:solidFill>
                  <a:srgbClr val="161616"/>
                </a:solidFill>
                <a:latin typeface="Arial"/>
                <a:ea typeface="Arial"/>
                <a:cs typeface="Arial"/>
              </a:defRPr>
            </a:lvl6pPr>
            <a:lvl7pPr algn="l">
              <a:defRPr sz="1650" b="1">
                <a:solidFill>
                  <a:srgbClr val="161616"/>
                </a:solidFill>
                <a:latin typeface="Arial"/>
                <a:ea typeface="Arial"/>
                <a:cs typeface="Arial"/>
              </a:defRPr>
            </a:lvl7pPr>
            <a:lvl8pPr algn="l">
              <a:defRPr sz="1650" b="1">
                <a:solidFill>
                  <a:srgbClr val="161616"/>
                </a:solidFill>
                <a:latin typeface="Arial"/>
                <a:ea typeface="Arial"/>
                <a:cs typeface="Arial"/>
              </a:defRPr>
            </a:lvl8pPr>
            <a:lvl9pPr algn="l">
              <a:defRPr sz="1650" b="1">
                <a:solidFill>
                  <a:srgbClr val="161616"/>
                </a:solidFill>
                <a:latin typeface="Arial"/>
                <a:ea typeface="Arial"/>
                <a:cs typeface="Arial"/>
              </a:defRPr>
            </a:lvl9pPr>
          </a:lstStyle>
          <a:p xmlns:a="http://schemas.openxmlformats.org/drawingml/2006/main">
            <a:pPr algn="l">
              <a:defRPr sz="1650" b="1">
                <a:solidFill>
                  <a:srgbClr val="161616"/>
                </a:solidFill>
                <a:latin typeface="Arial"/>
                <a:ea typeface="Arial"/>
                <a:cs typeface="Arial"/>
              </a:defRPr>
            </a:pPr>
            <a:r>
              <a:rPr sz="1650" b="1">
                <a:solidFill>
                  <a:srgbClr val="161616"/>
                </a:solidFill>
                <a:latin typeface="Arial"/>
                <a:ea typeface="Arial"/>
                <a:cs typeface="Arial"/>
              </a:rPr>
              <a:t>Five qubits · Eight CZ gates · Three noise levels</a:t>
            </a:r>
          </a:p>
        </p:txBody>
      </p:sp>
    </p:spTree>
    <p:extLst>
      <p:ext uri="{BB962C8B-B14F-4D97-AF65-F5344CB8AC3E}">
        <p14:creationId xmlns:p14="http://schemas.microsoft.com/office/powerpoint/2010/main" val="7476417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69287B-B8A6-4731-9B87-9D0D55C4733A}"/>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DA555DBB-2267-49BC-BB4D-59F1F2653B6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basic idea</a:t>
            </a:r>
          </a:p>
        </p:txBody>
      </p:sp>
      <p:sp>
        <p:nvSpPr>
          <p:cNvPr id="3" name="">
            <a:extLst xmlns:a="http://schemas.openxmlformats.org/drawingml/2006/main">
              <a:ext uri="{FF2B5EF4-FFF2-40B4-BE49-F238E27FC236}">
                <a16:creationId xmlns:a16="http://schemas.microsoft.com/office/drawing/2014/main" id="{F2E49B0D-1894-4C00-AC62-92492529BDCD}"/>
              </a:ext>
            </a:extLst>
          </p:cNvPr>
          <p:cNvSpPr>
            <a:spLocks xmlns:a="http://schemas.openxmlformats.org/drawingml/2006/main" noGrp="1"/>
          </p:cNvSpPr>
          <p:nvPr/>
        </p:nvSpPr>
        <p:spPr>
          <a:xfrm xmlns:a="http://schemas.openxmlformats.org/drawingml/2006/main">
            <a:off x="647700" y="169545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1"/>
          </a:bodyPr>
          <a:lstStyle xmlns:a="http://schemas.openxmlformats.org/drawingml/2006/main">
            <a:defPPr algn="l">
              <a:defRPr sz="2175" b="1">
                <a:solidFill>
                  <a:srgbClr val="161616"/>
                </a:solidFill>
                <a:latin typeface="Arial"/>
                <a:ea typeface="Arial"/>
                <a:cs typeface="Arial"/>
              </a:defRPr>
            </a:defPPr>
            <a:lvl1pPr algn="l">
              <a:defRPr sz="2175" b="1">
                <a:solidFill>
                  <a:srgbClr val="161616"/>
                </a:solidFill>
                <a:latin typeface="Arial"/>
                <a:ea typeface="Arial"/>
                <a:cs typeface="Arial"/>
              </a:defRPr>
            </a:lvl1pPr>
            <a:lvl2pPr algn="l">
              <a:defRPr sz="2175" b="1">
                <a:solidFill>
                  <a:srgbClr val="161616"/>
                </a:solidFill>
                <a:latin typeface="Arial"/>
                <a:ea typeface="Arial"/>
                <a:cs typeface="Arial"/>
              </a:defRPr>
            </a:lvl2pPr>
            <a:lvl3pPr algn="l">
              <a:defRPr sz="2175" b="1">
                <a:solidFill>
                  <a:srgbClr val="161616"/>
                </a:solidFill>
                <a:latin typeface="Arial"/>
                <a:ea typeface="Arial"/>
                <a:cs typeface="Arial"/>
              </a:defRPr>
            </a:lvl3pPr>
            <a:lvl4pPr algn="l">
              <a:defRPr sz="2175" b="1">
                <a:solidFill>
                  <a:srgbClr val="161616"/>
                </a:solidFill>
                <a:latin typeface="Arial"/>
                <a:ea typeface="Arial"/>
                <a:cs typeface="Arial"/>
              </a:defRPr>
            </a:lvl4pPr>
            <a:lvl5pPr algn="l">
              <a:defRPr sz="2175" b="1">
                <a:solidFill>
                  <a:srgbClr val="161616"/>
                </a:solidFill>
                <a:latin typeface="Arial"/>
                <a:ea typeface="Arial"/>
                <a:cs typeface="Arial"/>
              </a:defRPr>
            </a:lvl5pPr>
            <a:lvl6pPr algn="l">
              <a:defRPr sz="2175" b="1">
                <a:solidFill>
                  <a:srgbClr val="161616"/>
                </a:solidFill>
                <a:latin typeface="Arial"/>
                <a:ea typeface="Arial"/>
                <a:cs typeface="Arial"/>
              </a:defRPr>
            </a:lvl6pPr>
            <a:lvl7pPr algn="l">
              <a:defRPr sz="2175" b="1">
                <a:solidFill>
                  <a:srgbClr val="161616"/>
                </a:solidFill>
                <a:latin typeface="Arial"/>
                <a:ea typeface="Arial"/>
                <a:cs typeface="Arial"/>
              </a:defRPr>
            </a:lvl7pPr>
            <a:lvl8pPr algn="l">
              <a:defRPr sz="2175" b="1">
                <a:solidFill>
                  <a:srgbClr val="161616"/>
                </a:solidFill>
                <a:latin typeface="Arial"/>
                <a:ea typeface="Arial"/>
                <a:cs typeface="Arial"/>
              </a:defRPr>
            </a:lvl8pPr>
            <a:lvl9pPr algn="l">
              <a:defRPr sz="2175" b="1">
                <a:solidFill>
                  <a:srgbClr val="161616"/>
                </a:solidFill>
                <a:latin typeface="Arial"/>
                <a:ea typeface="Arial"/>
                <a:cs typeface="Arial"/>
              </a:defRPr>
            </a:lvl9pPr>
          </a:lstStyle>
          <a:p xmlns:a="http://schemas.openxmlformats.org/drawingml/2006/main">
            <a:pPr algn="l">
              <a:defRPr sz="2175" b="1">
                <a:solidFill>
                  <a:srgbClr val="161616"/>
                </a:solidFill>
                <a:latin typeface="Arial"/>
                <a:ea typeface="Arial"/>
                <a:cs typeface="Arial"/>
              </a:defRPr>
            </a:pPr>
            <a:r>
              <a:rPr sz="2175" b="1">
                <a:solidFill>
                  <a:srgbClr val="161616"/>
                </a:solidFill>
                <a:latin typeface="Arial"/>
                <a:ea typeface="Arial"/>
                <a:cs typeface="Arial"/>
              </a:rPr>
              <a:t>A qubit stores quantum information. A gate changes it. Noise makes gates imperfect.</a:t>
            </a:r>
          </a:p>
        </p:txBody>
      </p:sp>
      <p:sp>
        <p:nvSpPr>
          <p:cNvPr id="4" name="">
            <a:extLst xmlns:a="http://schemas.openxmlformats.org/drawingml/2006/main">
              <a:ext uri="{FF2B5EF4-FFF2-40B4-BE49-F238E27FC236}">
                <a16:creationId xmlns:a16="http://schemas.microsoft.com/office/drawing/2014/main" id="{244E651F-5CC5-4FD4-961A-1A892B5184AF}"/>
              </a:ext>
            </a:extLst>
          </p:cNvPr>
          <p:cNvSpPr>
            <a:spLocks xmlns:a="http://schemas.openxmlformats.org/drawingml/2006/main" noGrp="1"/>
          </p:cNvSpPr>
          <p:nvPr/>
        </p:nvSpPr>
        <p:spPr>
          <a:xfrm xmlns:a="http://schemas.openxmlformats.org/drawingml/2006/main">
            <a:off x="6858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QUBIT</a:t>
            </a:r>
          </a:p>
        </p:txBody>
      </p:sp>
      <p:sp>
        <p:nvSpPr>
          <p:cNvPr id="5" name="">
            <a:extLst xmlns:a="http://schemas.openxmlformats.org/drawingml/2006/main">
              <a:ext uri="{FF2B5EF4-FFF2-40B4-BE49-F238E27FC236}">
                <a16:creationId xmlns:a16="http://schemas.microsoft.com/office/drawing/2014/main" id="{E00127B8-A12A-4790-AA7F-283F1F201B8C}"/>
              </a:ext>
            </a:extLst>
          </p:cNvPr>
          <p:cNvSpPr>
            <a:spLocks xmlns:a="http://schemas.openxmlformats.org/drawingml/2006/main" noGrp="1"/>
          </p:cNvSpPr>
          <p:nvPr/>
        </p:nvSpPr>
        <p:spPr>
          <a:xfrm xmlns:a="http://schemas.openxmlformats.org/drawingml/2006/main">
            <a:off x="685800" y="3219450"/>
            <a:ext cx="262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The quantum version of a bit.</a:t>
            </a:r>
          </a:p>
        </p:txBody>
      </p:sp>
      <p:sp>
        <p:nvSpPr>
          <p:cNvPr id="6" name="">
            <a:extLst xmlns:a="http://schemas.openxmlformats.org/drawingml/2006/main">
              <a:ext uri="{FF2B5EF4-FFF2-40B4-BE49-F238E27FC236}">
                <a16:creationId xmlns:a16="http://schemas.microsoft.com/office/drawing/2014/main" id="{AA70D7EA-F7BF-402B-BC9C-7586E82585C7}"/>
              </a:ext>
            </a:extLst>
          </p:cNvPr>
          <p:cNvSpPr>
            <a:spLocks xmlns:a="http://schemas.openxmlformats.org/drawingml/2006/main" noGrp="1"/>
          </p:cNvSpPr>
          <p:nvPr/>
        </p:nvSpPr>
        <p:spPr>
          <a:xfrm xmlns:a="http://schemas.openxmlformats.org/drawingml/2006/main">
            <a:off x="409575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GATE</a:t>
            </a:r>
          </a:p>
        </p:txBody>
      </p:sp>
      <p:sp>
        <p:nvSpPr>
          <p:cNvPr id="7" name="">
            <a:extLst xmlns:a="http://schemas.openxmlformats.org/drawingml/2006/main">
              <a:ext uri="{FF2B5EF4-FFF2-40B4-BE49-F238E27FC236}">
                <a16:creationId xmlns:a16="http://schemas.microsoft.com/office/drawing/2014/main" id="{3766C6D3-C9F6-40F5-831F-29992DFC50FE}"/>
              </a:ext>
            </a:extLst>
          </p:cNvPr>
          <p:cNvSpPr>
            <a:spLocks xmlns:a="http://schemas.openxmlformats.org/drawingml/2006/main" noGrp="1"/>
          </p:cNvSpPr>
          <p:nvPr/>
        </p:nvSpPr>
        <p:spPr>
          <a:xfrm xmlns:a="http://schemas.openxmlformats.org/drawingml/2006/main">
            <a:off x="4095750" y="3219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 operation applied to one or more qubits.</a:t>
            </a:r>
          </a:p>
        </p:txBody>
      </p:sp>
      <p:sp>
        <p:nvSpPr>
          <p:cNvPr id="8" name="">
            <a:extLst xmlns:a="http://schemas.openxmlformats.org/drawingml/2006/main">
              <a:ext uri="{FF2B5EF4-FFF2-40B4-BE49-F238E27FC236}">
                <a16:creationId xmlns:a16="http://schemas.microsoft.com/office/drawing/2014/main" id="{63556963-EEDD-44CF-85DF-F762A0394482}"/>
              </a:ext>
            </a:extLst>
          </p:cNvPr>
          <p:cNvSpPr>
            <a:spLocks xmlns:a="http://schemas.openxmlformats.org/drawingml/2006/main" noGrp="1"/>
          </p:cNvSpPr>
          <p:nvPr/>
        </p:nvSpPr>
        <p:spPr>
          <a:xfrm xmlns:a="http://schemas.openxmlformats.org/drawingml/2006/main">
            <a:off x="78105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NOISE</a:t>
            </a:r>
          </a:p>
        </p:txBody>
      </p:sp>
      <p:sp>
        <p:nvSpPr>
          <p:cNvPr id="9" name="">
            <a:extLst xmlns:a="http://schemas.openxmlformats.org/drawingml/2006/main">
              <a:ext uri="{FF2B5EF4-FFF2-40B4-BE49-F238E27FC236}">
                <a16:creationId xmlns:a16="http://schemas.microsoft.com/office/drawing/2014/main" id="{5B16C164-5F21-44B2-B9A8-40FD42C2A73E}"/>
              </a:ext>
            </a:extLst>
          </p:cNvPr>
          <p:cNvSpPr>
            <a:spLocks xmlns:a="http://schemas.openxmlformats.org/drawingml/2006/main" noGrp="1"/>
          </p:cNvSpPr>
          <p:nvPr/>
        </p:nvSpPr>
        <p:spPr>
          <a:xfrm xmlns:a="http://schemas.openxmlformats.org/drawingml/2006/main">
            <a:off x="7810500" y="3219450"/>
            <a:ext cx="3095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 small unwanted change during an operation.</a:t>
            </a:r>
          </a:p>
        </p:txBody>
      </p:sp>
      <p:sp>
        <p:nvSpPr>
          <p:cNvPr id="10" name="">
            <a:extLst xmlns:a="http://schemas.openxmlformats.org/drawingml/2006/main">
              <a:ext uri="{FF2B5EF4-FFF2-40B4-BE49-F238E27FC236}">
                <a16:creationId xmlns:a16="http://schemas.microsoft.com/office/drawing/2014/main" id="{DA226356-946A-41F3-B2A7-BC967752B657}"/>
              </a:ext>
            </a:extLst>
          </p:cNvPr>
          <p:cNvSpPr>
            <a:spLocks xmlns:a="http://schemas.openxmlformats.org/drawingml/2006/main" noGrp="1"/>
          </p:cNvSpPr>
          <p:nvPr/>
        </p:nvSpPr>
        <p:spPr>
          <a:xfrm xmlns:a="http://schemas.openxmlformats.org/drawingml/2006/main">
            <a:off x="685800" y="49530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5252"/>
                </a:solidFill>
                <a:latin typeface="Arial"/>
                <a:ea typeface="Arial"/>
                <a:cs typeface="Arial"/>
              </a:defRPr>
            </a:defPPr>
            <a:lvl1pPr algn="l">
              <a:defRPr sz="1800" b="0">
                <a:solidFill>
                  <a:srgbClr val="525252"/>
                </a:solidFill>
                <a:latin typeface="Arial"/>
                <a:ea typeface="Arial"/>
                <a:cs typeface="Arial"/>
              </a:defRPr>
            </a:lvl1pPr>
            <a:lvl2pPr algn="l">
              <a:defRPr sz="1800" b="0">
                <a:solidFill>
                  <a:srgbClr val="525252"/>
                </a:solidFill>
                <a:latin typeface="Arial"/>
                <a:ea typeface="Arial"/>
                <a:cs typeface="Arial"/>
              </a:defRPr>
            </a:lvl2pPr>
            <a:lvl3pPr algn="l">
              <a:defRPr sz="1800" b="0">
                <a:solidFill>
                  <a:srgbClr val="525252"/>
                </a:solidFill>
                <a:latin typeface="Arial"/>
                <a:ea typeface="Arial"/>
                <a:cs typeface="Arial"/>
              </a:defRPr>
            </a:lvl3pPr>
            <a:lvl4pPr algn="l">
              <a:defRPr sz="1800" b="0">
                <a:solidFill>
                  <a:srgbClr val="525252"/>
                </a:solidFill>
                <a:latin typeface="Arial"/>
                <a:ea typeface="Arial"/>
                <a:cs typeface="Arial"/>
              </a:defRPr>
            </a:lvl4pPr>
            <a:lvl5pPr algn="l">
              <a:defRPr sz="1800" b="0">
                <a:solidFill>
                  <a:srgbClr val="525252"/>
                </a:solidFill>
                <a:latin typeface="Arial"/>
                <a:ea typeface="Arial"/>
                <a:cs typeface="Arial"/>
              </a:defRPr>
            </a:lvl5pPr>
            <a:lvl6pPr algn="l">
              <a:defRPr sz="1800" b="0">
                <a:solidFill>
                  <a:srgbClr val="525252"/>
                </a:solidFill>
                <a:latin typeface="Arial"/>
                <a:ea typeface="Arial"/>
                <a:cs typeface="Arial"/>
              </a:defRPr>
            </a:lvl6pPr>
            <a:lvl7pPr algn="l">
              <a:defRPr sz="1800" b="0">
                <a:solidFill>
                  <a:srgbClr val="525252"/>
                </a:solidFill>
                <a:latin typeface="Arial"/>
                <a:ea typeface="Arial"/>
                <a:cs typeface="Arial"/>
              </a:defRPr>
            </a:lvl7pPr>
            <a:lvl8pPr algn="l">
              <a:defRPr sz="1800" b="0">
                <a:solidFill>
                  <a:srgbClr val="525252"/>
                </a:solidFill>
                <a:latin typeface="Arial"/>
                <a:ea typeface="Arial"/>
                <a:cs typeface="Arial"/>
              </a:defRPr>
            </a:lvl8pPr>
            <a:lvl9pPr algn="l">
              <a:defRPr sz="1800" b="0">
                <a:solidFill>
                  <a:srgbClr val="525252"/>
                </a:solidFill>
                <a:latin typeface="Arial"/>
                <a:ea typeface="Arial"/>
                <a:cs typeface="Arial"/>
              </a:defRPr>
            </a:lvl9pPr>
          </a:lstStyle>
          <a:p xmlns:a="http://schemas.openxmlformats.org/drawingml/2006/main">
            <a:pPr algn="l">
              <a:defRPr sz="1800" b="0">
                <a:solidFill>
                  <a:srgbClr val="525252"/>
                </a:solidFill>
                <a:latin typeface="Arial"/>
                <a:ea typeface="Arial"/>
                <a:cs typeface="Arial"/>
              </a:defRPr>
            </a:pPr>
            <a:r>
              <a:rPr sz="1800" b="0">
                <a:solidFill>
                  <a:srgbClr val="525252"/>
                </a:solidFill>
                <a:latin typeface="Arial"/>
                <a:ea typeface="Arial"/>
                <a:cs typeface="Arial"/>
              </a:rPr>
              <a:t>We repeat the same calculation many times and compare the average result with an ideal reference.</a:t>
            </a:r>
          </a:p>
        </p:txBody>
      </p:sp>
    </p:spTree>
    <p:extLst>
      <p:ext uri="{BB962C8B-B14F-4D97-AF65-F5344CB8AC3E}">
        <p14:creationId xmlns:p14="http://schemas.microsoft.com/office/powerpoint/2010/main" val="13092646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97E02E-27B4-45A9-8843-654BE4003CA5}"/>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B94FD809-8F0A-43A2-8237-2805C2D6011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experiment</a:t>
            </a:r>
          </a:p>
        </p:txBody>
      </p:sp>
      <p:sp>
        <p:nvSpPr>
          <p:cNvPr id="3" name="">
            <a:extLst xmlns:a="http://schemas.openxmlformats.org/drawingml/2006/main">
              <a:ext uri="{FF2B5EF4-FFF2-40B4-BE49-F238E27FC236}">
                <a16:creationId xmlns:a16="http://schemas.microsoft.com/office/drawing/2014/main" id="{7C4B61AF-AC7C-47F1-B67A-09167CF60B25}"/>
              </a:ext>
            </a:extLst>
          </p:cNvPr>
          <p:cNvSpPr>
            <a:spLocks xmlns:a="http://schemas.openxmlformats.org/drawingml/2006/main" noGrp="1"/>
          </p:cNvSpPr>
          <p:nvPr/>
        </p:nvSpPr>
        <p:spPr>
          <a:xfrm xmlns:a="http://schemas.openxmlformats.org/drawingml/2006/main">
            <a:off x="685800" y="1781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Circuit</a:t>
            </a:r>
          </a:p>
        </p:txBody>
      </p:sp>
      <p:sp>
        <p:nvSpPr>
          <p:cNvPr id="4" name="">
            <a:extLst xmlns:a="http://schemas.openxmlformats.org/drawingml/2006/main">
              <a:ext uri="{FF2B5EF4-FFF2-40B4-BE49-F238E27FC236}">
                <a16:creationId xmlns:a16="http://schemas.microsoft.com/office/drawing/2014/main" id="{93C1BB93-CDEC-4BAA-BFDA-292BCEB96183}"/>
              </a:ext>
            </a:extLst>
          </p:cNvPr>
          <p:cNvSpPr>
            <a:spLocks xmlns:a="http://schemas.openxmlformats.org/drawingml/2006/main" noGrp="1"/>
          </p:cNvSpPr>
          <p:nvPr/>
        </p:nvSpPr>
        <p:spPr>
          <a:xfrm xmlns:a="http://schemas.openxmlformats.org/drawingml/2006/main">
            <a:off x="685800" y="21526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61616"/>
                </a:solidFill>
                <a:latin typeface="Arial"/>
                <a:ea typeface="Arial"/>
                <a:cs typeface="Arial"/>
              </a:defRPr>
            </a:defPPr>
            <a:lvl1pPr algn="l">
              <a:defRPr sz="1950" b="0">
                <a:solidFill>
                  <a:srgbClr val="161616"/>
                </a:solidFill>
                <a:latin typeface="Arial"/>
                <a:ea typeface="Arial"/>
                <a:cs typeface="Arial"/>
              </a:defRPr>
            </a:lvl1pPr>
            <a:lvl2pPr algn="l">
              <a:defRPr sz="1950" b="0">
                <a:solidFill>
                  <a:srgbClr val="161616"/>
                </a:solidFill>
                <a:latin typeface="Arial"/>
                <a:ea typeface="Arial"/>
                <a:cs typeface="Arial"/>
              </a:defRPr>
            </a:lvl2pPr>
            <a:lvl3pPr algn="l">
              <a:defRPr sz="1950" b="0">
                <a:solidFill>
                  <a:srgbClr val="161616"/>
                </a:solidFill>
                <a:latin typeface="Arial"/>
                <a:ea typeface="Arial"/>
                <a:cs typeface="Arial"/>
              </a:defRPr>
            </a:lvl3pPr>
            <a:lvl4pPr algn="l">
              <a:defRPr sz="1950" b="0">
                <a:solidFill>
                  <a:srgbClr val="161616"/>
                </a:solidFill>
                <a:latin typeface="Arial"/>
                <a:ea typeface="Arial"/>
                <a:cs typeface="Arial"/>
              </a:defRPr>
            </a:lvl4pPr>
            <a:lvl5pPr algn="l">
              <a:defRPr sz="1950" b="0">
                <a:solidFill>
                  <a:srgbClr val="161616"/>
                </a:solidFill>
                <a:latin typeface="Arial"/>
                <a:ea typeface="Arial"/>
                <a:cs typeface="Arial"/>
              </a:defRPr>
            </a:lvl5pPr>
            <a:lvl6pPr algn="l">
              <a:defRPr sz="1950" b="0">
                <a:solidFill>
                  <a:srgbClr val="161616"/>
                </a:solidFill>
                <a:latin typeface="Arial"/>
                <a:ea typeface="Arial"/>
                <a:cs typeface="Arial"/>
              </a:defRPr>
            </a:lvl6pPr>
            <a:lvl7pPr algn="l">
              <a:defRPr sz="1950" b="0">
                <a:solidFill>
                  <a:srgbClr val="161616"/>
                </a:solidFill>
                <a:latin typeface="Arial"/>
                <a:ea typeface="Arial"/>
                <a:cs typeface="Arial"/>
              </a:defRPr>
            </a:lvl7pPr>
            <a:lvl8pPr algn="l">
              <a:defRPr sz="1950" b="0">
                <a:solidFill>
                  <a:srgbClr val="161616"/>
                </a:solidFill>
                <a:latin typeface="Arial"/>
                <a:ea typeface="Arial"/>
                <a:cs typeface="Arial"/>
              </a:defRPr>
            </a:lvl8pPr>
            <a:lvl9pPr algn="l">
              <a:defRPr sz="1950" b="0">
                <a:solidFill>
                  <a:srgbClr val="161616"/>
                </a:solidFill>
                <a:latin typeface="Arial"/>
                <a:ea typeface="Arial"/>
                <a:cs typeface="Arial"/>
              </a:defRPr>
            </a:lvl9pPr>
          </a:lstStyle>
          <a:p xmlns:a="http://schemas.openxmlformats.org/drawingml/2006/main">
            <a:pPr algn="l">
              <a:defRPr sz="1950" b="0">
                <a:solidFill>
                  <a:srgbClr val="161616"/>
                </a:solidFill>
                <a:latin typeface="Arial"/>
                <a:ea typeface="Arial"/>
                <a:cs typeface="Arial"/>
              </a:defRPr>
            </a:pPr>
            <a:r>
              <a:rPr sz="1950" b="0">
                <a:solidFill>
                  <a:srgbClr val="161616"/>
                </a:solidFill>
                <a:latin typeface="Arial"/>
                <a:ea typeface="Arial"/>
                <a:cs typeface="Arial"/>
              </a:rPr>
              <a:t>5 qubits in a chain, with 8 CZ entangling gates.</a:t>
            </a:r>
          </a:p>
        </p:txBody>
      </p:sp>
      <p:sp>
        <p:nvSpPr>
          <p:cNvPr id="5" name="">
            <a:extLst xmlns:a="http://schemas.openxmlformats.org/drawingml/2006/main">
              <a:ext uri="{FF2B5EF4-FFF2-40B4-BE49-F238E27FC236}">
                <a16:creationId xmlns:a16="http://schemas.microsoft.com/office/drawing/2014/main" id="{E8F8E556-3C6F-4AEE-9285-CEC231633294}"/>
              </a:ext>
            </a:extLst>
          </p:cNvPr>
          <p:cNvSpPr>
            <a:spLocks xmlns:a="http://schemas.openxmlformats.org/drawingml/2006/main" noGrp="1"/>
          </p:cNvSpPr>
          <p:nvPr/>
        </p:nvSpPr>
        <p:spPr>
          <a:xfrm xmlns:a="http://schemas.openxmlformats.org/drawingml/2006/main">
            <a:off x="6381750" y="17811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12099862-078A-4158-ACF3-7B1BF9DBE195}"/>
              </a:ext>
            </a:extLst>
          </p:cNvPr>
          <p:cNvSpPr>
            <a:spLocks xmlns:a="http://schemas.openxmlformats.org/drawingml/2006/main" noGrp="1"/>
          </p:cNvSpPr>
          <p:nvPr/>
        </p:nvSpPr>
        <p:spPr>
          <a:xfrm xmlns:a="http://schemas.openxmlformats.org/drawingml/2006/main">
            <a:off x="6381750" y="21526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Average X value of the center qubit, estimated with Qiskit’s Estimator primitive.</a:t>
            </a:r>
          </a:p>
        </p:txBody>
      </p:sp>
      <p:sp>
        <p:nvSpPr>
          <p:cNvPr id="7" name="">
            <a:extLst xmlns:a="http://schemas.openxmlformats.org/drawingml/2006/main">
              <a:ext uri="{FF2B5EF4-FFF2-40B4-BE49-F238E27FC236}">
                <a16:creationId xmlns:a16="http://schemas.microsoft.com/office/drawing/2014/main" id="{1EEEB045-FF46-4C33-9C3C-1D9DDC9BCB74}"/>
              </a:ext>
            </a:extLst>
          </p:cNvPr>
          <p:cNvSpPr>
            <a:spLocks xmlns:a="http://schemas.openxmlformats.org/drawingml/2006/main" noGrp="1"/>
          </p:cNvSpPr>
          <p:nvPr/>
        </p:nvSpPr>
        <p:spPr>
          <a:xfrm xmlns:a="http://schemas.openxmlformats.org/drawingml/2006/main">
            <a:off x="685800" y="3476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F49E03C1-1797-41A8-A395-32FB6FB688C8}"/>
              </a:ext>
            </a:extLst>
          </p:cNvPr>
          <p:cNvSpPr>
            <a:spLocks xmlns:a="http://schemas.openxmlformats.org/drawingml/2006/main" noGrp="1"/>
          </p:cNvSpPr>
          <p:nvPr/>
        </p:nvSpPr>
        <p:spPr>
          <a:xfrm xmlns:a="http://schemas.openxmlformats.org/drawingml/2006/main">
            <a:off x="685800" y="38481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Ideal simulation vs. simulated noisy circuit, then full PNA vs. SLC-selected PNA.</a:t>
            </a:r>
          </a:p>
        </p:txBody>
      </p:sp>
      <p:sp>
        <p:nvSpPr>
          <p:cNvPr id="9" name="">
            <a:extLst xmlns:a="http://schemas.openxmlformats.org/drawingml/2006/main">
              <a:ext uri="{FF2B5EF4-FFF2-40B4-BE49-F238E27FC236}">
                <a16:creationId xmlns:a16="http://schemas.microsoft.com/office/drawing/2014/main" id="{6238B456-74BF-4B53-9CFF-32FD9F851233}"/>
              </a:ext>
            </a:extLst>
          </p:cNvPr>
          <p:cNvSpPr>
            <a:spLocks xmlns:a="http://schemas.openxmlformats.org/drawingml/2006/main" noGrp="1"/>
          </p:cNvSpPr>
          <p:nvPr/>
        </p:nvSpPr>
        <p:spPr>
          <a:xfrm xmlns:a="http://schemas.openxmlformats.org/drawingml/2006/main">
            <a:off x="6381750" y="3476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Noise levels</a:t>
            </a:r>
          </a:p>
        </p:txBody>
      </p:sp>
      <p:sp>
        <p:nvSpPr>
          <p:cNvPr id="10" name="">
            <a:extLst xmlns:a="http://schemas.openxmlformats.org/drawingml/2006/main">
              <a:ext uri="{FF2B5EF4-FFF2-40B4-BE49-F238E27FC236}">
                <a16:creationId xmlns:a16="http://schemas.microsoft.com/office/drawing/2014/main" id="{452C5284-1349-443D-A3E0-D6AF84AAD6E8}"/>
              </a:ext>
            </a:extLst>
          </p:cNvPr>
          <p:cNvSpPr>
            <a:spLocks xmlns:a="http://schemas.openxmlformats.org/drawingml/2006/main" noGrp="1"/>
          </p:cNvSpPr>
          <p:nvPr/>
        </p:nvSpPr>
        <p:spPr>
          <a:xfrm xmlns:a="http://schemas.openxmlformats.org/drawingml/2006/main">
            <a:off x="6381750" y="384810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0.5×, 1× and 2× the same modeled error rates.</a:t>
            </a:r>
          </a:p>
        </p:txBody>
      </p:sp>
      <p:sp>
        <p:nvSpPr>
          <p:cNvPr id="11" name="">
            <a:extLst xmlns:a="http://schemas.openxmlformats.org/drawingml/2006/main">
              <a:ext uri="{FF2B5EF4-FFF2-40B4-BE49-F238E27FC236}">
                <a16:creationId xmlns:a16="http://schemas.microsoft.com/office/drawing/2014/main" id="{89A74DF9-7B67-4C1C-9AC0-62F5CB2E06A5}"/>
              </a:ext>
            </a:extLst>
          </p:cNvPr>
          <p:cNvSpPr>
            <a:spLocks xmlns:a="http://schemas.openxmlformats.org/drawingml/2006/main" noGrp="1"/>
          </p:cNvSpPr>
          <p:nvPr/>
        </p:nvSpPr>
        <p:spPr>
          <a:xfrm xmlns:a="http://schemas.openxmlformats.org/drawingml/2006/main">
            <a:off x="685800" y="5372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State fidelity is calculated directly from the simulator’s density matrix.</a:t>
            </a:r>
          </a:p>
        </p:txBody>
      </p:sp>
    </p:spTree>
    <p:extLst>
      <p:ext uri="{BB962C8B-B14F-4D97-AF65-F5344CB8AC3E}">
        <p14:creationId xmlns:p14="http://schemas.microsoft.com/office/powerpoint/2010/main" val="14676542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8B817F-70A5-44C8-8733-2F85B01A8AD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DB46468F-7569-4A1E-AEF2-E146569D92A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How the tools fit together</a:t>
            </a:r>
          </a:p>
        </p:txBody>
      </p:sp>
      <p:sp>
        <p:nvSpPr>
          <p:cNvPr id="3" name="">
            <a:extLst xmlns:a="http://schemas.openxmlformats.org/drawingml/2006/main">
              <a:ext uri="{FF2B5EF4-FFF2-40B4-BE49-F238E27FC236}">
                <a16:creationId xmlns:a16="http://schemas.microsoft.com/office/drawing/2014/main" id="{BD1CDABC-53AA-4E00-8753-ADF9AB57E2BB}"/>
              </a:ext>
            </a:extLst>
          </p:cNvPr>
          <p:cNvSpPr>
            <a:spLocks xmlns:a="http://schemas.openxmlformats.org/drawingml/2006/main" noGrp="1"/>
          </p:cNvSpPr>
          <p:nvPr/>
        </p:nvSpPr>
        <p:spPr>
          <a:xfrm xmlns:a="http://schemas.openxmlformats.org/drawingml/2006/main">
            <a:off x="685800" y="1752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62FE"/>
                </a:solidFill>
                <a:latin typeface="Arial"/>
                <a:ea typeface="Arial"/>
                <a:cs typeface="Arial"/>
              </a:defRPr>
            </a:defPPr>
            <a:lvl1pPr algn="l">
              <a:defRPr sz="1875" b="1">
                <a:solidFill>
                  <a:srgbClr val="0F62FE"/>
                </a:solidFill>
                <a:latin typeface="Arial"/>
                <a:ea typeface="Arial"/>
                <a:cs typeface="Arial"/>
              </a:defRPr>
            </a:lvl1pPr>
            <a:lvl2pPr algn="l">
              <a:defRPr sz="1875" b="1">
                <a:solidFill>
                  <a:srgbClr val="0F62FE"/>
                </a:solidFill>
                <a:latin typeface="Arial"/>
                <a:ea typeface="Arial"/>
                <a:cs typeface="Arial"/>
              </a:defRPr>
            </a:lvl2pPr>
            <a:lvl3pPr algn="l">
              <a:defRPr sz="1875" b="1">
                <a:solidFill>
                  <a:srgbClr val="0F62FE"/>
                </a:solidFill>
                <a:latin typeface="Arial"/>
                <a:ea typeface="Arial"/>
                <a:cs typeface="Arial"/>
              </a:defRPr>
            </a:lvl3pPr>
            <a:lvl4pPr algn="l">
              <a:defRPr sz="1875" b="1">
                <a:solidFill>
                  <a:srgbClr val="0F62FE"/>
                </a:solidFill>
                <a:latin typeface="Arial"/>
                <a:ea typeface="Arial"/>
                <a:cs typeface="Arial"/>
              </a:defRPr>
            </a:lvl4pPr>
            <a:lvl5pPr algn="l">
              <a:defRPr sz="1875" b="1">
                <a:solidFill>
                  <a:srgbClr val="0F62FE"/>
                </a:solidFill>
                <a:latin typeface="Arial"/>
                <a:ea typeface="Arial"/>
                <a:cs typeface="Arial"/>
              </a:defRPr>
            </a:lvl5pPr>
            <a:lvl6pPr algn="l">
              <a:defRPr sz="1875" b="1">
                <a:solidFill>
                  <a:srgbClr val="0F62FE"/>
                </a:solidFill>
                <a:latin typeface="Arial"/>
                <a:ea typeface="Arial"/>
                <a:cs typeface="Arial"/>
              </a:defRPr>
            </a:lvl6pPr>
            <a:lvl7pPr algn="l">
              <a:defRPr sz="1875" b="1">
                <a:solidFill>
                  <a:srgbClr val="0F62FE"/>
                </a:solidFill>
                <a:latin typeface="Arial"/>
                <a:ea typeface="Arial"/>
                <a:cs typeface="Arial"/>
              </a:defRPr>
            </a:lvl7pPr>
            <a:lvl8pPr algn="l">
              <a:defRPr sz="1875" b="1">
                <a:solidFill>
                  <a:srgbClr val="0F62FE"/>
                </a:solidFill>
                <a:latin typeface="Arial"/>
                <a:ea typeface="Arial"/>
                <a:cs typeface="Arial"/>
              </a:defRPr>
            </a:lvl8pPr>
            <a:lvl9pPr algn="l">
              <a:defRPr sz="1875" b="1">
                <a:solidFill>
                  <a:srgbClr val="0F62FE"/>
                </a:solidFill>
                <a:latin typeface="Arial"/>
                <a:ea typeface="Arial"/>
                <a:cs typeface="Arial"/>
              </a:defRPr>
            </a:lvl9pPr>
          </a:lstStyle>
          <a:p xmlns:a="http://schemas.openxmlformats.org/drawingml/2006/main">
            <a:pPr algn="l">
              <a:defRPr sz="1875" b="1">
                <a:solidFill>
                  <a:srgbClr val="0F62FE"/>
                </a:solidFill>
                <a:latin typeface="Arial"/>
                <a:ea typeface="Arial"/>
                <a:cs typeface="Arial"/>
              </a:defRPr>
            </a:pPr>
            <a:r>
              <a:rPr sz="1875" b="1">
                <a:solidFill>
                  <a:srgbClr val="0F62FE"/>
                </a:solidFill>
                <a:latin typeface="Arial"/>
                <a:ea typeface="Arial"/>
                <a:cs typeface="Arial"/>
              </a:rPr>
              <a:t>1  Estimate errors</a:t>
            </a:r>
          </a:p>
        </p:txBody>
      </p:sp>
      <p:sp>
        <p:nvSpPr>
          <p:cNvPr id="4" name="">
            <a:extLst xmlns:a="http://schemas.openxmlformats.org/drawingml/2006/main">
              <a:ext uri="{FF2B5EF4-FFF2-40B4-BE49-F238E27FC236}">
                <a16:creationId xmlns:a16="http://schemas.microsoft.com/office/drawing/2014/main" id="{6422E19D-9A06-406A-BD50-DB0A99740418}"/>
              </a:ext>
            </a:extLst>
          </p:cNvPr>
          <p:cNvSpPr>
            <a:spLocks xmlns:a="http://schemas.openxmlformats.org/drawingml/2006/main" noGrp="1"/>
          </p:cNvSpPr>
          <p:nvPr/>
        </p:nvSpPr>
        <p:spPr>
          <a:xfrm xmlns:a="http://schemas.openxmlformats.org/drawingml/2006/main">
            <a:off x="3714750" y="17526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Use a known, simulated calibration model for this local experiment.</a:t>
            </a:r>
          </a:p>
        </p:txBody>
      </p:sp>
      <p:sp>
        <p:nvSpPr>
          <p:cNvPr id="5" name="">
            <a:extLst xmlns:a="http://schemas.openxmlformats.org/drawingml/2006/main">
              <a:ext uri="{FF2B5EF4-FFF2-40B4-BE49-F238E27FC236}">
                <a16:creationId xmlns:a16="http://schemas.microsoft.com/office/drawing/2014/main" id="{5CC0DB8B-3E35-4215-B0C6-92321D572FD1}"/>
              </a:ext>
            </a:extLst>
          </p:cNvPr>
          <p:cNvSpPr>
            <a:spLocks xmlns:a="http://schemas.openxmlformats.org/drawingml/2006/main" noGrp="1"/>
          </p:cNvSpPr>
          <p:nvPr/>
        </p:nvSpPr>
        <p:spPr>
          <a:xfrm xmlns:a="http://schemas.openxmlformats.org/drawingml/2006/main">
            <a:off x="685800" y="24098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2  Focus the work</a:t>
            </a:r>
          </a:p>
        </p:txBody>
      </p:sp>
      <p:sp>
        <p:nvSpPr>
          <p:cNvPr id="6" name="">
            <a:extLst xmlns:a="http://schemas.openxmlformats.org/drawingml/2006/main">
              <a:ext uri="{FF2B5EF4-FFF2-40B4-BE49-F238E27FC236}">
                <a16:creationId xmlns:a16="http://schemas.microsoft.com/office/drawing/2014/main" id="{8A8304EC-4762-4FD0-ADBB-6F8AC0E86859}"/>
              </a:ext>
            </a:extLst>
          </p:cNvPr>
          <p:cNvSpPr>
            <a:spLocks xmlns:a="http://schemas.openxmlformats.org/drawingml/2006/main" noGrp="1"/>
          </p:cNvSpPr>
          <p:nvPr/>
        </p:nvSpPr>
        <p:spPr>
          <a:xfrm xmlns:a="http://schemas.openxmlformats.org/drawingml/2006/main">
            <a:off x="3714750" y="2409825"/>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SLC ranks errors by how much they can affect the chosen measurement.</a:t>
            </a:r>
          </a:p>
        </p:txBody>
      </p:sp>
      <p:sp>
        <p:nvSpPr>
          <p:cNvPr id="7" name="">
            <a:extLst xmlns:a="http://schemas.openxmlformats.org/drawingml/2006/main">
              <a:ext uri="{FF2B5EF4-FFF2-40B4-BE49-F238E27FC236}">
                <a16:creationId xmlns:a16="http://schemas.microsoft.com/office/drawing/2014/main" id="{E558912A-BE47-444C-A5DC-F26B5782C806}"/>
              </a:ext>
            </a:extLst>
          </p:cNvPr>
          <p:cNvSpPr>
            <a:spLocks xmlns:a="http://schemas.openxmlformats.org/drawingml/2006/main" noGrp="1"/>
          </p:cNvSpPr>
          <p:nvPr/>
        </p:nvSpPr>
        <p:spPr>
          <a:xfrm xmlns:a="http://schemas.openxmlformats.org/drawingml/2006/main">
            <a:off x="685800" y="3067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8A3FFC"/>
                </a:solidFill>
                <a:latin typeface="Arial"/>
                <a:ea typeface="Arial"/>
                <a:cs typeface="Arial"/>
              </a:defRPr>
            </a:defPPr>
            <a:lvl1pPr algn="l">
              <a:defRPr sz="1875" b="1">
                <a:solidFill>
                  <a:srgbClr val="8A3FFC"/>
                </a:solidFill>
                <a:latin typeface="Arial"/>
                <a:ea typeface="Arial"/>
                <a:cs typeface="Arial"/>
              </a:defRPr>
            </a:lvl1pPr>
            <a:lvl2pPr algn="l">
              <a:defRPr sz="1875" b="1">
                <a:solidFill>
                  <a:srgbClr val="8A3FFC"/>
                </a:solidFill>
                <a:latin typeface="Arial"/>
                <a:ea typeface="Arial"/>
                <a:cs typeface="Arial"/>
              </a:defRPr>
            </a:lvl2pPr>
            <a:lvl3pPr algn="l">
              <a:defRPr sz="1875" b="1">
                <a:solidFill>
                  <a:srgbClr val="8A3FFC"/>
                </a:solidFill>
                <a:latin typeface="Arial"/>
                <a:ea typeface="Arial"/>
                <a:cs typeface="Arial"/>
              </a:defRPr>
            </a:lvl3pPr>
            <a:lvl4pPr algn="l">
              <a:defRPr sz="1875" b="1">
                <a:solidFill>
                  <a:srgbClr val="8A3FFC"/>
                </a:solidFill>
                <a:latin typeface="Arial"/>
                <a:ea typeface="Arial"/>
                <a:cs typeface="Arial"/>
              </a:defRPr>
            </a:lvl4pPr>
            <a:lvl5pPr algn="l">
              <a:defRPr sz="1875" b="1">
                <a:solidFill>
                  <a:srgbClr val="8A3FFC"/>
                </a:solidFill>
                <a:latin typeface="Arial"/>
                <a:ea typeface="Arial"/>
                <a:cs typeface="Arial"/>
              </a:defRPr>
            </a:lvl5pPr>
            <a:lvl6pPr algn="l">
              <a:defRPr sz="1875" b="1">
                <a:solidFill>
                  <a:srgbClr val="8A3FFC"/>
                </a:solidFill>
                <a:latin typeface="Arial"/>
                <a:ea typeface="Arial"/>
                <a:cs typeface="Arial"/>
              </a:defRPr>
            </a:lvl6pPr>
            <a:lvl7pPr algn="l">
              <a:defRPr sz="1875" b="1">
                <a:solidFill>
                  <a:srgbClr val="8A3FFC"/>
                </a:solidFill>
                <a:latin typeface="Arial"/>
                <a:ea typeface="Arial"/>
                <a:cs typeface="Arial"/>
              </a:defRPr>
            </a:lvl7pPr>
            <a:lvl8pPr algn="l">
              <a:defRPr sz="1875" b="1">
                <a:solidFill>
                  <a:srgbClr val="8A3FFC"/>
                </a:solidFill>
                <a:latin typeface="Arial"/>
                <a:ea typeface="Arial"/>
                <a:cs typeface="Arial"/>
              </a:defRPr>
            </a:lvl8pPr>
            <a:lvl9pPr algn="l">
              <a:defRPr sz="1875" b="1">
                <a:solidFill>
                  <a:srgbClr val="8A3FFC"/>
                </a:solidFill>
                <a:latin typeface="Arial"/>
                <a:ea typeface="Arial"/>
                <a:cs typeface="Arial"/>
              </a:defRPr>
            </a:lvl9pPr>
          </a:lstStyle>
          <a:p xmlns:a="http://schemas.openxmlformats.org/drawingml/2006/main">
            <a:pPr algn="l">
              <a:defRPr sz="1875" b="1">
                <a:solidFill>
                  <a:srgbClr val="8A3FFC"/>
                </a:solidFill>
                <a:latin typeface="Arial"/>
                <a:ea typeface="Arial"/>
                <a:cs typeface="Arial"/>
              </a:defRPr>
            </a:pPr>
            <a:r>
              <a:rPr sz="1875" b="1">
                <a:solidFill>
                  <a:srgbClr val="8A3FFC"/>
                </a:solidFill>
                <a:latin typeface="Arial"/>
                <a:ea typeface="Arial"/>
                <a:cs typeface="Arial"/>
              </a:rPr>
              <a:t>3  Correct the result</a:t>
            </a:r>
          </a:p>
        </p:txBody>
      </p:sp>
      <p:sp>
        <p:nvSpPr>
          <p:cNvPr id="8" name="">
            <a:extLst xmlns:a="http://schemas.openxmlformats.org/drawingml/2006/main">
              <a:ext uri="{FF2B5EF4-FFF2-40B4-BE49-F238E27FC236}">
                <a16:creationId xmlns:a16="http://schemas.microsoft.com/office/drawing/2014/main" id="{0D254A03-E16E-4303-BFA9-4DFDDEC02A06}"/>
              </a:ext>
            </a:extLst>
          </p:cNvPr>
          <p:cNvSpPr>
            <a:spLocks xmlns:a="http://schemas.openxmlformats.org/drawingml/2006/main" noGrp="1"/>
          </p:cNvSpPr>
          <p:nvPr/>
        </p:nvSpPr>
        <p:spPr>
          <a:xfrm xmlns:a="http://schemas.openxmlformats.org/drawingml/2006/main">
            <a:off x="3714750" y="306705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PNA folds the modeled correction into the measured quantity.</a:t>
            </a:r>
          </a:p>
        </p:txBody>
      </p:sp>
      <p:sp>
        <p:nvSpPr>
          <p:cNvPr id="9" name="">
            <a:extLst xmlns:a="http://schemas.openxmlformats.org/drawingml/2006/main">
              <a:ext uri="{FF2B5EF4-FFF2-40B4-BE49-F238E27FC236}">
                <a16:creationId xmlns:a16="http://schemas.microsoft.com/office/drawing/2014/main" id="{2B35ED61-CFA9-41AF-A318-3C54649B2EDD}"/>
              </a:ext>
            </a:extLst>
          </p:cNvPr>
          <p:cNvSpPr>
            <a:spLocks xmlns:a="http://schemas.openxmlformats.org/drawingml/2006/main" noGrp="1"/>
          </p:cNvSpPr>
          <p:nvPr/>
        </p:nvSpPr>
        <p:spPr>
          <a:xfrm xmlns:a="http://schemas.openxmlformats.org/drawingml/2006/main">
            <a:off x="685800" y="40195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61616"/>
                </a:solidFill>
                <a:latin typeface="Arial"/>
                <a:ea typeface="Arial"/>
                <a:cs typeface="Arial"/>
              </a:defRPr>
            </a:defPPr>
            <a:lvl1pPr algn="l">
              <a:defRPr sz="1950" b="1">
                <a:solidFill>
                  <a:srgbClr val="161616"/>
                </a:solidFill>
                <a:latin typeface="Arial"/>
                <a:ea typeface="Arial"/>
                <a:cs typeface="Arial"/>
              </a:defRPr>
            </a:lvl1pPr>
            <a:lvl2pPr algn="l">
              <a:defRPr sz="1950" b="1">
                <a:solidFill>
                  <a:srgbClr val="161616"/>
                </a:solidFill>
                <a:latin typeface="Arial"/>
                <a:ea typeface="Arial"/>
                <a:cs typeface="Arial"/>
              </a:defRPr>
            </a:lvl2pPr>
            <a:lvl3pPr algn="l">
              <a:defRPr sz="1950" b="1">
                <a:solidFill>
                  <a:srgbClr val="161616"/>
                </a:solidFill>
                <a:latin typeface="Arial"/>
                <a:ea typeface="Arial"/>
                <a:cs typeface="Arial"/>
              </a:defRPr>
            </a:lvl3pPr>
            <a:lvl4pPr algn="l">
              <a:defRPr sz="1950" b="1">
                <a:solidFill>
                  <a:srgbClr val="161616"/>
                </a:solidFill>
                <a:latin typeface="Arial"/>
                <a:ea typeface="Arial"/>
                <a:cs typeface="Arial"/>
              </a:defRPr>
            </a:lvl4pPr>
            <a:lvl5pPr algn="l">
              <a:defRPr sz="1950" b="1">
                <a:solidFill>
                  <a:srgbClr val="161616"/>
                </a:solidFill>
                <a:latin typeface="Arial"/>
                <a:ea typeface="Arial"/>
                <a:cs typeface="Arial"/>
              </a:defRPr>
            </a:lvl5pPr>
            <a:lvl6pPr algn="l">
              <a:defRPr sz="1950" b="1">
                <a:solidFill>
                  <a:srgbClr val="161616"/>
                </a:solidFill>
                <a:latin typeface="Arial"/>
                <a:ea typeface="Arial"/>
                <a:cs typeface="Arial"/>
              </a:defRPr>
            </a:lvl6pPr>
            <a:lvl7pPr algn="l">
              <a:defRPr sz="1950" b="1">
                <a:solidFill>
                  <a:srgbClr val="161616"/>
                </a:solidFill>
                <a:latin typeface="Arial"/>
                <a:ea typeface="Arial"/>
                <a:cs typeface="Arial"/>
              </a:defRPr>
            </a:lvl7pPr>
            <a:lvl8pPr algn="l">
              <a:defRPr sz="1950" b="1">
                <a:solidFill>
                  <a:srgbClr val="161616"/>
                </a:solidFill>
                <a:latin typeface="Arial"/>
                <a:ea typeface="Arial"/>
                <a:cs typeface="Arial"/>
              </a:defRPr>
            </a:lvl8pPr>
            <a:lvl9pPr algn="l">
              <a:defRPr sz="1950" b="1">
                <a:solidFill>
                  <a:srgbClr val="161616"/>
                </a:solidFill>
                <a:latin typeface="Arial"/>
                <a:ea typeface="Arial"/>
                <a:cs typeface="Arial"/>
              </a:defRPr>
            </a:lvl9pPr>
          </a:lstStyle>
          <a:p xmlns:a="http://schemas.openxmlformats.org/drawingml/2006/main">
            <a:pPr algn="l">
              <a:defRPr sz="1950" b="1">
                <a:solidFill>
                  <a:srgbClr val="161616"/>
                </a:solidFill>
                <a:latin typeface="Arial"/>
                <a:ea typeface="Arial"/>
                <a:cs typeface="Arial"/>
              </a:defRPr>
            </a:pPr>
            <a:r>
              <a:rPr sz="1950" b="1">
                <a:solidFill>
                  <a:srgbClr val="161616"/>
                </a:solidFill>
                <a:latin typeface="Arial"/>
                <a:ea typeface="Arial"/>
                <a:cs typeface="Arial"/>
              </a:rPr>
              <a:t>Why not NoiseLearnerV3 here?</a:t>
            </a:r>
          </a:p>
        </p:txBody>
      </p:sp>
      <p:sp>
        <p:nvSpPr>
          <p:cNvPr id="10" name="">
            <a:extLst xmlns:a="http://schemas.openxmlformats.org/drawingml/2006/main">
              <a:ext uri="{FF2B5EF4-FFF2-40B4-BE49-F238E27FC236}">
                <a16:creationId xmlns:a16="http://schemas.microsoft.com/office/drawing/2014/main" id="{C6C28F21-5808-4D82-A6C1-BA9B5A1410B3}"/>
              </a:ext>
            </a:extLst>
          </p:cNvPr>
          <p:cNvSpPr>
            <a:spLocks xmlns:a="http://schemas.openxmlformats.org/drawingml/2006/main" noGrp="1"/>
          </p:cNvSpPr>
          <p:nvPr/>
        </p:nvSpPr>
        <p:spPr>
          <a:xfrm xmlns:a="http://schemas.openxmlformats.org/drawingml/2006/main">
            <a:off x="685800" y="4476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Its official workflow submits learning jobs to IBM Quantum. No IBM account is configured on this computer, so local rates are simulated inputs, not hardware measurements.</a:t>
            </a:r>
          </a:p>
        </p:txBody>
      </p:sp>
    </p:spTree>
    <p:extLst>
      <p:ext uri="{BB962C8B-B14F-4D97-AF65-F5344CB8AC3E}">
        <p14:creationId xmlns:p14="http://schemas.microsoft.com/office/powerpoint/2010/main" val="1786071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8F88A1-8253-4584-9F5F-A3BD7D55D788}"/>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E44DA5B1-0536-4D52-869B-EB5B94D8E67B}"/>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reduced the error model</a:t>
            </a:r>
          </a:p>
        </p:txBody>
      </p:sp>
      <p:graphicFrame>
        <p:nvGraphicFramePr>
          <p:cNvPr id="3" name="Chart">
            <a:extLst xmlns:a="http://schemas.openxmlformats.org/drawingml/2006/main">
              <a:ext uri="{FF2B5EF4-FFF2-40B4-BE49-F238E27FC236}">
                <a16:creationId xmlns:a16="http://schemas.microsoft.com/office/drawing/2014/main" id="{DFD0C01A-109D-4948-9300-5921560A93B2}"/>
              </a:ext>
            </a:extLst>
          </p:cNvPr>
          <p:cNvGraphicFramePr/>
          <p:nvPr/>
        </p:nvGraphicFramePr>
        <p:xfrm>
          <a:off xmlns:a="http://schemas.openxmlformats.org/drawingml/2006/main" x="666750" y="1809750"/>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62176b519bd94cc8"/>
          </a:graphicData>
        </a:graphic>
      </p:graphicFrame>
      <p:sp>
        <p:nvSpPr>
          <p:cNvPr id="4" name="">
            <a:extLst xmlns:a="http://schemas.openxmlformats.org/drawingml/2006/main">
              <a:ext uri="{FF2B5EF4-FFF2-40B4-BE49-F238E27FC236}">
                <a16:creationId xmlns:a16="http://schemas.microsoft.com/office/drawing/2014/main" id="{348336C9-24E8-4391-B6BB-51B818AE19EB}"/>
              </a:ext>
            </a:extLst>
          </p:cNvPr>
          <p:cNvSpPr>
            <a:spLocks xmlns:a="http://schemas.openxmlformats.org/drawingml/2006/main" noGrp="1"/>
          </p:cNvSpPr>
          <p:nvPr/>
        </p:nvSpPr>
        <p:spPr>
          <a:xfrm xmlns:a="http://schemas.openxmlformats.org/drawingml/2006/main">
            <a:off x="8048625" y="21907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F62FE"/>
                </a:solidFill>
                <a:latin typeface="Arial"/>
                <a:ea typeface="Arial"/>
                <a:cs typeface="Arial"/>
              </a:defRPr>
            </a:defPPr>
            <a:lvl1pPr algn="l">
              <a:defRPr sz="4500" b="1">
                <a:solidFill>
                  <a:srgbClr val="0F62FE"/>
                </a:solidFill>
                <a:latin typeface="Arial"/>
                <a:ea typeface="Arial"/>
                <a:cs typeface="Arial"/>
              </a:defRPr>
            </a:lvl1pPr>
            <a:lvl2pPr algn="l">
              <a:defRPr sz="4500" b="1">
                <a:solidFill>
                  <a:srgbClr val="0F62FE"/>
                </a:solidFill>
                <a:latin typeface="Arial"/>
                <a:ea typeface="Arial"/>
                <a:cs typeface="Arial"/>
              </a:defRPr>
            </a:lvl2pPr>
            <a:lvl3pPr algn="l">
              <a:defRPr sz="4500" b="1">
                <a:solidFill>
                  <a:srgbClr val="0F62FE"/>
                </a:solidFill>
                <a:latin typeface="Arial"/>
                <a:ea typeface="Arial"/>
                <a:cs typeface="Arial"/>
              </a:defRPr>
            </a:lvl3pPr>
            <a:lvl4pPr algn="l">
              <a:defRPr sz="4500" b="1">
                <a:solidFill>
                  <a:srgbClr val="0F62FE"/>
                </a:solidFill>
                <a:latin typeface="Arial"/>
                <a:ea typeface="Arial"/>
                <a:cs typeface="Arial"/>
              </a:defRPr>
            </a:lvl4pPr>
            <a:lvl5pPr algn="l">
              <a:defRPr sz="4500" b="1">
                <a:solidFill>
                  <a:srgbClr val="0F62FE"/>
                </a:solidFill>
                <a:latin typeface="Arial"/>
                <a:ea typeface="Arial"/>
                <a:cs typeface="Arial"/>
              </a:defRPr>
            </a:lvl5pPr>
            <a:lvl6pPr algn="l">
              <a:defRPr sz="4500" b="1">
                <a:solidFill>
                  <a:srgbClr val="0F62FE"/>
                </a:solidFill>
                <a:latin typeface="Arial"/>
                <a:ea typeface="Arial"/>
                <a:cs typeface="Arial"/>
              </a:defRPr>
            </a:lvl6pPr>
            <a:lvl7pPr algn="l">
              <a:defRPr sz="4500" b="1">
                <a:solidFill>
                  <a:srgbClr val="0F62FE"/>
                </a:solidFill>
                <a:latin typeface="Arial"/>
                <a:ea typeface="Arial"/>
                <a:cs typeface="Arial"/>
              </a:defRPr>
            </a:lvl7pPr>
            <a:lvl8pPr algn="l">
              <a:defRPr sz="4500" b="1">
                <a:solidFill>
                  <a:srgbClr val="0F62FE"/>
                </a:solidFill>
                <a:latin typeface="Arial"/>
                <a:ea typeface="Arial"/>
                <a:cs typeface="Arial"/>
              </a:defRPr>
            </a:lvl8pPr>
            <a:lvl9pPr algn="l">
              <a:defRPr sz="4500" b="1">
                <a:solidFill>
                  <a:srgbClr val="0F62FE"/>
                </a:solidFill>
                <a:latin typeface="Arial"/>
                <a:ea typeface="Arial"/>
                <a:cs typeface="Arial"/>
              </a:defRPr>
            </a:lvl9pPr>
          </a:lstStyle>
          <a:p xmlns:a="http://schemas.openxmlformats.org/drawingml/2006/main">
            <a:pPr algn="l">
              <a:defRPr sz="4500" b="1">
                <a:solidFill>
                  <a:srgbClr val="0F62FE"/>
                </a:solidFill>
                <a:latin typeface="Arial"/>
                <a:ea typeface="Arial"/>
                <a:cs typeface="Arial"/>
              </a:defRPr>
            </a:pPr>
            <a:r>
              <a:rPr sz="4500" b="1">
                <a:solidFill>
                  <a:srgbClr val="0F62FE"/>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B71BB09D-C82F-41B4-A79F-D9794AB8B31C}"/>
              </a:ext>
            </a:extLst>
          </p:cNvPr>
          <p:cNvSpPr>
            <a:spLocks xmlns:a="http://schemas.openxmlformats.org/drawingml/2006/main" noGrp="1"/>
          </p:cNvSpPr>
          <p:nvPr/>
        </p:nvSpPr>
        <p:spPr>
          <a:xfrm xmlns:a="http://schemas.openxmlformats.org/drawingml/2006/main">
            <a:off x="8048625" y="2952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fewer modeled error terms at 1× noise</a:t>
            </a:r>
          </a:p>
        </p:txBody>
      </p:sp>
      <p:sp>
        <p:nvSpPr>
          <p:cNvPr id="6" name="">
            <a:extLst xmlns:a="http://schemas.openxmlformats.org/drawingml/2006/main">
              <a:ext uri="{FF2B5EF4-FFF2-40B4-BE49-F238E27FC236}">
                <a16:creationId xmlns:a16="http://schemas.microsoft.com/office/drawing/2014/main" id="{0096E8FB-C530-45E0-BC63-AB0761114B81}"/>
              </a:ext>
            </a:extLst>
          </p:cNvPr>
          <p:cNvSpPr>
            <a:spLocks xmlns:a="http://schemas.openxmlformats.org/drawingml/2006/main" noGrp="1"/>
          </p:cNvSpPr>
          <p:nvPr/>
        </p:nvSpPr>
        <p:spPr>
          <a:xfrm xmlns:a="http://schemas.openxmlformats.org/drawingml/2006/main">
            <a:off x="8048625" y="3857625"/>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09D9A"/>
                </a:solidFill>
                <a:latin typeface="Arial"/>
                <a:ea typeface="Arial"/>
                <a:cs typeface="Arial"/>
              </a:defRPr>
            </a:defPPr>
            <a:lvl1pPr algn="l">
              <a:defRPr sz="4500" b="1">
                <a:solidFill>
                  <a:srgbClr val="009D9A"/>
                </a:solidFill>
                <a:latin typeface="Arial"/>
                <a:ea typeface="Arial"/>
                <a:cs typeface="Arial"/>
              </a:defRPr>
            </a:lvl1pPr>
            <a:lvl2pPr algn="l">
              <a:defRPr sz="4500" b="1">
                <a:solidFill>
                  <a:srgbClr val="009D9A"/>
                </a:solidFill>
                <a:latin typeface="Arial"/>
                <a:ea typeface="Arial"/>
                <a:cs typeface="Arial"/>
              </a:defRPr>
            </a:lvl2pPr>
            <a:lvl3pPr algn="l">
              <a:defRPr sz="4500" b="1">
                <a:solidFill>
                  <a:srgbClr val="009D9A"/>
                </a:solidFill>
                <a:latin typeface="Arial"/>
                <a:ea typeface="Arial"/>
                <a:cs typeface="Arial"/>
              </a:defRPr>
            </a:lvl3pPr>
            <a:lvl4pPr algn="l">
              <a:defRPr sz="4500" b="1">
                <a:solidFill>
                  <a:srgbClr val="009D9A"/>
                </a:solidFill>
                <a:latin typeface="Arial"/>
                <a:ea typeface="Arial"/>
                <a:cs typeface="Arial"/>
              </a:defRPr>
            </a:lvl4pPr>
            <a:lvl5pPr algn="l">
              <a:defRPr sz="4500" b="1">
                <a:solidFill>
                  <a:srgbClr val="009D9A"/>
                </a:solidFill>
                <a:latin typeface="Arial"/>
                <a:ea typeface="Arial"/>
                <a:cs typeface="Arial"/>
              </a:defRPr>
            </a:lvl5pPr>
            <a:lvl6pPr algn="l">
              <a:defRPr sz="4500" b="1">
                <a:solidFill>
                  <a:srgbClr val="009D9A"/>
                </a:solidFill>
                <a:latin typeface="Arial"/>
                <a:ea typeface="Arial"/>
                <a:cs typeface="Arial"/>
              </a:defRPr>
            </a:lvl6pPr>
            <a:lvl7pPr algn="l">
              <a:defRPr sz="4500" b="1">
                <a:solidFill>
                  <a:srgbClr val="009D9A"/>
                </a:solidFill>
                <a:latin typeface="Arial"/>
                <a:ea typeface="Arial"/>
                <a:cs typeface="Arial"/>
              </a:defRPr>
            </a:lvl7pPr>
            <a:lvl8pPr algn="l">
              <a:defRPr sz="4500" b="1">
                <a:solidFill>
                  <a:srgbClr val="009D9A"/>
                </a:solidFill>
                <a:latin typeface="Arial"/>
                <a:ea typeface="Arial"/>
                <a:cs typeface="Arial"/>
              </a:defRPr>
            </a:lvl8pPr>
            <a:lvl9pPr algn="l">
              <a:defRPr sz="4500" b="1">
                <a:solidFill>
                  <a:srgbClr val="009D9A"/>
                </a:solidFill>
                <a:latin typeface="Arial"/>
                <a:ea typeface="Arial"/>
                <a:cs typeface="Arial"/>
              </a:defRPr>
            </a:lvl9pPr>
          </a:lstStyle>
          <a:p xmlns:a="http://schemas.openxmlformats.org/drawingml/2006/main">
            <a:pPr algn="l">
              <a:defRPr sz="4500" b="1">
                <a:solidFill>
                  <a:srgbClr val="009D9A"/>
                </a:solidFill>
                <a:latin typeface="Arial"/>
                <a:ea typeface="Arial"/>
                <a:cs typeface="Arial"/>
              </a:defRPr>
            </a:pPr>
            <a:r>
              <a:rPr sz="4500" b="1">
                <a:solidFill>
                  <a:srgbClr val="009D9A"/>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B2B40BC6-3AA1-43CF-B98A-EFA1CA54124E}"/>
              </a:ext>
            </a:extLst>
          </p:cNvPr>
          <p:cNvSpPr>
            <a:spLocks xmlns:a="http://schemas.openxmlformats.org/drawingml/2006/main" noGrp="1"/>
          </p:cNvSpPr>
          <p:nvPr/>
        </p:nvSpPr>
        <p:spPr>
          <a:xfrm xmlns:a="http://schemas.openxmlformats.org/drawingml/2006/main">
            <a:off x="8048625" y="4619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less PNA setup time in this small run</a:t>
            </a:r>
          </a:p>
        </p:txBody>
      </p:sp>
      <p:sp>
        <p:nvSpPr>
          <p:cNvPr id="8" name="">
            <a:extLst xmlns:a="http://schemas.openxmlformats.org/drawingml/2006/main">
              <a:ext uri="{FF2B5EF4-FFF2-40B4-BE49-F238E27FC236}">
                <a16:creationId xmlns:a16="http://schemas.microsoft.com/office/drawing/2014/main" id="{5E69BE99-B450-4A78-BCF9-0CF3828D2B58}"/>
              </a:ext>
            </a:extLst>
          </p:cNvPr>
          <p:cNvSpPr>
            <a:spLocks xmlns:a="http://schemas.openxmlformats.org/drawingml/2006/main" noGrp="1"/>
          </p:cNvSpPr>
          <p:nvPr/>
        </p:nvSpPr>
        <p:spPr>
          <a:xfrm xmlns:a="http://schemas.openxmlformats.org/drawingml/2006/main">
            <a:off x="68580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At 1× noise, the SLC bias bound was 0.047 (under the 0.05 limit we set).</a:t>
            </a:r>
          </a:p>
        </p:txBody>
      </p:sp>
    </p:spTree>
    <p:extLst>
      <p:ext uri="{BB962C8B-B14F-4D97-AF65-F5344CB8AC3E}">
        <p14:creationId xmlns:p14="http://schemas.microsoft.com/office/powerpoint/2010/main" val="9308351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82253D-48F2-43FE-9B27-8ABF74144B4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8C13D7C-CA98-490E-8BB6-CC63ADE69A75}"/>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recovered the measured value</a:t>
            </a:r>
          </a:p>
        </p:txBody>
      </p:sp>
      <p:graphicFrame>
        <p:nvGraphicFramePr>
          <p:cNvPr id="3" name="Chart">
            <a:extLst xmlns:a="http://schemas.openxmlformats.org/drawingml/2006/main">
              <a:ext uri="{FF2B5EF4-FFF2-40B4-BE49-F238E27FC236}">
                <a16:creationId xmlns:a16="http://schemas.microsoft.com/office/drawing/2014/main" id="{DD95D159-E089-4F2F-9AAC-A5B4DAC586F9}"/>
              </a:ext>
            </a:extLst>
          </p:cNvPr>
          <p:cNvGraphicFramePr/>
          <p:nvPr/>
        </p:nvGraphicFramePr>
        <p:xfrm>
          <a:off xmlns:a="http://schemas.openxmlformats.org/drawingml/2006/main" x="609600" y="1695450"/>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f27c492c2dbc427d"/>
          </a:graphicData>
        </a:graphic>
      </p:graphicFrame>
      <p:sp>
        <p:nvSpPr>
          <p:cNvPr id="4" name="">
            <a:extLst xmlns:a="http://schemas.openxmlformats.org/drawingml/2006/main">
              <a:ext uri="{FF2B5EF4-FFF2-40B4-BE49-F238E27FC236}">
                <a16:creationId xmlns:a16="http://schemas.microsoft.com/office/drawing/2014/main" id="{E9C8EEB3-9295-4B13-870C-83A478ADFDDF}"/>
              </a:ext>
            </a:extLst>
          </p:cNvPr>
          <p:cNvSpPr>
            <a:spLocks xmlns:a="http://schemas.openxmlformats.org/drawingml/2006/main" noGrp="1"/>
          </p:cNvSpPr>
          <p:nvPr/>
        </p:nvSpPr>
        <p:spPr>
          <a:xfrm xmlns:a="http://schemas.openxmlformats.org/drawingml/2006/main">
            <a:off x="8858250" y="2133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2E2AE0DB-1A9E-4E83-9F40-DA7E437DC367}"/>
              </a:ext>
            </a:extLst>
          </p:cNvPr>
          <p:cNvSpPr>
            <a:spLocks xmlns:a="http://schemas.openxmlformats.org/drawingml/2006/main" noGrp="1"/>
          </p:cNvSpPr>
          <p:nvPr/>
        </p:nvSpPr>
        <p:spPr>
          <a:xfrm xmlns:a="http://schemas.openxmlformats.org/drawingml/2006/main">
            <a:off x="8858250" y="26003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832B"/>
                </a:solidFill>
                <a:latin typeface="Arial"/>
                <a:ea typeface="Arial"/>
                <a:cs typeface="Arial"/>
              </a:defRPr>
            </a:defPPr>
            <a:lvl1pPr algn="l">
              <a:defRPr sz="3150" b="1">
                <a:solidFill>
                  <a:srgbClr val="FF832B"/>
                </a:solidFill>
                <a:latin typeface="Arial"/>
                <a:ea typeface="Arial"/>
                <a:cs typeface="Arial"/>
              </a:defRPr>
            </a:lvl1pPr>
            <a:lvl2pPr algn="l">
              <a:defRPr sz="3150" b="1">
                <a:solidFill>
                  <a:srgbClr val="FF832B"/>
                </a:solidFill>
                <a:latin typeface="Arial"/>
                <a:ea typeface="Arial"/>
                <a:cs typeface="Arial"/>
              </a:defRPr>
            </a:lvl2pPr>
            <a:lvl3pPr algn="l">
              <a:defRPr sz="3150" b="1">
                <a:solidFill>
                  <a:srgbClr val="FF832B"/>
                </a:solidFill>
                <a:latin typeface="Arial"/>
                <a:ea typeface="Arial"/>
                <a:cs typeface="Arial"/>
              </a:defRPr>
            </a:lvl3pPr>
            <a:lvl4pPr algn="l">
              <a:defRPr sz="3150" b="1">
                <a:solidFill>
                  <a:srgbClr val="FF832B"/>
                </a:solidFill>
                <a:latin typeface="Arial"/>
                <a:ea typeface="Arial"/>
                <a:cs typeface="Arial"/>
              </a:defRPr>
            </a:lvl4pPr>
            <a:lvl5pPr algn="l">
              <a:defRPr sz="3150" b="1">
                <a:solidFill>
                  <a:srgbClr val="FF832B"/>
                </a:solidFill>
                <a:latin typeface="Arial"/>
                <a:ea typeface="Arial"/>
                <a:cs typeface="Arial"/>
              </a:defRPr>
            </a:lvl5pPr>
            <a:lvl6pPr algn="l">
              <a:defRPr sz="3150" b="1">
                <a:solidFill>
                  <a:srgbClr val="FF832B"/>
                </a:solidFill>
                <a:latin typeface="Arial"/>
                <a:ea typeface="Arial"/>
                <a:cs typeface="Arial"/>
              </a:defRPr>
            </a:lvl6pPr>
            <a:lvl7pPr algn="l">
              <a:defRPr sz="3150" b="1">
                <a:solidFill>
                  <a:srgbClr val="FF832B"/>
                </a:solidFill>
                <a:latin typeface="Arial"/>
                <a:ea typeface="Arial"/>
                <a:cs typeface="Arial"/>
              </a:defRPr>
            </a:lvl7pPr>
            <a:lvl8pPr algn="l">
              <a:defRPr sz="3150" b="1">
                <a:solidFill>
                  <a:srgbClr val="FF832B"/>
                </a:solidFill>
                <a:latin typeface="Arial"/>
                <a:ea typeface="Arial"/>
                <a:cs typeface="Arial"/>
              </a:defRPr>
            </a:lvl8pPr>
            <a:lvl9pPr algn="l">
              <a:defRPr sz="3150" b="1">
                <a:solidFill>
                  <a:srgbClr val="FF832B"/>
                </a:solidFill>
                <a:latin typeface="Arial"/>
                <a:ea typeface="Arial"/>
                <a:cs typeface="Arial"/>
              </a:defRPr>
            </a:lvl9pPr>
          </a:lstStyle>
          <a:p xmlns:a="http://schemas.openxmlformats.org/drawingml/2006/main">
            <a:pPr algn="l">
              <a:defRPr sz="3150" b="1">
                <a:solidFill>
                  <a:srgbClr val="FF832B"/>
                </a:solidFill>
                <a:latin typeface="Arial"/>
                <a:ea typeface="Arial"/>
                <a:cs typeface="Arial"/>
              </a:defRPr>
            </a:pPr>
            <a:r>
              <a:rPr sz="3150" b="1">
                <a:solidFill>
                  <a:srgbClr val="FF832B"/>
                </a:solidFill>
                <a:latin typeface="Arial"/>
                <a:ea typeface="Arial"/>
                <a:cs typeface="Arial"/>
              </a:rPr>
              <a:t>0.687</a:t>
            </a:r>
          </a:p>
        </p:txBody>
      </p:sp>
      <p:sp>
        <p:nvSpPr>
          <p:cNvPr id="6" name="">
            <a:extLst xmlns:a="http://schemas.openxmlformats.org/drawingml/2006/main">
              <a:ext uri="{FF2B5EF4-FFF2-40B4-BE49-F238E27FC236}">
                <a16:creationId xmlns:a16="http://schemas.microsoft.com/office/drawing/2014/main" id="{8BD9CD9E-DBDB-4EA1-BF37-39EB0B990348}"/>
              </a:ext>
            </a:extLst>
          </p:cNvPr>
          <p:cNvSpPr>
            <a:spLocks xmlns:a="http://schemas.openxmlformats.org/drawingml/2006/main" noGrp="1"/>
          </p:cNvSpPr>
          <p:nvPr/>
        </p:nvSpPr>
        <p:spPr>
          <a:xfrm xmlns:a="http://schemas.openxmlformats.org/drawingml/2006/main">
            <a:off x="8858250" y="3114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without correction</a:t>
            </a:r>
          </a:p>
        </p:txBody>
      </p:sp>
      <p:sp>
        <p:nvSpPr>
          <p:cNvPr id="7" name="">
            <a:extLst xmlns:a="http://schemas.openxmlformats.org/drawingml/2006/main">
              <a:ext uri="{FF2B5EF4-FFF2-40B4-BE49-F238E27FC236}">
                <a16:creationId xmlns:a16="http://schemas.microsoft.com/office/drawing/2014/main" id="{BB19C160-B7D0-4AE3-AAAF-2ADEDA7F256F}"/>
              </a:ext>
            </a:extLst>
          </p:cNvPr>
          <p:cNvSpPr>
            <a:spLocks xmlns:a="http://schemas.openxmlformats.org/drawingml/2006/main" noGrp="1"/>
          </p:cNvSpPr>
          <p:nvPr/>
        </p:nvSpPr>
        <p:spPr>
          <a:xfrm xmlns:a="http://schemas.openxmlformats.org/drawingml/2006/main">
            <a:off x="8858250" y="3714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F62FE"/>
                </a:solidFill>
                <a:latin typeface="Arial"/>
                <a:ea typeface="Arial"/>
                <a:cs typeface="Arial"/>
              </a:defRPr>
            </a:defPPr>
            <a:lvl1pPr algn="l">
              <a:defRPr sz="3150" b="1">
                <a:solidFill>
                  <a:srgbClr val="0F62FE"/>
                </a:solidFill>
                <a:latin typeface="Arial"/>
                <a:ea typeface="Arial"/>
                <a:cs typeface="Arial"/>
              </a:defRPr>
            </a:lvl1pPr>
            <a:lvl2pPr algn="l">
              <a:defRPr sz="3150" b="1">
                <a:solidFill>
                  <a:srgbClr val="0F62FE"/>
                </a:solidFill>
                <a:latin typeface="Arial"/>
                <a:ea typeface="Arial"/>
                <a:cs typeface="Arial"/>
              </a:defRPr>
            </a:lvl2pPr>
            <a:lvl3pPr algn="l">
              <a:defRPr sz="3150" b="1">
                <a:solidFill>
                  <a:srgbClr val="0F62FE"/>
                </a:solidFill>
                <a:latin typeface="Arial"/>
                <a:ea typeface="Arial"/>
                <a:cs typeface="Arial"/>
              </a:defRPr>
            </a:lvl3pPr>
            <a:lvl4pPr algn="l">
              <a:defRPr sz="3150" b="1">
                <a:solidFill>
                  <a:srgbClr val="0F62FE"/>
                </a:solidFill>
                <a:latin typeface="Arial"/>
                <a:ea typeface="Arial"/>
                <a:cs typeface="Arial"/>
              </a:defRPr>
            </a:lvl4pPr>
            <a:lvl5pPr algn="l">
              <a:defRPr sz="3150" b="1">
                <a:solidFill>
                  <a:srgbClr val="0F62FE"/>
                </a:solidFill>
                <a:latin typeface="Arial"/>
                <a:ea typeface="Arial"/>
                <a:cs typeface="Arial"/>
              </a:defRPr>
            </a:lvl5pPr>
            <a:lvl6pPr algn="l">
              <a:defRPr sz="3150" b="1">
                <a:solidFill>
                  <a:srgbClr val="0F62FE"/>
                </a:solidFill>
                <a:latin typeface="Arial"/>
                <a:ea typeface="Arial"/>
                <a:cs typeface="Arial"/>
              </a:defRPr>
            </a:lvl6pPr>
            <a:lvl7pPr algn="l">
              <a:defRPr sz="3150" b="1">
                <a:solidFill>
                  <a:srgbClr val="0F62FE"/>
                </a:solidFill>
                <a:latin typeface="Arial"/>
                <a:ea typeface="Arial"/>
                <a:cs typeface="Arial"/>
              </a:defRPr>
            </a:lvl7pPr>
            <a:lvl8pPr algn="l">
              <a:defRPr sz="3150" b="1">
                <a:solidFill>
                  <a:srgbClr val="0F62FE"/>
                </a:solidFill>
                <a:latin typeface="Arial"/>
                <a:ea typeface="Arial"/>
                <a:cs typeface="Arial"/>
              </a:defRPr>
            </a:lvl8pPr>
            <a:lvl9pPr algn="l">
              <a:defRPr sz="3150" b="1">
                <a:solidFill>
                  <a:srgbClr val="0F62FE"/>
                </a:solidFill>
                <a:latin typeface="Arial"/>
                <a:ea typeface="Arial"/>
                <a:cs typeface="Arial"/>
              </a:defRPr>
            </a:lvl9pPr>
          </a:lstStyle>
          <a:p xmlns:a="http://schemas.openxmlformats.org/drawingml/2006/main">
            <a:pPr algn="l">
              <a:defRPr sz="3150" b="1">
                <a:solidFill>
                  <a:srgbClr val="0F62FE"/>
                </a:solidFill>
                <a:latin typeface="Arial"/>
                <a:ea typeface="Arial"/>
                <a:cs typeface="Arial"/>
              </a:defRPr>
            </a:pPr>
            <a:r>
              <a:rPr sz="3150" b="1">
                <a:solidFill>
                  <a:srgbClr val="0F62FE"/>
                </a:solidFill>
                <a:latin typeface="Arial"/>
                <a:ea typeface="Arial"/>
                <a:cs typeface="Arial"/>
              </a:rPr>
              <a:t>0.977</a:t>
            </a:r>
          </a:p>
        </p:txBody>
      </p:sp>
      <p:sp>
        <p:nvSpPr>
          <p:cNvPr id="8" name="">
            <a:extLst xmlns:a="http://schemas.openxmlformats.org/drawingml/2006/main">
              <a:ext uri="{FF2B5EF4-FFF2-40B4-BE49-F238E27FC236}">
                <a16:creationId xmlns:a16="http://schemas.microsoft.com/office/drawing/2014/main" id="{A98E9E10-3EB1-4931-9991-BCAC6056AB8B}"/>
              </a:ext>
            </a:extLst>
          </p:cNvPr>
          <p:cNvSpPr>
            <a:spLocks xmlns:a="http://schemas.openxmlformats.org/drawingml/2006/main" noGrp="1"/>
          </p:cNvSpPr>
          <p:nvPr/>
        </p:nvSpPr>
        <p:spPr>
          <a:xfrm xmlns:a="http://schemas.openxmlformats.org/drawingml/2006/main">
            <a:off x="8858250" y="4229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full PNA</a:t>
            </a:r>
          </a:p>
        </p:txBody>
      </p:sp>
      <p:sp>
        <p:nvSpPr>
          <p:cNvPr id="9" name="">
            <a:extLst xmlns:a="http://schemas.openxmlformats.org/drawingml/2006/main">
              <a:ext uri="{FF2B5EF4-FFF2-40B4-BE49-F238E27FC236}">
                <a16:creationId xmlns:a16="http://schemas.microsoft.com/office/drawing/2014/main" id="{DFCCDE5F-AE38-4A59-B028-C25C75C0C111}"/>
              </a:ext>
            </a:extLst>
          </p:cNvPr>
          <p:cNvSpPr>
            <a:spLocks xmlns:a="http://schemas.openxmlformats.org/drawingml/2006/main" noGrp="1"/>
          </p:cNvSpPr>
          <p:nvPr/>
        </p:nvSpPr>
        <p:spPr>
          <a:xfrm xmlns:a="http://schemas.openxmlformats.org/drawingml/2006/main">
            <a:off x="8858250" y="48291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D9A"/>
                </a:solidFill>
                <a:latin typeface="Arial"/>
                <a:ea typeface="Arial"/>
                <a:cs typeface="Arial"/>
              </a:defRPr>
            </a:defPPr>
            <a:lvl1pPr algn="l">
              <a:defRPr sz="3150" b="1">
                <a:solidFill>
                  <a:srgbClr val="009D9A"/>
                </a:solidFill>
                <a:latin typeface="Arial"/>
                <a:ea typeface="Arial"/>
                <a:cs typeface="Arial"/>
              </a:defRPr>
            </a:lvl1pPr>
            <a:lvl2pPr algn="l">
              <a:defRPr sz="3150" b="1">
                <a:solidFill>
                  <a:srgbClr val="009D9A"/>
                </a:solidFill>
                <a:latin typeface="Arial"/>
                <a:ea typeface="Arial"/>
                <a:cs typeface="Arial"/>
              </a:defRPr>
            </a:lvl2pPr>
            <a:lvl3pPr algn="l">
              <a:defRPr sz="3150" b="1">
                <a:solidFill>
                  <a:srgbClr val="009D9A"/>
                </a:solidFill>
                <a:latin typeface="Arial"/>
                <a:ea typeface="Arial"/>
                <a:cs typeface="Arial"/>
              </a:defRPr>
            </a:lvl3pPr>
            <a:lvl4pPr algn="l">
              <a:defRPr sz="3150" b="1">
                <a:solidFill>
                  <a:srgbClr val="009D9A"/>
                </a:solidFill>
                <a:latin typeface="Arial"/>
                <a:ea typeface="Arial"/>
                <a:cs typeface="Arial"/>
              </a:defRPr>
            </a:lvl4pPr>
            <a:lvl5pPr algn="l">
              <a:defRPr sz="3150" b="1">
                <a:solidFill>
                  <a:srgbClr val="009D9A"/>
                </a:solidFill>
                <a:latin typeface="Arial"/>
                <a:ea typeface="Arial"/>
                <a:cs typeface="Arial"/>
              </a:defRPr>
            </a:lvl5pPr>
            <a:lvl6pPr algn="l">
              <a:defRPr sz="3150" b="1">
                <a:solidFill>
                  <a:srgbClr val="009D9A"/>
                </a:solidFill>
                <a:latin typeface="Arial"/>
                <a:ea typeface="Arial"/>
                <a:cs typeface="Arial"/>
              </a:defRPr>
            </a:lvl6pPr>
            <a:lvl7pPr algn="l">
              <a:defRPr sz="3150" b="1">
                <a:solidFill>
                  <a:srgbClr val="009D9A"/>
                </a:solidFill>
                <a:latin typeface="Arial"/>
                <a:ea typeface="Arial"/>
                <a:cs typeface="Arial"/>
              </a:defRPr>
            </a:lvl7pPr>
            <a:lvl8pPr algn="l">
              <a:defRPr sz="3150" b="1">
                <a:solidFill>
                  <a:srgbClr val="009D9A"/>
                </a:solidFill>
                <a:latin typeface="Arial"/>
                <a:ea typeface="Arial"/>
                <a:cs typeface="Arial"/>
              </a:defRPr>
            </a:lvl8pPr>
            <a:lvl9pPr algn="l">
              <a:defRPr sz="3150" b="1">
                <a:solidFill>
                  <a:srgbClr val="009D9A"/>
                </a:solidFill>
                <a:latin typeface="Arial"/>
                <a:ea typeface="Arial"/>
                <a:cs typeface="Arial"/>
              </a:defRPr>
            </a:lvl9pPr>
          </a:lstStyle>
          <a:p xmlns:a="http://schemas.openxmlformats.org/drawingml/2006/main">
            <a:pPr algn="l">
              <a:defRPr sz="3150" b="1">
                <a:solidFill>
                  <a:srgbClr val="009D9A"/>
                </a:solidFill>
                <a:latin typeface="Arial"/>
                <a:ea typeface="Arial"/>
                <a:cs typeface="Arial"/>
              </a:defRPr>
            </a:pPr>
            <a:r>
              <a:rPr sz="3150" b="1">
                <a:solidFill>
                  <a:srgbClr val="009D9A"/>
                </a:solidFill>
                <a:latin typeface="Arial"/>
                <a:ea typeface="Arial"/>
                <a:cs typeface="Arial"/>
              </a:rPr>
              <a:t>0.962</a:t>
            </a:r>
          </a:p>
        </p:txBody>
      </p:sp>
      <p:sp>
        <p:nvSpPr>
          <p:cNvPr id="10" name="">
            <a:extLst xmlns:a="http://schemas.openxmlformats.org/drawingml/2006/main">
              <a:ext uri="{FF2B5EF4-FFF2-40B4-BE49-F238E27FC236}">
                <a16:creationId xmlns:a16="http://schemas.microsoft.com/office/drawing/2014/main" id="{3B0BEC87-0708-487C-AE71-AFA92ACDB98C}"/>
              </a:ext>
            </a:extLst>
          </p:cNvPr>
          <p:cNvSpPr>
            <a:spLocks xmlns:a="http://schemas.openxmlformats.org/drawingml/2006/main" noGrp="1"/>
          </p:cNvSpPr>
          <p:nvPr/>
        </p:nvSpPr>
        <p:spPr>
          <a:xfrm xmlns:a="http://schemas.openxmlformats.org/drawingml/2006/main">
            <a:off x="8858250" y="53435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SLC + PNA</a:t>
            </a:r>
          </a:p>
        </p:txBody>
      </p:sp>
    </p:spTree>
    <p:extLst>
      <p:ext uri="{BB962C8B-B14F-4D97-AF65-F5344CB8AC3E}">
        <p14:creationId xmlns:p14="http://schemas.microsoft.com/office/powerpoint/2010/main" val="14577773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7A2984-EC14-4EA3-9656-78599CB44BB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F70D355C-9128-4D69-BE78-3264BD84AEA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lifted the fidelity estimate near ideal</a:t>
            </a:r>
          </a:p>
        </p:txBody>
      </p:sp>
      <p:graphicFrame>
        <p:nvGraphicFramePr>
          <p:cNvPr id="3" name="Chart">
            <a:extLst xmlns:a="http://schemas.openxmlformats.org/drawingml/2006/main">
              <a:ext uri="{FF2B5EF4-FFF2-40B4-BE49-F238E27FC236}">
                <a16:creationId xmlns:a16="http://schemas.microsoft.com/office/drawing/2014/main" id="{F24BCFB1-54E9-4447-85B2-2719C3AE08E9}"/>
              </a:ext>
            </a:extLst>
          </p:cNvPr>
          <p:cNvGraphicFramePr/>
          <p:nvPr/>
        </p:nvGraphicFramePr>
        <p:xfrm>
          <a:off xmlns:a="http://schemas.openxmlformats.org/drawingml/2006/main" x="714375" y="1762125"/>
          <a:ext xmlns:a="http://schemas.openxmlformats.org/drawingml/2006/main" cx="7048500" cy="3905250"/>
        </p:xfrm>
        <a:graphic xmlns:a="http://schemas.openxmlformats.org/drawingml/2006/main">
          <a:graphicData uri="http://schemas.openxmlformats.org/drawingml/2006/chart">
            <c:chart xmlns:r="http://schemas.openxmlformats.org/officeDocument/2006/relationships" xmlns:c="http://schemas.openxmlformats.org/drawingml/2006/chart" r:id="Rbfa5db7133364b20"/>
          </a:graphicData>
        </a:graphic>
      </p:graphicFrame>
      <p:sp>
        <p:nvSpPr>
          <p:cNvPr id="4" name="">
            <a:extLst xmlns:a="http://schemas.openxmlformats.org/drawingml/2006/main">
              <a:ext uri="{FF2B5EF4-FFF2-40B4-BE49-F238E27FC236}">
                <a16:creationId xmlns:a16="http://schemas.microsoft.com/office/drawing/2014/main" id="{ECA6ADB4-CD12-4CAA-B951-6CBE4330DD45}"/>
              </a:ext>
            </a:extLst>
          </p:cNvPr>
          <p:cNvSpPr>
            <a:spLocks xmlns:a="http://schemas.openxmlformats.org/drawingml/2006/main" noGrp="1"/>
          </p:cNvSpPr>
          <p:nvPr/>
        </p:nvSpPr>
        <p:spPr>
          <a:xfrm xmlns:a="http://schemas.openxmlformats.org/drawingml/2006/main">
            <a:off x="8524875" y="21907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25252"/>
                </a:solidFill>
                <a:latin typeface="Arial"/>
                <a:ea typeface="Arial"/>
                <a:cs typeface="Arial"/>
              </a:defRPr>
            </a:defPPr>
            <a:lvl1pPr algn="l">
              <a:defRPr sz="1575" b="1">
                <a:solidFill>
                  <a:srgbClr val="525252"/>
                </a:solidFill>
                <a:latin typeface="Arial"/>
                <a:ea typeface="Arial"/>
                <a:cs typeface="Arial"/>
              </a:defRPr>
            </a:lvl1pPr>
            <a:lvl2pPr algn="l">
              <a:defRPr sz="1575" b="1">
                <a:solidFill>
                  <a:srgbClr val="525252"/>
                </a:solidFill>
                <a:latin typeface="Arial"/>
                <a:ea typeface="Arial"/>
                <a:cs typeface="Arial"/>
              </a:defRPr>
            </a:lvl2pPr>
            <a:lvl3pPr algn="l">
              <a:defRPr sz="1575" b="1">
                <a:solidFill>
                  <a:srgbClr val="525252"/>
                </a:solidFill>
                <a:latin typeface="Arial"/>
                <a:ea typeface="Arial"/>
                <a:cs typeface="Arial"/>
              </a:defRPr>
            </a:lvl3pPr>
            <a:lvl4pPr algn="l">
              <a:defRPr sz="1575" b="1">
                <a:solidFill>
                  <a:srgbClr val="525252"/>
                </a:solidFill>
                <a:latin typeface="Arial"/>
                <a:ea typeface="Arial"/>
                <a:cs typeface="Arial"/>
              </a:defRPr>
            </a:lvl4pPr>
            <a:lvl5pPr algn="l">
              <a:defRPr sz="1575" b="1">
                <a:solidFill>
                  <a:srgbClr val="525252"/>
                </a:solidFill>
                <a:latin typeface="Arial"/>
                <a:ea typeface="Arial"/>
                <a:cs typeface="Arial"/>
              </a:defRPr>
            </a:lvl5pPr>
            <a:lvl6pPr algn="l">
              <a:defRPr sz="1575" b="1">
                <a:solidFill>
                  <a:srgbClr val="525252"/>
                </a:solidFill>
                <a:latin typeface="Arial"/>
                <a:ea typeface="Arial"/>
                <a:cs typeface="Arial"/>
              </a:defRPr>
            </a:lvl6pPr>
            <a:lvl7pPr algn="l">
              <a:defRPr sz="1575" b="1">
                <a:solidFill>
                  <a:srgbClr val="525252"/>
                </a:solidFill>
                <a:latin typeface="Arial"/>
                <a:ea typeface="Arial"/>
                <a:cs typeface="Arial"/>
              </a:defRPr>
            </a:lvl7pPr>
            <a:lvl8pPr algn="l">
              <a:defRPr sz="1575" b="1">
                <a:solidFill>
                  <a:srgbClr val="525252"/>
                </a:solidFill>
                <a:latin typeface="Arial"/>
                <a:ea typeface="Arial"/>
                <a:cs typeface="Arial"/>
              </a:defRPr>
            </a:lvl8pPr>
            <a:lvl9pPr algn="l">
              <a:defRPr sz="1575" b="1">
                <a:solidFill>
                  <a:srgbClr val="525252"/>
                </a:solidFill>
                <a:latin typeface="Arial"/>
                <a:ea typeface="Arial"/>
                <a:cs typeface="Arial"/>
              </a:defRPr>
            </a:lvl9pPr>
          </a:lstStyle>
          <a:p xmlns:a="http://schemas.openxmlformats.org/drawingml/2006/main">
            <a:pPr algn="l">
              <a:defRPr sz="1575" b="1">
                <a:solidFill>
                  <a:srgbClr val="525252"/>
                </a:solidFill>
                <a:latin typeface="Arial"/>
                <a:ea typeface="Arial"/>
                <a:cs typeface="Arial"/>
              </a:defRPr>
            </a:pPr>
            <a:r>
              <a:rPr sz="1575"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2538E132-4164-4D50-B623-A59CF7187B0C}"/>
              </a:ext>
            </a:extLst>
          </p:cNvPr>
          <p:cNvSpPr>
            <a:spLocks xmlns:a="http://schemas.openxmlformats.org/drawingml/2006/main" noGrp="1"/>
          </p:cNvSpPr>
          <p:nvPr/>
        </p:nvSpPr>
        <p:spPr>
          <a:xfrm xmlns:a="http://schemas.openxmlformats.org/drawingml/2006/main">
            <a:off x="8524875" y="263842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8A3FFC"/>
                </a:solidFill>
                <a:latin typeface="Arial"/>
                <a:ea typeface="Arial"/>
                <a:cs typeface="Arial"/>
              </a:defRPr>
            </a:defPPr>
            <a:lvl1pPr algn="l">
              <a:defRPr sz="2925" b="1">
                <a:solidFill>
                  <a:srgbClr val="8A3FFC"/>
                </a:solidFill>
                <a:latin typeface="Arial"/>
                <a:ea typeface="Arial"/>
                <a:cs typeface="Arial"/>
              </a:defRPr>
            </a:lvl1pPr>
            <a:lvl2pPr algn="l">
              <a:defRPr sz="2925" b="1">
                <a:solidFill>
                  <a:srgbClr val="8A3FFC"/>
                </a:solidFill>
                <a:latin typeface="Arial"/>
                <a:ea typeface="Arial"/>
                <a:cs typeface="Arial"/>
              </a:defRPr>
            </a:lvl2pPr>
            <a:lvl3pPr algn="l">
              <a:defRPr sz="2925" b="1">
                <a:solidFill>
                  <a:srgbClr val="8A3FFC"/>
                </a:solidFill>
                <a:latin typeface="Arial"/>
                <a:ea typeface="Arial"/>
                <a:cs typeface="Arial"/>
              </a:defRPr>
            </a:lvl3pPr>
            <a:lvl4pPr algn="l">
              <a:defRPr sz="2925" b="1">
                <a:solidFill>
                  <a:srgbClr val="8A3FFC"/>
                </a:solidFill>
                <a:latin typeface="Arial"/>
                <a:ea typeface="Arial"/>
                <a:cs typeface="Arial"/>
              </a:defRPr>
            </a:lvl4pPr>
            <a:lvl5pPr algn="l">
              <a:defRPr sz="2925" b="1">
                <a:solidFill>
                  <a:srgbClr val="8A3FFC"/>
                </a:solidFill>
                <a:latin typeface="Arial"/>
                <a:ea typeface="Arial"/>
                <a:cs typeface="Arial"/>
              </a:defRPr>
            </a:lvl5pPr>
            <a:lvl6pPr algn="l">
              <a:defRPr sz="2925" b="1">
                <a:solidFill>
                  <a:srgbClr val="8A3FFC"/>
                </a:solidFill>
                <a:latin typeface="Arial"/>
                <a:ea typeface="Arial"/>
                <a:cs typeface="Arial"/>
              </a:defRPr>
            </a:lvl6pPr>
            <a:lvl7pPr algn="l">
              <a:defRPr sz="2925" b="1">
                <a:solidFill>
                  <a:srgbClr val="8A3FFC"/>
                </a:solidFill>
                <a:latin typeface="Arial"/>
                <a:ea typeface="Arial"/>
                <a:cs typeface="Arial"/>
              </a:defRPr>
            </a:lvl7pPr>
            <a:lvl8pPr algn="l">
              <a:defRPr sz="2925" b="1">
                <a:solidFill>
                  <a:srgbClr val="8A3FFC"/>
                </a:solidFill>
                <a:latin typeface="Arial"/>
                <a:ea typeface="Arial"/>
                <a:cs typeface="Arial"/>
              </a:defRPr>
            </a:lvl8pPr>
            <a:lvl9pPr algn="l">
              <a:defRPr sz="2925" b="1">
                <a:solidFill>
                  <a:srgbClr val="8A3FFC"/>
                </a:solidFill>
                <a:latin typeface="Arial"/>
                <a:ea typeface="Arial"/>
                <a:cs typeface="Arial"/>
              </a:defRPr>
            </a:lvl9pPr>
          </a:lstStyle>
          <a:p xmlns:a="http://schemas.openxmlformats.org/drawingml/2006/main">
            <a:pPr algn="l">
              <a:defRPr sz="2925" b="1">
                <a:solidFill>
                  <a:srgbClr val="8A3FFC"/>
                </a:solidFill>
                <a:latin typeface="Arial"/>
                <a:ea typeface="Arial"/>
                <a:cs typeface="Arial"/>
              </a:defRPr>
            </a:pPr>
            <a:r>
              <a:rPr sz="2925" b="1">
                <a:solidFill>
                  <a:srgbClr val="8A3FFC"/>
                </a:solidFill>
                <a:latin typeface="Arial"/>
                <a:ea typeface="Arial"/>
                <a:cs typeface="Arial"/>
              </a:rPr>
              <a:t>0.695</a:t>
            </a:r>
          </a:p>
        </p:txBody>
      </p:sp>
      <p:sp>
        <p:nvSpPr>
          <p:cNvPr id="6" name="">
            <a:extLst xmlns:a="http://schemas.openxmlformats.org/drawingml/2006/main">
              <a:ext uri="{FF2B5EF4-FFF2-40B4-BE49-F238E27FC236}">
                <a16:creationId xmlns:a16="http://schemas.microsoft.com/office/drawing/2014/main" id="{90D5D1A1-DBDA-415B-91ED-ECA519291BB2}"/>
              </a:ext>
            </a:extLst>
          </p:cNvPr>
          <p:cNvSpPr>
            <a:spLocks xmlns:a="http://schemas.openxmlformats.org/drawingml/2006/main" noGrp="1"/>
          </p:cNvSpPr>
          <p:nvPr/>
        </p:nvSpPr>
        <p:spPr>
          <a:xfrm xmlns:a="http://schemas.openxmlformats.org/drawingml/2006/main">
            <a:off x="8524875" y="3143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noisy-state fidelity</a:t>
            </a:r>
          </a:p>
        </p:txBody>
      </p:sp>
      <p:sp>
        <p:nvSpPr>
          <p:cNvPr id="7" name="">
            <a:extLst xmlns:a="http://schemas.openxmlformats.org/drawingml/2006/main">
              <a:ext uri="{FF2B5EF4-FFF2-40B4-BE49-F238E27FC236}">
                <a16:creationId xmlns:a16="http://schemas.microsoft.com/office/drawing/2014/main" id="{CD529331-81A2-4CEE-8175-B6540289909C}"/>
              </a:ext>
            </a:extLst>
          </p:cNvPr>
          <p:cNvSpPr>
            <a:spLocks xmlns:a="http://schemas.openxmlformats.org/drawingml/2006/main" noGrp="1"/>
          </p:cNvSpPr>
          <p:nvPr/>
        </p:nvSpPr>
        <p:spPr>
          <a:xfrm xmlns:a="http://schemas.openxmlformats.org/drawingml/2006/main">
            <a:off x="8524875" y="37623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F62FE"/>
                </a:solidFill>
                <a:latin typeface="Arial"/>
                <a:ea typeface="Arial"/>
                <a:cs typeface="Arial"/>
              </a:defRPr>
            </a:defPPr>
            <a:lvl1pPr algn="l">
              <a:defRPr sz="2925" b="1">
                <a:solidFill>
                  <a:srgbClr val="0F62FE"/>
                </a:solidFill>
                <a:latin typeface="Arial"/>
                <a:ea typeface="Arial"/>
                <a:cs typeface="Arial"/>
              </a:defRPr>
            </a:lvl1pPr>
            <a:lvl2pPr algn="l">
              <a:defRPr sz="2925" b="1">
                <a:solidFill>
                  <a:srgbClr val="0F62FE"/>
                </a:solidFill>
                <a:latin typeface="Arial"/>
                <a:ea typeface="Arial"/>
                <a:cs typeface="Arial"/>
              </a:defRPr>
            </a:lvl2pPr>
            <a:lvl3pPr algn="l">
              <a:defRPr sz="2925" b="1">
                <a:solidFill>
                  <a:srgbClr val="0F62FE"/>
                </a:solidFill>
                <a:latin typeface="Arial"/>
                <a:ea typeface="Arial"/>
                <a:cs typeface="Arial"/>
              </a:defRPr>
            </a:lvl3pPr>
            <a:lvl4pPr algn="l">
              <a:defRPr sz="2925" b="1">
                <a:solidFill>
                  <a:srgbClr val="0F62FE"/>
                </a:solidFill>
                <a:latin typeface="Arial"/>
                <a:ea typeface="Arial"/>
                <a:cs typeface="Arial"/>
              </a:defRPr>
            </a:lvl4pPr>
            <a:lvl5pPr algn="l">
              <a:defRPr sz="2925" b="1">
                <a:solidFill>
                  <a:srgbClr val="0F62FE"/>
                </a:solidFill>
                <a:latin typeface="Arial"/>
                <a:ea typeface="Arial"/>
                <a:cs typeface="Arial"/>
              </a:defRPr>
            </a:lvl5pPr>
            <a:lvl6pPr algn="l">
              <a:defRPr sz="2925" b="1">
                <a:solidFill>
                  <a:srgbClr val="0F62FE"/>
                </a:solidFill>
                <a:latin typeface="Arial"/>
                <a:ea typeface="Arial"/>
                <a:cs typeface="Arial"/>
              </a:defRPr>
            </a:lvl6pPr>
            <a:lvl7pPr algn="l">
              <a:defRPr sz="2925" b="1">
                <a:solidFill>
                  <a:srgbClr val="0F62FE"/>
                </a:solidFill>
                <a:latin typeface="Arial"/>
                <a:ea typeface="Arial"/>
                <a:cs typeface="Arial"/>
              </a:defRPr>
            </a:lvl7pPr>
            <a:lvl8pPr algn="l">
              <a:defRPr sz="2925" b="1">
                <a:solidFill>
                  <a:srgbClr val="0F62FE"/>
                </a:solidFill>
                <a:latin typeface="Arial"/>
                <a:ea typeface="Arial"/>
                <a:cs typeface="Arial"/>
              </a:defRPr>
            </a:lvl8pPr>
            <a:lvl9pPr algn="l">
              <a:defRPr sz="2925" b="1">
                <a:solidFill>
                  <a:srgbClr val="0F62FE"/>
                </a:solidFill>
                <a:latin typeface="Arial"/>
                <a:ea typeface="Arial"/>
                <a:cs typeface="Arial"/>
              </a:defRPr>
            </a:lvl9pPr>
          </a:lstStyle>
          <a:p xmlns:a="http://schemas.openxmlformats.org/drawingml/2006/main">
            <a:pPr algn="l">
              <a:defRPr sz="2925" b="1">
                <a:solidFill>
                  <a:srgbClr val="0F62FE"/>
                </a:solidFill>
                <a:latin typeface="Arial"/>
                <a:ea typeface="Arial"/>
                <a:cs typeface="Arial"/>
              </a:defRPr>
            </a:pPr>
            <a:r>
              <a:rPr sz="2925" b="1">
                <a:solidFill>
                  <a:srgbClr val="0F62FE"/>
                </a:solidFill>
                <a:latin typeface="Arial"/>
                <a:ea typeface="Arial"/>
                <a:cs typeface="Arial"/>
              </a:rPr>
              <a:t>1.004</a:t>
            </a:r>
          </a:p>
        </p:txBody>
      </p:sp>
      <p:sp>
        <p:nvSpPr>
          <p:cNvPr id="8" name="">
            <a:extLst xmlns:a="http://schemas.openxmlformats.org/drawingml/2006/main">
              <a:ext uri="{FF2B5EF4-FFF2-40B4-BE49-F238E27FC236}">
                <a16:creationId xmlns:a16="http://schemas.microsoft.com/office/drawing/2014/main" id="{A4C8409C-02E9-4E04-9DBC-D4D5457DC3E6}"/>
              </a:ext>
            </a:extLst>
          </p:cNvPr>
          <p:cNvSpPr>
            <a:spLocks xmlns:a="http://schemas.openxmlformats.org/drawingml/2006/main" noGrp="1"/>
          </p:cNvSpPr>
          <p:nvPr/>
        </p:nvSpPr>
        <p:spPr>
          <a:xfrm xmlns:a="http://schemas.openxmlformats.org/drawingml/2006/main">
            <a:off x="8524875" y="42672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full-PNA projector estimate</a:t>
            </a:r>
          </a:p>
        </p:txBody>
      </p:sp>
      <p:sp>
        <p:nvSpPr>
          <p:cNvPr id="9" name="">
            <a:extLst xmlns:a="http://schemas.openxmlformats.org/drawingml/2006/main">
              <a:ext uri="{FF2B5EF4-FFF2-40B4-BE49-F238E27FC236}">
                <a16:creationId xmlns:a16="http://schemas.microsoft.com/office/drawing/2014/main" id="{DAAF571C-B84D-482C-BC0C-AED031CF77A5}"/>
              </a:ext>
            </a:extLst>
          </p:cNvPr>
          <p:cNvSpPr>
            <a:spLocks xmlns:a="http://schemas.openxmlformats.org/drawingml/2006/main" noGrp="1"/>
          </p:cNvSpPr>
          <p:nvPr/>
        </p:nvSpPr>
        <p:spPr>
          <a:xfrm xmlns:a="http://schemas.openxmlformats.org/drawingml/2006/main">
            <a:off x="714375" y="581025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The PNA estimate can slightly exceed 1 because this correction is approximate. Fidelity itself cannot exceed 1; read this as near ideal.</a:t>
            </a:r>
          </a:p>
        </p:txBody>
      </p:sp>
    </p:spTree>
    <p:extLst>
      <p:ext uri="{BB962C8B-B14F-4D97-AF65-F5344CB8AC3E}">
        <p14:creationId xmlns:p14="http://schemas.microsoft.com/office/powerpoint/2010/main" val="5831069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CE8B55-CCF0-40CD-8D64-A55E00380E5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E78789A1-A68E-47D9-8CC1-5A11CC0CAF99}"/>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lowered setup time across the sweep</a:t>
            </a:r>
          </a:p>
        </p:txBody>
      </p:sp>
      <p:graphicFrame>
        <p:nvGraphicFramePr>
          <p:cNvPr id="3" name="Chart">
            <a:extLst xmlns:a="http://schemas.openxmlformats.org/drawingml/2006/main">
              <a:ext uri="{FF2B5EF4-FFF2-40B4-BE49-F238E27FC236}">
                <a16:creationId xmlns:a16="http://schemas.microsoft.com/office/drawing/2014/main" id="{D89CBCC3-623C-41CC-9323-552AE8643437}"/>
              </a:ext>
            </a:extLst>
          </p:cNvPr>
          <p:cNvGraphicFramePr/>
          <p:nvPr/>
        </p:nvGraphicFramePr>
        <p:xfrm>
          <a:off xmlns:a="http://schemas.openxmlformats.org/drawingml/2006/main" x="666750" y="1762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33ca89c424ce43b5"/>
          </a:graphicData>
        </a:graphic>
      </p:graphicFrame>
      <p:sp>
        <p:nvSpPr>
          <p:cNvPr id="4" name="">
            <a:extLst xmlns:a="http://schemas.openxmlformats.org/drawingml/2006/main">
              <a:ext uri="{FF2B5EF4-FFF2-40B4-BE49-F238E27FC236}">
                <a16:creationId xmlns:a16="http://schemas.microsoft.com/office/drawing/2014/main" id="{5CF99884-546A-4457-BE48-E28A7CE1A27C}"/>
              </a:ext>
            </a:extLst>
          </p:cNvPr>
          <p:cNvSpPr>
            <a:spLocks xmlns:a="http://schemas.openxmlformats.org/drawingml/2006/main" noGrp="1"/>
          </p:cNvSpPr>
          <p:nvPr/>
        </p:nvSpPr>
        <p:spPr>
          <a:xfrm xmlns:a="http://schemas.openxmlformats.org/drawingml/2006/main">
            <a:off x="8572500" y="2238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E66E9F3D-23FF-4FC9-961C-C02521B147FA}"/>
              </a:ext>
            </a:extLst>
          </p:cNvPr>
          <p:cNvSpPr>
            <a:spLocks xmlns:a="http://schemas.openxmlformats.org/drawingml/2006/main" noGrp="1"/>
          </p:cNvSpPr>
          <p:nvPr/>
        </p:nvSpPr>
        <p:spPr>
          <a:xfrm xmlns:a="http://schemas.openxmlformats.org/drawingml/2006/main">
            <a:off x="8572500" y="27241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525252"/>
                </a:solidFill>
                <a:latin typeface="Arial"/>
                <a:ea typeface="Arial"/>
                <a:cs typeface="Arial"/>
              </a:defRPr>
            </a:defPPr>
            <a:lvl1pPr algn="l">
              <a:defRPr sz="2850" b="1">
                <a:solidFill>
                  <a:srgbClr val="525252"/>
                </a:solidFill>
                <a:latin typeface="Arial"/>
                <a:ea typeface="Arial"/>
                <a:cs typeface="Arial"/>
              </a:defRPr>
            </a:lvl1pPr>
            <a:lvl2pPr algn="l">
              <a:defRPr sz="2850" b="1">
                <a:solidFill>
                  <a:srgbClr val="525252"/>
                </a:solidFill>
                <a:latin typeface="Arial"/>
                <a:ea typeface="Arial"/>
                <a:cs typeface="Arial"/>
              </a:defRPr>
            </a:lvl2pPr>
            <a:lvl3pPr algn="l">
              <a:defRPr sz="2850" b="1">
                <a:solidFill>
                  <a:srgbClr val="525252"/>
                </a:solidFill>
                <a:latin typeface="Arial"/>
                <a:ea typeface="Arial"/>
                <a:cs typeface="Arial"/>
              </a:defRPr>
            </a:lvl3pPr>
            <a:lvl4pPr algn="l">
              <a:defRPr sz="2850" b="1">
                <a:solidFill>
                  <a:srgbClr val="525252"/>
                </a:solidFill>
                <a:latin typeface="Arial"/>
                <a:ea typeface="Arial"/>
                <a:cs typeface="Arial"/>
              </a:defRPr>
            </a:lvl4pPr>
            <a:lvl5pPr algn="l">
              <a:defRPr sz="2850" b="1">
                <a:solidFill>
                  <a:srgbClr val="525252"/>
                </a:solidFill>
                <a:latin typeface="Arial"/>
                <a:ea typeface="Arial"/>
                <a:cs typeface="Arial"/>
              </a:defRPr>
            </a:lvl5pPr>
            <a:lvl6pPr algn="l">
              <a:defRPr sz="2850" b="1">
                <a:solidFill>
                  <a:srgbClr val="525252"/>
                </a:solidFill>
                <a:latin typeface="Arial"/>
                <a:ea typeface="Arial"/>
                <a:cs typeface="Arial"/>
              </a:defRPr>
            </a:lvl6pPr>
            <a:lvl7pPr algn="l">
              <a:defRPr sz="2850" b="1">
                <a:solidFill>
                  <a:srgbClr val="525252"/>
                </a:solidFill>
                <a:latin typeface="Arial"/>
                <a:ea typeface="Arial"/>
                <a:cs typeface="Arial"/>
              </a:defRPr>
            </a:lvl7pPr>
            <a:lvl8pPr algn="l">
              <a:defRPr sz="2850" b="1">
                <a:solidFill>
                  <a:srgbClr val="525252"/>
                </a:solidFill>
                <a:latin typeface="Arial"/>
                <a:ea typeface="Arial"/>
                <a:cs typeface="Arial"/>
              </a:defRPr>
            </a:lvl8pPr>
            <a:lvl9pPr algn="l">
              <a:defRPr sz="2850" b="1">
                <a:solidFill>
                  <a:srgbClr val="525252"/>
                </a:solidFill>
                <a:latin typeface="Arial"/>
                <a:ea typeface="Arial"/>
                <a:cs typeface="Arial"/>
              </a:defRPr>
            </a:lvl9pPr>
          </a:lstStyle>
          <a:p xmlns:a="http://schemas.openxmlformats.org/drawingml/2006/main">
            <a:pPr algn="l">
              <a:defRPr sz="2850" b="1">
                <a:solidFill>
                  <a:srgbClr val="525252"/>
                </a:solidFill>
                <a:latin typeface="Arial"/>
                <a:ea typeface="Arial"/>
                <a:cs typeface="Arial"/>
              </a:defRPr>
            </a:pPr>
            <a:r>
              <a:rPr sz="2850" b="1">
                <a:solidFill>
                  <a:srgbClr val="525252"/>
                </a:solidFill>
                <a:latin typeface="Arial"/>
                <a:ea typeface="Arial"/>
                <a:cs typeface="Arial"/>
              </a:rPr>
              <a:t>1.30 s</a:t>
            </a:r>
          </a:p>
        </p:txBody>
      </p:sp>
      <p:sp>
        <p:nvSpPr>
          <p:cNvPr id="6" name="">
            <a:extLst xmlns:a="http://schemas.openxmlformats.org/drawingml/2006/main">
              <a:ext uri="{FF2B5EF4-FFF2-40B4-BE49-F238E27FC236}">
                <a16:creationId xmlns:a16="http://schemas.microsoft.com/office/drawing/2014/main" id="{14313EE4-F559-4380-B929-9B3CEF938D1A}"/>
              </a:ext>
            </a:extLst>
          </p:cNvPr>
          <p:cNvSpPr>
            <a:spLocks xmlns:a="http://schemas.openxmlformats.org/drawingml/2006/main" noGrp="1"/>
          </p:cNvSpPr>
          <p:nvPr/>
        </p:nvSpPr>
        <p:spPr>
          <a:xfrm xmlns:a="http://schemas.openxmlformats.org/drawingml/2006/main">
            <a:off x="8572500" y="32385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 PNA setup</a:t>
            </a:r>
          </a:p>
        </p:txBody>
      </p:sp>
      <p:sp>
        <p:nvSpPr>
          <p:cNvPr id="7" name="">
            <a:extLst xmlns:a="http://schemas.openxmlformats.org/drawingml/2006/main">
              <a:ext uri="{FF2B5EF4-FFF2-40B4-BE49-F238E27FC236}">
                <a16:creationId xmlns:a16="http://schemas.microsoft.com/office/drawing/2014/main" id="{26833C43-2B45-4ED0-BF9D-B6DEA1C50F15}"/>
              </a:ext>
            </a:extLst>
          </p:cNvPr>
          <p:cNvSpPr>
            <a:spLocks xmlns:a="http://schemas.openxmlformats.org/drawingml/2006/main" noGrp="1"/>
          </p:cNvSpPr>
          <p:nvPr/>
        </p:nvSpPr>
        <p:spPr>
          <a:xfrm xmlns:a="http://schemas.openxmlformats.org/drawingml/2006/main">
            <a:off x="8572500" y="38290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9D9A"/>
                </a:solidFill>
                <a:latin typeface="Arial"/>
                <a:ea typeface="Arial"/>
                <a:cs typeface="Arial"/>
              </a:defRPr>
            </a:defPPr>
            <a:lvl1pPr algn="l">
              <a:defRPr sz="2850" b="1">
                <a:solidFill>
                  <a:srgbClr val="009D9A"/>
                </a:solidFill>
                <a:latin typeface="Arial"/>
                <a:ea typeface="Arial"/>
                <a:cs typeface="Arial"/>
              </a:defRPr>
            </a:lvl1pPr>
            <a:lvl2pPr algn="l">
              <a:defRPr sz="2850" b="1">
                <a:solidFill>
                  <a:srgbClr val="009D9A"/>
                </a:solidFill>
                <a:latin typeface="Arial"/>
                <a:ea typeface="Arial"/>
                <a:cs typeface="Arial"/>
              </a:defRPr>
            </a:lvl2pPr>
            <a:lvl3pPr algn="l">
              <a:defRPr sz="2850" b="1">
                <a:solidFill>
                  <a:srgbClr val="009D9A"/>
                </a:solidFill>
                <a:latin typeface="Arial"/>
                <a:ea typeface="Arial"/>
                <a:cs typeface="Arial"/>
              </a:defRPr>
            </a:lvl3pPr>
            <a:lvl4pPr algn="l">
              <a:defRPr sz="2850" b="1">
                <a:solidFill>
                  <a:srgbClr val="009D9A"/>
                </a:solidFill>
                <a:latin typeface="Arial"/>
                <a:ea typeface="Arial"/>
                <a:cs typeface="Arial"/>
              </a:defRPr>
            </a:lvl4pPr>
            <a:lvl5pPr algn="l">
              <a:defRPr sz="2850" b="1">
                <a:solidFill>
                  <a:srgbClr val="009D9A"/>
                </a:solidFill>
                <a:latin typeface="Arial"/>
                <a:ea typeface="Arial"/>
                <a:cs typeface="Arial"/>
              </a:defRPr>
            </a:lvl5pPr>
            <a:lvl6pPr algn="l">
              <a:defRPr sz="2850" b="1">
                <a:solidFill>
                  <a:srgbClr val="009D9A"/>
                </a:solidFill>
                <a:latin typeface="Arial"/>
                <a:ea typeface="Arial"/>
                <a:cs typeface="Arial"/>
              </a:defRPr>
            </a:lvl6pPr>
            <a:lvl7pPr algn="l">
              <a:defRPr sz="2850" b="1">
                <a:solidFill>
                  <a:srgbClr val="009D9A"/>
                </a:solidFill>
                <a:latin typeface="Arial"/>
                <a:ea typeface="Arial"/>
                <a:cs typeface="Arial"/>
              </a:defRPr>
            </a:lvl7pPr>
            <a:lvl8pPr algn="l">
              <a:defRPr sz="2850" b="1">
                <a:solidFill>
                  <a:srgbClr val="009D9A"/>
                </a:solidFill>
                <a:latin typeface="Arial"/>
                <a:ea typeface="Arial"/>
                <a:cs typeface="Arial"/>
              </a:defRPr>
            </a:lvl8pPr>
            <a:lvl9pPr algn="l">
              <a:defRPr sz="2850" b="1">
                <a:solidFill>
                  <a:srgbClr val="009D9A"/>
                </a:solidFill>
                <a:latin typeface="Arial"/>
                <a:ea typeface="Arial"/>
                <a:cs typeface="Arial"/>
              </a:defRPr>
            </a:lvl9pPr>
          </a:lstStyle>
          <a:p xmlns:a="http://schemas.openxmlformats.org/drawingml/2006/main">
            <a:pPr algn="l">
              <a:defRPr sz="2850" b="1">
                <a:solidFill>
                  <a:srgbClr val="009D9A"/>
                </a:solidFill>
                <a:latin typeface="Arial"/>
                <a:ea typeface="Arial"/>
                <a:cs typeface="Arial"/>
              </a:defRPr>
            </a:pPr>
            <a:r>
              <a:rPr sz="2850" b="1">
                <a:solidFill>
                  <a:srgbClr val="009D9A"/>
                </a:solidFill>
                <a:latin typeface="Arial"/>
                <a:ea typeface="Arial"/>
                <a:cs typeface="Arial"/>
              </a:rPr>
              <a:t>1.11 s</a:t>
            </a:r>
          </a:p>
        </p:txBody>
      </p:sp>
      <p:sp>
        <p:nvSpPr>
          <p:cNvPr id="8" name="">
            <a:extLst xmlns:a="http://schemas.openxmlformats.org/drawingml/2006/main">
              <a:ext uri="{FF2B5EF4-FFF2-40B4-BE49-F238E27FC236}">
                <a16:creationId xmlns:a16="http://schemas.microsoft.com/office/drawing/2014/main" id="{B3C71D43-7A25-49C6-81DD-DECA9279DE79}"/>
              </a:ext>
            </a:extLst>
          </p:cNvPr>
          <p:cNvSpPr>
            <a:spLocks xmlns:a="http://schemas.openxmlformats.org/drawingml/2006/main" noGrp="1"/>
          </p:cNvSpPr>
          <p:nvPr/>
        </p:nvSpPr>
        <p:spPr>
          <a:xfrm xmlns:a="http://schemas.openxmlformats.org/drawingml/2006/main">
            <a:off x="8572500" y="43434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setup (14% less)</a:t>
            </a:r>
          </a:p>
        </p:txBody>
      </p:sp>
      <p:sp>
        <p:nvSpPr>
          <p:cNvPr id="9" name="">
            <a:extLst xmlns:a="http://schemas.openxmlformats.org/drawingml/2006/main">
              <a:ext uri="{FF2B5EF4-FFF2-40B4-BE49-F238E27FC236}">
                <a16:creationId xmlns:a16="http://schemas.microsoft.com/office/drawing/2014/main" id="{CF21889F-6908-4A15-B5CD-21762B4AB6FD}"/>
              </a:ext>
            </a:extLst>
          </p:cNvPr>
          <p:cNvSpPr>
            <a:spLocks xmlns:a="http://schemas.openxmlformats.org/drawingml/2006/main" noGrp="1"/>
          </p:cNvSpPr>
          <p:nvPr/>
        </p:nvSpPr>
        <p:spPr>
          <a:xfrm xmlns:a="http://schemas.openxmlformats.org/drawingml/2006/main">
            <a:off x="6858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Times are local preprocessing measurements, not quantum-hardware run times.</a:t>
            </a:r>
          </a:p>
        </p:txBody>
      </p:sp>
    </p:spTree>
    <p:extLst>
      <p:ext uri="{BB962C8B-B14F-4D97-AF65-F5344CB8AC3E}">
        <p14:creationId xmlns:p14="http://schemas.microsoft.com/office/powerpoint/2010/main" val="8031868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65A90E-8B7C-4359-8E90-978BB0C8F7E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08B9EF4-24B9-44AE-9530-A413A7A97FA1}"/>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99EB6278-A14C-49BB-9A7C-B789A6F2148C}"/>
              </a:ext>
            </a:extLst>
          </p:cNvPr>
          <p:cNvSpPr>
            <a:spLocks xmlns:a="http://schemas.openxmlformats.org/drawingml/2006/main" noGrp="1"/>
          </p:cNvSpPr>
          <p:nvPr/>
        </p:nvSpPr>
        <p:spPr>
          <a:xfrm xmlns:a="http://schemas.openxmlformats.org/drawingml/2006/main">
            <a:off x="685800" y="176212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F62FE"/>
                </a:solidFill>
                <a:latin typeface="Arial"/>
                <a:ea typeface="Arial"/>
                <a:cs typeface="Arial"/>
              </a:defRPr>
            </a:defPPr>
            <a:lvl1pPr algn="l">
              <a:defRPr sz="2025" b="1">
                <a:solidFill>
                  <a:srgbClr val="0F62FE"/>
                </a:solidFill>
                <a:latin typeface="Arial"/>
                <a:ea typeface="Arial"/>
                <a:cs typeface="Arial"/>
              </a:defRPr>
            </a:lvl1pPr>
            <a:lvl2pPr algn="l">
              <a:defRPr sz="2025" b="1">
                <a:solidFill>
                  <a:srgbClr val="0F62FE"/>
                </a:solidFill>
                <a:latin typeface="Arial"/>
                <a:ea typeface="Arial"/>
                <a:cs typeface="Arial"/>
              </a:defRPr>
            </a:lvl2pPr>
            <a:lvl3pPr algn="l">
              <a:defRPr sz="2025" b="1">
                <a:solidFill>
                  <a:srgbClr val="0F62FE"/>
                </a:solidFill>
                <a:latin typeface="Arial"/>
                <a:ea typeface="Arial"/>
                <a:cs typeface="Arial"/>
              </a:defRPr>
            </a:lvl3pPr>
            <a:lvl4pPr algn="l">
              <a:defRPr sz="2025" b="1">
                <a:solidFill>
                  <a:srgbClr val="0F62FE"/>
                </a:solidFill>
                <a:latin typeface="Arial"/>
                <a:ea typeface="Arial"/>
                <a:cs typeface="Arial"/>
              </a:defRPr>
            </a:lvl4pPr>
            <a:lvl5pPr algn="l">
              <a:defRPr sz="2025" b="1">
                <a:solidFill>
                  <a:srgbClr val="0F62FE"/>
                </a:solidFill>
                <a:latin typeface="Arial"/>
                <a:ea typeface="Arial"/>
                <a:cs typeface="Arial"/>
              </a:defRPr>
            </a:lvl5pPr>
            <a:lvl6pPr algn="l">
              <a:defRPr sz="2025" b="1">
                <a:solidFill>
                  <a:srgbClr val="0F62FE"/>
                </a:solidFill>
                <a:latin typeface="Arial"/>
                <a:ea typeface="Arial"/>
                <a:cs typeface="Arial"/>
              </a:defRPr>
            </a:lvl6pPr>
            <a:lvl7pPr algn="l">
              <a:defRPr sz="2025" b="1">
                <a:solidFill>
                  <a:srgbClr val="0F62FE"/>
                </a:solidFill>
                <a:latin typeface="Arial"/>
                <a:ea typeface="Arial"/>
                <a:cs typeface="Arial"/>
              </a:defRPr>
            </a:lvl7pPr>
            <a:lvl8pPr algn="l">
              <a:defRPr sz="2025" b="1">
                <a:solidFill>
                  <a:srgbClr val="0F62FE"/>
                </a:solidFill>
                <a:latin typeface="Arial"/>
                <a:ea typeface="Arial"/>
                <a:cs typeface="Arial"/>
              </a:defRPr>
            </a:lvl8pPr>
            <a:lvl9pPr algn="l">
              <a:defRPr sz="2025" b="1">
                <a:solidFill>
                  <a:srgbClr val="0F62FE"/>
                </a:solidFill>
                <a:latin typeface="Arial"/>
                <a:ea typeface="Arial"/>
                <a:cs typeface="Arial"/>
              </a:defRPr>
            </a:lvl9pPr>
          </a:lstStyle>
          <a:p xmlns:a="http://schemas.openxmlformats.org/drawingml/2006/main">
            <a:pPr algn="l">
              <a:defRPr sz="2025" b="1">
                <a:solidFill>
                  <a:srgbClr val="0F62FE"/>
                </a:solidFill>
                <a:latin typeface="Arial"/>
                <a:ea typeface="Arial"/>
                <a:cs typeface="Arial"/>
              </a:defRPr>
            </a:pPr>
            <a:r>
              <a:rPr sz="2025" b="1">
                <a:solidFill>
                  <a:srgbClr val="0F62FE"/>
                </a:solidFill>
                <a:latin typeface="Arial"/>
                <a:ea typeface="Arial"/>
                <a:cs typeface="Arial"/>
              </a:rPr>
              <a:t>PNA helped</a:t>
            </a:r>
          </a:p>
        </p:txBody>
      </p:sp>
      <p:sp>
        <p:nvSpPr>
          <p:cNvPr id="4" name="">
            <a:extLst xmlns:a="http://schemas.openxmlformats.org/drawingml/2006/main">
              <a:ext uri="{FF2B5EF4-FFF2-40B4-BE49-F238E27FC236}">
                <a16:creationId xmlns:a16="http://schemas.microsoft.com/office/drawing/2014/main" id="{97E31380-5C44-40AC-9B5A-DA5D82AE2251}"/>
              </a:ext>
            </a:extLst>
          </p:cNvPr>
          <p:cNvSpPr>
            <a:spLocks xmlns:a="http://schemas.openxmlformats.org/drawingml/2006/main" noGrp="1"/>
          </p:cNvSpPr>
          <p:nvPr/>
        </p:nvSpPr>
        <p:spPr>
          <a:xfrm xmlns:a="http://schemas.openxmlformats.org/drawingml/2006/main">
            <a:off x="685800" y="222885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moved the measured value closer to the ideal result at all three noise levels.</a:t>
            </a:r>
          </a:p>
        </p:txBody>
      </p:sp>
      <p:sp>
        <p:nvSpPr>
          <p:cNvPr id="5" name="">
            <a:extLst xmlns:a="http://schemas.openxmlformats.org/drawingml/2006/main">
              <a:ext uri="{FF2B5EF4-FFF2-40B4-BE49-F238E27FC236}">
                <a16:creationId xmlns:a16="http://schemas.microsoft.com/office/drawing/2014/main" id="{D56772BD-FF21-4FB4-9C79-66E8DA2FBE04}"/>
              </a:ext>
            </a:extLst>
          </p:cNvPr>
          <p:cNvSpPr>
            <a:spLocks xmlns:a="http://schemas.openxmlformats.org/drawingml/2006/main" noGrp="1"/>
          </p:cNvSpPr>
          <p:nvPr/>
        </p:nvSpPr>
        <p:spPr>
          <a:xfrm xmlns:a="http://schemas.openxmlformats.org/drawingml/2006/main">
            <a:off x="685800" y="3314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09D9A"/>
                </a:solidFill>
                <a:latin typeface="Arial"/>
                <a:ea typeface="Arial"/>
                <a:cs typeface="Arial"/>
              </a:defRPr>
            </a:defPPr>
            <a:lvl1pPr algn="l">
              <a:defRPr sz="2025" b="1">
                <a:solidFill>
                  <a:srgbClr val="009D9A"/>
                </a:solidFill>
                <a:latin typeface="Arial"/>
                <a:ea typeface="Arial"/>
                <a:cs typeface="Arial"/>
              </a:defRPr>
            </a:lvl1pPr>
            <a:lvl2pPr algn="l">
              <a:defRPr sz="2025" b="1">
                <a:solidFill>
                  <a:srgbClr val="009D9A"/>
                </a:solidFill>
                <a:latin typeface="Arial"/>
                <a:ea typeface="Arial"/>
                <a:cs typeface="Arial"/>
              </a:defRPr>
            </a:lvl2pPr>
            <a:lvl3pPr algn="l">
              <a:defRPr sz="2025" b="1">
                <a:solidFill>
                  <a:srgbClr val="009D9A"/>
                </a:solidFill>
                <a:latin typeface="Arial"/>
                <a:ea typeface="Arial"/>
                <a:cs typeface="Arial"/>
              </a:defRPr>
            </a:lvl3pPr>
            <a:lvl4pPr algn="l">
              <a:defRPr sz="2025" b="1">
                <a:solidFill>
                  <a:srgbClr val="009D9A"/>
                </a:solidFill>
                <a:latin typeface="Arial"/>
                <a:ea typeface="Arial"/>
                <a:cs typeface="Arial"/>
              </a:defRPr>
            </a:lvl4pPr>
            <a:lvl5pPr algn="l">
              <a:defRPr sz="2025" b="1">
                <a:solidFill>
                  <a:srgbClr val="009D9A"/>
                </a:solidFill>
                <a:latin typeface="Arial"/>
                <a:ea typeface="Arial"/>
                <a:cs typeface="Arial"/>
              </a:defRPr>
            </a:lvl5pPr>
            <a:lvl6pPr algn="l">
              <a:defRPr sz="2025" b="1">
                <a:solidFill>
                  <a:srgbClr val="009D9A"/>
                </a:solidFill>
                <a:latin typeface="Arial"/>
                <a:ea typeface="Arial"/>
                <a:cs typeface="Arial"/>
              </a:defRPr>
            </a:lvl6pPr>
            <a:lvl7pPr algn="l">
              <a:defRPr sz="2025" b="1">
                <a:solidFill>
                  <a:srgbClr val="009D9A"/>
                </a:solidFill>
                <a:latin typeface="Arial"/>
                <a:ea typeface="Arial"/>
                <a:cs typeface="Arial"/>
              </a:defRPr>
            </a:lvl7pPr>
            <a:lvl8pPr algn="l">
              <a:defRPr sz="2025" b="1">
                <a:solidFill>
                  <a:srgbClr val="009D9A"/>
                </a:solidFill>
                <a:latin typeface="Arial"/>
                <a:ea typeface="Arial"/>
                <a:cs typeface="Arial"/>
              </a:defRPr>
            </a:lvl8pPr>
            <a:lvl9pPr algn="l">
              <a:defRPr sz="2025" b="1">
                <a:solidFill>
                  <a:srgbClr val="009D9A"/>
                </a:solidFill>
                <a:latin typeface="Arial"/>
                <a:ea typeface="Arial"/>
                <a:cs typeface="Arial"/>
              </a:defRPr>
            </a:lvl9pPr>
          </a:lstStyle>
          <a:p xmlns:a="http://schemas.openxmlformats.org/drawingml/2006/main">
            <a:pPr algn="l">
              <a:defRPr sz="2025" b="1">
                <a:solidFill>
                  <a:srgbClr val="009D9A"/>
                </a:solidFill>
                <a:latin typeface="Arial"/>
                <a:ea typeface="Arial"/>
                <a:cs typeface="Arial"/>
              </a:defRPr>
            </a:pPr>
            <a:r>
              <a:rPr sz="2025" b="1">
                <a:solidFill>
                  <a:srgbClr val="009D9A"/>
                </a:solidFill>
                <a:latin typeface="Arial"/>
                <a:ea typeface="Arial"/>
                <a:cs typeface="Arial"/>
              </a:rPr>
              <a:t>SLC traded a little accuracy for lower cost</a:t>
            </a:r>
          </a:p>
        </p:txBody>
      </p:sp>
      <p:sp>
        <p:nvSpPr>
          <p:cNvPr id="6" name="">
            <a:extLst xmlns:a="http://schemas.openxmlformats.org/drawingml/2006/main">
              <a:ext uri="{FF2B5EF4-FFF2-40B4-BE49-F238E27FC236}">
                <a16:creationId xmlns:a16="http://schemas.microsoft.com/office/drawing/2014/main" id="{E95F651C-AFA9-4E42-8D91-8B2525261047}"/>
              </a:ext>
            </a:extLst>
          </p:cNvPr>
          <p:cNvSpPr>
            <a:spLocks xmlns:a="http://schemas.openxmlformats.org/drawingml/2006/main" noGrp="1"/>
          </p:cNvSpPr>
          <p:nvPr/>
        </p:nvSpPr>
        <p:spPr>
          <a:xfrm xmlns:a="http://schemas.openxmlformats.org/drawingml/2006/main">
            <a:off x="685800" y="3781425"/>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dropped low-impact error terms and lowered the estimated sampling cost, with a small allowed bias.</a:t>
            </a:r>
          </a:p>
        </p:txBody>
      </p:sp>
      <p:sp>
        <p:nvSpPr>
          <p:cNvPr id="7" name="">
            <a:extLst xmlns:a="http://schemas.openxmlformats.org/drawingml/2006/main">
              <a:ext uri="{FF2B5EF4-FFF2-40B4-BE49-F238E27FC236}">
                <a16:creationId xmlns:a16="http://schemas.microsoft.com/office/drawing/2014/main" id="{C1EF8359-53DA-4836-8B20-A085D11926B9}"/>
              </a:ext>
            </a:extLst>
          </p:cNvPr>
          <p:cNvSpPr>
            <a:spLocks xmlns:a="http://schemas.openxmlformats.org/drawingml/2006/main" noGrp="1"/>
          </p:cNvSpPr>
          <p:nvPr/>
        </p:nvSpPr>
        <p:spPr>
          <a:xfrm xmlns:a="http://schemas.openxmlformats.org/drawingml/2006/main">
            <a:off x="685800" y="48768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8A3FFC"/>
                </a:solidFill>
                <a:latin typeface="Arial"/>
                <a:ea typeface="Arial"/>
                <a:cs typeface="Arial"/>
              </a:defRPr>
            </a:defPPr>
            <a:lvl1pPr algn="l">
              <a:defRPr sz="2025" b="1">
                <a:solidFill>
                  <a:srgbClr val="8A3FFC"/>
                </a:solidFill>
                <a:latin typeface="Arial"/>
                <a:ea typeface="Arial"/>
                <a:cs typeface="Arial"/>
              </a:defRPr>
            </a:lvl1pPr>
            <a:lvl2pPr algn="l">
              <a:defRPr sz="2025" b="1">
                <a:solidFill>
                  <a:srgbClr val="8A3FFC"/>
                </a:solidFill>
                <a:latin typeface="Arial"/>
                <a:ea typeface="Arial"/>
                <a:cs typeface="Arial"/>
              </a:defRPr>
            </a:lvl2pPr>
            <a:lvl3pPr algn="l">
              <a:defRPr sz="2025" b="1">
                <a:solidFill>
                  <a:srgbClr val="8A3FFC"/>
                </a:solidFill>
                <a:latin typeface="Arial"/>
                <a:ea typeface="Arial"/>
                <a:cs typeface="Arial"/>
              </a:defRPr>
            </a:lvl3pPr>
            <a:lvl4pPr algn="l">
              <a:defRPr sz="2025" b="1">
                <a:solidFill>
                  <a:srgbClr val="8A3FFC"/>
                </a:solidFill>
                <a:latin typeface="Arial"/>
                <a:ea typeface="Arial"/>
                <a:cs typeface="Arial"/>
              </a:defRPr>
            </a:lvl4pPr>
            <a:lvl5pPr algn="l">
              <a:defRPr sz="2025" b="1">
                <a:solidFill>
                  <a:srgbClr val="8A3FFC"/>
                </a:solidFill>
                <a:latin typeface="Arial"/>
                <a:ea typeface="Arial"/>
                <a:cs typeface="Arial"/>
              </a:defRPr>
            </a:lvl5pPr>
            <a:lvl6pPr algn="l">
              <a:defRPr sz="2025" b="1">
                <a:solidFill>
                  <a:srgbClr val="8A3FFC"/>
                </a:solidFill>
                <a:latin typeface="Arial"/>
                <a:ea typeface="Arial"/>
                <a:cs typeface="Arial"/>
              </a:defRPr>
            </a:lvl6pPr>
            <a:lvl7pPr algn="l">
              <a:defRPr sz="2025" b="1">
                <a:solidFill>
                  <a:srgbClr val="8A3FFC"/>
                </a:solidFill>
                <a:latin typeface="Arial"/>
                <a:ea typeface="Arial"/>
                <a:cs typeface="Arial"/>
              </a:defRPr>
            </a:lvl7pPr>
            <a:lvl8pPr algn="l">
              <a:defRPr sz="2025" b="1">
                <a:solidFill>
                  <a:srgbClr val="8A3FFC"/>
                </a:solidFill>
                <a:latin typeface="Arial"/>
                <a:ea typeface="Arial"/>
                <a:cs typeface="Arial"/>
              </a:defRPr>
            </a:lvl8pPr>
            <a:lvl9pPr algn="l">
              <a:defRPr sz="2025" b="1">
                <a:solidFill>
                  <a:srgbClr val="8A3FFC"/>
                </a:solidFill>
                <a:latin typeface="Arial"/>
                <a:ea typeface="Arial"/>
                <a:cs typeface="Arial"/>
              </a:defRPr>
            </a:lvl9pPr>
          </a:lstStyle>
          <a:p xmlns:a="http://schemas.openxmlformats.org/drawingml/2006/main">
            <a:pPr algn="l">
              <a:defRPr sz="2025" b="1">
                <a:solidFill>
                  <a:srgbClr val="8A3FFC"/>
                </a:solidFill>
                <a:latin typeface="Arial"/>
                <a:ea typeface="Arial"/>
                <a:cs typeface="Arial"/>
              </a:defRPr>
            </a:pPr>
            <a:r>
              <a:rPr sz="2025" b="1">
                <a:solidFill>
                  <a:srgbClr val="8A3FFC"/>
                </a:solidFill>
                <a:latin typeface="Arial"/>
                <a:ea typeface="Arial"/>
                <a:cs typeface="Arial"/>
              </a:rPr>
              <a:t>Next step for a hardware-ready result</a:t>
            </a:r>
          </a:p>
        </p:txBody>
      </p:sp>
      <p:sp>
        <p:nvSpPr>
          <p:cNvPr id="8" name="">
            <a:extLst xmlns:a="http://schemas.openxmlformats.org/drawingml/2006/main">
              <a:ext uri="{FF2B5EF4-FFF2-40B4-BE49-F238E27FC236}">
                <a16:creationId xmlns:a16="http://schemas.microsoft.com/office/drawing/2014/main" id="{92A23A9C-CC67-4DF3-9EB3-1DA1C8BEDC72}"/>
              </a:ext>
            </a:extLst>
          </p:cNvPr>
          <p:cNvSpPr>
            <a:spLocks xmlns:a="http://schemas.openxmlformats.org/drawingml/2006/main" noGrp="1"/>
          </p:cNvSpPr>
          <p:nvPr/>
        </p:nvSpPr>
        <p:spPr>
          <a:xfrm xmlns:a="http://schemas.openxmlformats.org/drawingml/2006/main">
            <a:off x="685800" y="534352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Connect NoiseLearnerV3 to an IBM Quantum backend, then rerun the same workflow with measured rates.</a:t>
            </a:r>
          </a:p>
        </p:txBody>
      </p:sp>
    </p:spTree>
    <p:extLst>
      <p:ext uri="{BB962C8B-B14F-4D97-AF65-F5344CB8AC3E}">
        <p14:creationId xmlns:p14="http://schemas.microsoft.com/office/powerpoint/2010/main" val="954474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2026-10-31T04:35:49.3980000Z</dcterms:created>
  <dcterms:modified xsi:type="dcterms:W3CDTF">2026-10-31T04:35:49.3980000Z</dcterms:modified>
</coreProperties>
</file>