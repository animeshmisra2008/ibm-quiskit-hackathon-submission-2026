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1bc34358a34393" /><Relationship Type="http://schemas.openxmlformats.org/officeDocument/2006/relationships/extended-properties" Target="/docProps/app.xml" Id="Rc069b69194114acc" /><Relationship Type="http://schemas.openxmlformats.org/officeDocument/2006/relationships/officeDocument" Target="/ppt/presentation.xml" Id="Ra8a8cb1e923648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0d84d4302646bf"/>
  </p:sldMasterIdLst>
  <p:notesMasterIdLst>
    <p:notesMasterId xmlns:r="http://schemas.openxmlformats.org/officeDocument/2006/relationships" r:id="Ra18be4712c884ade"/>
  </p:notesMasterIdLst>
  <p:sldIdLst>
    <p:sldId xmlns:r="http://schemas.openxmlformats.org/officeDocument/2006/relationships" id="256" r:id="R3ec916b076454226"/>
    <p:sldId xmlns:r="http://schemas.openxmlformats.org/officeDocument/2006/relationships" id="257" r:id="R1fee1dce271f4b01"/>
    <p:sldId xmlns:r="http://schemas.openxmlformats.org/officeDocument/2006/relationships" id="258" r:id="R3b87608619804bea"/>
    <p:sldId xmlns:r="http://schemas.openxmlformats.org/officeDocument/2006/relationships" id="259" r:id="R32fa83c1448846c1"/>
    <p:sldId xmlns:r="http://schemas.openxmlformats.org/officeDocument/2006/relationships" id="260" r:id="Re615fccd2c234e6e"/>
    <p:sldId xmlns:r="http://schemas.openxmlformats.org/officeDocument/2006/relationships" id="261" r:id="R041b81586015482f"/>
    <p:sldId xmlns:r="http://schemas.openxmlformats.org/officeDocument/2006/relationships" id="262" r:id="R7407c78f74aa479e"/>
    <p:sldId xmlns:r="http://schemas.openxmlformats.org/officeDocument/2006/relationships" id="263" r:id="R80a00f2d86384b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982fdf76e3402e" /><Relationship Type="http://schemas.openxmlformats.org/officeDocument/2006/relationships/slideMaster" Target="/ppt/slideMasters/slideMaster1.xml" Id="R150d84d4302646bf" /><Relationship Type="http://schemas.openxmlformats.org/officeDocument/2006/relationships/notesMaster" Target="/ppt/notesMasters/notesMaster1.xml" Id="Ra18be4712c884ade" /><Relationship Type="http://schemas.openxmlformats.org/officeDocument/2006/relationships/presProps" Target="/ppt/presProps.xml" Id="Rd6adae1dd3734f49" /><Relationship Type="http://schemas.openxmlformats.org/officeDocument/2006/relationships/tableStyles" Target="/ppt/tableStyles.xml" Id="Rf315d54cc291478c" /><Relationship Type="http://schemas.openxmlformats.org/officeDocument/2006/relationships/slide" Target="/ppt/slides/slide1.xml" Id="R3ec916b076454226" /><Relationship Type="http://schemas.openxmlformats.org/officeDocument/2006/relationships/slide" Target="/ppt/slides/slide2.xml" Id="R1fee1dce271f4b01" /><Relationship Type="http://schemas.openxmlformats.org/officeDocument/2006/relationships/slide" Target="/ppt/slides/slide3.xml" Id="R3b87608619804bea" /><Relationship Type="http://schemas.openxmlformats.org/officeDocument/2006/relationships/slide" Target="/ppt/slides/slide4.xml" Id="R32fa83c1448846c1" /><Relationship Type="http://schemas.openxmlformats.org/officeDocument/2006/relationships/slide" Target="/ppt/slides/slide5.xml" Id="Re615fccd2c234e6e" /><Relationship Type="http://schemas.openxmlformats.org/officeDocument/2006/relationships/slide" Target="/ppt/slides/slide6.xml" Id="R041b81586015482f" /><Relationship Type="http://schemas.openxmlformats.org/officeDocument/2006/relationships/slide" Target="/ppt/slides/slide7.xml" Id="R7407c78f74aa479e" /><Relationship Type="http://schemas.openxmlformats.org/officeDocument/2006/relationships/slide" Target="/ppt/slides/slide8.xml" Id="R80a00f2d86384b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311ca682f646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03d71afe944d03" /><Relationship Type="http://schemas.openxmlformats.org/officeDocument/2006/relationships/notesMaster" Target="/ppt/notesMasters/notesMaster1.xml" Id="Ref834d556a834f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70998f80c34d91" /><Relationship Type="http://schemas.openxmlformats.org/officeDocument/2006/relationships/notesMaster" Target="/ppt/notesMasters/notesMaster1.xml" Id="Rc05c665d9ca442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b915a2bf584894" /><Relationship Type="http://schemas.openxmlformats.org/officeDocument/2006/relationships/notesMaster" Target="/ppt/notesMasters/notesMaster1.xml" Id="Rd4b2616f817c43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36718e787e4dec" /><Relationship Type="http://schemas.openxmlformats.org/officeDocument/2006/relationships/notesMaster" Target="/ppt/notesMasters/notesMaster1.xml" Id="R0e987fdcb24946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d85e71f2524cfb" /><Relationship Type="http://schemas.openxmlformats.org/officeDocument/2006/relationships/notesMaster" Target="/ppt/notesMasters/notesMaster1.xml" Id="R75c0448a4d5e41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f436a76e85436c" /><Relationship Type="http://schemas.openxmlformats.org/officeDocument/2006/relationships/notesMaster" Target="/ppt/notesMasters/notesMaster1.xml" Id="Ra513343143864d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b3c49f6c104007" /><Relationship Type="http://schemas.openxmlformats.org/officeDocument/2006/relationships/notesMaster" Target="/ppt/notesMasters/notesMaster1.xml" Id="R898602ec41284d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47f90590714884" /><Relationship Type="http://schemas.openxmlformats.org/officeDocument/2006/relationships/notesMaster" Target="/ppt/notesMasters/notesMaster1.xml" Id="Rc1d3d1b964f341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built a small simulation to see whether error-mitigation tools can recover a useful measurement after noise is added. The assignment asks for SLC, NoiseLearnerV3, and PNA. This deck states clearly where the local simulator uses synthetic calibration rates in place of a hardware noise-learning job.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explanation simple: the project does not require the audience to know quantum mechanics. A measurement is an average from repeated simulated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center-qubit X measurement is the quantity that PNA corrects. We also calculate exact state fidelity from the simulator's density matrix as a separate measure of how much the whole state was 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SLC assigns importance to candidate Pauli error terms and can trade a bounded bias for lower sampling cost. PNA propagates the inverse of learned noise into an observable. The official NoiseLearnerV3 accepts an IBM Quantum backend/service job; IBM documents that it has no local fake-backend mode. Sources: https://qiskit.github.io/qiskit-addon-slc/guides/quickstart.html ; https://qiskit.github.io/qiskit-addon-pna/tutorials/01_generate_noise_mitigating_observable.html ;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the middle noise setting, the learned model included 78 candidate error terms. SLC kept 53 for mitigation and set a bounded bias limit of 0.05. This reduced local PNA preprocessing from about 1.29 seconds to 1.13 seconds. The sampling-cost estimate fell from about 2.61 to 1.92.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ideal value is about 0.971. At 1× noise, the uncorrected value fell to 0.674. Full PNA brought it to 0.954; SLC-selected PNA brought it to 0.938. SLC saves work but can leave more bias, which is the intended tradeoff.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fidelity is computed exactly from the noisy simulator density matrix against the ideal output. It drops from 0.833 at 0.5× noise to 0.488 at 2× noise. This metric is a separate check: PNA produces a corrected estimate for the selected observable, not a corrected full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results show the algorithmic flow but are not hardware results because calibration rates are synthetic. The official assignment asks for NoiseLearnerV3 and a simulated noisy backend; official documentation says NoiseLearnerV3 does not have a local testing mode. If an IBM Quantum account and backend become available, replace the synthetic model with the output of the official noise learner. Source: https://quantum.cloud.ibm.com/docs/en/guides/migrate-to-client-side-primitives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8722284ce847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6402f10934e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7a29781194d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0628c1e2d7444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0c6699e8143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285044a734d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6B2729-60F9-40A4-9C4F-A83B3E8E17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12A9B57-701B-41EC-86A3-458408C649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E53AE5-B3AA-48CC-8558-1AF6AD4F39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75C161-0A07-44C3-A63C-0D8F12625A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F21FD47-EA4F-4CD4-9E5C-15BC8C86CD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C9A26DC-4F1D-4CB3-A62F-8F5C360864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F210EE-89D2-4D75-8AA3-93BBBE57D0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5331689-DF5F-40E6-8378-DEE04B2A68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D4846A-757B-4B32-A011-6446F63793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D442AB-2FD5-40F1-9F2D-1FDD82E1B6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de8d54314b420f" /><Relationship Type="http://schemas.openxmlformats.org/officeDocument/2006/relationships/slideLayout" Target="/ppt/slideLayouts/slideLayout1.xml" Id="Rc895a88acb164f49" /><Relationship Type="http://schemas.openxmlformats.org/officeDocument/2006/relationships/slideLayout" Target="/ppt/slideLayouts/slideLayout2.xml" Id="R8edd911785cb42eb" /><Relationship Type="http://schemas.openxmlformats.org/officeDocument/2006/relationships/slideLayout" Target="/ppt/slideLayouts/slideLayout3.xml" Id="Re334862b01084fcf" /><Relationship Type="http://schemas.openxmlformats.org/officeDocument/2006/relationships/slideLayout" Target="/ppt/slideLayouts/slideLayout4.xml" Id="Rd06dd45b15e249fb" /><Relationship Type="http://schemas.openxmlformats.org/officeDocument/2006/relationships/slideLayout" Target="/ppt/slideLayouts/slideLayout5.xml" Id="Rdd5eb6e2edc04132" /><Relationship Type="http://schemas.openxmlformats.org/officeDocument/2006/relationships/slideLayout" Target="/ppt/slideLayouts/slideLayout6.xml" Id="R6314d707eb2a43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95a88acb164f49"/>
    <p:sldLayoutId xmlns:r="http://schemas.openxmlformats.org/officeDocument/2006/relationships" id="2147483650" r:id="R8edd911785cb42eb"/>
    <p:sldLayoutId xmlns:r="http://schemas.openxmlformats.org/officeDocument/2006/relationships" id="2147483651" r:id="Re334862b01084fcf"/>
    <p:sldLayoutId xmlns:r="http://schemas.openxmlformats.org/officeDocument/2006/relationships" id="2147483652" r:id="Rd06dd45b15e249fb"/>
    <p:sldLayoutId xmlns:r="http://schemas.openxmlformats.org/officeDocument/2006/relationships" id="2147483653" r:id="Rdd5eb6e2edc04132"/>
    <p:sldLayoutId xmlns:r="http://schemas.openxmlformats.org/officeDocument/2006/relationships" id="2147483654" r:id="R6314d707eb2a43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44cdb52bdb440e" /><Relationship Type="http://schemas.openxmlformats.org/officeDocument/2006/relationships/notesSlide" Target="/ppt/notesSlides/notesSlide1.xml" Id="R3ad347ee9db147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0501c01514053" /><Relationship Type="http://schemas.openxmlformats.org/officeDocument/2006/relationships/notesSlide" Target="/ppt/notesSlides/notesSlide2.xml" Id="Ra8b7550a5ca24e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60eec479894196" /><Relationship Type="http://schemas.openxmlformats.org/officeDocument/2006/relationships/notesSlide" Target="/ppt/notesSlides/notesSlide3.xml" Id="R254ee99f78034c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c4d4f6b76a411c" /><Relationship Type="http://schemas.openxmlformats.org/officeDocument/2006/relationships/notesSlide" Target="/ppt/notesSlides/notesSlide4.xml" Id="R282fd9569d7249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b6480688744cd7" /><Relationship Type="http://schemas.openxmlformats.org/officeDocument/2006/relationships/chart" Target="/ppt/slides/charts/chart1.xml" Id="Ra7f4d7601c254316" /><Relationship Type="http://schemas.openxmlformats.org/officeDocument/2006/relationships/notesSlide" Target="/ppt/notesSlides/notesSlide5.xml" Id="R8406e4ce96c54f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7821d40ed43cd" /><Relationship Type="http://schemas.openxmlformats.org/officeDocument/2006/relationships/chart" Target="/ppt/slides/charts/chart2.xml" Id="Rf713fb0001b4439e" /><Relationship Type="http://schemas.openxmlformats.org/officeDocument/2006/relationships/notesSlide" Target="/ppt/notesSlides/notesSlide6.xml" Id="Rb5c4f620ce5d4c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a79ed30d3e4829" /><Relationship Type="http://schemas.openxmlformats.org/officeDocument/2006/relationships/chart" Target="/ppt/slides/charts/chart3.xml" Id="R8deacee343684fe0" /><Relationship Type="http://schemas.openxmlformats.org/officeDocument/2006/relationships/notesSlide" Target="/ppt/notesSlides/notesSlide7.xml" Id="R455ba5a4915349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543b07eed14022" /><Relationship Type="http://schemas.openxmlformats.org/officeDocument/2006/relationships/notesSlide" Target="/ppt/notesSlides/notesSlide8.xml" Id="Ra5449b786a2042e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</a:rPr>
              <a:t>Error terms retained for PNA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Full model</c:v>
          </c:tx>
          <c:spPr>
            <a:solidFill xmlns:a="http://schemas.openxmlformats.org/drawingml/2006/main">
              <a:srgbClr val="52525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78</c:v>
                </c:pt>
                <c:pt idx="1">
                  <c:v>78</c:v>
                </c:pt>
                <c:pt idx="2">
                  <c:v>78</c:v>
                </c:pt>
              </c:numCache>
            </c:numRef>
          </c:val>
        </c:ser>
        <c:ser>
          <c:idx val="1"/>
          <c:order val="1"/>
          <c:tx>
            <c:v>After SLC</c:v>
          </c:tx>
          <c:spPr>
            <a:solidFill xmlns:a="http://schemas.openxmlformats.org/drawingml/2006/main">
              <a:srgbClr val="0F62FE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47</c:v>
                </c:pt>
                <c:pt idx="1">
                  <c:v>53</c:v>
                </c:pt>
                <c:pt idx="2">
                  <c:v>56</c:v>
                </c:pt>
              </c:numCache>
            </c:numRef>
          </c:val>
        </c:ser>
        <c:dLbls>
          <c:delete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/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</a:rPr>
              <a:t>Center-qubit X expectation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Ideal</c:v>
          </c:tx>
          <c:spPr>
            <a:solidFill xmlns:a="http://schemas.openxmlformats.org/drawingml/2006/main">
              <a:srgbClr val="525252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0.971</c:v>
                </c:pt>
                <c:pt idx="1">
                  <c:v>0.971</c:v>
                </c:pt>
                <c:pt idx="2">
                  <c:v>0.971</c:v>
                </c:pt>
              </c:numCache>
            </c:numRef>
          </c:val>
          <c:smooth val="0"/>
        </c:ser>
        <c:ser>
          <c:idx val="1"/>
          <c:order val="1"/>
          <c:tx>
            <c:v>Noisy</c:v>
          </c:tx>
          <c:spPr>
            <a:solidFill xmlns:a="http://schemas.openxmlformats.org/drawingml/2006/main">
              <a:srgbClr val="FF832B"/>
            </a:solidFill>
          </c:spPr>
          <c:marker>
            <c:symbol val="none"/>
          </c:marker>
          <c:cat>
            <c:strRef>
              <c:f>'Chart Data'!$C$2:$C$4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0.809</c:v>
                </c:pt>
                <c:pt idx="1">
                  <c:v>0.674</c:v>
                </c:pt>
                <c:pt idx="2">
                  <c:v>0.467</c:v>
                </c:pt>
              </c:numCache>
            </c:numRef>
          </c:val>
          <c:smooth val="0"/>
        </c:ser>
        <c:ser>
          <c:idx val="2"/>
          <c:order val="2"/>
          <c:tx>
            <c:v>Full PNA</c:v>
          </c:tx>
          <c:spPr>
            <a:solidFill xmlns:a="http://schemas.openxmlformats.org/drawingml/2006/main">
              <a:srgbClr val="0F62FE"/>
            </a:solidFill>
          </c:spPr>
          <c:marker>
            <c:symbol val="none"/>
          </c:marker>
          <c:cat>
            <c:strRef>
              <c:f>'Chart Data'!$E$2:$E$4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0.962</c:v>
                </c:pt>
                <c:pt idx="1">
                  <c:v>0.954</c:v>
                </c:pt>
                <c:pt idx="2">
                  <c:v>0.936</c:v>
                </c:pt>
              </c:numCache>
            </c:numRef>
          </c:val>
          <c:smooth val="0"/>
        </c:ser>
        <c:ser>
          <c:idx val="3"/>
          <c:order val="3"/>
          <c:tx>
            <c:v>SLC + PNA</c:v>
          </c:tx>
          <c:spPr>
            <a:solidFill xmlns:a="http://schemas.openxmlformats.org/drawingml/2006/main">
              <a:srgbClr val="009D9A"/>
            </a:solidFill>
          </c:spPr>
          <c:marker>
            <c:symbol val="none"/>
          </c:marker>
          <c:cat>
            <c:strRef>
              <c:f>'Chart Data'!$G$2:$G$4</c:f>
              <c:strCache>
                <c:ptCount val="3"/>
                <c:pt idx="0">
                  <c:v>0.5×</c:v>
                </c:pt>
                <c:pt idx="1">
                  <c:v>1×</c:v>
                </c:pt>
                <c:pt idx="2">
                  <c:v>2×</c:v>
                </c:pt>
              </c:strCache>
            </c:strRef>
          </c:cat>
          <c:val>
            <c:numRef>
              <c:f>'Chart Data'!$H$2:$H$4</c:f>
              <c:numCache>
                <c:formatCode>General</c:formatCode>
                <c:ptCount val="3"/>
                <c:pt idx="0">
                  <c:v>0.94</c:v>
                </c:pt>
                <c:pt idx="1">
                  <c:v>0.938</c:v>
                </c:pt>
                <c:pt idx="2">
                  <c:v>0.936</c:v>
                </c:pt>
              </c:numCache>
            </c:numRef>
          </c:val>
          <c:smooth val="0"/>
        </c:ser>
        <c:dLbls>
          <c:delete val="1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/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61616"/>
                </a:solidFill>
              </a:rPr>
              <a:t>Exact simulated state fidelity before measurement correction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61616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State fidelity</c:v>
          </c:tx>
          <c:spPr>
            <a:solidFill xmlns:a="http://schemas.openxmlformats.org/drawingml/2006/main">
              <a:srgbClr val="8A3FFC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0.5× noise</c:v>
                </c:pt>
                <c:pt idx="1">
                  <c:v>1× noise</c:v>
                </c:pt>
                <c:pt idx="2">
                  <c:v>2× noise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0.833</c:v>
                </c:pt>
                <c:pt idx="1">
                  <c:v>0.695</c:v>
                </c:pt>
                <c:pt idx="2">
                  <c:v>0.488</c:v>
                </c:pt>
              </c:numCache>
            </c:numRef>
          </c:val>
          <c:smooth val="0"/>
        </c:ser>
        <c:dLbls>
          <c:delete val="0"/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1E6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2FD4D-A856-44B2-8E2A-6A4C84CB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B86D9-9D9C-4F84-BBD1-91A0273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923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Making quantum</a:t>
            </a:r>
          </a:p>
          <a:p xmlns:a="http://schemas.openxmlformats.org/drawingml/2006/main">
            <a:pPr algn="l">
              <a:defRPr sz="4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results more reliable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00F1A-576D-4E0F-947E-87D5935A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 small noisy simulation using Shaded Lightcones and Propagated Noise Absorption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94EF3-8A03-44E6-8665-4EAA6C73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Five qubits · Eight CZ gates · Three noise levels</a:t>
            </a:r>
          </a:p>
        </p:txBody>
      </p:sp>
    </p:spTree>
    <p:extLst>
      <p:ext uri="{BB962C8B-B14F-4D97-AF65-F5344CB8AC3E}">
        <p14:creationId xmlns:p14="http://schemas.microsoft.com/office/powerpoint/2010/main" val="16659475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463ABD-9029-487A-9BB5-CC71C764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81541-9CC4-4F6A-AB0F-70EA998F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basic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2039B-C7BC-4580-BADA-A4B6116F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391"/>
          </a:bodyPr>
          <a:lstStyle xmlns:a="http://schemas.openxmlformats.org/drawingml/2006/main">
            <a:def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A qubit stores quantum information. A gate changes it. Noise makes gates imperfect.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5A117-A506-4C63-8E6A-E77C4472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QUBIT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1B2747-7CB9-4C41-A83E-19D990A6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quantum version of a bit.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D6283-FF00-459F-9A26-9F194AFE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1CF76A-8D10-4C78-9FE4-F2832AA9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19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An operation applied to one or more qubits.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34855-F503-45DE-BEFD-6D207EB5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86E02-FAD1-420A-ADF2-C3A4FB53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19450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 small unwanted change during an operation.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8D295-0550-40A1-A29E-13B57404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We repeat the same calculation many times and compare the average result with an ideal reference.</a:t>
            </a:r>
          </a:p>
        </p:txBody>
      </p:sp>
    </p:spTree>
    <p:extLst>
      <p:ext uri="{BB962C8B-B14F-4D97-AF65-F5344CB8AC3E}">
        <p14:creationId xmlns:p14="http://schemas.microsoft.com/office/powerpoint/2010/main" val="19740380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E9655-A911-4EFE-937D-98D818B3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D32DBD-CFB9-4AFB-966A-D7C270F2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The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B6FAA-C958-449F-92F5-4772B203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Circuit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0B8F6-67DD-4B21-9C5F-AFCFF0A6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5 qubits in a chain, with 8 CZ entangling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954E84-F336-4AEE-A63B-8789BBCF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811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8EAB9-FC13-483C-9E6D-70E495BD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Average X value of the center qubit.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5ECC6-6315-41DC-8E0F-8D3CB4BB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DCB95-2C18-4038-87C4-CF8B1357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Ideal simulation vs. simulated noisy circuit, then full PNA vs. SLC-selected PNA.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EEF6B-C885-4F3D-BDC7-4597FD89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00C6D-F6F1-412D-B251-B4B97BB7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4810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0.5×, 1× and 2× the same modeled error rates.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87A1D9-1406-4006-BD96-603A823B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State fidelity is calculated directly from the simulator’s density matrix.</a:t>
            </a:r>
          </a:p>
        </p:txBody>
      </p:sp>
    </p:spTree>
    <p:extLst>
      <p:ext uri="{BB962C8B-B14F-4D97-AF65-F5344CB8AC3E}">
        <p14:creationId xmlns:p14="http://schemas.microsoft.com/office/powerpoint/2010/main" val="1172770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28BC6-77A1-4C78-A37C-1D59A132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14191-C9AD-4387-90D7-F12CE58A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How the tools fit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C3D05-8243-44A4-A378-E3649001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1  Estimate the errors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022D11-0834-46C2-8C7B-D5D0B767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Use a known, simulated calibration model for the local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1FD17-6EC7-4248-805E-0B8299E3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2  Focus on relevant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C8FF2-3638-4A02-A101-B7430FDE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ranks errors by how much they can affect the chosen measurement.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311DD-C04F-4816-B5C4-C69B3197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3  Correct the measurement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AFBB3-7ED4-40A0-BB87-6D670C0A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90750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folds the modeled correction into the measured quantity.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C164B-7B54-46EE-871B-2487C1B9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Why not NoiseLearnerV3 here?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B7401-6499-4AFA-8304-602377F5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Its official workflow submits learning jobs to IBM Quantum. No IBM account is configured on this computer, so local rates are simulated inputs, not hardware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20558637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A0254-9517-4F67-B15B-E214D4E8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71529-F8F5-4A7F-BF10-DF3BB09B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SLC reduced the error model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5BC1B5B3-1935-4798-8D3A-B9A5E433E246}"/>
              </a:ext>
            </a:extLst>
          </p:cNvPr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6667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f4d7601c25431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382FA-7988-4841-8EE2-F363CBF7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907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32%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EF20B-B631-4F03-A837-1F4441D9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52750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fewer modeled error terms at 1×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C8F84-6661-498C-8961-1A3651C5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12%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5F8B1-1BB1-46DE-AB6E-1AA69C20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00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less PNA setup time in this small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DBBD2-2D68-455B-8998-035918BB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noise, the SLC bias bound was 0.046 (under the 0.05 limit we set).</a:t>
            </a:r>
          </a:p>
        </p:txBody>
      </p:sp>
    </p:spTree>
    <p:extLst>
      <p:ext uri="{BB962C8B-B14F-4D97-AF65-F5344CB8AC3E}">
        <p14:creationId xmlns:p14="http://schemas.microsoft.com/office/powerpoint/2010/main" val="1508233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8A972F-B0A5-4145-B3FA-3CE4DC16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9DA60-9A85-4548-9B72-8DE218FF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PNA recovered the measured value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2054296-6845-4A21-9F4D-0E1A04628787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13fb0001b4439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4263F-5CF6-409D-86F0-FCB1EA15B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5252"/>
                </a:solidFill>
                <a:latin typeface="Arial"/>
                <a:ea typeface="Arial"/>
                <a:cs typeface="Arial"/>
              </a:rPr>
              <a:t>At 1×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3D70D-6883-49E3-B9CF-E0AEBAB4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832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832B"/>
                </a:solidFill>
                <a:latin typeface="Arial"/>
                <a:ea typeface="Arial"/>
                <a:cs typeface="Arial"/>
              </a:rPr>
              <a:t>0.674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256E5-3C20-4B21-AD4D-378271932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46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without correction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CE76F-9084-4DA9-AF4C-DC796683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0.954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2E9D1-241A-4659-8A2E-76DEABD5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29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full PNA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E20F0-1595-49C5-816E-CBFE310D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0.938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2DF13-3700-42A2-9B9C-60835F35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435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with SLC + PNA</a:t>
            </a:r>
          </a:p>
        </p:txBody>
      </p:sp>
    </p:spTree>
    <p:extLst>
      <p:ext uri="{BB962C8B-B14F-4D97-AF65-F5344CB8AC3E}">
        <p14:creationId xmlns:p14="http://schemas.microsoft.com/office/powerpoint/2010/main" val="3590887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4E3AC5-10DB-4E27-AE36-C4B10C91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C5973-435A-4CB8-91B6-EA831F87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More noise lowered state fidelity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FF3297C-8F89-4E28-A4C4-0D2E7DF78A3E}"/>
              </a:ext>
            </a:extLst>
          </p:cNvPr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7048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deacee343684fe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0D2DE-FD80-4F1E-887E-8324EB4B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812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0.833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BE82F-47E0-44A8-A03B-50B16CA5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0003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0.5× noise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60AEE-5655-4400-866A-C4DF17C9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43350"/>
            <a:ext cx="247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0.488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84690-4293-4D89-B9D0-9E25CE4E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5624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at 2× noise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C921A-88C5-4046-A7C3-BDCBFC0B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245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5252"/>
                </a:solidFill>
                <a:latin typeface="Arial"/>
                <a:ea typeface="Arial"/>
                <a:cs typeface="Arial"/>
              </a:rPr>
              <a:t>PNA corrects a chosen measurement; it does not rebuild the full quantum state. These are simulator fidelity checks before measurement correction.</a:t>
            </a:r>
          </a:p>
        </p:txBody>
      </p:sp>
    </p:spTree>
    <p:extLst>
      <p:ext uri="{BB962C8B-B14F-4D97-AF65-F5344CB8AC3E}">
        <p14:creationId xmlns:p14="http://schemas.microsoft.com/office/powerpoint/2010/main" val="1485208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8B3E0-593F-44BA-96FB-E62E7AE3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QISKIT FALL FEST 2026 · TRACK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E014A-7519-45EF-8DEB-0772D07B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896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1616"/>
                </a:solidFill>
                <a:latin typeface="Arial"/>
                <a:ea typeface="Arial"/>
                <a:cs typeface="Arial"/>
              </a:rPr>
              <a:t>What we learned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C4793E-EFA3-47E5-9879-1A88992D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62F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62FE"/>
                </a:solidFill>
                <a:latin typeface="Arial"/>
                <a:ea typeface="Arial"/>
                <a:cs typeface="Arial"/>
              </a:rPr>
              <a:t>PNA helped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3BFA3-46C1-41A1-963F-A1D94442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moved the measured value closer to the ideal result at all three noise levels.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E2C2D-F170-4F28-8196-9BE1432F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09D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9D9A"/>
                </a:solidFill>
                <a:latin typeface="Arial"/>
                <a:ea typeface="Arial"/>
                <a:cs typeface="Arial"/>
              </a:rPr>
              <a:t>SLC traded a little accuracy for lower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AF714-68E3-4033-AB8A-0559B1DA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9715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It dropped low-impact error terms and lowered the estimated sampling cost, with a small allowed bias.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441F0-A7A6-46F8-89A0-1BA21880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8A3F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8A3FFC"/>
                </a:solidFill>
                <a:latin typeface="Arial"/>
                <a:ea typeface="Arial"/>
                <a:cs typeface="Arial"/>
              </a:rPr>
              <a:t>Next step for a hardware-ready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2E413-60AB-469A-AD60-58B5E744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1616"/>
                </a:solidFill>
                <a:latin typeface="Arial"/>
                <a:ea typeface="Arial"/>
                <a:cs typeface="Arial"/>
              </a:rPr>
              <a:t>Connect NoiseLearnerV3 to an IBM Quantum backend, then rerun the same workflow with measured rates.</a:t>
            </a:r>
          </a:p>
        </p:txBody>
      </p:sp>
    </p:spTree>
    <p:extLst>
      <p:ext uri="{BB962C8B-B14F-4D97-AF65-F5344CB8AC3E}">
        <p14:creationId xmlns:p14="http://schemas.microsoft.com/office/powerpoint/2010/main" val="1424861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2026-10-31T04:10:25.3000000Z</dcterms:created>
  <dcterms:modified xsi:type="dcterms:W3CDTF">2026-10-31T04:10:25.3000000Z</dcterms:modified>
</coreProperties>
</file>