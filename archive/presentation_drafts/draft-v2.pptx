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ba7d0271e84e85" /><Relationship Type="http://schemas.openxmlformats.org/officeDocument/2006/relationships/extended-properties" Target="/docProps/app.xml" Id="Rbf5b4fb730c943f7" /><Relationship Type="http://schemas.openxmlformats.org/officeDocument/2006/relationships/officeDocument" Target="/ppt/presentation.xml" Id="R0092ec31f3f54c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8c7780945643ed"/>
  </p:sldMasterIdLst>
  <p:notesMasterIdLst>
    <p:notesMasterId xmlns:r="http://schemas.openxmlformats.org/officeDocument/2006/relationships" r:id="R5996a19ac4114ef9"/>
  </p:notesMasterIdLst>
  <p:sldIdLst>
    <p:sldId xmlns:r="http://schemas.openxmlformats.org/officeDocument/2006/relationships" id="256" r:id="Rc9ed87c7493e4a04"/>
    <p:sldId xmlns:r="http://schemas.openxmlformats.org/officeDocument/2006/relationships" id="257" r:id="Rc8f460821a994001"/>
    <p:sldId xmlns:r="http://schemas.openxmlformats.org/officeDocument/2006/relationships" id="258" r:id="R0889758319224958"/>
    <p:sldId xmlns:r="http://schemas.openxmlformats.org/officeDocument/2006/relationships" id="259" r:id="R553ab71a939c4056"/>
    <p:sldId xmlns:r="http://schemas.openxmlformats.org/officeDocument/2006/relationships" id="260" r:id="R01f82ead18144466"/>
    <p:sldId xmlns:r="http://schemas.openxmlformats.org/officeDocument/2006/relationships" id="261" r:id="R001ed1aea06045a0"/>
    <p:sldId xmlns:r="http://schemas.openxmlformats.org/officeDocument/2006/relationships" id="262" r:id="R1f65e1d655bf48e4"/>
    <p:sldId xmlns:r="http://schemas.openxmlformats.org/officeDocument/2006/relationships" id="263" r:id="R44f05db45f504c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080936bba645cc" /><Relationship Type="http://schemas.openxmlformats.org/officeDocument/2006/relationships/slideMaster" Target="/ppt/slideMasters/slideMaster1.xml" Id="R9a8c7780945643ed" /><Relationship Type="http://schemas.openxmlformats.org/officeDocument/2006/relationships/notesMaster" Target="/ppt/notesMasters/notesMaster1.xml" Id="R5996a19ac4114ef9" /><Relationship Type="http://schemas.openxmlformats.org/officeDocument/2006/relationships/presProps" Target="/ppt/presProps.xml" Id="R34039bb2f7a340c1" /><Relationship Type="http://schemas.openxmlformats.org/officeDocument/2006/relationships/tableStyles" Target="/ppt/tableStyles.xml" Id="Ree05260448184c78" /><Relationship Type="http://schemas.openxmlformats.org/officeDocument/2006/relationships/slide" Target="/ppt/slides/slide1.xml" Id="Rc9ed87c7493e4a04" /><Relationship Type="http://schemas.openxmlformats.org/officeDocument/2006/relationships/slide" Target="/ppt/slides/slide2.xml" Id="Rc8f460821a994001" /><Relationship Type="http://schemas.openxmlformats.org/officeDocument/2006/relationships/slide" Target="/ppt/slides/slide3.xml" Id="R0889758319224958" /><Relationship Type="http://schemas.openxmlformats.org/officeDocument/2006/relationships/slide" Target="/ppt/slides/slide4.xml" Id="R553ab71a939c4056" /><Relationship Type="http://schemas.openxmlformats.org/officeDocument/2006/relationships/slide" Target="/ppt/slides/slide5.xml" Id="R01f82ead18144466" /><Relationship Type="http://schemas.openxmlformats.org/officeDocument/2006/relationships/slide" Target="/ppt/slides/slide6.xml" Id="R001ed1aea06045a0" /><Relationship Type="http://schemas.openxmlformats.org/officeDocument/2006/relationships/slide" Target="/ppt/slides/slide7.xml" Id="R1f65e1d655bf48e4" /><Relationship Type="http://schemas.openxmlformats.org/officeDocument/2006/relationships/slide" Target="/ppt/slides/slide8.xml" Id="R44f05db45f504c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0ba1d6463e4b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4ab409e09a4c1d" /><Relationship Type="http://schemas.openxmlformats.org/officeDocument/2006/relationships/notesMaster" Target="/ppt/notesMasters/notesMaster1.xml" Id="Rc2b0c465716a4c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5b8372c646445b" /><Relationship Type="http://schemas.openxmlformats.org/officeDocument/2006/relationships/notesMaster" Target="/ppt/notesMasters/notesMaster1.xml" Id="Ra288eab9bf5045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553902a09447cc" /><Relationship Type="http://schemas.openxmlformats.org/officeDocument/2006/relationships/notesMaster" Target="/ppt/notesMasters/notesMaster1.xml" Id="Rd4a88facb59248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78fc8e89bb47b6" /><Relationship Type="http://schemas.openxmlformats.org/officeDocument/2006/relationships/notesMaster" Target="/ppt/notesMasters/notesMaster1.xml" Id="R260773dde0e04f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5c3415e02b4b86" /><Relationship Type="http://schemas.openxmlformats.org/officeDocument/2006/relationships/notesMaster" Target="/ppt/notesMasters/notesMaster1.xml" Id="R0bcd19f63bcd4a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56c3e09af94c1e" /><Relationship Type="http://schemas.openxmlformats.org/officeDocument/2006/relationships/notesMaster" Target="/ppt/notesMasters/notesMaster1.xml" Id="R11fea1ffb5f44f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4cc812180474e0b" /><Relationship Type="http://schemas.openxmlformats.org/officeDocument/2006/relationships/notesMaster" Target="/ppt/notesMasters/notesMaster1.xml" Id="R31c6fd5f349348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68884b9ab54d78" /><Relationship Type="http://schemas.openxmlformats.org/officeDocument/2006/relationships/notesMaster" Target="/ppt/notesMasters/notesMaster1.xml" Id="Rc0b819aa7a8844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built a small simulation to see whether error-mitigation tools can recover a useful measurement after noise is added. The assignment asks for SLC, NoiseLearnerV3, and PNA. This deck states clearly where the local simulator uses synthetic calibration rates in place of a hardware noise-learning job.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explanation simple: the project does not require the audience to know quantum mechanics. A measurement is an average from repeated simulated runs.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center-qubit X measurement is the quantity that PNA corrects. We also calculate exact state fidelity from the simulator's density matrix as a separate measure of how much the whole state was changed.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SLC assigns importance to candidate Pauli error terms and can trade a bounded bias for lower sampling cost. PNA propagates the inverse of learned noise into an observable. The official NoiseLearnerV3 accepts an IBM Quantum backend/service job; IBM documents that it has no local fake-backend mode. Sources: https://qiskit.github.io/qiskit-addon-slc/guides/quickstart.html ; https://qiskit.github.io/qiskit-addon-pna/tutorials/01_generate_noise_mitigating_observable.html ; https://quantum.cloud.ibm.com/docs/en/guides/migrate-to-client-side-primitives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 the middle noise setting, the learned model included 78 candidate error terms. SLC kept 53 for mitigation and set a bounded bias limit of 0.05. This reduced local PNA preprocessing from about 1.29 seconds to 1.13 seconds. The sampling-cost estimate fell from about 2.61 to 1.92.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ideal value is about 0.971. At 1× noise, the uncorrected value fell to 0.674. Full PNA brought it to 0.954; SLC-selected PNA brought it to 0.938. SLC saves work but can leave more bias, which is the intended tradeoff.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ideal-state fidelity projector is the observable |psi&gt;&lt;psi| for the noiseless output. We run PNA on that projector, then evaluate it exactly against the noisy density matrix as a local simulation metric. At 1x noise, raw state fidelity is 0.695 and the full-PNA estimate is 1.005. Because PNA uses a truncated approximate correction, the estimate can exceed the physical maximum of one. Treat it as near ideal, not as a literal fidelity over 1. SLC is applied to the center-X observable workflow on the previous slides; this full projector-fidelity estimate uses full PNA.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local results show the algorithmic flow but are not hardware results because calibration rates are synthetic. The official assignment asks for NoiseLearnerV3 and a simulated noisy backend; official documentation says NoiseLearnerV3 does not have a local testing mode. If an IBM Quantum account and backend become available, replace the synthetic model with the output of the official noise learner. Source: https://quantum.cloud.ibm.com/docs/en/guides/migrate-to-client-side-primitives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48f09a88cd41d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03c1164bb9426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549aa6862141c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5f325c5d134f5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b66ce3800f49e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fa0a99907042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EB158C-376A-4EA9-ACEE-3D455D166D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B2994D3-E8E8-46B6-B43A-44BC2E8B66D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5FEDF13-943C-4435-A5C7-054C968132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9868A8A-C87F-487B-8BA6-3751E1A69D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20291E6-8F3D-4057-AF70-CC892DEF56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5E760DE-80AC-45AE-BB1B-4C416340F9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E0939BF-D7EE-4A76-9EC6-19669B0BEC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493E997-67D0-48DD-B0DA-41B09BB29C1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6DCCE3-D098-42C4-8068-8FE35BFA6D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4EF4B79-7490-4F83-8E0B-D357E60C60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6751673ef8488f" /><Relationship Type="http://schemas.openxmlformats.org/officeDocument/2006/relationships/slideLayout" Target="/ppt/slideLayouts/slideLayout1.xml" Id="R6fe3d28963bc410d" /><Relationship Type="http://schemas.openxmlformats.org/officeDocument/2006/relationships/slideLayout" Target="/ppt/slideLayouts/slideLayout2.xml" Id="Rdfec3de363c448fa" /><Relationship Type="http://schemas.openxmlformats.org/officeDocument/2006/relationships/slideLayout" Target="/ppt/slideLayouts/slideLayout3.xml" Id="R8e0654b1eb184257" /><Relationship Type="http://schemas.openxmlformats.org/officeDocument/2006/relationships/slideLayout" Target="/ppt/slideLayouts/slideLayout4.xml" Id="Rebe696f982e3489c" /><Relationship Type="http://schemas.openxmlformats.org/officeDocument/2006/relationships/slideLayout" Target="/ppt/slideLayouts/slideLayout5.xml" Id="R0c002c26a60e4fdd" /><Relationship Type="http://schemas.openxmlformats.org/officeDocument/2006/relationships/slideLayout" Target="/ppt/slideLayouts/slideLayout6.xml" Id="R39110aa64b1147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e3d28963bc410d"/>
    <p:sldLayoutId xmlns:r="http://schemas.openxmlformats.org/officeDocument/2006/relationships" id="2147483650" r:id="Rdfec3de363c448fa"/>
    <p:sldLayoutId xmlns:r="http://schemas.openxmlformats.org/officeDocument/2006/relationships" id="2147483651" r:id="R8e0654b1eb184257"/>
    <p:sldLayoutId xmlns:r="http://schemas.openxmlformats.org/officeDocument/2006/relationships" id="2147483652" r:id="Rebe696f982e3489c"/>
    <p:sldLayoutId xmlns:r="http://schemas.openxmlformats.org/officeDocument/2006/relationships" id="2147483653" r:id="R0c002c26a60e4fdd"/>
    <p:sldLayoutId xmlns:r="http://schemas.openxmlformats.org/officeDocument/2006/relationships" id="2147483654" r:id="R39110aa64b1147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822563d39049d6" /><Relationship Type="http://schemas.openxmlformats.org/officeDocument/2006/relationships/notesSlide" Target="/ppt/notesSlides/notesSlide1.xml" Id="Re1671ee6011344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7b1d7d5d994c46" /><Relationship Type="http://schemas.openxmlformats.org/officeDocument/2006/relationships/notesSlide" Target="/ppt/notesSlides/notesSlide2.xml" Id="Rb7d292477c0844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7e4c8098864491" /><Relationship Type="http://schemas.openxmlformats.org/officeDocument/2006/relationships/notesSlide" Target="/ppt/notesSlides/notesSlide3.xml" Id="Rd44bf3196b8940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73520e2e7b43e6" /><Relationship Type="http://schemas.openxmlformats.org/officeDocument/2006/relationships/notesSlide" Target="/ppt/notesSlides/notesSlide4.xml" Id="R6cc5cc5114574a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3aa78982914063" /><Relationship Type="http://schemas.openxmlformats.org/officeDocument/2006/relationships/chart" Target="/ppt/slides/charts/chart1.xml" Id="Rddf595ae58154e31" /><Relationship Type="http://schemas.openxmlformats.org/officeDocument/2006/relationships/notesSlide" Target="/ppt/notesSlides/notesSlide5.xml" Id="R0331050c280c44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2a93bd02fe40ca" /><Relationship Type="http://schemas.openxmlformats.org/officeDocument/2006/relationships/chart" Target="/ppt/slides/charts/chart2.xml" Id="R5323b2d031a94a72" /><Relationship Type="http://schemas.openxmlformats.org/officeDocument/2006/relationships/notesSlide" Target="/ppt/notesSlides/notesSlide6.xml" Id="R8c4af6a0bdb44c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295823ca374d66" /><Relationship Type="http://schemas.openxmlformats.org/officeDocument/2006/relationships/chart" Target="/ppt/slides/charts/chart3.xml" Id="R3a7300c7dba2499e" /><Relationship Type="http://schemas.openxmlformats.org/officeDocument/2006/relationships/notesSlide" Target="/ppt/notesSlides/notesSlide7.xml" Id="R266692f530324c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62b74c38a9490d" /><Relationship Type="http://schemas.openxmlformats.org/officeDocument/2006/relationships/notesSlide" Target="/ppt/notesSlides/notesSlide8.xml" Id="R5c66fe52a3df4f4d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Error terms retained for PNA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61616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Full model</c:v>
          </c:tx>
          <c:spPr>
            <a:solidFill xmlns:a="http://schemas.openxmlformats.org/drawingml/2006/main">
              <a:srgbClr val="525252"/>
            </a:solidFill>
          </c:spPr>
          <c:invertIfNegative val="0"/>
          <c:cat>
            <c:strLit>
              <c:ptCount val="3"/>
              <c:pt idx="0">
                <c:v>0.5× noise</c:v>
              </c:pt>
              <c:pt idx="1">
                <c:v>1× noise</c:v>
              </c:pt>
              <c:pt idx="2">
                <c:v>2× noise</c:v>
              </c:pt>
            </c:strLit>
          </c:cat>
          <c:val>
            <c:numLit>
              <c:formatCode>General</c:formatCode>
              <c:ptCount val="3"/>
              <c:pt idx="0">
                <c:v>78</c:v>
              </c:pt>
              <c:pt idx="1">
                <c:v>78</c:v>
              </c:pt>
              <c:pt idx="2">
                <c:v>78</c:v>
              </c:pt>
            </c:numLit>
          </c:val>
        </c:ser>
        <c:ser>
          <c:idx val="1"/>
          <c:order val="1"/>
          <c:tx>
            <c:v>After SLC</c:v>
          </c:tx>
          <c:spPr>
            <a:solidFill xmlns:a="http://schemas.openxmlformats.org/drawingml/2006/main">
              <a:srgbClr val="0F62FE"/>
            </a:solidFill>
          </c:spPr>
          <c:invertIfNegative val="0"/>
          <c:cat>
            <c:strLit>
              <c:ptCount val="3"/>
              <c:pt idx="0">
                <c:v>0.5× noise</c:v>
              </c:pt>
              <c:pt idx="1">
                <c:v>1× noise</c:v>
              </c:pt>
              <c:pt idx="2">
                <c:v>2× noise</c:v>
              </c:pt>
            </c:strLit>
          </c:cat>
          <c:val>
            <c:numLit>
              <c:formatCode>General</c:formatCode>
              <c:ptCount val="3"/>
              <c:pt idx="0">
                <c:v>47</c:v>
              </c:pt>
              <c:pt idx="1">
                <c:v>52</c:v>
              </c:pt>
              <c:pt idx="2">
                <c:v>56</c:v>
              </c:pt>
            </c:numLit>
          </c:val>
        </c:ser>
        <c:dLbls>
          <c:delete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9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1E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Center-qubit X expectation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61616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Ideal</c:v>
          </c:tx>
          <c:spPr>
            <a:solidFill xmlns:a="http://schemas.openxmlformats.org/drawingml/2006/main">
              <a:srgbClr val="525252"/>
            </a:solidFill>
          </c:spPr>
          <c:marker>
            <c:symbol val="none"/>
          </c:marker>
          <c:cat>
            <c:strLit>
              <c:ptCount val="3"/>
              <c:pt idx="0">
                <c:v>0.5×</c:v>
              </c:pt>
              <c:pt idx="1">
                <c:v>1×</c:v>
              </c:pt>
              <c:pt idx="2">
                <c:v>2×</c:v>
              </c:pt>
            </c:strLit>
          </c:cat>
          <c:val>
            <c:numLit>
              <c:formatCode>General</c:formatCode>
              <c:ptCount val="3"/>
              <c:pt idx="0">
                <c:v>0.981</c:v>
              </c:pt>
              <c:pt idx="1">
                <c:v>0.981</c:v>
              </c:pt>
              <c:pt idx="2">
                <c:v>0.981</c:v>
              </c:pt>
            </c:numLit>
          </c:val>
          <c:smooth val="0"/>
        </c:ser>
        <c:ser>
          <c:idx val="1"/>
          <c:order val="1"/>
          <c:tx>
            <c:v>Noisy</c:v>
          </c:tx>
          <c:spPr>
            <a:solidFill xmlns:a="http://schemas.openxmlformats.org/drawingml/2006/main">
              <a:srgbClr val="FF832B"/>
            </a:solidFill>
          </c:spPr>
          <c:marker>
            <c:symbol val="none"/>
          </c:marker>
          <c:cat>
            <c:strLit>
              <c:ptCount val="3"/>
              <c:pt idx="0">
                <c:v>0.5×</c:v>
              </c:pt>
              <c:pt idx="1">
                <c:v>1×</c:v>
              </c:pt>
              <c:pt idx="2">
                <c:v>2×</c:v>
              </c:pt>
            </c:strLit>
          </c:cat>
          <c:val>
            <c:numLit>
              <c:formatCode>General</c:formatCode>
              <c:ptCount val="3"/>
              <c:pt idx="0">
                <c:v>0.818</c:v>
              </c:pt>
              <c:pt idx="1">
                <c:v>0.687</c:v>
              </c:pt>
              <c:pt idx="2">
                <c:v>0.482</c:v>
              </c:pt>
            </c:numLit>
          </c:val>
          <c:smooth val="0"/>
        </c:ser>
        <c:ser>
          <c:idx val="2"/>
          <c:order val="2"/>
          <c:tx>
            <c:v>Full PNA</c:v>
          </c:tx>
          <c:spPr>
            <a:solidFill xmlns:a="http://schemas.openxmlformats.org/drawingml/2006/main">
              <a:srgbClr val="0F62FE"/>
            </a:solidFill>
          </c:spPr>
          <c:marker>
            <c:symbol val="none"/>
          </c:marker>
          <c:cat>
            <c:strLit>
              <c:ptCount val="3"/>
              <c:pt idx="0">
                <c:v>0.5×</c:v>
              </c:pt>
              <c:pt idx="1">
                <c:v>1×</c:v>
              </c:pt>
              <c:pt idx="2">
                <c:v>2×</c:v>
              </c:pt>
            </c:strLit>
          </c:cat>
          <c:val>
            <c:numLit>
              <c:formatCode>General</c:formatCode>
              <c:ptCount val="3"/>
              <c:pt idx="0">
                <c:v>0.969</c:v>
              </c:pt>
              <c:pt idx="1">
                <c:v>0.977</c:v>
              </c:pt>
              <c:pt idx="2">
                <c:v>0.953</c:v>
              </c:pt>
            </c:numLit>
          </c:val>
          <c:smooth val="0"/>
        </c:ser>
        <c:ser>
          <c:idx val="3"/>
          <c:order val="3"/>
          <c:tx>
            <c:v>SLC + PNA</c:v>
          </c:tx>
          <c:spPr>
            <a:solidFill xmlns:a="http://schemas.openxmlformats.org/drawingml/2006/main">
              <a:srgbClr val="009D9A"/>
            </a:solidFill>
          </c:spPr>
          <c:marker>
            <c:symbol val="none"/>
          </c:marker>
          <c:cat>
            <c:strLit>
              <c:ptCount val="3"/>
              <c:pt idx="0">
                <c:v>0.5×</c:v>
              </c:pt>
              <c:pt idx="1">
                <c:v>1×</c:v>
              </c:pt>
              <c:pt idx="2">
                <c:v>2×</c:v>
              </c:pt>
            </c:strLit>
          </c:cat>
          <c:val>
            <c:numLit>
              <c:formatCode>General</c:formatCode>
              <c:ptCount val="3"/>
              <c:pt idx="0">
                <c:v>0.946</c:v>
              </c:pt>
              <c:pt idx="1">
                <c:v>0.962</c:v>
              </c:pt>
              <c:pt idx="2">
                <c:v>0.966</c:v>
              </c:pt>
            </c:numLit>
          </c:val>
          <c:smooth val="0"/>
        </c:ser>
        <c:dLbls>
          <c:delete val="1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.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1E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Ideal-state fidelity by noise strength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61616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Ideal</c:v>
          </c:tx>
          <c:spPr>
            <a:solidFill xmlns:a="http://schemas.openxmlformats.org/drawingml/2006/main">
              <a:srgbClr val="525252"/>
            </a:solidFill>
          </c:spPr>
          <c:marker>
            <c:symbol val="none"/>
          </c:marker>
          <c:cat>
            <c:strLit>
              <c:ptCount val="3"/>
              <c:pt idx="0">
                <c:v>0.5× noise</c:v>
              </c:pt>
              <c:pt idx="1">
                <c:v>1× noise</c:v>
              </c:pt>
              <c:pt idx="2">
                <c:v>2× noise</c:v>
              </c:pt>
            </c:strLit>
          </c:cat>
          <c:val>
            <c:numLit>
              <c:formatCode>0.00</c:formatCode>
              <c:ptCount val="3"/>
              <c:pt idx="0">
                <c:v>1</c:v>
              </c:pt>
              <c:pt idx="1">
                <c:v>1</c:v>
              </c:pt>
              <c:pt idx="2">
                <c:v>1</c:v>
              </c:pt>
            </c:numLit>
          </c:val>
          <c:smooth val="0"/>
        </c:ser>
        <c:ser>
          <c:idx val="1"/>
          <c:order val="1"/>
          <c:tx>
            <c:v>Noisy state</c:v>
          </c:tx>
          <c:spPr>
            <a:solidFill xmlns:a="http://schemas.openxmlformats.org/drawingml/2006/main">
              <a:srgbClr val="8A3FFC"/>
            </a:solidFill>
          </c:spPr>
          <c:marker>
            <c:symbol val="none"/>
          </c:marker>
          <c:cat>
            <c:strLit>
              <c:ptCount val="3"/>
              <c:pt idx="0">
                <c:v>0.5× noise</c:v>
              </c:pt>
              <c:pt idx="1">
                <c:v>1× noise</c:v>
              </c:pt>
              <c:pt idx="2">
                <c:v>2× noise</c:v>
              </c:pt>
            </c:strLit>
          </c:cat>
          <c:val>
            <c:numLit>
              <c:formatCode>0.00</c:formatCode>
              <c:ptCount val="3"/>
              <c:pt idx="0">
                <c:v>0.833</c:v>
              </c:pt>
              <c:pt idx="1">
                <c:v>0.695</c:v>
              </c:pt>
              <c:pt idx="2">
                <c:v>0.488</c:v>
              </c:pt>
            </c:numLit>
          </c:val>
          <c:smooth val="0"/>
        </c:ser>
        <c:ser>
          <c:idx val="2"/>
          <c:order val="2"/>
          <c:tx>
            <c:v>Full PNA estimate</c:v>
          </c:tx>
          <c:spPr>
            <a:solidFill xmlns:a="http://schemas.openxmlformats.org/drawingml/2006/main">
              <a:srgbClr val="0F62FE"/>
            </a:solidFill>
          </c:spPr>
          <c:marker>
            <c:symbol val="none"/>
          </c:marker>
          <c:cat>
            <c:strLit>
              <c:ptCount val="3"/>
              <c:pt idx="0">
                <c:v>0.5× noise</c:v>
              </c:pt>
              <c:pt idx="1">
                <c:v>1× noise</c:v>
              </c:pt>
              <c:pt idx="2">
                <c:v>2× noise</c:v>
              </c:pt>
            </c:strLit>
          </c:cat>
          <c:val>
            <c:numLit>
              <c:formatCode>0.00</c:formatCode>
              <c:ptCount val="3"/>
              <c:pt idx="0">
                <c:v>1.001</c:v>
              </c:pt>
              <c:pt idx="1">
                <c:v>1.004</c:v>
              </c:pt>
              <c:pt idx="2">
                <c:v>1.017</c:v>
              </c:pt>
            </c:numLit>
          </c:val>
          <c:smooth val="0"/>
        </c:ser>
        <c:dLbls>
          <c:delete val="0"/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latin typeface="Arial"/>
                  <a:ea typeface="Arial"/>
                  <a:cs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.05"/>
          <c:min val="0.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1E6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4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E92CE3-894B-468B-B2D8-A9F15085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AD97B0-FB55-4E89-B54A-6B7A8A90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9239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Making quantum</a:t>
            </a:r>
          </a:p>
          <a:p xmlns:a="http://schemas.openxmlformats.org/drawingml/2006/main">
            <a: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results more reliable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254224-FE31-461C-ACA0-0EF931AD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876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A small noisy simulation using Shaded Lightcones and Propagated Noise Absorption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5BCA7C-1C03-4164-8340-25A9087C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Five qubits · Eight CZ gates · Three noise levels</a:t>
            </a:r>
          </a:p>
        </p:txBody>
      </p:sp>
    </p:spTree>
    <p:extLst>
      <p:ext uri="{BB962C8B-B14F-4D97-AF65-F5344CB8AC3E}">
        <p14:creationId xmlns:p14="http://schemas.microsoft.com/office/powerpoint/2010/main" val="12084534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04B7B7-317D-4631-BE72-9365D199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C265B2-4154-4261-BCFD-D92B0ED7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The basic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04928C-560C-464F-AF7A-FC19B334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91"/>
          </a:bodyPr>
          <a:lstStyle xmlns:a="http://schemas.openxmlformats.org/drawingml/2006/main">
            <a:def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A qubit stores quantum information. A gate changes it. Noise makes gates imperfect.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4C1EBC-CC2E-48E7-8771-3EAC1D20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QUBIT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3B65AC-C30D-4FAA-BB67-B1AAA667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The quantum version of a bit.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1C2B76-D215-40CA-B225-3A3303CD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GATE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963051-09BD-45A6-ACA0-3B3D1C58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194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An operation applied to one or more qubits.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80E424-5345-41C6-B402-650FBCBC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NOISE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666EF5-724C-4FCC-8368-485CE2F1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19450"/>
            <a:ext cx="3095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 small unwanted change during an operation.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376921-319F-495C-AC44-A9E5D2C7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We repeat the same calculation many times and compare the average result with an ideal reference.</a:t>
            </a:r>
          </a:p>
        </p:txBody>
      </p:sp>
    </p:spTree>
    <p:extLst>
      <p:ext uri="{BB962C8B-B14F-4D97-AF65-F5344CB8AC3E}">
        <p14:creationId xmlns:p14="http://schemas.microsoft.com/office/powerpoint/2010/main" val="1759594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0EE9A4-1D04-42A2-8D5E-C36CDD88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B1E80F-E30C-44D4-A568-86E8F6AA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The experiment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8FC868-EF47-4199-ACF3-60D8014B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Circuit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CBC04C-EA4A-4D13-8AF4-18ABD7EF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5 qubits in a chain, with 8 CZ entangling gates.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E8728E-06FB-4A24-AFFA-93B0A4D9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811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Measurement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2044B1-40E1-4535-AEFF-ABAAD4C5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52650"/>
            <a:ext cx="476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Average X value of the center qubit, estimated with Qiskit’s Estimator primitive.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15DF2B-DE70-4D7B-A274-E2309264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Comparison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2D184C-64B7-4CD9-8A41-D2208FD0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Ideal simulation vs. simulated noisy circuit, then full PNA vs. SLC-selected PNA.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752F7B-5BC9-461B-93C9-963621FC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766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Noise levels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C5AA13-8EC3-4576-A810-BB1373AA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4810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0.5×, 1× and 2× the same modeled error rates.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7DE04B-DCB5-4AA5-B20A-8FC12E21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State fidelity is calculated directly from the simulator’s density matrix.</a:t>
            </a:r>
          </a:p>
        </p:txBody>
      </p:sp>
    </p:spTree>
    <p:extLst>
      <p:ext uri="{BB962C8B-B14F-4D97-AF65-F5344CB8AC3E}">
        <p14:creationId xmlns:p14="http://schemas.microsoft.com/office/powerpoint/2010/main" val="5401466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3F2F6D-F84F-489F-BE1E-01E7DF3C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839342-AC53-41E5-963F-52B62021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How the tools fit together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B5232B-4CE2-4ED5-B6D6-9F094AEA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1  Estimate errors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7DE488-E7F5-4DBE-9E83-211E1935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526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Use a known, simulated calibration model for this local experiment.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EE108C-A6AF-49A2-B295-FD74C2B8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2  Focus the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191137-53A6-4610-B551-7854FCAD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09825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SLC ranks errors by how much they can affect the chosen measurement.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DCBB5E-9B6D-4002-A82B-72958056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A3FFC"/>
                </a:solidFill>
                <a:latin typeface="Arial"/>
                <a:ea typeface="Arial"/>
                <a:cs typeface="Arial"/>
              </a:rPr>
              <a:t>3  Correct the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90B215-F124-4322-86B8-B71AF4A2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670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PNA folds the modeled correction into the measured quantity.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1D945D-EF75-4922-A0C1-948213E0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Why not NoiseLearnerV3 here?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EB985C-9843-4CA0-A97B-5E5218AF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Its official workflow submits learning jobs to IBM Quantum. No IBM account is configured on this computer, so local rates are simulated inputs, not hardware measurements.</a:t>
            </a:r>
          </a:p>
        </p:txBody>
      </p:sp>
    </p:spTree>
    <p:extLst>
      <p:ext uri="{BB962C8B-B14F-4D97-AF65-F5344CB8AC3E}">
        <p14:creationId xmlns:p14="http://schemas.microsoft.com/office/powerpoint/2010/main" val="19547368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2C2A39-5C3B-4D28-A379-8E4D4AFC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EC80F7-3181-4177-A757-3F773DCE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SLC reduced the error model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C56A0179-1F60-4B16-8D11-F40D95685C54}"/>
              </a:ext>
            </a:extLst>
          </p:cNvPr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66675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df595ae58154e31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7A6D56-3E21-445C-A20D-88C09358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1907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33%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704E0-4E19-4467-91CE-7849EA05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95275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fewer modeled error terms at 1× noise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1B062D-E8C4-4EED-8421-19708939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57625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9%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70D690-2951-49AF-968A-80C9C97E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619625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less PNA setup time in this small run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4F6D18-A694-4132-BF6C-D701C851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At 1× noise, the SLC bias bound was 0.046 (under the 0.05 limit we set).</a:t>
            </a:r>
          </a:p>
        </p:txBody>
      </p:sp>
    </p:spTree>
    <p:extLst>
      <p:ext uri="{BB962C8B-B14F-4D97-AF65-F5344CB8AC3E}">
        <p14:creationId xmlns:p14="http://schemas.microsoft.com/office/powerpoint/2010/main" val="7880209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A702EA-7D87-4FB9-A254-B7EBE3C5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732F5D-36E3-41FC-AABF-C1EC0BDB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PNA recovered the measured value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FA5A1F4B-0D7E-4866-AB82-143BFFF54F6F}"/>
              </a:ext>
            </a:extLst>
          </p:cNvPr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76200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323b2d031a94a72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1BE0CF-F48C-4264-9D5B-BA3D4BF9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336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25252"/>
                </a:solidFill>
                <a:latin typeface="Arial"/>
                <a:ea typeface="Arial"/>
                <a:cs typeface="Arial"/>
              </a:rPr>
              <a:t>At 1× noise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A22106-14CA-4778-A177-22935EEA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032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832B"/>
                </a:solidFill>
                <a:latin typeface="Arial"/>
                <a:ea typeface="Arial"/>
                <a:cs typeface="Arial"/>
              </a:rPr>
              <a:t>0.687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CD22E4-B5C8-4A85-89A7-D09966A0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146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without correction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B3EF3A-1684-41EF-8532-48DF8E9D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0.977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D03854-D333-4E51-A83C-731A388A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291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with full PNA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AE4B1C-602D-4E1B-9A9F-7C9F8F33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2917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0.962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BCD15F-E8BB-4433-90FF-F985D0A5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435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with SLC + PNA</a:t>
            </a:r>
          </a:p>
        </p:txBody>
      </p:sp>
    </p:spTree>
    <p:extLst>
      <p:ext uri="{BB962C8B-B14F-4D97-AF65-F5344CB8AC3E}">
        <p14:creationId xmlns:p14="http://schemas.microsoft.com/office/powerpoint/2010/main" val="18294572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F7EA4F-581C-445B-889D-02D725BF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99AF36-95C4-4012-B9A8-D270801B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PNA lifted the fidelity estimate near ideal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C5288B4E-A869-421F-BB2A-81BB14AE4267}"/>
              </a:ext>
            </a:extLst>
          </p:cNvPr>
          <p:cNvGraphicFramePr/>
          <p:nvPr/>
        </p:nvGraphicFramePr>
        <p:xfrm>
          <a:off xmlns:a="http://schemas.openxmlformats.org/drawingml/2006/main" x="714375" y="1762125"/>
          <a:ext xmlns:a="http://schemas.openxmlformats.org/drawingml/2006/main" cx="7048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a7300c7dba2499e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B034C-6A70-4B2C-81E6-4912C77C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90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5252"/>
                </a:solidFill>
                <a:latin typeface="Arial"/>
                <a:ea typeface="Arial"/>
                <a:cs typeface="Arial"/>
              </a:rPr>
              <a:t>At 1× noise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441D7A-517F-4B7E-AC31-F0CEB512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63842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8A3FFC"/>
                </a:solidFill>
                <a:latin typeface="Arial"/>
                <a:ea typeface="Arial"/>
                <a:cs typeface="Arial"/>
              </a:rPr>
              <a:t>0.695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DFCCF6-13B5-4B27-88BC-EAD76B42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4325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noisy-state fidelity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E924FC-C589-472A-83DB-42C430EC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623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1.004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1F0063-FF54-458D-93E3-C2B1FCA9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26720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full-PNA projector estimate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2D0E99-F808-47E9-B506-FA52DC0A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102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The PNA estimate can slightly exceed 1 because this correction is approximate. Fidelity itself cannot exceed 1; read this as near ideal.</a:t>
            </a:r>
          </a:p>
        </p:txBody>
      </p:sp>
    </p:spTree>
    <p:extLst>
      <p:ext uri="{BB962C8B-B14F-4D97-AF65-F5344CB8AC3E}">
        <p14:creationId xmlns:p14="http://schemas.microsoft.com/office/powerpoint/2010/main" val="14517176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063DD7-37C5-46BA-8CC3-A088E711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90C223-5289-415C-B382-3E40AECB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What we learned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52C659-788C-42D6-9E94-AF4204CA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PNA helped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E113AD-AFAA-41EE-9B9D-75486C90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It moved the measured value closer to the ideal result at all three noise levels.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C5212-F1E3-4A45-BC64-B8FBBBD9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SLC traded a little accuracy for lower cost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44A933-6A35-4B5B-A114-DC4B932D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971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It dropped low-impact error terms and lowered the estimated sampling cost, with a small allowed bias.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CF1727-1372-450A-8CA8-93C00E13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A3FFC"/>
                </a:solidFill>
                <a:latin typeface="Arial"/>
                <a:ea typeface="Arial"/>
                <a:cs typeface="Arial"/>
              </a:rPr>
              <a:t>Next step for a hardware-ready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49AF1E-7C8C-465C-AAF7-75F93284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3525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Connect NoiseLearnerV3 to an IBM Quantum backend, then rerun the same workflow with measured rates.</a:t>
            </a:r>
          </a:p>
        </p:txBody>
      </p:sp>
    </p:spTree>
    <p:extLst>
      <p:ext uri="{BB962C8B-B14F-4D97-AF65-F5344CB8AC3E}">
        <p14:creationId xmlns:p14="http://schemas.microsoft.com/office/powerpoint/2010/main" val="16824314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2026-10-31T04:16:53.0300000Z</dcterms:created>
  <dcterms:modified xsi:type="dcterms:W3CDTF">2026-10-31T04:16:53.0300000Z</dcterms:modified>
</coreProperties>
</file>