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faa9f8854e47f6" /><Relationship Type="http://schemas.openxmlformats.org/officeDocument/2006/relationships/extended-properties" Target="/docProps/app.xml" Id="R579d662c4850446c" /><Relationship Type="http://schemas.openxmlformats.org/officeDocument/2006/relationships/officeDocument" Target="/ppt/presentation.xml" Id="R4952bfea8c1549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58a558a4814612"/>
  </p:sldMasterIdLst>
  <p:notesMasterIdLst>
    <p:notesMasterId xmlns:r="http://schemas.openxmlformats.org/officeDocument/2006/relationships" r:id="Rcf28ab88cf9e4621"/>
  </p:notesMasterIdLst>
  <p:sldIdLst>
    <p:sldId xmlns:r="http://schemas.openxmlformats.org/officeDocument/2006/relationships" id="256" r:id="R7ffbb0d22c9c4748"/>
    <p:sldId xmlns:r="http://schemas.openxmlformats.org/officeDocument/2006/relationships" id="257" r:id="R972dfb287b5a47f8"/>
    <p:sldId xmlns:r="http://schemas.openxmlformats.org/officeDocument/2006/relationships" id="258" r:id="R23b7fc6e3b004d42"/>
    <p:sldId xmlns:r="http://schemas.openxmlformats.org/officeDocument/2006/relationships" id="259" r:id="R1a058ec44a6f4ff8"/>
    <p:sldId xmlns:r="http://schemas.openxmlformats.org/officeDocument/2006/relationships" id="260" r:id="Rf60761623f7848a7"/>
    <p:sldId xmlns:r="http://schemas.openxmlformats.org/officeDocument/2006/relationships" id="261" r:id="R5c485162e4844753"/>
    <p:sldId xmlns:r="http://schemas.openxmlformats.org/officeDocument/2006/relationships" id="262" r:id="R345dd854b38d4a73"/>
    <p:sldId xmlns:r="http://schemas.openxmlformats.org/officeDocument/2006/relationships" id="263" r:id="Rd45a213ea7e947d3"/>
    <p:sldId xmlns:r="http://schemas.openxmlformats.org/officeDocument/2006/relationships" id="264" r:id="Re3fc755fa49e4d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1ed6d1e5a44f53" /><Relationship Type="http://schemas.openxmlformats.org/officeDocument/2006/relationships/slideMaster" Target="/ppt/slideMasters/slideMaster1.xml" Id="Rd758a558a4814612" /><Relationship Type="http://schemas.openxmlformats.org/officeDocument/2006/relationships/notesMaster" Target="/ppt/notesMasters/notesMaster1.xml" Id="Rcf28ab88cf9e4621" /><Relationship Type="http://schemas.openxmlformats.org/officeDocument/2006/relationships/presProps" Target="/ppt/presProps.xml" Id="Ra9f9e3f91ced47bc" /><Relationship Type="http://schemas.openxmlformats.org/officeDocument/2006/relationships/tableStyles" Target="/ppt/tableStyles.xml" Id="R25d66bb6a2cb4c9d" /><Relationship Type="http://schemas.openxmlformats.org/officeDocument/2006/relationships/slide" Target="/ppt/slides/slide1.xml" Id="R7ffbb0d22c9c4748" /><Relationship Type="http://schemas.openxmlformats.org/officeDocument/2006/relationships/slide" Target="/ppt/slides/slide2.xml" Id="R972dfb287b5a47f8" /><Relationship Type="http://schemas.openxmlformats.org/officeDocument/2006/relationships/slide" Target="/ppt/slides/slide3.xml" Id="R23b7fc6e3b004d42" /><Relationship Type="http://schemas.openxmlformats.org/officeDocument/2006/relationships/slide" Target="/ppt/slides/slide4.xml" Id="R1a058ec44a6f4ff8" /><Relationship Type="http://schemas.openxmlformats.org/officeDocument/2006/relationships/slide" Target="/ppt/slides/slide5.xml" Id="Rf60761623f7848a7" /><Relationship Type="http://schemas.openxmlformats.org/officeDocument/2006/relationships/slide" Target="/ppt/slides/slide6.xml" Id="R5c485162e4844753" /><Relationship Type="http://schemas.openxmlformats.org/officeDocument/2006/relationships/slide" Target="/ppt/slides/slide7.xml" Id="R345dd854b38d4a73" /><Relationship Type="http://schemas.openxmlformats.org/officeDocument/2006/relationships/slide" Target="/ppt/slides/slide8.xml" Id="Rd45a213ea7e947d3" /><Relationship Type="http://schemas.openxmlformats.org/officeDocument/2006/relationships/slide" Target="/ppt/slides/slide9.xml" Id="Re3fc755fa49e4d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74f2f7661e45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Qiskit Track 2">
  <a:themeElements>
    <a:clrScheme name="Qiskit Track 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Qiskit Track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7b3a5d7289410c" /><Relationship Type="http://schemas.openxmlformats.org/officeDocument/2006/relationships/notesMaster" Target="/ppt/notesMasters/notesMaster1.xml" Id="Re14c70a3743c46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4025983c584b3a" /><Relationship Type="http://schemas.openxmlformats.org/officeDocument/2006/relationships/notesMaster" Target="/ppt/notesMasters/notesMaster1.xml" Id="R560363b8952249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38307ccb5b4975" /><Relationship Type="http://schemas.openxmlformats.org/officeDocument/2006/relationships/notesMaster" Target="/ppt/notesMasters/notesMaster1.xml" Id="R91d52ee462db48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8b772d4b0e4be1" /><Relationship Type="http://schemas.openxmlformats.org/officeDocument/2006/relationships/notesMaster" Target="/ppt/notesMasters/notesMaster1.xml" Id="Rc099e76d8b7644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1d7b38e5204282" /><Relationship Type="http://schemas.openxmlformats.org/officeDocument/2006/relationships/notesMaster" Target="/ppt/notesMasters/notesMaster1.xml" Id="Rb4b5036cc19b43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ef47e6d66a4700" /><Relationship Type="http://schemas.openxmlformats.org/officeDocument/2006/relationships/notesMaster" Target="/ppt/notesMasters/notesMaster1.xml" Id="R7a1d2032b14e44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b02842ea3c428a" /><Relationship Type="http://schemas.openxmlformats.org/officeDocument/2006/relationships/notesMaster" Target="/ppt/notesMasters/notesMaster1.xml" Id="R74c68f79927448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3eefc4582445f6" /><Relationship Type="http://schemas.openxmlformats.org/officeDocument/2006/relationships/notesMaster" Target="/ppt/notesMasters/notesMaster1.xml" Id="Rb1cfcc16a25340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603024e8da4178" /><Relationship Type="http://schemas.openxmlformats.org/officeDocument/2006/relationships/notesMaster" Target="/ppt/notesMasters/notesMaster1.xml" Id="Raf98e0221ca14a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synthetic model included 78 candidate error terms. SLC kept 52 nonzero terms and set a bias bound of 0.047. PNA preprocessing took 1.23 seconds with the full model and 1.12 seconds after SLC. The estimated sampling cost changed from 2.61 to 1.90.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0.981. At 1× noise, the uncorrected sampled value was 0.687. Full PNA estimated 0.977; SLC-selected PNA estimated 0.962.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ideal-state fidelity projector is |psi&gt;&lt;psi| for the noiseless output. We apply full PNA and SLC + PNA to that projector, then evaluate each corrected observable against the noisy density matrix. At 1x noise, raw fidelity is 0.695, full-PNA estimates 1.004, and SLC + PNA estimates 0.892. These approximate correction estimates can exceed the physical maximum of one; interpret them as near ideal rather than literal physical fidelities. The raw noisy-state fidelity is the exact simulator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chart compares the time needed to prepare the correction calculation at each noise strength. At 1x, SLC plus PNA took 1.12 seconds versus 1.23 seconds for full PNA, about 9% less. These are local computer preprocessing times, not QPU execution times.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2590cc66d42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cc624355940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6b8063e304d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ae0019b3e41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e3d00d3d049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92beefb6746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CD1425-3C4F-426A-AD47-CC6443BBB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4B7269-A659-445C-869F-D38D458DFF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0F94D3-0027-4536-B09A-9B3ED2234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0BCAFD-3488-45E8-BE2C-6F57628D8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A2A0CB-6973-41F5-A293-41A754F305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4A5827-83C5-4883-936B-5562BFF91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ADA0D7-7C5C-4046-BBBF-5FB5170D5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B2DF17-7A94-4FCE-B109-9C6FCF2D48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336488-425C-43E1-9677-70C05E751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0FF825-F721-4871-A0A3-E42FA8BC2E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e8d8a2e5844419" /><Relationship Type="http://schemas.openxmlformats.org/officeDocument/2006/relationships/slideLayout" Target="/ppt/slideLayouts/slideLayout1.xml" Id="R9aff053c4a214ce3" /><Relationship Type="http://schemas.openxmlformats.org/officeDocument/2006/relationships/slideLayout" Target="/ppt/slideLayouts/slideLayout2.xml" Id="Rd8408ede273b4f93" /><Relationship Type="http://schemas.openxmlformats.org/officeDocument/2006/relationships/slideLayout" Target="/ppt/slideLayouts/slideLayout3.xml" Id="R8d820fb37ecd489f" /><Relationship Type="http://schemas.openxmlformats.org/officeDocument/2006/relationships/slideLayout" Target="/ppt/slideLayouts/slideLayout4.xml" Id="R5131de7d254446e1" /><Relationship Type="http://schemas.openxmlformats.org/officeDocument/2006/relationships/slideLayout" Target="/ppt/slideLayouts/slideLayout5.xml" Id="R73d8c7666601426c" /><Relationship Type="http://schemas.openxmlformats.org/officeDocument/2006/relationships/slideLayout" Target="/ppt/slideLayouts/slideLayout6.xml" Id="R720d80f07e9e4a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ff053c4a214ce3"/>
    <p:sldLayoutId xmlns:r="http://schemas.openxmlformats.org/officeDocument/2006/relationships" id="2147483650" r:id="Rd8408ede273b4f93"/>
    <p:sldLayoutId xmlns:r="http://schemas.openxmlformats.org/officeDocument/2006/relationships" id="2147483651" r:id="R8d820fb37ecd489f"/>
    <p:sldLayoutId xmlns:r="http://schemas.openxmlformats.org/officeDocument/2006/relationships" id="2147483652" r:id="R5131de7d254446e1"/>
    <p:sldLayoutId xmlns:r="http://schemas.openxmlformats.org/officeDocument/2006/relationships" id="2147483653" r:id="R73d8c7666601426c"/>
    <p:sldLayoutId xmlns:r="http://schemas.openxmlformats.org/officeDocument/2006/relationships" id="2147483654" r:id="R720d80f07e9e4a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Qiskit Track 2">
  <a:themeElements>
    <a:clrScheme name="Qiskit Track 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Qiskit Track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777b0e5934e56" /><Relationship Type="http://schemas.openxmlformats.org/officeDocument/2006/relationships/notesSlide" Target="/ppt/notesSlides/notesSlide1.xml" Id="Ra123097cc5dc43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c4f0730174799" /><Relationship Type="http://schemas.openxmlformats.org/officeDocument/2006/relationships/notesSlide" Target="/ppt/notesSlides/notesSlide2.xml" Id="Re4b91c6996a24f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a2e580e464578" /><Relationship Type="http://schemas.openxmlformats.org/officeDocument/2006/relationships/notesSlide" Target="/ppt/notesSlides/notesSlide3.xml" Id="Rd061d051ca7443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5a71892ef46c2" /><Relationship Type="http://schemas.openxmlformats.org/officeDocument/2006/relationships/notesSlide" Target="/ppt/notesSlides/notesSlide4.xml" Id="Re96f1abec3f541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addd86c044db8" /><Relationship Type="http://schemas.openxmlformats.org/officeDocument/2006/relationships/chart" Target="/ppt/slides/charts/chart1.xml" Id="R15d3f6f76b714c31" /><Relationship Type="http://schemas.openxmlformats.org/officeDocument/2006/relationships/notesSlide" Target="/ppt/notesSlides/notesSlide5.xml" Id="R250cc63c90ce44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42ec17c3cc4b45" /><Relationship Type="http://schemas.openxmlformats.org/officeDocument/2006/relationships/chart" Target="/ppt/slides/charts/chart2.xml" Id="R430c659e783b46b8" /><Relationship Type="http://schemas.openxmlformats.org/officeDocument/2006/relationships/notesSlide" Target="/ppt/notesSlides/notesSlide6.xml" Id="R97191c870f2944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67d02adb64e0d" /><Relationship Type="http://schemas.openxmlformats.org/officeDocument/2006/relationships/chart" Target="/ppt/slides/charts/chart3.xml" Id="R907ba23f518c4f33" /><Relationship Type="http://schemas.openxmlformats.org/officeDocument/2006/relationships/notesSlide" Target="/ppt/notesSlides/notesSlide7.xml" Id="R1995cdcc35c54c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9bc41d4c7456a" /><Relationship Type="http://schemas.openxmlformats.org/officeDocument/2006/relationships/chart" Target="/ppt/slides/charts/chart4.xml" Id="R5640ae16a83e4ec2" /><Relationship Type="http://schemas.openxmlformats.org/officeDocument/2006/relationships/notesSlide" Target="/ppt/notesSlides/notesSlide8.xml" Id="Rc2bf5ce2e7e445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103d39393040b9" /><Relationship Type="http://schemas.openxmlformats.org/officeDocument/2006/relationships/notesSlide" Target="/ppt/notesSlides/notesSlide9.xml" Id="R09a335ba518b45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78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47</c:v>
                </c:pt>
                <c:pt idx="1">
                  <c:v>52</c:v>
                </c:pt>
                <c:pt idx="2">
                  <c:v>56</c:v>
                </c:pt>
              </c:numCache>
            </c:numRef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0.981</c:v>
                </c:pt>
                <c:pt idx="1">
                  <c:v>0.981</c:v>
                </c:pt>
                <c:pt idx="2">
                  <c:v>0.981</c:v>
                </c:pt>
              </c:numCache>
            </c:numRef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0.818</c:v>
                </c:pt>
                <c:pt idx="1">
                  <c:v>0.687</c:v>
                </c:pt>
                <c:pt idx="2">
                  <c:v>0.482</c:v>
                </c:pt>
              </c:numCache>
            </c:numRef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0.969</c:v>
                </c:pt>
                <c:pt idx="1">
                  <c:v>0.977</c:v>
                </c:pt>
                <c:pt idx="2">
                  <c:v>0.953</c:v>
                </c:pt>
              </c:numCache>
            </c:numRef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0.946</c:v>
                </c:pt>
                <c:pt idx="1">
                  <c:v>0.962</c:v>
                </c:pt>
                <c:pt idx="2">
                  <c:v>0.966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Ideal-state fidelity by noise strength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v>Noisy state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0.833</c:v>
                </c:pt>
                <c:pt idx="1">
                  <c:v>0.695</c:v>
                </c:pt>
                <c:pt idx="2">
                  <c:v>0.488</c:v>
                </c:pt>
              </c:numCache>
            </c:numRef>
          </c:val>
          <c:smooth val="0"/>
        </c:ser>
        <c:ser>
          <c:idx val="2"/>
          <c:order val="2"/>
          <c:tx>
            <c:v>Full PNA estimate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1.001</c:v>
                </c:pt>
                <c:pt idx="1">
                  <c:v>1.004</c:v>
                </c:pt>
                <c:pt idx="2">
                  <c:v>1.017</c:v>
                </c:pt>
              </c:numCache>
            </c:numRef>
          </c:val>
          <c:smooth val="0"/>
        </c:ser>
        <c:ser>
          <c:idx val="3"/>
          <c:order val="3"/>
          <c:tx>
            <c:v>SLC + PNA estimate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Data'!$H$2:$H$4</c:f>
              <c:numCache>
                <c:formatCode>0.00</c:formatCode>
                <c:ptCount val="3"/>
                <c:pt idx="0">
                  <c:v>0.931</c:v>
                </c:pt>
                <c:pt idx="1">
                  <c:v>0.892</c:v>
                </c:pt>
                <c:pt idx="2">
                  <c:v>0.84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preprocessing 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PNA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1.18</c:v>
                </c:pt>
                <c:pt idx="1">
                  <c:v>1.23</c:v>
                </c:pt>
                <c:pt idx="2">
                  <c:v>1.25</c:v>
                </c:pt>
              </c:numCache>
            </c:numRef>
          </c:val>
        </c:ser>
        <c:ser>
          <c:idx val="1"/>
          <c:order val="1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1.11</c:v>
                </c:pt>
                <c:pt idx="1">
                  <c:v>1.12</c:v>
                </c:pt>
                <c:pt idx="2">
                  <c:v>1.15</c:v>
                </c:pt>
              </c:numCache>
            </c:numRef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latin typeface="Arial"/>
                    <a:ea typeface="Arial"/>
                    <a:cs typeface="Arial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EFAA5-5C35-4208-BEEB-654CCC00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73E90-E14F-4BCD-B79D-592B1A5C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A7EFD-A512-424C-BF38-D1601AD3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EC21C-3A1F-4105-9C59-97061065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906930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68A7A-C47F-4D09-A46B-73DE5C90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1936E-6E8E-427C-A3E2-867564B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B6207-7B0F-4FA7-9FCF-32D5C35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9AEFD-69BF-4B24-BB16-C327085A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FB465-121D-4E5D-89E4-6D71851F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49D46-C844-455F-AFB0-03449D89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68B91-F75C-4530-B9BB-DC006ED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1E0AE-3BF2-457D-B6BE-329056AF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0B736-5E85-40EB-85E5-52C7CFCA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D1AC1-F717-467B-85B7-56D1698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122103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EEA6F-3CD2-4EDE-A34A-39A95252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9BB2A-2BF1-40E6-856F-BB692172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890DC-D378-4E45-A3A3-65AB452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D7489-0E28-4932-B68F-F2720B8B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3C6A3-608B-40A6-9E3E-2C6F4E59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9BB82-3786-411F-990A-23BE89A6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E962D-6C3F-43B2-8345-3CC40B6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5511A-D413-43AB-A5A8-9EBAAAB0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84938-F9E1-4387-B953-D3A9EF1D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FD542-A1E5-43CD-B73F-56BFCC24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E2E74-8716-4DAC-A04C-5E39D1FB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3700328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17148-165D-43BA-8ABB-23E28E12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F662A-54C3-4211-98FB-80AA045F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66494-D3EB-43EE-9811-3E0612B2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9B22D-7981-4F64-B199-F7DC705A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CB257-A00F-437B-A5E5-2CBC8B0D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D98E8-E435-47E9-A066-9882686A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E5710-499A-4BF9-9D8B-1DF75FA0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B7870-E087-4F8E-9103-B867969C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C3FED-4B80-4654-AAD3-B40BB3C7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E66F5-F32F-4815-AE2E-94379BCB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174594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F317D-4152-4394-A06E-3F10BA5C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D580B-4BF0-44E6-9EE3-107B48A0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BC107B2-CF9B-4E12-92BF-9E60250B908C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d3f6f76b714c3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15E5A-A0BF-4FDF-BFD2-83C32989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BA814-6EFD-4B88-AC6D-02FB4D00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29A90-586B-4FD9-8858-40999A91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53CA9-50EC-4619-8F9A-D4EDB04A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49B8C-D3F0-4AA9-BBA5-B20350B3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0.047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1812763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09716-9169-4C5D-93CE-CE28E36F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EA46A-ADB6-49CC-8640-0EA5305B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E8F8310-E511-4F04-A889-6BB1CEF66F7B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0c659e783b46b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AE3EC-B2A2-485A-B879-A70D316A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1B0F8-6C29-42C2-BC47-3DEDB67E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D3678-90D8-44CC-AE58-BE530155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94651-E7DB-44A9-B870-53D31EB5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B5608-307E-41DB-9F7E-211539A6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58505-45CD-4BC0-8EE4-3EAFFFE0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2D7DB-E29E-465A-B210-FEA11554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1360271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03008-E304-472E-9861-3803CA0F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2AC93-3271-480A-B8DC-43485872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Mitigation raised the fidelity estimates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DA8286B-1D02-4195-9682-90528F858379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7ba23f518c4f3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BFB2C-EF34-4AA5-867F-B56ACF0E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25FF5-7F94-4527-912B-2ACDABE8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0.695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DAA99-CD4D-45B3-BEC6-F5E8E563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noisy-state fidelity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8625C-FDA1-416E-9AFB-02F84995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1.004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B088D-14A4-4155-96AF-2B3110AD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full-PNA projector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CB193-0EAC-4732-9A39-C466446B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14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0.892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3C25F-282B-43CD-8678-C5E46F57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SLC + PNA projector estimate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D8200-D2F2-49FA-AD18-9A0954C1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Corrected projector values are estimates and can exceed 1; physical fidelity cannot.</a:t>
            </a:r>
          </a:p>
        </p:txBody>
      </p:sp>
    </p:spTree>
    <p:extLst>
      <p:ext uri="{BB962C8B-B14F-4D97-AF65-F5344CB8AC3E}">
        <p14:creationId xmlns:p14="http://schemas.microsoft.com/office/powerpoint/2010/main" val="1645196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02EBF-479A-415B-BEBE-870FA688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ECF54-2409-4583-84E2-1EA9F44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lowered setup time across the sweep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5DAF6B6-2353-4060-85A8-9C7C5B078AAC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40ae16a83e4ec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B81AC-B56E-4F6A-AFEF-622A7787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404C0-6FB2-4D3A-8F33-37FFCC12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1.23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022E9-5912-4460-8824-589D8673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 PNA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94349-BFF0-4F35-ABF1-A6E0A59B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1.12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74439-FBDA-4BC1-9786-9EACD01D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SLC + PNA setup (9% less)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8C27A-4B3E-41D1-A9A0-8E924465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Times are local preprocessing measurements, not quantum-hardware run times.</a:t>
            </a:r>
          </a:p>
        </p:txBody>
      </p:sp>
    </p:spTree>
    <p:extLst>
      <p:ext uri="{BB962C8B-B14F-4D97-AF65-F5344CB8AC3E}">
        <p14:creationId xmlns:p14="http://schemas.microsoft.com/office/powerpoint/2010/main" val="300591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A2DA3-96B3-4185-8762-E147F83A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35862-CF61-4C1F-A32A-356BCB27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04C68-28E3-4764-8E37-060AF140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F25F2-D1CF-4B5E-A8EB-FF632492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039A3-54A1-49B2-93FC-CCD1F22A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84140-B97F-49BF-BDCD-E81BCA72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C287A-2F03-4266-AC83-A8D1D441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7FEB3-A811-4E20-91C4-A76C583A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1573514587"/>
      </p:ext>
    </p:extLst>
  </p:cSld>
</p:sld>
</file>

<file path=ppt/theme/theme1.xml><?xml version="1.0" encoding="utf-8"?>
<a:theme xmlns:a="http://schemas.openxmlformats.org/drawingml/2006/main" name="Qiskit Track 2">
  <a:themeElements>
    <a:clrScheme name="Qiskit Track 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Qiskit Track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PresentationFormat>Converted Presentation</ap:PresentationFormat>
  <ap:Slides>9</ap:Slides>
  <ap:Notes>9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Qiskit Fall Fest 2026 - Track 2</dc:title>
  <dcterms:created xsi:type="dcterms:W3CDTF">2026-10-31T04:51:32.9160000Z</dcterms:created>
  <dcterms:modified xsi:type="dcterms:W3CDTF">2026-10-31T04:51:32.9160000Z</dcterms:modified>
</cp:coreProperties>
</file>