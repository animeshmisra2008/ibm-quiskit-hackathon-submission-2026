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5.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6.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7.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8.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cde28dce4454218" /><Relationship Type="http://schemas.openxmlformats.org/officeDocument/2006/relationships/extended-properties" Target="/docProps/app.xml" Id="Rdca12b7ca51b4df3" /><Relationship Type="http://schemas.openxmlformats.org/officeDocument/2006/relationships/officeDocument" Target="/ppt/presentation.xml" Id="Rca06433ae41d41aa" /></Relationships>
</file>

<file path=ppt/presentation.xml><?xml version="1.0" encoding="utf-8"?>
<p:presentation xmlns:p="http://schemas.openxmlformats.org/presentationml/2006/main">
  <p:sldMasterIdLst>
    <p:sldMasterId xmlns:r="http://schemas.openxmlformats.org/officeDocument/2006/relationships" id="2147483648" r:id="R5650afaa1fac427a"/>
  </p:sldMasterIdLst>
  <p:notesMasterIdLst>
    <p:notesMasterId xmlns:r="http://schemas.openxmlformats.org/officeDocument/2006/relationships" r:id="R4cec176447124455"/>
  </p:notesMasterIdLst>
  <p:sldIdLst>
    <p:sldId xmlns:r="http://schemas.openxmlformats.org/officeDocument/2006/relationships" id="256" r:id="R6644a5e0abdd4993"/>
    <p:sldId xmlns:r="http://schemas.openxmlformats.org/officeDocument/2006/relationships" id="257" r:id="R2b49de4ed3974336"/>
    <p:sldId xmlns:r="http://schemas.openxmlformats.org/officeDocument/2006/relationships" id="258" r:id="R222ab5b821464866"/>
    <p:sldId xmlns:r="http://schemas.openxmlformats.org/officeDocument/2006/relationships" id="259" r:id="Rc1ff0d8c6f6c4141"/>
    <p:sldId xmlns:r="http://schemas.openxmlformats.org/officeDocument/2006/relationships" id="260" r:id="Re2876851bf224e3a"/>
    <p:sldId xmlns:r="http://schemas.openxmlformats.org/officeDocument/2006/relationships" id="261" r:id="R408fc55328c24fd7"/>
    <p:sldId xmlns:r="http://schemas.openxmlformats.org/officeDocument/2006/relationships" id="262" r:id="Rda98bba712c84a4e"/>
    <p:sldId xmlns:r="http://schemas.openxmlformats.org/officeDocument/2006/relationships" id="263" r:id="R0b250530cbc84e7b"/>
    <p:sldId xmlns:r="http://schemas.openxmlformats.org/officeDocument/2006/relationships" id="264" r:id="R00b482d1d9f8439a"/>
    <p:sldId xmlns:r="http://schemas.openxmlformats.org/officeDocument/2006/relationships" id="265" r:id="R63d7ace361274741"/>
    <p:sldId xmlns:r="http://schemas.openxmlformats.org/officeDocument/2006/relationships" id="266" r:id="R92cfed7235b14214"/>
    <p:sldId xmlns:r="http://schemas.openxmlformats.org/officeDocument/2006/relationships" id="267" r:id="R6859061ee45f4025"/>
    <p:sldId xmlns:r="http://schemas.openxmlformats.org/officeDocument/2006/relationships" id="268" r:id="Rcf0e768a4c3e4e41"/>
    <p:sldId xmlns:r="http://schemas.openxmlformats.org/officeDocument/2006/relationships" id="269" r:id="Re7267bb30ce34528"/>
    <p:sldId xmlns:r="http://schemas.openxmlformats.org/officeDocument/2006/relationships" id="270" r:id="Rd7b4f6ae91ae4524"/>
    <p:sldId xmlns:r="http://schemas.openxmlformats.org/officeDocument/2006/relationships" id="271" r:id="R4e18e13261ed47bd"/>
    <p:sldId xmlns:r="http://schemas.openxmlformats.org/officeDocument/2006/relationships" id="272" r:id="R0ef1acb4198049a8"/>
    <p:sldId xmlns:r="http://schemas.openxmlformats.org/officeDocument/2006/relationships" id="273" r:id="R994c6c4e82374561"/>
    <p:sldId xmlns:r="http://schemas.openxmlformats.org/officeDocument/2006/relationships" id="274" r:id="Rffcb880c000c4bfc"/>
    <p:sldId xmlns:r="http://schemas.openxmlformats.org/officeDocument/2006/relationships" id="275" r:id="Re8d503f2fa254849"/>
    <p:sldId xmlns:r="http://schemas.openxmlformats.org/officeDocument/2006/relationships" id="276" r:id="R38bd92a6652641e2"/>
    <p:sldId xmlns:r="http://schemas.openxmlformats.org/officeDocument/2006/relationships" id="277" r:id="R43f1c12f466a4d45"/>
    <p:sldId xmlns:r="http://schemas.openxmlformats.org/officeDocument/2006/relationships" id="278" r:id="Rf68c7c6fb3ab4b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ecd770b22f4b37" /><Relationship Type="http://schemas.openxmlformats.org/officeDocument/2006/relationships/slideMaster" Target="/ppt/slideMasters/slideMaster1.xml" Id="R5650afaa1fac427a" /><Relationship Type="http://schemas.openxmlformats.org/officeDocument/2006/relationships/notesMaster" Target="/ppt/notesMasters/notesMaster1.xml" Id="R4cec176447124455" /><Relationship Type="http://schemas.openxmlformats.org/officeDocument/2006/relationships/presProps" Target="/ppt/presProps.xml" Id="R14051e5fc76c4164" /><Relationship Type="http://schemas.openxmlformats.org/officeDocument/2006/relationships/tableStyles" Target="/ppt/tableStyles.xml" Id="Rb6bbf28a692040d2" /><Relationship Type="http://schemas.openxmlformats.org/officeDocument/2006/relationships/slide" Target="/ppt/slides/slide1.xml" Id="R6644a5e0abdd4993" /><Relationship Type="http://schemas.openxmlformats.org/officeDocument/2006/relationships/slide" Target="/ppt/slides/slide2.xml" Id="R2b49de4ed3974336" /><Relationship Type="http://schemas.openxmlformats.org/officeDocument/2006/relationships/slide" Target="/ppt/slides/slide3.xml" Id="R222ab5b821464866" /><Relationship Type="http://schemas.openxmlformats.org/officeDocument/2006/relationships/slide" Target="/ppt/slides/slide4.xml" Id="Rc1ff0d8c6f6c4141" /><Relationship Type="http://schemas.openxmlformats.org/officeDocument/2006/relationships/slide" Target="/ppt/slides/slide5.xml" Id="Re2876851bf224e3a" /><Relationship Type="http://schemas.openxmlformats.org/officeDocument/2006/relationships/slide" Target="/ppt/slides/slide6.xml" Id="R408fc55328c24fd7" /><Relationship Type="http://schemas.openxmlformats.org/officeDocument/2006/relationships/slide" Target="/ppt/slides/slide7.xml" Id="Rda98bba712c84a4e" /><Relationship Type="http://schemas.openxmlformats.org/officeDocument/2006/relationships/slide" Target="/ppt/slides/slide8.xml" Id="R0b250530cbc84e7b" /><Relationship Type="http://schemas.openxmlformats.org/officeDocument/2006/relationships/slide" Target="/ppt/slides/slide9.xml" Id="R00b482d1d9f8439a" /><Relationship Type="http://schemas.openxmlformats.org/officeDocument/2006/relationships/slide" Target="/ppt/slides/slide10.xml" Id="R63d7ace361274741" /><Relationship Type="http://schemas.openxmlformats.org/officeDocument/2006/relationships/slide" Target="/ppt/slides/slide11.xml" Id="R92cfed7235b14214" /><Relationship Type="http://schemas.openxmlformats.org/officeDocument/2006/relationships/slide" Target="/ppt/slides/slide12.xml" Id="R6859061ee45f4025" /><Relationship Type="http://schemas.openxmlformats.org/officeDocument/2006/relationships/slide" Target="/ppt/slides/slide13.xml" Id="Rcf0e768a4c3e4e41" /><Relationship Type="http://schemas.openxmlformats.org/officeDocument/2006/relationships/slide" Target="/ppt/slides/slide14.xml" Id="Re7267bb30ce34528" /><Relationship Type="http://schemas.openxmlformats.org/officeDocument/2006/relationships/slide" Target="/ppt/slides/slide15.xml" Id="Rd7b4f6ae91ae4524" /><Relationship Type="http://schemas.openxmlformats.org/officeDocument/2006/relationships/slide" Target="/ppt/slides/slide16.xml" Id="R4e18e13261ed47bd" /><Relationship Type="http://schemas.openxmlformats.org/officeDocument/2006/relationships/slide" Target="/ppt/slides/slide17.xml" Id="R0ef1acb4198049a8" /><Relationship Type="http://schemas.openxmlformats.org/officeDocument/2006/relationships/slide" Target="/ppt/slides/slide18.xml" Id="R994c6c4e82374561" /><Relationship Type="http://schemas.openxmlformats.org/officeDocument/2006/relationships/slide" Target="/ppt/slides/slide19.xml" Id="Rffcb880c000c4bfc" /><Relationship Type="http://schemas.openxmlformats.org/officeDocument/2006/relationships/slide" Target="/ppt/slides/slide20.xml" Id="Re8d503f2fa254849" /><Relationship Type="http://schemas.openxmlformats.org/officeDocument/2006/relationships/slide" Target="/ppt/slides/slide21.xml" Id="R38bd92a6652641e2" /><Relationship Type="http://schemas.openxmlformats.org/officeDocument/2006/relationships/slide" Target="/ppt/slides/slide22.xml" Id="R43f1c12f466a4d45" /><Relationship Type="http://schemas.openxmlformats.org/officeDocument/2006/relationships/slide" Target="/ppt/slides/slide23.xml" Id="Rf68c7c6fb3ab4b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96ad00cffe40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fd1e7a6e014dbc" /><Relationship Type="http://schemas.openxmlformats.org/officeDocument/2006/relationships/notesMaster" Target="/ppt/notesMasters/notesMaster1.xml" Id="R4949a74e61bc47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9184eb18854209" /><Relationship Type="http://schemas.openxmlformats.org/officeDocument/2006/relationships/notesMaster" Target="/ppt/notesMasters/notesMaster1.xml" Id="R190d5a5c96664e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f5ae22bac24c45" /><Relationship Type="http://schemas.openxmlformats.org/officeDocument/2006/relationships/notesMaster" Target="/ppt/notesMasters/notesMaster1.xml" Id="Rd027dd1190fc44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b16216400843de" /><Relationship Type="http://schemas.openxmlformats.org/officeDocument/2006/relationships/notesMaster" Target="/ppt/notesMasters/notesMaster1.xml" Id="R934ddbc98dda49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8ef5976ad04b99" /><Relationship Type="http://schemas.openxmlformats.org/officeDocument/2006/relationships/notesMaster" Target="/ppt/notesMasters/notesMaster1.xml" Id="Rf6a513355abd4d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870262b95a4050" /><Relationship Type="http://schemas.openxmlformats.org/officeDocument/2006/relationships/notesMaster" Target="/ppt/notesMasters/notesMaster1.xml" Id="R2a6faa3315de4a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86ed6653184acd" /><Relationship Type="http://schemas.openxmlformats.org/officeDocument/2006/relationships/notesMaster" Target="/ppt/notesMasters/notesMaster1.xml" Id="R55c5a237af0149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fc6305e8554b6c" /><Relationship Type="http://schemas.openxmlformats.org/officeDocument/2006/relationships/notesMaster" Target="/ppt/notesMasters/notesMaster1.xml" Id="Rda71d6a07b2643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9b14c2f23548e8" /><Relationship Type="http://schemas.openxmlformats.org/officeDocument/2006/relationships/notesMaster" Target="/ppt/notesMasters/notesMaster1.xml" Id="R4be9141b84054e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57ac3458d24e0c" /><Relationship Type="http://schemas.openxmlformats.org/officeDocument/2006/relationships/notesMaster" Target="/ppt/notesMasters/notesMaster1.xml" Id="Rac666adc262a4c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120b885e0e49d3" /><Relationship Type="http://schemas.openxmlformats.org/officeDocument/2006/relationships/notesMaster" Target="/ppt/notesMasters/notesMaster1.xml" Id="R424847a2c52c485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630aa082c74bbd" /><Relationship Type="http://schemas.openxmlformats.org/officeDocument/2006/relationships/notesMaster" Target="/ppt/notesMasters/notesMaster1.xml" Id="Rc6b040adb00a4a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5b5baacd164dc1" /><Relationship Type="http://schemas.openxmlformats.org/officeDocument/2006/relationships/notesMaster" Target="/ppt/notesMasters/notesMaster1.xml" Id="R4f68055c9e044f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8d8cee130674263" /><Relationship Type="http://schemas.openxmlformats.org/officeDocument/2006/relationships/notesMaster" Target="/ppt/notesMasters/notesMaster1.xml" Id="R094b9f705d7545b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495936109841ea" /><Relationship Type="http://schemas.openxmlformats.org/officeDocument/2006/relationships/notesMaster" Target="/ppt/notesMasters/notesMaster1.xml" Id="Rb2e615c594ba4ee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6a9d10d07d04f71" /><Relationship Type="http://schemas.openxmlformats.org/officeDocument/2006/relationships/notesMaster" Target="/ppt/notesMasters/notesMaster1.xml" Id="Rfee0cb8d1d234cc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5b6d524af34c5f" /><Relationship Type="http://schemas.openxmlformats.org/officeDocument/2006/relationships/notesMaster" Target="/ppt/notesMasters/notesMaster1.xml" Id="Ra57749908b0b475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c89cf58989144ef" /><Relationship Type="http://schemas.openxmlformats.org/officeDocument/2006/relationships/notesMaster" Target="/ppt/notesMasters/notesMaster1.xml" Id="R11b8c13d909c4e3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fc1b67209c847d8" /><Relationship Type="http://schemas.openxmlformats.org/officeDocument/2006/relationships/notesMaster" Target="/ppt/notesMasters/notesMaster1.xml" Id="R2d979ed66ee443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e5318303b99427b" /><Relationship Type="http://schemas.openxmlformats.org/officeDocument/2006/relationships/notesMaster" Target="/ppt/notesMasters/notesMaster1.xml" Id="R474192572d4e434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59926d043154e6f" /><Relationship Type="http://schemas.openxmlformats.org/officeDocument/2006/relationships/notesMaster" Target="/ppt/notesMasters/notesMaster1.xml" Id="Rd459422458f3420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170fb5ee72f49bd" /><Relationship Type="http://schemas.openxmlformats.org/officeDocument/2006/relationships/notesMaster" Target="/ppt/notesMasters/notesMaster1.xml" Id="R5886dbd74f83484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7a8d98743c0468f" /><Relationship Type="http://schemas.openxmlformats.org/officeDocument/2006/relationships/notesMaster" Target="/ppt/notesMasters/notesMaster1.xml" Id="R5720cb8332654e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built a small simulation to see whether error-mitigation tools can recover a useful measurement after noise is added. The assignment asks for SLC, NoiseLearnerV3, and PNA. This deck states clearly where the local simulator uses synthetic calibration rates in place of a hardware noise-learning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explanation simple: the project does not require the audience to know quantum mechanics. A measurement is an average from repeated simulated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center-qubit X measurement is the quantity that PNA corrects. We also calculate exact state fidelity from the simulator's density matrix as a separate measure of how much the whole state was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SLC assigns importance to candidate Pauli error terms and can trade a bounded bias for lower sampling cost. PNA propagates the inverse of learned noise into an observable. The official NoiseLearnerV3 accepts an IBM Quantum backend/service job; IBM documents that it has no local fake-backend mode. Sources: https://qiskit.github.io/qiskit-addon-slc/guides/quickstart.html ; https://qiskit.github.io/qiskit-addon-pna/tutorials/01_generate_noise_mitigating_observable.html ; https://quantum.cloud.ibm.com/docs/en/guides/migrate-to-client-side-primitives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middle noise setting, the synthetic model included 78 candidate error terms. SLC kept 52 nonzero terms and set a bias bound of 0.047. PNA preprocessing took 1.23 seconds with the full model and 1.12 seconds after SLC. The estimated sampling cost changed from 2.61 to 1.90.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ideal value is 0.981. At 1× noise, the uncorrected sampled value was 0.687. Full PNA estimated 0.977; SLC-selected PNA estimated 0.962. SLC saves work but can leave more bias, which is the intended tradeoff.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ideal-state fidelity projector is |psi&gt;&lt;psi| for the noiseless output. We apply full PNA and SLC + PNA to that projector, then evaluate each corrected observable against the noisy density matrix. At 1x noise, raw fidelity is 0.695, full-PNA estimates 1.004, and SLC + PNA estimates 0.892. These approximate correction estimates can exceed the physical maximum of one; interpret them as near ideal rather than literal physical fidelities. The raw noisy-state fidelity is the exact simulator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compares the time needed to prepare the correction calculation at each noise strength. At 1x, SLC plus PNA took 1.12 seconds versus 1.23 seconds for full PNA, about 9% less. These are local computer preprocessing times, not QPU execution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results show the algorithmic flow but are not hardware results because calibration rates are synthetic. The official assignment asks for NoiseLearnerV3 and a simulated noisy backend; official documentation says NoiseLearnerV3 does not have a local testing mode. If an IBM Quantum account and backend become available, replace the synthetic model with the output of the official noise learner. Source: https://quantum.cloud.ibm.com/docs/en/guides/migrate-to-client-side-primitives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section summarizes the separate Track 1 simulation supplied by the user. Its fidelity values describe classical output distributions, not full quantum-state fidelity.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Checks can help identify suspicious shots, but they add circuit overhead. This project studies that tradeoff on a small simulator.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Track 1 deck reports an implementation using Paulice and a custom filter. This combined presentation preserves its stated scope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Distribution fidelity is a classical output-distribution score. Do not call it logical-state fidelity or full quantum-state fidelity.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Track 1 source deck describes a five-stage simulator workflow from circuit construction to distribution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XOR means exclusive OR: the parity is one when an odd number of selected bits are one. A zero syndrome is evidence the measured check passed; undetected errors may remain.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 no-check fidelity 0.97536; checks without filtering 0.95597; checks with the custom filter 0.98108. The filter accepted 9,380 of 10,000 shots. This is the result of one simulation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genetic configurations, other check ancillas may have only one recorded CX interaction. The reported span is for an ancilla with at least two interactions, not a complete multi-check spacetime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reports the best post-selected result as 0.97833 for Genetic Seed 1 and the no-check baseline as 0.97958. Other plotted values have been recreated approximately from the supplied plot and rounded to three decimals. Post-selection improved each checked configuration, but none beat the no-check baseline in that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exploratory comparison. Span alone was not isolated, so this plot does not establish that separation causes the fidelity change. Points besides the explicitly reported 0.97833 are approximate readings from the source plot.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deck reports Clifford-only fidelity 0.97522 with 2 CX and 9 RZ gates; the T-doped circuit had fidelity 0.98104 with 3 CX and 14 RZ gates. This is a separate simplified-noise simulation, not a controlled claim that T gates improve robustness.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limitations are carried over from the provided Track 1 presentation. In particular, the output-distribution fidelity should not be mislabeled as logical-state fidelity.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study's result is promising but exploratory. Repeated runs and controlled configurations are needed before drawing stronger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answers precise: the scores describe output distributions, the zero syndrome is not a proof of no error, and the span result is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8763415da744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16be8fda15341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85760080cb44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bb9c64d43648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b7e17396f14c6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83ae9f85a74b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5833BB-1150-4938-A0C4-34CD5E19090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B82632-2C95-4FF8-89CC-C617B73DE12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63C371D-7C45-4ABF-A593-5389E24970C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6FE625-29FD-4A60-98A7-EC3E9A0348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BD4CB7-C221-4BCF-87D7-797415611D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0FEB401-EEE6-4BBA-8C77-85C1025159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53F9F0-E2CF-4FA6-87D7-7B9740AC1D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7155422-5C54-428D-B6B8-B112E59F0B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125DCE-2B67-435B-9920-1E6345FD81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A49ABE-50E9-4DB6-80C7-337CA730B2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a539051630469a" /><Relationship Type="http://schemas.openxmlformats.org/officeDocument/2006/relationships/slideLayout" Target="/ppt/slideLayouts/slideLayout1.xml" Id="Red1d7abf87bd4572" /><Relationship Type="http://schemas.openxmlformats.org/officeDocument/2006/relationships/slideLayout" Target="/ppt/slideLayouts/slideLayout2.xml" Id="Rc46215d6e6e94cdd" /><Relationship Type="http://schemas.openxmlformats.org/officeDocument/2006/relationships/slideLayout" Target="/ppt/slideLayouts/slideLayout3.xml" Id="Rf8e84bd34f424a3f" /><Relationship Type="http://schemas.openxmlformats.org/officeDocument/2006/relationships/slideLayout" Target="/ppt/slideLayouts/slideLayout4.xml" Id="R9952f5bab3224b4e" /><Relationship Type="http://schemas.openxmlformats.org/officeDocument/2006/relationships/slideLayout" Target="/ppt/slideLayouts/slideLayout5.xml" Id="R6466f17115ca4e48" /><Relationship Type="http://schemas.openxmlformats.org/officeDocument/2006/relationships/slideLayout" Target="/ppt/slideLayouts/slideLayout6.xml" Id="R8ba282301de74f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1d7abf87bd4572"/>
    <p:sldLayoutId xmlns:r="http://schemas.openxmlformats.org/officeDocument/2006/relationships" id="2147483650" r:id="Rc46215d6e6e94cdd"/>
    <p:sldLayoutId xmlns:r="http://schemas.openxmlformats.org/officeDocument/2006/relationships" id="2147483651" r:id="Rf8e84bd34f424a3f"/>
    <p:sldLayoutId xmlns:r="http://schemas.openxmlformats.org/officeDocument/2006/relationships" id="2147483652" r:id="R9952f5bab3224b4e"/>
    <p:sldLayoutId xmlns:r="http://schemas.openxmlformats.org/officeDocument/2006/relationships" id="2147483653" r:id="R6466f17115ca4e48"/>
    <p:sldLayoutId xmlns:r="http://schemas.openxmlformats.org/officeDocument/2006/relationships" id="2147483654" r:id="R8ba282301de74f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755d0b5dfa4fe3" /><Relationship Type="http://schemas.openxmlformats.org/officeDocument/2006/relationships/notesSlide" Target="/ppt/notesSlides/notesSlide1.xml" Id="Rf248d8f118c443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dc1632dcd1342e4" /><Relationship Type="http://schemas.openxmlformats.org/officeDocument/2006/relationships/notesSlide" Target="/ppt/notesSlides/notesSlide2.xml" Id="R3ee3cf0c9f3645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3373ce1decd47d0" /><Relationship Type="http://schemas.openxmlformats.org/officeDocument/2006/relationships/notesSlide" Target="/ppt/notesSlides/notesSlide3.xml" Id="R799b6ac4c0d740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21a7834fdf4e39" /><Relationship Type="http://schemas.openxmlformats.org/officeDocument/2006/relationships/notesSlide" Target="/ppt/notesSlides/notesSlide4.xml" Id="R8d672793843a47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222a156c4e4a20" /><Relationship Type="http://schemas.openxmlformats.org/officeDocument/2006/relationships/chart" Target="/ppt/slides/charts/chart1.xml" Id="R91927ae9b57c428d" /><Relationship Type="http://schemas.openxmlformats.org/officeDocument/2006/relationships/notesSlide" Target="/ppt/notesSlides/notesSlide5.xml" Id="R7e42ffa8d6db45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b4d4d91826741d8" /><Relationship Type="http://schemas.openxmlformats.org/officeDocument/2006/relationships/chart" Target="/ppt/slides/charts/chart2.xml" Id="Re21265005d1044c8" /><Relationship Type="http://schemas.openxmlformats.org/officeDocument/2006/relationships/notesSlide" Target="/ppt/notesSlides/notesSlide6.xml" Id="Rc9e95f05bfd040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390694a634c4110" /><Relationship Type="http://schemas.openxmlformats.org/officeDocument/2006/relationships/chart" Target="/ppt/slides/charts/chart3.xml" Id="R7e2f5241bcfb4853" /><Relationship Type="http://schemas.openxmlformats.org/officeDocument/2006/relationships/notesSlide" Target="/ppt/notesSlides/notesSlide7.xml" Id="R0b117943f71041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18f87b4cede4a96" /><Relationship Type="http://schemas.openxmlformats.org/officeDocument/2006/relationships/chart" Target="/ppt/slides/charts/chart4.xml" Id="R9e14e3ed800245ef" /><Relationship Type="http://schemas.openxmlformats.org/officeDocument/2006/relationships/notesSlide" Target="/ppt/notesSlides/notesSlide8.xml" Id="R779525fa0f9749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3a3837e133f49da" /><Relationship Type="http://schemas.openxmlformats.org/officeDocument/2006/relationships/notesSlide" Target="/ppt/notesSlides/notesSlide9.xml" Id="R47462f9a09e443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6f3b81abfa946ea" /><Relationship Type="http://schemas.openxmlformats.org/officeDocument/2006/relationships/notesSlide" Target="/ppt/notesSlides/notesSlide10.xml" Id="R1fa10cd4f2e441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8089d647a0c4a9e" /><Relationship Type="http://schemas.openxmlformats.org/officeDocument/2006/relationships/notesSlide" Target="/ppt/notesSlides/notesSlide11.xml" Id="Rba1430610f204f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5172b58d7df422c" /><Relationship Type="http://schemas.openxmlformats.org/officeDocument/2006/relationships/notesSlide" Target="/ppt/notesSlides/notesSlide12.xml" Id="R165f2ef7193d49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b02e8eb2a3348ac" /><Relationship Type="http://schemas.openxmlformats.org/officeDocument/2006/relationships/notesSlide" Target="/ppt/notesSlides/notesSlide13.xml" Id="R610c353177674f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1d7441354be453f" /><Relationship Type="http://schemas.openxmlformats.org/officeDocument/2006/relationships/notesSlide" Target="/ppt/notesSlides/notesSlide14.xml" Id="Rdad606347c29472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6d83b861b4f4dd4" /><Relationship Type="http://schemas.openxmlformats.org/officeDocument/2006/relationships/notesSlide" Target="/ppt/notesSlides/notesSlide15.xml" Id="R67e54ed3dc0445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d88073835de4872" /><Relationship Type="http://schemas.openxmlformats.org/officeDocument/2006/relationships/chart" Target="/ppt/slides/charts/chart5.xml" Id="R6547892abe9742ac" /><Relationship Type="http://schemas.openxmlformats.org/officeDocument/2006/relationships/notesSlide" Target="/ppt/notesSlides/notesSlide16.xml" Id="R1c7bf0dab00b4c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d579fa013034325" /><Relationship Type="http://schemas.openxmlformats.org/officeDocument/2006/relationships/notesSlide" Target="/ppt/notesSlides/notesSlide17.xml" Id="R2da194ac446f498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dca8776026f4398" /><Relationship Type="http://schemas.openxmlformats.org/officeDocument/2006/relationships/chart" Target="/ppt/slides/charts/chart6.xml" Id="Ra488642cbfec4240" /><Relationship Type="http://schemas.openxmlformats.org/officeDocument/2006/relationships/notesSlide" Target="/ppt/notesSlides/notesSlide18.xml" Id="Rb1e1f6a0b03e4cc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2de5f72b4784f9c" /><Relationship Type="http://schemas.openxmlformats.org/officeDocument/2006/relationships/chart" Target="/ppt/slides/charts/chart7.xml" Id="R0ff5633a5dcd4345" /><Relationship Type="http://schemas.openxmlformats.org/officeDocument/2006/relationships/notesSlide" Target="/ppt/notesSlides/notesSlide19.xml" Id="Ra0a51564ca014af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22740626e5c4208" /><Relationship Type="http://schemas.openxmlformats.org/officeDocument/2006/relationships/chart" Target="/ppt/slides/charts/chart8.xml" Id="R2e94b38f9023414c" /><Relationship Type="http://schemas.openxmlformats.org/officeDocument/2006/relationships/notesSlide" Target="/ppt/notesSlides/notesSlide20.xml" Id="R0678970d9f424af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f48c06f31dd4998" /><Relationship Type="http://schemas.openxmlformats.org/officeDocument/2006/relationships/notesSlide" Target="/ppt/notesSlides/notesSlide21.xml" Id="Rfb0bffb9a7b34b4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422f64dbe9e4fdd" /><Relationship Type="http://schemas.openxmlformats.org/officeDocument/2006/relationships/notesSlide" Target="/ppt/notesSlides/notesSlide22.xml" Id="Rf9f82a1d581e49b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ce5baac745b4b25" /><Relationship Type="http://schemas.openxmlformats.org/officeDocument/2006/relationships/notesSlide" Target="/ppt/notesSlides/notesSlide23.xml" Id="R81cecc5ef0f94cb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Error terms retained for PNA</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Full model</c:v>
          </c:tx>
          <c:spPr>
            <a:solidFill xmlns:a="http://schemas.openxmlformats.org/drawingml/2006/main">
              <a:srgbClr val="525252"/>
            </a:solidFill>
          </c:spPr>
          <c:invertIfNegative val="0"/>
          <c:cat>
            <c:strRef>
              <c:f>'Chart Data'!$A$2:$A$4</c:f>
              <c:strCache>
                <c:ptCount val="3"/>
                <c:pt idx="0">
                  <c:v>0.5× noise</c:v>
                </c:pt>
                <c:pt idx="1">
                  <c:v>1× noise</c:v>
                </c:pt>
                <c:pt idx="2">
                  <c:v>2× noise</c:v>
                </c:pt>
              </c:strCache>
            </c:strRef>
          </c:cat>
          <c:val>
            <c:numRef>
              <c:f>'Chart Data'!$B$2:$B$4</c:f>
              <c:numCache>
                <c:formatCode>General</c:formatCode>
                <c:ptCount val="3"/>
                <c:pt idx="0">
                  <c:v>78</c:v>
                </c:pt>
                <c:pt idx="1">
                  <c:v>78</c:v>
                </c:pt>
                <c:pt idx="2">
                  <c:v>78</c:v>
                </c:pt>
              </c:numCache>
            </c:numRef>
          </c:val>
        </c:ser>
        <c:ser>
          <c:idx val="1"/>
          <c:order val="1"/>
          <c:tx>
            <c:v>After SLC</c:v>
          </c:tx>
          <c:spPr>
            <a:solidFill xmlns:a="http://schemas.openxmlformats.org/drawingml/2006/main">
              <a:srgbClr val="0F62FE"/>
            </a:solidFill>
          </c:spPr>
          <c:invertIfNegative val="0"/>
          <c:cat>
            <c:strRef>
              <c:f>'Chart Data'!$C$2:$C$4</c:f>
              <c:strCache>
                <c:ptCount val="3"/>
                <c:pt idx="0">
                  <c:v>0.5× noise</c:v>
                </c:pt>
                <c:pt idx="1">
                  <c:v>1× noise</c:v>
                </c:pt>
                <c:pt idx="2">
                  <c:v>2× noise</c:v>
                </c:pt>
              </c:strCache>
            </c:strRef>
          </c:cat>
          <c:val>
            <c:numRef>
              <c:f>'Chart Data'!$D$2:$D$4</c:f>
              <c:numCache>
                <c:formatCode>General</c:formatCode>
                <c:ptCount val="3"/>
                <c:pt idx="0">
                  <c:v>47</c:v>
                </c:pt>
                <c:pt idx="1">
                  <c:v>52</c:v>
                </c:pt>
                <c:pt idx="2">
                  <c:v>56</c:v>
                </c:pt>
              </c:numCache>
            </c:numRef>
          </c:val>
        </c:ser>
        <c:dLbls>
          <c:delete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90"/>
          <c:min val="0"/>
        </c:scaling>
        <c:delete val="0"/>
        <c:axPos val="l"/>
        <c:majorGridlines>
          <c:spPr>
            <a:ln xmlns:a="http://schemas.openxmlformats.org/drawingml/2006/main" w="9525">
              <a:solidFill>
                <a:srgbClr val="DDE1E6"/>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1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Center-qubit X expectation</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lineChart>
        <c:grouping val="standard"/>
        <c:varyColors val="0"/>
        <c:ser>
          <c:idx val="0"/>
          <c:order val="0"/>
          <c:tx>
            <c:v>Ideal</c:v>
          </c:tx>
          <c:spPr>
            <a:solidFill xmlns:a="http://schemas.openxmlformats.org/drawingml/2006/main">
              <a:srgbClr val="525252"/>
            </a:solidFill>
          </c:spPr>
          <c:marker>
            <c:symbol val="none"/>
          </c:marker>
          <c:cat>
            <c:strRef>
              <c:f>'Chart Data'!$A$2:$A$4</c:f>
              <c:strCache>
                <c:ptCount val="3"/>
                <c:pt idx="0">
                  <c:v>0.5×</c:v>
                </c:pt>
                <c:pt idx="1">
                  <c:v>1×</c:v>
                </c:pt>
                <c:pt idx="2">
                  <c:v>2×</c:v>
                </c:pt>
              </c:strCache>
            </c:strRef>
          </c:cat>
          <c:val>
            <c:numRef>
              <c:f>'Chart Data'!$B$2:$B$4</c:f>
              <c:numCache>
                <c:formatCode>General</c:formatCode>
                <c:ptCount val="3"/>
                <c:pt idx="0">
                  <c:v>0.981</c:v>
                </c:pt>
                <c:pt idx="1">
                  <c:v>0.981</c:v>
                </c:pt>
                <c:pt idx="2">
                  <c:v>0.981</c:v>
                </c:pt>
              </c:numCache>
            </c:numRef>
          </c:val>
          <c:smooth val="0"/>
        </c:ser>
        <c:ser>
          <c:idx val="1"/>
          <c:order val="1"/>
          <c:tx>
            <c:v>Noisy</c:v>
          </c:tx>
          <c:spPr>
            <a:solidFill xmlns:a="http://schemas.openxmlformats.org/drawingml/2006/main">
              <a:srgbClr val="FF832B"/>
            </a:solidFill>
          </c:spPr>
          <c:marker>
            <c:symbol val="none"/>
          </c:marker>
          <c:cat>
            <c:strRef>
              <c:f>'Chart Data'!$C$2:$C$4</c:f>
              <c:strCache>
                <c:ptCount val="3"/>
                <c:pt idx="0">
                  <c:v>0.5×</c:v>
                </c:pt>
                <c:pt idx="1">
                  <c:v>1×</c:v>
                </c:pt>
                <c:pt idx="2">
                  <c:v>2×</c:v>
                </c:pt>
              </c:strCache>
            </c:strRef>
          </c:cat>
          <c:val>
            <c:numRef>
              <c:f>'Chart Data'!$D$2:$D$4</c:f>
              <c:numCache>
                <c:formatCode>General</c:formatCode>
                <c:ptCount val="3"/>
                <c:pt idx="0">
                  <c:v>0.818</c:v>
                </c:pt>
                <c:pt idx="1">
                  <c:v>0.687</c:v>
                </c:pt>
                <c:pt idx="2">
                  <c:v>0.482</c:v>
                </c:pt>
              </c:numCache>
            </c:numRef>
          </c:val>
          <c:smooth val="0"/>
        </c:ser>
        <c:ser>
          <c:idx val="2"/>
          <c:order val="2"/>
          <c:tx>
            <c:v>Full PNA</c:v>
          </c:tx>
          <c:spPr>
            <a:solidFill xmlns:a="http://schemas.openxmlformats.org/drawingml/2006/main">
              <a:srgbClr val="0F62FE"/>
            </a:solidFill>
          </c:spPr>
          <c:marker>
            <c:symbol val="none"/>
          </c:marker>
          <c:cat>
            <c:strRef>
              <c:f>'Chart Data'!$E$2:$E$4</c:f>
              <c:strCache>
                <c:ptCount val="3"/>
                <c:pt idx="0">
                  <c:v>0.5×</c:v>
                </c:pt>
                <c:pt idx="1">
                  <c:v>1×</c:v>
                </c:pt>
                <c:pt idx="2">
                  <c:v>2×</c:v>
                </c:pt>
              </c:strCache>
            </c:strRef>
          </c:cat>
          <c:val>
            <c:numRef>
              <c:f>'Chart Data'!$F$2:$F$4</c:f>
              <c:numCache>
                <c:formatCode>General</c:formatCode>
                <c:ptCount val="3"/>
                <c:pt idx="0">
                  <c:v>0.969</c:v>
                </c:pt>
                <c:pt idx="1">
                  <c:v>0.977</c:v>
                </c:pt>
                <c:pt idx="2">
                  <c:v>0.953</c:v>
                </c:pt>
              </c:numCache>
            </c:numRef>
          </c:val>
          <c:smooth val="0"/>
        </c:ser>
        <c:ser>
          <c:idx val="3"/>
          <c:order val="3"/>
          <c:tx>
            <c:v>SLC + PNA</c:v>
          </c:tx>
          <c:spPr>
            <a:solidFill xmlns:a="http://schemas.openxmlformats.org/drawingml/2006/main">
              <a:srgbClr val="009D9A"/>
            </a:solidFill>
          </c:spPr>
          <c:marker>
            <c:symbol val="none"/>
          </c:marker>
          <c:cat>
            <c:strRef>
              <c:f>'Chart Data'!$G$2:$G$4</c:f>
              <c:strCache>
                <c:ptCount val="3"/>
                <c:pt idx="0">
                  <c:v>0.5×</c:v>
                </c:pt>
                <c:pt idx="1">
                  <c:v>1×</c:v>
                </c:pt>
                <c:pt idx="2">
                  <c:v>2×</c:v>
                </c:pt>
              </c:strCache>
            </c:strRef>
          </c:cat>
          <c:val>
            <c:numRef>
              <c:f>'Chart Data'!$H$2:$H$4</c:f>
              <c:numCache>
                <c:formatCode>General</c:formatCode>
                <c:ptCount val="3"/>
                <c:pt idx="0">
                  <c:v>0.946</c:v>
                </c:pt>
                <c:pt idx="1">
                  <c:v>0.962</c:v>
                </c:pt>
                <c:pt idx="2">
                  <c:v>0.966</c:v>
                </c:pt>
              </c:numCache>
            </c:numRef>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1"/>
          <c:min val="0.4"/>
        </c:scaling>
        <c:delete val="0"/>
        <c:axPos val="l"/>
        <c:majorGridlines>
          <c:spPr>
            <a:ln xmlns:a="http://schemas.openxmlformats.org/drawingml/2006/main" w="9525">
              <a:solidFill>
                <a:srgbClr val="DDE1E6"/>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Ideal-state fidelity by noise strength</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lineChart>
        <c:grouping val="standard"/>
        <c:varyColors val="0"/>
        <c:ser>
          <c:idx val="0"/>
          <c:order val="0"/>
          <c:tx>
            <c:v>Ideal</c:v>
          </c:tx>
          <c:spPr>
            <a:solidFill xmlns:a="http://schemas.openxmlformats.org/drawingml/2006/main">
              <a:srgbClr val="525252"/>
            </a:solidFill>
          </c:spPr>
          <c:marker>
            <c:symbol val="none"/>
          </c:marker>
          <c:cat>
            <c:strRef>
              <c:f>'Chart Data'!$A$2:$A$4</c:f>
              <c:strCache>
                <c:ptCount val="3"/>
                <c:pt idx="0">
                  <c:v>0.5× noise</c:v>
                </c:pt>
                <c:pt idx="1">
                  <c:v>1× noise</c:v>
                </c:pt>
                <c:pt idx="2">
                  <c:v>2× noise</c:v>
                </c:pt>
              </c:strCache>
            </c:strRef>
          </c:cat>
          <c:val>
            <c:numRef>
              <c:f>'Chart Data'!$B$2:$B$4</c:f>
              <c:numCache>
                <c:formatCode>0.00</c:formatCode>
                <c:ptCount val="3"/>
                <c:pt idx="0">
                  <c:v>1</c:v>
                </c:pt>
                <c:pt idx="1">
                  <c:v>1</c:v>
                </c:pt>
                <c:pt idx="2">
                  <c:v>1</c:v>
                </c:pt>
              </c:numCache>
            </c:numRef>
          </c:val>
          <c:smooth val="0"/>
        </c:ser>
        <c:ser>
          <c:idx val="1"/>
          <c:order val="1"/>
          <c:tx>
            <c:v>Noisy state</c:v>
          </c:tx>
          <c:spPr>
            <a:solidFill xmlns:a="http://schemas.openxmlformats.org/drawingml/2006/main">
              <a:srgbClr val="8A3FFC"/>
            </a:solidFill>
          </c:spPr>
          <c:marker>
            <c:symbol val="none"/>
          </c:marker>
          <c:cat>
            <c:strRef>
              <c:f>'Chart Data'!$C$2:$C$4</c:f>
              <c:strCache>
                <c:ptCount val="3"/>
                <c:pt idx="0">
                  <c:v>0.5× noise</c:v>
                </c:pt>
                <c:pt idx="1">
                  <c:v>1× noise</c:v>
                </c:pt>
                <c:pt idx="2">
                  <c:v>2× noise</c:v>
                </c:pt>
              </c:strCache>
            </c:strRef>
          </c:cat>
          <c:val>
            <c:numRef>
              <c:f>'Chart Data'!$D$2:$D$4</c:f>
              <c:numCache>
                <c:formatCode>0.00</c:formatCode>
                <c:ptCount val="3"/>
                <c:pt idx="0">
                  <c:v>0.833</c:v>
                </c:pt>
                <c:pt idx="1">
                  <c:v>0.695</c:v>
                </c:pt>
                <c:pt idx="2">
                  <c:v>0.488</c:v>
                </c:pt>
              </c:numCache>
            </c:numRef>
          </c:val>
          <c:smooth val="0"/>
        </c:ser>
        <c:ser>
          <c:idx val="2"/>
          <c:order val="2"/>
          <c:tx>
            <c:v>Full PNA estimate</c:v>
          </c:tx>
          <c:spPr>
            <a:solidFill xmlns:a="http://schemas.openxmlformats.org/drawingml/2006/main">
              <a:srgbClr val="0F62FE"/>
            </a:solidFill>
          </c:spPr>
          <c:marker>
            <c:symbol val="none"/>
          </c:marker>
          <c:cat>
            <c:strRef>
              <c:f>'Chart Data'!$E$2:$E$4</c:f>
              <c:strCache>
                <c:ptCount val="3"/>
                <c:pt idx="0">
                  <c:v>0.5× noise</c:v>
                </c:pt>
                <c:pt idx="1">
                  <c:v>1× noise</c:v>
                </c:pt>
                <c:pt idx="2">
                  <c:v>2× noise</c:v>
                </c:pt>
              </c:strCache>
            </c:strRef>
          </c:cat>
          <c:val>
            <c:numRef>
              <c:f>'Chart Data'!$F$2:$F$4</c:f>
              <c:numCache>
                <c:formatCode>0.00</c:formatCode>
                <c:ptCount val="3"/>
                <c:pt idx="0">
                  <c:v>1.001</c:v>
                </c:pt>
                <c:pt idx="1">
                  <c:v>1.004</c:v>
                </c:pt>
                <c:pt idx="2">
                  <c:v>1.017</c:v>
                </c:pt>
              </c:numCache>
            </c:numRef>
          </c:val>
          <c:smooth val="0"/>
        </c:ser>
        <c:ser>
          <c:idx val="3"/>
          <c:order val="3"/>
          <c:tx>
            <c:v>SLC + PNA estimate</c:v>
          </c:tx>
          <c:spPr>
            <a:solidFill xmlns:a="http://schemas.openxmlformats.org/drawingml/2006/main">
              <a:srgbClr val="009D9A"/>
            </a:solidFill>
          </c:spPr>
          <c:marker>
            <c:symbol val="none"/>
          </c:marker>
          <c:cat>
            <c:strRef>
              <c:f>'Chart Data'!$G$2:$G$4</c:f>
              <c:strCache>
                <c:ptCount val="3"/>
                <c:pt idx="0">
                  <c:v>0.5× noise</c:v>
                </c:pt>
                <c:pt idx="1">
                  <c:v>1× noise</c:v>
                </c:pt>
                <c:pt idx="2">
                  <c:v>2× noise</c:v>
                </c:pt>
              </c:strCache>
            </c:strRef>
          </c:cat>
          <c:val>
            <c:numRef>
              <c:f>'Chart Data'!$H$2:$H$4</c:f>
              <c:numCache>
                <c:formatCode>0.00</c:formatCode>
                <c:ptCount val="3"/>
                <c:pt idx="0">
                  <c:v>0.931</c:v>
                </c:pt>
                <c:pt idx="1">
                  <c:v>0.892</c:v>
                </c:pt>
                <c:pt idx="2">
                  <c:v>0.84</c:v>
                </c:pt>
              </c:numCache>
            </c:numRef>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1.05"/>
          <c:min val="0.4"/>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PNA preprocessing time</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Full PNA</c:v>
          </c:tx>
          <c:spPr>
            <a:solidFill xmlns:a="http://schemas.openxmlformats.org/drawingml/2006/main">
              <a:srgbClr val="525252"/>
            </a:solidFill>
          </c:spPr>
          <c:invertIfNegative val="0"/>
          <c:cat>
            <c:strRef>
              <c:f>'Chart Data'!$A$2:$A$4</c:f>
              <c:strCache>
                <c:ptCount val="3"/>
                <c:pt idx="0">
                  <c:v>0.5× noise</c:v>
                </c:pt>
                <c:pt idx="1">
                  <c:v>1× noise</c:v>
                </c:pt>
                <c:pt idx="2">
                  <c:v>2× noise</c:v>
                </c:pt>
              </c:strCache>
            </c:strRef>
          </c:cat>
          <c:val>
            <c:numRef>
              <c:f>'Chart Data'!$B$2:$B$4</c:f>
              <c:numCache>
                <c:formatCode>General</c:formatCode>
                <c:ptCount val="3"/>
                <c:pt idx="0">
                  <c:v>1.18</c:v>
                </c:pt>
                <c:pt idx="1">
                  <c:v>1.23</c:v>
                </c:pt>
                <c:pt idx="2">
                  <c:v>1.25</c:v>
                </c:pt>
              </c:numCache>
            </c:numRef>
          </c:val>
        </c:ser>
        <c:ser>
          <c:idx val="1"/>
          <c:order val="1"/>
          <c:tx>
            <c:v>SLC + PNA</c:v>
          </c:tx>
          <c:spPr>
            <a:solidFill xmlns:a="http://schemas.openxmlformats.org/drawingml/2006/main">
              <a:srgbClr val="009D9A"/>
            </a:solidFill>
          </c:spPr>
          <c:invertIfNegative val="0"/>
          <c:cat>
            <c:strRef>
              <c:f>'Chart Data'!$C$2:$C$4</c:f>
              <c:strCache>
                <c:ptCount val="3"/>
                <c:pt idx="0">
                  <c:v>0.5× noise</c:v>
                </c:pt>
                <c:pt idx="1">
                  <c:v>1× noise</c:v>
                </c:pt>
                <c:pt idx="2">
                  <c:v>2× noise</c:v>
                </c:pt>
              </c:strCache>
            </c:strRef>
          </c:cat>
          <c:val>
            <c:numRef>
              <c:f>'Chart Data'!$D$2:$D$4</c:f>
              <c:numCache>
                <c:formatCode>General</c:formatCode>
                <c:ptCount val="3"/>
                <c:pt idx="0">
                  <c:v>1.11</c:v>
                </c:pt>
                <c:pt idx="1">
                  <c:v>1.12</c:v>
                </c:pt>
                <c:pt idx="2">
                  <c:v>1.15</c:v>
                </c:pt>
              </c:numCache>
            </c:numRef>
          </c:val>
        </c:ser>
        <c:dLbls>
          <c:delete val="0"/>
          <c:numFmt formatCode="0.00" sourceLinked="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1.5"/>
          <c:min val="0"/>
        </c:scaling>
        <c:delete val="0"/>
        <c:axPos val="l"/>
        <c:majorGridlines>
          <c:spPr>
            <a:ln xmlns:a="http://schemas.openxmlformats.org/drawingml/2006/main" w="9525">
              <a:solidFill>
                <a:srgbClr val="DDE1E6"/>
              </a:solidFill>
              <a:prstDash val="solid"/>
            </a:ln>
          </c:spPr>
        </c:majorGridlines>
        <c:title>
          <c:tx>
            <c:rich>
              <a:bodyPr xmlns:a="http://schemas.openxmlformats.org/drawingml/2006/main"/>
              <a:lstStyle xmlns:a="http://schemas.openxmlformats.org/drawingml/2006/main"/>
              <a:p xmlns:a="http://schemas.openxmlformats.org/drawingml/2006/main">
                <a:r>
                  <a:rPr sz="1050">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Output-distribution fidelity · 10,000 shots</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Fidelity</c:v>
          </c:tx>
          <c:spPr>
            <a:solidFill xmlns:a="http://schemas.openxmlformats.org/drawingml/2006/main">
              <a:srgbClr val="0F62FE"/>
            </a:solidFill>
          </c:spPr>
          <c:invertIfNegative val="0"/>
          <c:cat>
            <c:strRef>
              <c:f>'Chart Data'!$A$2:$A$4</c:f>
              <c:strCache>
                <c:ptCount val="3"/>
                <c:pt idx="0">
                  <c:v>No checks</c:v>
                </c:pt>
                <c:pt idx="1">
                  <c:v>Checks, no filter</c:v>
                </c:pt>
                <c:pt idx="2">
                  <c:v>Checks + filter</c:v>
                </c:pt>
              </c:strCache>
            </c:strRef>
          </c:cat>
          <c:val>
            <c:numRef>
              <c:f>'Chart Data'!$B$2:$B$4</c:f>
              <c:numCache>
                <c:formatCode>0.00</c:formatCode>
                <c:ptCount val="3"/>
                <c:pt idx="0">
                  <c:v>0.97536</c:v>
                </c:pt>
                <c:pt idx="1">
                  <c:v>0.95597</c:v>
                </c:pt>
                <c:pt idx="2">
                  <c:v>0.98108</c:v>
                </c:pt>
              </c:numCache>
            </c:numRef>
          </c:val>
        </c:ser>
        <c:dLbls>
          <c:delete val="0"/>
          <c:numFmt formatCode="0.00000" sourceLinked="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0.99"/>
          <c:min val="0.94"/>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01"/>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61616"/>
                </a:solidFill>
                <a:latin typeface="Arial"/>
                <a:ea typeface="Arial"/>
                <a:cs typeface="Arial"/>
              </a:rPr>
              <a:t>Output-distribution fidelity by check configuration</a:t>
            </a:r>
          </a:p>
        </c:rich>
      </c:tx>
      <c:overlay val="0"/>
      <c:txPr>
        <a:bodyPr xmlns:a="http://schemas.openxmlformats.org/drawingml/2006/main" anchorCtr="1"/>
        <a:lstStyle xmlns:a="http://schemas.openxmlformats.org/drawingml/2006/main"/>
        <a:p xmlns:a="http://schemas.openxmlformats.org/drawingml/2006/main">
          <a:pPr>
            <a:defRPr sz="1350" b="1">
              <a:solidFill>
                <a:srgbClr val="161616"/>
              </a:solidFill>
              <a:latin typeface="Arial"/>
              <a:ea typeface="Arial"/>
              <a:cs typeface="Arial"/>
            </a:defRPr>
          </a:pPr>
        </a:p>
      </c:txPr>
    </c:title>
    <c:plotArea>
      <c:lineChart>
        <c:grouping val="standard"/>
        <c:varyColors val="0"/>
        <c:ser>
          <c:idx val="0"/>
          <c:order val="0"/>
          <c:tx>
            <c:v>Checked, before filtering</c:v>
          </c:tx>
          <c:spPr>
            <a:solidFill xmlns:a="http://schemas.openxmlformats.org/drawingml/2006/main">
              <a:srgbClr val="FF832B"/>
            </a:solidFill>
          </c:spPr>
          <c:marker>
            <c:symbol val="none"/>
          </c:marker>
          <c:cat>
            <c:strRef>
              <c:f>'Chart Data'!$A$2:$A$5</c:f>
              <c:strCache>
                <c:ptCount val="4"/>
                <c:pt idx="0">
                  <c:v>Windowed · 22</c:v>
                </c:pt>
                <c:pt idx="1">
                  <c:v>Genetic 1 · 16</c:v>
                </c:pt>
                <c:pt idx="2">
                  <c:v>Genetic 7 · 9</c:v>
                </c:pt>
                <c:pt idx="3">
                  <c:v>Windowed Gen. · 8</c:v>
                </c:pt>
              </c:strCache>
            </c:strRef>
          </c:cat>
          <c:val>
            <c:numRef>
              <c:f>'Chart Data'!$B$2:$B$5</c:f>
              <c:numCache>
                <c:formatCode>0.00</c:formatCode>
                <c:ptCount val="4"/>
                <c:pt idx="0">
                  <c:v>0.938</c:v>
                </c:pt>
                <c:pt idx="1">
                  <c:v>0.95</c:v>
                </c:pt>
                <c:pt idx="2">
                  <c:v>0.959</c:v>
                </c:pt>
                <c:pt idx="3">
                  <c:v>0.959</c:v>
                </c:pt>
              </c:numCache>
            </c:numRef>
          </c:val>
          <c:smooth val="0"/>
        </c:ser>
        <c:ser>
          <c:idx val="1"/>
          <c:order val="1"/>
          <c:tx>
            <c:v>After post-selection</c:v>
          </c:tx>
          <c:spPr>
            <a:solidFill xmlns:a="http://schemas.openxmlformats.org/drawingml/2006/main">
              <a:srgbClr val="009D9A"/>
            </a:solidFill>
          </c:spPr>
          <c:marker>
            <c:symbol val="none"/>
          </c:marker>
          <c:cat>
            <c:strRef>
              <c:f>'Chart Data'!$C$2:$C$5</c:f>
              <c:strCache>
                <c:ptCount val="4"/>
                <c:pt idx="0">
                  <c:v>Windowed · 22</c:v>
                </c:pt>
                <c:pt idx="1">
                  <c:v>Genetic 1 · 16</c:v>
                </c:pt>
                <c:pt idx="2">
                  <c:v>Genetic 7 · 9</c:v>
                </c:pt>
                <c:pt idx="3">
                  <c:v>Windowed Gen. · 8</c:v>
                </c:pt>
              </c:strCache>
            </c:strRef>
          </c:cat>
          <c:val>
            <c:numRef>
              <c:f>'Chart Data'!$D$2:$D$5</c:f>
              <c:numCache>
                <c:formatCode>0.00</c:formatCode>
                <c:ptCount val="4"/>
                <c:pt idx="0">
                  <c:v>0.971</c:v>
                </c:pt>
                <c:pt idx="1">
                  <c:v>0.97833</c:v>
                </c:pt>
                <c:pt idx="2">
                  <c:v>0.97</c:v>
                </c:pt>
                <c:pt idx="3">
                  <c:v>0.9715</c:v>
                </c:pt>
              </c:numCache>
            </c:numRef>
          </c:val>
          <c:smooth val="0"/>
        </c:ser>
        <c:ser>
          <c:idx val="2"/>
          <c:order val="2"/>
          <c:tx>
            <c:v>No-check baseline</c:v>
          </c:tx>
          <c:spPr>
            <a:solidFill xmlns:a="http://schemas.openxmlformats.org/drawingml/2006/main">
              <a:srgbClr val="525252"/>
            </a:solidFill>
          </c:spPr>
          <c:marker>
            <c:symbol val="none"/>
          </c:marker>
          <c:cat>
            <c:strRef>
              <c:f>'Chart Data'!$E$2:$E$5</c:f>
              <c:strCache>
                <c:ptCount val="4"/>
                <c:pt idx="0">
                  <c:v>Windowed · 22</c:v>
                </c:pt>
                <c:pt idx="1">
                  <c:v>Genetic 1 · 16</c:v>
                </c:pt>
                <c:pt idx="2">
                  <c:v>Genetic 7 · 9</c:v>
                </c:pt>
                <c:pt idx="3">
                  <c:v>Windowed Gen. · 8</c:v>
                </c:pt>
              </c:strCache>
            </c:strRef>
          </c:cat>
          <c:val>
            <c:numRef>
              <c:f>'Chart Data'!$F$2:$F$5</c:f>
              <c:numCache>
                <c:formatCode>0.00</c:formatCode>
                <c:ptCount val="4"/>
                <c:pt idx="0">
                  <c:v>0.97958</c:v>
                </c:pt>
                <c:pt idx="1">
                  <c:v>0.97958</c:v>
                </c:pt>
                <c:pt idx="2">
                  <c:v>0.97958</c:v>
                </c:pt>
                <c:pt idx="3">
                  <c:v>0.97958</c:v>
                </c:pt>
              </c:numCache>
            </c:numRef>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72768"/>
      </c:catAx>
      <c:valAx>
        <c:axId val="48672768"/>
        <c:scaling>
          <c:orientation val="minMax"/>
          <c:max val="0.99"/>
          <c:min val="0.92"/>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majorUnit val="0.0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61616"/>
                </a:solidFill>
                <a:latin typeface="Arial"/>
                <a:ea typeface="Arial"/>
                <a:cs typeface="Arial"/>
              </a:rPr>
              <a:t>Reported interaction span vs post-selected fidelity</a:t>
            </a:r>
          </a:p>
        </c:rich>
      </c:tx>
      <c:overlay val="0"/>
      <c:txPr>
        <a:bodyPr xmlns:a="http://schemas.openxmlformats.org/drawingml/2006/main" anchorCtr="1"/>
        <a:lstStyle xmlns:a="http://schemas.openxmlformats.org/drawingml/2006/main"/>
        <a:p xmlns:a="http://schemas.openxmlformats.org/drawingml/2006/main">
          <a:pPr>
            <a:defRPr sz="1350" b="1">
              <a:solidFill>
                <a:srgbClr val="161616"/>
              </a:solidFill>
              <a:latin typeface="Arial"/>
              <a:ea typeface="Arial"/>
              <a:cs typeface="Arial"/>
            </a:defRPr>
          </a:pPr>
        </a:p>
      </c:txPr>
    </c:title>
    <c:plotArea>
      <c:lineChart>
        <c:grouping val="standard"/>
        <c:varyColors val="0"/>
        <c:ser>
          <c:idx val="0"/>
          <c:order val="0"/>
          <c:tx>
            <c:v>Configuration</c:v>
          </c:tx>
          <c:spPr>
            <a:solidFill xmlns:a="http://schemas.openxmlformats.org/drawingml/2006/main">
              <a:srgbClr val="8A3FFC"/>
            </a:solidFill>
          </c:spPr>
          <c:marker>
            <c:symbol val="none"/>
          </c:marker>
          <c:cat>
            <c:numRef>
              <c:f>'Chart Data'!$A$2:$A$5</c:f>
              <c:numCache>
                <c:formatCode>General</c:formatCode>
                <c:ptCount val="4"/>
                <c:pt idx="0">
                  <c:v>8</c:v>
                </c:pt>
                <c:pt idx="1">
                  <c:v>9</c:v>
                </c:pt>
                <c:pt idx="2">
                  <c:v>16</c:v>
                </c:pt>
                <c:pt idx="3">
                  <c:v>22</c:v>
                </c:pt>
              </c:numCache>
            </c:numRef>
          </c:cat>
          <c:val>
            <c:numRef>
              <c:f>'Chart Data'!$B$2:$B$5</c:f>
              <c:numCache>
                <c:formatCode>0.000</c:formatCode>
                <c:ptCount val="4"/>
                <c:pt idx="0">
                  <c:v>0.9715</c:v>
                </c:pt>
                <c:pt idx="1">
                  <c:v>0.9702</c:v>
                </c:pt>
                <c:pt idx="2">
                  <c:v>0.97833</c:v>
                </c:pt>
                <c:pt idx="3">
                  <c:v>0.9712</c:v>
                </c:pt>
              </c:numCache>
            </c:numRef>
          </c:val>
          <c:smooth val="0"/>
        </c:ser>
        <c:ser>
          <c:idx val="1"/>
          <c:order val="1"/>
          <c:tx>
            <c:v>No-check baseline</c:v>
          </c:tx>
          <c:spPr>
            <a:solidFill xmlns:a="http://schemas.openxmlformats.org/drawingml/2006/main">
              <a:srgbClr val="525252"/>
            </a:solidFill>
          </c:spPr>
          <c:marker>
            <c:symbol val="none"/>
          </c:marker>
          <c:cat>
            <c:numRef>
              <c:f>'Chart Data'!$C$2:$C$5</c:f>
              <c:numCache>
                <c:formatCode>General</c:formatCode>
                <c:ptCount val="4"/>
                <c:pt idx="0">
                  <c:v>8</c:v>
                </c:pt>
                <c:pt idx="1">
                  <c:v>9</c:v>
                </c:pt>
                <c:pt idx="2">
                  <c:v>16</c:v>
                </c:pt>
                <c:pt idx="3">
                  <c:v>22</c:v>
                </c:pt>
              </c:numCache>
            </c:numRef>
          </c:cat>
          <c:val>
            <c:numRef>
              <c:f>'Chart Data'!$D$2:$D$5</c:f>
              <c:numCache>
                <c:formatCode>0.000</c:formatCode>
                <c:ptCount val="4"/>
                <c:pt idx="0">
                  <c:v>0.97958</c:v>
                </c:pt>
                <c:pt idx="1">
                  <c:v>0.97958</c:v>
                </c:pt>
                <c:pt idx="2">
                  <c:v>0.97958</c:v>
                </c:pt>
                <c:pt idx="3">
                  <c:v>0.97958</c:v>
                </c:pt>
              </c:numCache>
            </c:numRef>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75">
                    <a:latin typeface="Arial"/>
                    <a:ea typeface="Arial"/>
                    <a:cs typeface="Arial"/>
                  </a:rPr>
                  <a:t>Instruction positions (span)</a:t>
                </a:r>
              </a:p>
            </c:rich>
          </c:tx>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max val="0.981"/>
          <c:min val="0.969"/>
        </c:scaling>
        <c:delete val="0"/>
        <c:axPos val="l"/>
        <c:majorGridlines>
          <c:spPr>
            <a:ln xmlns:a="http://schemas.openxmlformats.org/drawingml/2006/main" w="9525">
              <a:solidFill>
                <a:srgbClr val="DDE1E6"/>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majorUnit val="0.002"/>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Output-distribution fidelity · 10,000 shots</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Fidelity</c:v>
          </c:tx>
          <c:spPr>
            <a:solidFill xmlns:a="http://schemas.openxmlformats.org/drawingml/2006/main">
              <a:srgbClr val="8A3FFC"/>
            </a:solidFill>
          </c:spPr>
          <c:invertIfNegative val="0"/>
          <c:cat>
            <c:strRef>
              <c:f>'Chart Data'!$A$2:$A$3</c:f>
              <c:strCache>
                <c:ptCount val="2"/>
                <c:pt idx="0">
                  <c:v>Clifford-only</c:v>
                </c:pt>
                <c:pt idx="1">
                  <c:v>T-doped</c:v>
                </c:pt>
              </c:strCache>
            </c:strRef>
          </c:cat>
          <c:val>
            <c:numRef>
              <c:f>'Chart Data'!$B$2:$B$3</c:f>
              <c:numCache>
                <c:formatCode>0.00</c:formatCode>
                <c:ptCount val="2"/>
                <c:pt idx="0">
                  <c:v>0.97522</c:v>
                </c:pt>
                <c:pt idx="1">
                  <c:v>0.98104</c:v>
                </c:pt>
              </c:numCache>
            </c:numRef>
          </c:val>
        </c:ser>
        <c:dLbls>
          <c:delete val="0"/>
          <c:numFmt formatCode="0.00000" sourceLinked="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72768"/>
      </c:catAx>
      <c:valAx>
        <c:axId val="48672768"/>
        <c:scaling>
          <c:orientation val="minMax"/>
          <c:max val="0.99"/>
          <c:min val="0.96"/>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01"/>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4F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4859DF-9617-4447-8BD7-30A2AD01B593}"/>
              </a:ext>
            </a:extLst>
          </p:cNvPr>
          <p:cNvSpPr>
            <a:spLocks xmlns:a="http://schemas.openxmlformats.org/drawingml/2006/main" noGrp="1"/>
          </p:cNvSpPr>
          <p:nvPr/>
        </p:nvSpPr>
        <p:spPr>
          <a:xfrm xmlns:a="http://schemas.openxmlformats.org/drawingml/2006/main">
            <a:off x="723900" y="74295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QISKIT FALL FEST 2026 · TRACKS 1 &amp; 2</a:t>
            </a:r>
          </a:p>
        </p:txBody>
      </p:sp>
      <p:sp>
        <p:nvSpPr>
          <p:cNvPr id="2" name="">
            <a:extLst xmlns:a="http://schemas.openxmlformats.org/drawingml/2006/main">
              <a:ext uri="{FF2B5EF4-FFF2-40B4-BE49-F238E27FC236}">
                <a16:creationId xmlns:a16="http://schemas.microsoft.com/office/drawing/2014/main" id="{2E31B2DF-3EFD-41F7-9490-F8949D63EF94}"/>
              </a:ext>
            </a:extLst>
          </p:cNvPr>
          <p:cNvSpPr>
            <a:spLocks xmlns:a="http://schemas.openxmlformats.org/drawingml/2006/main" noGrp="1"/>
          </p:cNvSpPr>
          <p:nvPr/>
        </p:nvSpPr>
        <p:spPr>
          <a:xfrm xmlns:a="http://schemas.openxmlformats.org/drawingml/2006/main">
            <a:off x="723900" y="1657350"/>
            <a:ext cx="9239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650" b="1">
                <a:solidFill>
                  <a:srgbClr val="161616"/>
                </a:solidFill>
                <a:latin typeface="Arial"/>
                <a:ea typeface="Arial"/>
                <a:cs typeface="Arial"/>
              </a:defRPr>
            </a:defPPr>
            <a:lvl1pPr algn="l">
              <a:defRPr sz="4650" b="1">
                <a:solidFill>
                  <a:srgbClr val="161616"/>
                </a:solidFill>
                <a:latin typeface="Arial"/>
                <a:ea typeface="Arial"/>
                <a:cs typeface="Arial"/>
              </a:defRPr>
            </a:lvl1pPr>
            <a:lvl2pPr algn="l">
              <a:defRPr sz="4650" b="1">
                <a:solidFill>
                  <a:srgbClr val="161616"/>
                </a:solidFill>
                <a:latin typeface="Arial"/>
                <a:ea typeface="Arial"/>
                <a:cs typeface="Arial"/>
              </a:defRPr>
            </a:lvl2pPr>
            <a:lvl3pPr algn="l">
              <a:defRPr sz="4650" b="1">
                <a:solidFill>
                  <a:srgbClr val="161616"/>
                </a:solidFill>
                <a:latin typeface="Arial"/>
                <a:ea typeface="Arial"/>
                <a:cs typeface="Arial"/>
              </a:defRPr>
            </a:lvl3pPr>
            <a:lvl4pPr algn="l">
              <a:defRPr sz="4650" b="1">
                <a:solidFill>
                  <a:srgbClr val="161616"/>
                </a:solidFill>
                <a:latin typeface="Arial"/>
                <a:ea typeface="Arial"/>
                <a:cs typeface="Arial"/>
              </a:defRPr>
            </a:lvl4pPr>
            <a:lvl5pPr algn="l">
              <a:defRPr sz="4650" b="1">
                <a:solidFill>
                  <a:srgbClr val="161616"/>
                </a:solidFill>
                <a:latin typeface="Arial"/>
                <a:ea typeface="Arial"/>
                <a:cs typeface="Arial"/>
              </a:defRPr>
            </a:lvl5pPr>
            <a:lvl6pPr algn="l">
              <a:defRPr sz="4650" b="1">
                <a:solidFill>
                  <a:srgbClr val="161616"/>
                </a:solidFill>
                <a:latin typeface="Arial"/>
                <a:ea typeface="Arial"/>
                <a:cs typeface="Arial"/>
              </a:defRPr>
            </a:lvl6pPr>
            <a:lvl7pPr algn="l">
              <a:defRPr sz="4650" b="1">
                <a:solidFill>
                  <a:srgbClr val="161616"/>
                </a:solidFill>
                <a:latin typeface="Arial"/>
                <a:ea typeface="Arial"/>
                <a:cs typeface="Arial"/>
              </a:defRPr>
            </a:lvl7pPr>
            <a:lvl8pPr algn="l">
              <a:defRPr sz="4650" b="1">
                <a:solidFill>
                  <a:srgbClr val="161616"/>
                </a:solidFill>
                <a:latin typeface="Arial"/>
                <a:ea typeface="Arial"/>
                <a:cs typeface="Arial"/>
              </a:defRPr>
            </a:lvl8pPr>
            <a:lvl9pPr algn="l">
              <a:defRPr sz="4650" b="1">
                <a:solidFill>
                  <a:srgbClr val="161616"/>
                </a:solidFill>
                <a:latin typeface="Arial"/>
                <a:ea typeface="Arial"/>
                <a:cs typeface="Arial"/>
              </a:defRPr>
            </a:lvl9pPr>
          </a:lstStyle>
          <a:p xmlns:a="http://schemas.openxmlformats.org/drawingml/2006/main">
            <a:pPr algn="l">
              <a:defRPr sz="4650" b="1">
                <a:solidFill>
                  <a:srgbClr val="161616"/>
                </a:solidFill>
                <a:latin typeface="Arial"/>
                <a:ea typeface="Arial"/>
                <a:cs typeface="Arial"/>
              </a:defRPr>
            </a:pPr>
            <a:r>
              <a:rPr sz="4650" b="1">
                <a:solidFill>
                  <a:srgbClr val="161616"/>
                </a:solidFill>
                <a:latin typeface="Arial"/>
                <a:ea typeface="Arial"/>
                <a:cs typeface="Arial"/>
              </a:rPr>
              <a:t>Making quantum</a:t>
            </a:r>
          </a:p>
          <a:p xmlns:a="http://schemas.openxmlformats.org/drawingml/2006/main">
            <a:pPr algn="l">
              <a:defRPr sz="4650" b="1">
                <a:solidFill>
                  <a:srgbClr val="161616"/>
                </a:solidFill>
                <a:latin typeface="Arial"/>
                <a:ea typeface="Arial"/>
                <a:cs typeface="Arial"/>
              </a:defRPr>
            </a:pPr>
            <a:r>
              <a:rPr sz="4650" b="1">
                <a:solidFill>
                  <a:srgbClr val="161616"/>
                </a:solidFill>
                <a:latin typeface="Arial"/>
                <a:ea typeface="Arial"/>
                <a:cs typeface="Arial"/>
              </a:rPr>
              <a:t>results more reliable</a:t>
            </a:r>
          </a:p>
        </p:txBody>
      </p:sp>
      <p:sp>
        <p:nvSpPr>
          <p:cNvPr id="3" name="">
            <a:extLst xmlns:a="http://schemas.openxmlformats.org/drawingml/2006/main">
              <a:ext uri="{FF2B5EF4-FFF2-40B4-BE49-F238E27FC236}">
                <a16:creationId xmlns:a16="http://schemas.microsoft.com/office/drawing/2014/main" id="{E395018B-B70E-413D-A0DA-99CFD91ED240}"/>
              </a:ext>
            </a:extLst>
          </p:cNvPr>
          <p:cNvSpPr>
            <a:spLocks xmlns:a="http://schemas.openxmlformats.org/drawingml/2006/main" noGrp="1"/>
          </p:cNvSpPr>
          <p:nvPr/>
        </p:nvSpPr>
        <p:spPr>
          <a:xfrm xmlns:a="http://schemas.openxmlformats.org/drawingml/2006/main">
            <a:off x="762000" y="3886200"/>
            <a:ext cx="876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525252"/>
                </a:solidFill>
                <a:latin typeface="Arial"/>
                <a:ea typeface="Arial"/>
                <a:cs typeface="Arial"/>
              </a:defRPr>
            </a:defPPr>
            <a:lvl1pPr algn="l">
              <a:defRPr sz="2025" b="0">
                <a:solidFill>
                  <a:srgbClr val="525252"/>
                </a:solidFill>
                <a:latin typeface="Arial"/>
                <a:ea typeface="Arial"/>
                <a:cs typeface="Arial"/>
              </a:defRPr>
            </a:lvl1pPr>
            <a:lvl2pPr algn="l">
              <a:defRPr sz="2025" b="0">
                <a:solidFill>
                  <a:srgbClr val="525252"/>
                </a:solidFill>
                <a:latin typeface="Arial"/>
                <a:ea typeface="Arial"/>
                <a:cs typeface="Arial"/>
              </a:defRPr>
            </a:lvl2pPr>
            <a:lvl3pPr algn="l">
              <a:defRPr sz="2025" b="0">
                <a:solidFill>
                  <a:srgbClr val="525252"/>
                </a:solidFill>
                <a:latin typeface="Arial"/>
                <a:ea typeface="Arial"/>
                <a:cs typeface="Arial"/>
              </a:defRPr>
            </a:lvl3pPr>
            <a:lvl4pPr algn="l">
              <a:defRPr sz="2025" b="0">
                <a:solidFill>
                  <a:srgbClr val="525252"/>
                </a:solidFill>
                <a:latin typeface="Arial"/>
                <a:ea typeface="Arial"/>
                <a:cs typeface="Arial"/>
              </a:defRPr>
            </a:lvl4pPr>
            <a:lvl5pPr algn="l">
              <a:defRPr sz="2025" b="0">
                <a:solidFill>
                  <a:srgbClr val="525252"/>
                </a:solidFill>
                <a:latin typeface="Arial"/>
                <a:ea typeface="Arial"/>
                <a:cs typeface="Arial"/>
              </a:defRPr>
            </a:lvl5pPr>
            <a:lvl6pPr algn="l">
              <a:defRPr sz="2025" b="0">
                <a:solidFill>
                  <a:srgbClr val="525252"/>
                </a:solidFill>
                <a:latin typeface="Arial"/>
                <a:ea typeface="Arial"/>
                <a:cs typeface="Arial"/>
              </a:defRPr>
            </a:lvl6pPr>
            <a:lvl7pPr algn="l">
              <a:defRPr sz="2025" b="0">
                <a:solidFill>
                  <a:srgbClr val="525252"/>
                </a:solidFill>
                <a:latin typeface="Arial"/>
                <a:ea typeface="Arial"/>
                <a:cs typeface="Arial"/>
              </a:defRPr>
            </a:lvl7pPr>
            <a:lvl8pPr algn="l">
              <a:defRPr sz="2025" b="0">
                <a:solidFill>
                  <a:srgbClr val="525252"/>
                </a:solidFill>
                <a:latin typeface="Arial"/>
                <a:ea typeface="Arial"/>
                <a:cs typeface="Arial"/>
              </a:defRPr>
            </a:lvl8pPr>
            <a:lvl9pPr algn="l">
              <a:defRPr sz="2025" b="0">
                <a:solidFill>
                  <a:srgbClr val="525252"/>
                </a:solidFill>
                <a:latin typeface="Arial"/>
                <a:ea typeface="Arial"/>
                <a:cs typeface="Arial"/>
              </a:defRPr>
            </a:lvl9pPr>
          </a:lstStyle>
          <a:p xmlns:a="http://schemas.openxmlformats.org/drawingml/2006/main">
            <a:pPr algn="l">
              <a:defRPr sz="2025" b="0">
                <a:solidFill>
                  <a:srgbClr val="525252"/>
                </a:solidFill>
                <a:latin typeface="Arial"/>
                <a:ea typeface="Arial"/>
                <a:cs typeface="Arial"/>
              </a:defRPr>
            </a:pPr>
            <a:r>
              <a:rPr sz="2025" b="0">
                <a:solidFill>
                  <a:srgbClr val="525252"/>
                </a:solidFill>
                <a:latin typeface="Arial"/>
                <a:ea typeface="Arial"/>
                <a:cs typeface="Arial"/>
              </a:rPr>
              <a:t>Two quantum error studies: spacetime-check post-selection and SLC/PNA mitigation</a:t>
            </a:r>
          </a:p>
        </p:txBody>
      </p:sp>
      <p:sp>
        <p:nvSpPr>
          <p:cNvPr id="4" name="">
            <a:extLst xmlns:a="http://schemas.openxmlformats.org/drawingml/2006/main">
              <a:ext uri="{FF2B5EF4-FFF2-40B4-BE49-F238E27FC236}">
                <a16:creationId xmlns:a16="http://schemas.microsoft.com/office/drawing/2014/main" id="{856CF124-E6F8-4835-9684-78D95A77E79B}"/>
              </a:ext>
            </a:extLst>
          </p:cNvPr>
          <p:cNvSpPr>
            <a:spLocks xmlns:a="http://schemas.openxmlformats.org/drawingml/2006/main" noGrp="1"/>
          </p:cNvSpPr>
          <p:nvPr/>
        </p:nvSpPr>
        <p:spPr>
          <a:xfrm xmlns:a="http://schemas.openxmlformats.org/drawingml/2006/main">
            <a:off x="762000" y="5219700"/>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61616"/>
                </a:solidFill>
                <a:latin typeface="Arial"/>
                <a:ea typeface="Arial"/>
                <a:cs typeface="Arial"/>
              </a:defRPr>
            </a:defPPr>
            <a:lvl1pPr algn="l">
              <a:defRPr sz="1650" b="1">
                <a:solidFill>
                  <a:srgbClr val="161616"/>
                </a:solidFill>
                <a:latin typeface="Arial"/>
                <a:ea typeface="Arial"/>
                <a:cs typeface="Arial"/>
              </a:defRPr>
            </a:lvl1pPr>
            <a:lvl2pPr algn="l">
              <a:defRPr sz="1650" b="1">
                <a:solidFill>
                  <a:srgbClr val="161616"/>
                </a:solidFill>
                <a:latin typeface="Arial"/>
                <a:ea typeface="Arial"/>
                <a:cs typeface="Arial"/>
              </a:defRPr>
            </a:lvl2pPr>
            <a:lvl3pPr algn="l">
              <a:defRPr sz="1650" b="1">
                <a:solidFill>
                  <a:srgbClr val="161616"/>
                </a:solidFill>
                <a:latin typeface="Arial"/>
                <a:ea typeface="Arial"/>
                <a:cs typeface="Arial"/>
              </a:defRPr>
            </a:lvl3pPr>
            <a:lvl4pPr algn="l">
              <a:defRPr sz="1650" b="1">
                <a:solidFill>
                  <a:srgbClr val="161616"/>
                </a:solidFill>
                <a:latin typeface="Arial"/>
                <a:ea typeface="Arial"/>
                <a:cs typeface="Arial"/>
              </a:defRPr>
            </a:lvl4pPr>
            <a:lvl5pPr algn="l">
              <a:defRPr sz="1650" b="1">
                <a:solidFill>
                  <a:srgbClr val="161616"/>
                </a:solidFill>
                <a:latin typeface="Arial"/>
                <a:ea typeface="Arial"/>
                <a:cs typeface="Arial"/>
              </a:defRPr>
            </a:lvl5pPr>
            <a:lvl6pPr algn="l">
              <a:defRPr sz="1650" b="1">
                <a:solidFill>
                  <a:srgbClr val="161616"/>
                </a:solidFill>
                <a:latin typeface="Arial"/>
                <a:ea typeface="Arial"/>
                <a:cs typeface="Arial"/>
              </a:defRPr>
            </a:lvl6pPr>
            <a:lvl7pPr algn="l">
              <a:defRPr sz="1650" b="1">
                <a:solidFill>
                  <a:srgbClr val="161616"/>
                </a:solidFill>
                <a:latin typeface="Arial"/>
                <a:ea typeface="Arial"/>
                <a:cs typeface="Arial"/>
              </a:defRPr>
            </a:lvl7pPr>
            <a:lvl8pPr algn="l">
              <a:defRPr sz="1650" b="1">
                <a:solidFill>
                  <a:srgbClr val="161616"/>
                </a:solidFill>
                <a:latin typeface="Arial"/>
                <a:ea typeface="Arial"/>
                <a:cs typeface="Arial"/>
              </a:defRPr>
            </a:lvl8pPr>
            <a:lvl9pPr algn="l">
              <a:defRPr sz="1650" b="1">
                <a:solidFill>
                  <a:srgbClr val="161616"/>
                </a:solidFill>
                <a:latin typeface="Arial"/>
                <a:ea typeface="Arial"/>
                <a:cs typeface="Arial"/>
              </a:defRPr>
            </a:lvl9pPr>
          </a:lstStyle>
          <a:p xmlns:a="http://schemas.openxmlformats.org/drawingml/2006/main">
            <a:pPr algn="l">
              <a:defRPr sz="1650" b="1">
                <a:solidFill>
                  <a:srgbClr val="161616"/>
                </a:solidFill>
                <a:latin typeface="Arial"/>
                <a:ea typeface="Arial"/>
                <a:cs typeface="Arial"/>
              </a:defRPr>
            </a:pPr>
            <a:r>
              <a:rPr sz="1650" b="1">
                <a:solidFill>
                  <a:srgbClr val="161616"/>
                </a:solidFill>
                <a:latin typeface="Arial"/>
                <a:ea typeface="Arial"/>
                <a:cs typeface="Arial"/>
              </a:rPr>
              <a:t>Track 1: Pauli checks · Track 2: five-qubit SLC + PNA</a:t>
            </a:r>
          </a:p>
        </p:txBody>
      </p:sp>
    </p:spTree>
    <p:extLst>
      <p:ext uri="{BB962C8B-B14F-4D97-AF65-F5344CB8AC3E}">
        <p14:creationId xmlns:p14="http://schemas.microsoft.com/office/powerpoint/2010/main" val="12381505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ED4BE3-0980-40F9-AE3E-B12B3926FB99}"/>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049BF06F-52CD-4F06-8BC0-44F3F614E150}"/>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The basic idea</a:t>
            </a:r>
          </a:p>
        </p:txBody>
      </p:sp>
      <p:sp>
        <p:nvSpPr>
          <p:cNvPr id="3" name="">
            <a:extLst xmlns:a="http://schemas.openxmlformats.org/drawingml/2006/main">
              <a:ext uri="{FF2B5EF4-FFF2-40B4-BE49-F238E27FC236}">
                <a16:creationId xmlns:a16="http://schemas.microsoft.com/office/drawing/2014/main" id="{2D1657AC-AF21-49A7-A455-CBA6506D9F6A}"/>
              </a:ext>
            </a:extLst>
          </p:cNvPr>
          <p:cNvSpPr>
            <a:spLocks xmlns:a="http://schemas.openxmlformats.org/drawingml/2006/main" noGrp="1"/>
          </p:cNvSpPr>
          <p:nvPr/>
        </p:nvSpPr>
        <p:spPr>
          <a:xfrm xmlns:a="http://schemas.openxmlformats.org/drawingml/2006/main">
            <a:off x="647700" y="1695450"/>
            <a:ext cx="1038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91"/>
          </a:bodyPr>
          <a:lstStyle xmlns:a="http://schemas.openxmlformats.org/drawingml/2006/main">
            <a:defPPr algn="l">
              <a:defRPr sz="2175" b="1">
                <a:solidFill>
                  <a:srgbClr val="161616"/>
                </a:solidFill>
                <a:latin typeface="Arial"/>
                <a:ea typeface="Arial"/>
                <a:cs typeface="Arial"/>
              </a:defRPr>
            </a:defPPr>
            <a:lvl1pPr algn="l">
              <a:defRPr sz="2175" b="1">
                <a:solidFill>
                  <a:srgbClr val="161616"/>
                </a:solidFill>
                <a:latin typeface="Arial"/>
                <a:ea typeface="Arial"/>
                <a:cs typeface="Arial"/>
              </a:defRPr>
            </a:lvl1pPr>
            <a:lvl2pPr algn="l">
              <a:defRPr sz="2175" b="1">
                <a:solidFill>
                  <a:srgbClr val="161616"/>
                </a:solidFill>
                <a:latin typeface="Arial"/>
                <a:ea typeface="Arial"/>
                <a:cs typeface="Arial"/>
              </a:defRPr>
            </a:lvl2pPr>
            <a:lvl3pPr algn="l">
              <a:defRPr sz="2175" b="1">
                <a:solidFill>
                  <a:srgbClr val="161616"/>
                </a:solidFill>
                <a:latin typeface="Arial"/>
                <a:ea typeface="Arial"/>
                <a:cs typeface="Arial"/>
              </a:defRPr>
            </a:lvl3pPr>
            <a:lvl4pPr algn="l">
              <a:defRPr sz="2175" b="1">
                <a:solidFill>
                  <a:srgbClr val="161616"/>
                </a:solidFill>
                <a:latin typeface="Arial"/>
                <a:ea typeface="Arial"/>
                <a:cs typeface="Arial"/>
              </a:defRPr>
            </a:lvl4pPr>
            <a:lvl5pPr algn="l">
              <a:defRPr sz="2175" b="1">
                <a:solidFill>
                  <a:srgbClr val="161616"/>
                </a:solidFill>
                <a:latin typeface="Arial"/>
                <a:ea typeface="Arial"/>
                <a:cs typeface="Arial"/>
              </a:defRPr>
            </a:lvl5pPr>
            <a:lvl6pPr algn="l">
              <a:defRPr sz="2175" b="1">
                <a:solidFill>
                  <a:srgbClr val="161616"/>
                </a:solidFill>
                <a:latin typeface="Arial"/>
                <a:ea typeface="Arial"/>
                <a:cs typeface="Arial"/>
              </a:defRPr>
            </a:lvl6pPr>
            <a:lvl7pPr algn="l">
              <a:defRPr sz="2175" b="1">
                <a:solidFill>
                  <a:srgbClr val="161616"/>
                </a:solidFill>
                <a:latin typeface="Arial"/>
                <a:ea typeface="Arial"/>
                <a:cs typeface="Arial"/>
              </a:defRPr>
            </a:lvl7pPr>
            <a:lvl8pPr algn="l">
              <a:defRPr sz="2175" b="1">
                <a:solidFill>
                  <a:srgbClr val="161616"/>
                </a:solidFill>
                <a:latin typeface="Arial"/>
                <a:ea typeface="Arial"/>
                <a:cs typeface="Arial"/>
              </a:defRPr>
            </a:lvl8pPr>
            <a:lvl9pPr algn="l">
              <a:defRPr sz="2175" b="1">
                <a:solidFill>
                  <a:srgbClr val="161616"/>
                </a:solidFill>
                <a:latin typeface="Arial"/>
                <a:ea typeface="Arial"/>
                <a:cs typeface="Arial"/>
              </a:defRPr>
            </a:lvl9pPr>
          </a:lstStyle>
          <a:p xmlns:a="http://schemas.openxmlformats.org/drawingml/2006/main">
            <a:pPr algn="l">
              <a:defRPr sz="2175" b="1">
                <a:solidFill>
                  <a:srgbClr val="161616"/>
                </a:solidFill>
                <a:latin typeface="Arial"/>
                <a:ea typeface="Arial"/>
                <a:cs typeface="Arial"/>
              </a:defRPr>
            </a:pPr>
            <a:r>
              <a:rPr sz="2175" b="1">
                <a:solidFill>
                  <a:srgbClr val="161616"/>
                </a:solidFill>
                <a:latin typeface="Arial"/>
                <a:ea typeface="Arial"/>
                <a:cs typeface="Arial"/>
              </a:rPr>
              <a:t>A qubit stores quantum information. A gate changes it. Noise makes gates imperfect.</a:t>
            </a:r>
          </a:p>
        </p:txBody>
      </p:sp>
      <p:sp>
        <p:nvSpPr>
          <p:cNvPr id="4" name="">
            <a:extLst xmlns:a="http://schemas.openxmlformats.org/drawingml/2006/main">
              <a:ext uri="{FF2B5EF4-FFF2-40B4-BE49-F238E27FC236}">
                <a16:creationId xmlns:a16="http://schemas.microsoft.com/office/drawing/2014/main" id="{3F39271C-662E-44E0-B61E-598018E709C5}"/>
              </a:ext>
            </a:extLst>
          </p:cNvPr>
          <p:cNvSpPr>
            <a:spLocks xmlns:a="http://schemas.openxmlformats.org/drawingml/2006/main" noGrp="1"/>
          </p:cNvSpPr>
          <p:nvPr/>
        </p:nvSpPr>
        <p:spPr>
          <a:xfrm xmlns:a="http://schemas.openxmlformats.org/drawingml/2006/main">
            <a:off x="685800" y="2857500"/>
            <a:ext cx="1952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QUBIT</a:t>
            </a:r>
          </a:p>
        </p:txBody>
      </p:sp>
      <p:sp>
        <p:nvSpPr>
          <p:cNvPr id="5" name="">
            <a:extLst xmlns:a="http://schemas.openxmlformats.org/drawingml/2006/main">
              <a:ext uri="{FF2B5EF4-FFF2-40B4-BE49-F238E27FC236}">
                <a16:creationId xmlns:a16="http://schemas.microsoft.com/office/drawing/2014/main" id="{ACCBCF4C-3878-47AD-A30C-1DB28F0373B9}"/>
              </a:ext>
            </a:extLst>
          </p:cNvPr>
          <p:cNvSpPr>
            <a:spLocks xmlns:a="http://schemas.openxmlformats.org/drawingml/2006/main" noGrp="1"/>
          </p:cNvSpPr>
          <p:nvPr/>
        </p:nvSpPr>
        <p:spPr>
          <a:xfrm xmlns:a="http://schemas.openxmlformats.org/drawingml/2006/main">
            <a:off x="685800" y="3219450"/>
            <a:ext cx="2628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The quantum version of a bit.</a:t>
            </a:r>
          </a:p>
        </p:txBody>
      </p:sp>
      <p:sp>
        <p:nvSpPr>
          <p:cNvPr id="6" name="">
            <a:extLst xmlns:a="http://schemas.openxmlformats.org/drawingml/2006/main">
              <a:ext uri="{FF2B5EF4-FFF2-40B4-BE49-F238E27FC236}">
                <a16:creationId xmlns:a16="http://schemas.microsoft.com/office/drawing/2014/main" id="{09C34E20-C5E6-4DEC-95BC-D65070B4D245}"/>
              </a:ext>
            </a:extLst>
          </p:cNvPr>
          <p:cNvSpPr>
            <a:spLocks xmlns:a="http://schemas.openxmlformats.org/drawingml/2006/main" noGrp="1"/>
          </p:cNvSpPr>
          <p:nvPr/>
        </p:nvSpPr>
        <p:spPr>
          <a:xfrm xmlns:a="http://schemas.openxmlformats.org/drawingml/2006/main">
            <a:off x="4095750" y="2857500"/>
            <a:ext cx="1952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GATE</a:t>
            </a:r>
          </a:p>
        </p:txBody>
      </p:sp>
      <p:sp>
        <p:nvSpPr>
          <p:cNvPr id="7" name="">
            <a:extLst xmlns:a="http://schemas.openxmlformats.org/drawingml/2006/main">
              <a:ext uri="{FF2B5EF4-FFF2-40B4-BE49-F238E27FC236}">
                <a16:creationId xmlns:a16="http://schemas.microsoft.com/office/drawing/2014/main" id="{1C0E8B84-F160-46B5-A551-CDB604CA78E4}"/>
              </a:ext>
            </a:extLst>
          </p:cNvPr>
          <p:cNvSpPr>
            <a:spLocks xmlns:a="http://schemas.openxmlformats.org/drawingml/2006/main" noGrp="1"/>
          </p:cNvSpPr>
          <p:nvPr/>
        </p:nvSpPr>
        <p:spPr>
          <a:xfrm xmlns:a="http://schemas.openxmlformats.org/drawingml/2006/main">
            <a:off x="4095750" y="321945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An operation applied to one or more qubits.</a:t>
            </a:r>
          </a:p>
        </p:txBody>
      </p:sp>
      <p:sp>
        <p:nvSpPr>
          <p:cNvPr id="8" name="">
            <a:extLst xmlns:a="http://schemas.openxmlformats.org/drawingml/2006/main">
              <a:ext uri="{FF2B5EF4-FFF2-40B4-BE49-F238E27FC236}">
                <a16:creationId xmlns:a16="http://schemas.microsoft.com/office/drawing/2014/main" id="{B6A8B645-B151-4795-AAA8-23BFB17DF999}"/>
              </a:ext>
            </a:extLst>
          </p:cNvPr>
          <p:cNvSpPr>
            <a:spLocks xmlns:a="http://schemas.openxmlformats.org/drawingml/2006/main" noGrp="1"/>
          </p:cNvSpPr>
          <p:nvPr/>
        </p:nvSpPr>
        <p:spPr>
          <a:xfrm xmlns:a="http://schemas.openxmlformats.org/drawingml/2006/main">
            <a:off x="7810500" y="2857500"/>
            <a:ext cx="1952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NOISE</a:t>
            </a:r>
          </a:p>
        </p:txBody>
      </p:sp>
      <p:sp>
        <p:nvSpPr>
          <p:cNvPr id="9" name="">
            <a:extLst xmlns:a="http://schemas.openxmlformats.org/drawingml/2006/main">
              <a:ext uri="{FF2B5EF4-FFF2-40B4-BE49-F238E27FC236}">
                <a16:creationId xmlns:a16="http://schemas.microsoft.com/office/drawing/2014/main" id="{64D3210B-6C0A-4AB8-AE9D-8892F13B7958}"/>
              </a:ext>
            </a:extLst>
          </p:cNvPr>
          <p:cNvSpPr>
            <a:spLocks xmlns:a="http://schemas.openxmlformats.org/drawingml/2006/main" noGrp="1"/>
          </p:cNvSpPr>
          <p:nvPr/>
        </p:nvSpPr>
        <p:spPr>
          <a:xfrm xmlns:a="http://schemas.openxmlformats.org/drawingml/2006/main">
            <a:off x="7810500" y="3219450"/>
            <a:ext cx="3095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 small unwanted change during an operation.</a:t>
            </a:r>
          </a:p>
        </p:txBody>
      </p:sp>
      <p:sp>
        <p:nvSpPr>
          <p:cNvPr id="10" name="">
            <a:extLst xmlns:a="http://schemas.openxmlformats.org/drawingml/2006/main">
              <a:ext uri="{FF2B5EF4-FFF2-40B4-BE49-F238E27FC236}">
                <a16:creationId xmlns:a16="http://schemas.microsoft.com/office/drawing/2014/main" id="{5DA512F3-4680-4C55-92C6-41FFC508C61C}"/>
              </a:ext>
            </a:extLst>
          </p:cNvPr>
          <p:cNvSpPr>
            <a:spLocks xmlns:a="http://schemas.openxmlformats.org/drawingml/2006/main" noGrp="1"/>
          </p:cNvSpPr>
          <p:nvPr/>
        </p:nvSpPr>
        <p:spPr>
          <a:xfrm xmlns:a="http://schemas.openxmlformats.org/drawingml/2006/main">
            <a:off x="685800" y="495300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25252"/>
                </a:solidFill>
                <a:latin typeface="Arial"/>
                <a:ea typeface="Arial"/>
                <a:cs typeface="Arial"/>
              </a:defRPr>
            </a:defPPr>
            <a:lvl1pPr algn="l">
              <a:defRPr sz="1800" b="0">
                <a:solidFill>
                  <a:srgbClr val="525252"/>
                </a:solidFill>
                <a:latin typeface="Arial"/>
                <a:ea typeface="Arial"/>
                <a:cs typeface="Arial"/>
              </a:defRPr>
            </a:lvl1pPr>
            <a:lvl2pPr algn="l">
              <a:defRPr sz="1800" b="0">
                <a:solidFill>
                  <a:srgbClr val="525252"/>
                </a:solidFill>
                <a:latin typeface="Arial"/>
                <a:ea typeface="Arial"/>
                <a:cs typeface="Arial"/>
              </a:defRPr>
            </a:lvl2pPr>
            <a:lvl3pPr algn="l">
              <a:defRPr sz="1800" b="0">
                <a:solidFill>
                  <a:srgbClr val="525252"/>
                </a:solidFill>
                <a:latin typeface="Arial"/>
                <a:ea typeface="Arial"/>
                <a:cs typeface="Arial"/>
              </a:defRPr>
            </a:lvl3pPr>
            <a:lvl4pPr algn="l">
              <a:defRPr sz="1800" b="0">
                <a:solidFill>
                  <a:srgbClr val="525252"/>
                </a:solidFill>
                <a:latin typeface="Arial"/>
                <a:ea typeface="Arial"/>
                <a:cs typeface="Arial"/>
              </a:defRPr>
            </a:lvl4pPr>
            <a:lvl5pPr algn="l">
              <a:defRPr sz="1800" b="0">
                <a:solidFill>
                  <a:srgbClr val="525252"/>
                </a:solidFill>
                <a:latin typeface="Arial"/>
                <a:ea typeface="Arial"/>
                <a:cs typeface="Arial"/>
              </a:defRPr>
            </a:lvl5pPr>
            <a:lvl6pPr algn="l">
              <a:defRPr sz="1800" b="0">
                <a:solidFill>
                  <a:srgbClr val="525252"/>
                </a:solidFill>
                <a:latin typeface="Arial"/>
                <a:ea typeface="Arial"/>
                <a:cs typeface="Arial"/>
              </a:defRPr>
            </a:lvl6pPr>
            <a:lvl7pPr algn="l">
              <a:defRPr sz="1800" b="0">
                <a:solidFill>
                  <a:srgbClr val="525252"/>
                </a:solidFill>
                <a:latin typeface="Arial"/>
                <a:ea typeface="Arial"/>
                <a:cs typeface="Arial"/>
              </a:defRPr>
            </a:lvl7pPr>
            <a:lvl8pPr algn="l">
              <a:defRPr sz="1800" b="0">
                <a:solidFill>
                  <a:srgbClr val="525252"/>
                </a:solidFill>
                <a:latin typeface="Arial"/>
                <a:ea typeface="Arial"/>
                <a:cs typeface="Arial"/>
              </a:defRPr>
            </a:lvl8pPr>
            <a:lvl9pPr algn="l">
              <a:defRPr sz="1800" b="0">
                <a:solidFill>
                  <a:srgbClr val="525252"/>
                </a:solidFill>
                <a:latin typeface="Arial"/>
                <a:ea typeface="Arial"/>
                <a:cs typeface="Arial"/>
              </a:defRPr>
            </a:lvl9pPr>
          </a:lstStyle>
          <a:p xmlns:a="http://schemas.openxmlformats.org/drawingml/2006/main">
            <a:pPr algn="l">
              <a:defRPr sz="1800" b="0">
                <a:solidFill>
                  <a:srgbClr val="525252"/>
                </a:solidFill>
                <a:latin typeface="Arial"/>
                <a:ea typeface="Arial"/>
                <a:cs typeface="Arial"/>
              </a:defRPr>
            </a:pPr>
            <a:r>
              <a:rPr sz="1800" b="0">
                <a:solidFill>
                  <a:srgbClr val="525252"/>
                </a:solidFill>
                <a:latin typeface="Arial"/>
                <a:ea typeface="Arial"/>
                <a:cs typeface="Arial"/>
              </a:rPr>
              <a:t>We repeat the same calculation many times and compare the average result with an ideal reference.</a:t>
            </a:r>
          </a:p>
        </p:txBody>
      </p:sp>
    </p:spTree>
    <p:extLst>
      <p:ext uri="{BB962C8B-B14F-4D97-AF65-F5344CB8AC3E}">
        <p14:creationId xmlns:p14="http://schemas.microsoft.com/office/powerpoint/2010/main" val="16976361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842D75A-F2E7-4615-8629-BB7E5693EA7E}"/>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3C2E7615-2D0B-4446-8FC2-E8CD24394FA8}"/>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The experiment</a:t>
            </a:r>
          </a:p>
        </p:txBody>
      </p:sp>
      <p:sp>
        <p:nvSpPr>
          <p:cNvPr id="3" name="">
            <a:extLst xmlns:a="http://schemas.openxmlformats.org/drawingml/2006/main">
              <a:ext uri="{FF2B5EF4-FFF2-40B4-BE49-F238E27FC236}">
                <a16:creationId xmlns:a16="http://schemas.microsoft.com/office/drawing/2014/main" id="{A4C34D37-4954-403B-93FE-56AAFF18279D}"/>
              </a:ext>
            </a:extLst>
          </p:cNvPr>
          <p:cNvSpPr>
            <a:spLocks xmlns:a="http://schemas.openxmlformats.org/drawingml/2006/main" noGrp="1"/>
          </p:cNvSpPr>
          <p:nvPr/>
        </p:nvSpPr>
        <p:spPr>
          <a:xfrm xmlns:a="http://schemas.openxmlformats.org/drawingml/2006/main">
            <a:off x="685800" y="1781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Circuit</a:t>
            </a:r>
          </a:p>
        </p:txBody>
      </p:sp>
      <p:sp>
        <p:nvSpPr>
          <p:cNvPr id="4" name="">
            <a:extLst xmlns:a="http://schemas.openxmlformats.org/drawingml/2006/main">
              <a:ext uri="{FF2B5EF4-FFF2-40B4-BE49-F238E27FC236}">
                <a16:creationId xmlns:a16="http://schemas.microsoft.com/office/drawing/2014/main" id="{5A6D0FDF-C15F-4B61-B40B-FD8833BB4288}"/>
              </a:ext>
            </a:extLst>
          </p:cNvPr>
          <p:cNvSpPr>
            <a:spLocks xmlns:a="http://schemas.openxmlformats.org/drawingml/2006/main" noGrp="1"/>
          </p:cNvSpPr>
          <p:nvPr/>
        </p:nvSpPr>
        <p:spPr>
          <a:xfrm xmlns:a="http://schemas.openxmlformats.org/drawingml/2006/main">
            <a:off x="685800" y="215265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161616"/>
                </a:solidFill>
                <a:latin typeface="Arial"/>
                <a:ea typeface="Arial"/>
                <a:cs typeface="Arial"/>
              </a:defRPr>
            </a:defPPr>
            <a:lvl1pPr algn="l">
              <a:defRPr sz="1950" b="0">
                <a:solidFill>
                  <a:srgbClr val="161616"/>
                </a:solidFill>
                <a:latin typeface="Arial"/>
                <a:ea typeface="Arial"/>
                <a:cs typeface="Arial"/>
              </a:defRPr>
            </a:lvl1pPr>
            <a:lvl2pPr algn="l">
              <a:defRPr sz="1950" b="0">
                <a:solidFill>
                  <a:srgbClr val="161616"/>
                </a:solidFill>
                <a:latin typeface="Arial"/>
                <a:ea typeface="Arial"/>
                <a:cs typeface="Arial"/>
              </a:defRPr>
            </a:lvl2pPr>
            <a:lvl3pPr algn="l">
              <a:defRPr sz="1950" b="0">
                <a:solidFill>
                  <a:srgbClr val="161616"/>
                </a:solidFill>
                <a:latin typeface="Arial"/>
                <a:ea typeface="Arial"/>
                <a:cs typeface="Arial"/>
              </a:defRPr>
            </a:lvl3pPr>
            <a:lvl4pPr algn="l">
              <a:defRPr sz="1950" b="0">
                <a:solidFill>
                  <a:srgbClr val="161616"/>
                </a:solidFill>
                <a:latin typeface="Arial"/>
                <a:ea typeface="Arial"/>
                <a:cs typeface="Arial"/>
              </a:defRPr>
            </a:lvl4pPr>
            <a:lvl5pPr algn="l">
              <a:defRPr sz="1950" b="0">
                <a:solidFill>
                  <a:srgbClr val="161616"/>
                </a:solidFill>
                <a:latin typeface="Arial"/>
                <a:ea typeface="Arial"/>
                <a:cs typeface="Arial"/>
              </a:defRPr>
            </a:lvl5pPr>
            <a:lvl6pPr algn="l">
              <a:defRPr sz="1950" b="0">
                <a:solidFill>
                  <a:srgbClr val="161616"/>
                </a:solidFill>
                <a:latin typeface="Arial"/>
                <a:ea typeface="Arial"/>
                <a:cs typeface="Arial"/>
              </a:defRPr>
            </a:lvl6pPr>
            <a:lvl7pPr algn="l">
              <a:defRPr sz="1950" b="0">
                <a:solidFill>
                  <a:srgbClr val="161616"/>
                </a:solidFill>
                <a:latin typeface="Arial"/>
                <a:ea typeface="Arial"/>
                <a:cs typeface="Arial"/>
              </a:defRPr>
            </a:lvl7pPr>
            <a:lvl8pPr algn="l">
              <a:defRPr sz="1950" b="0">
                <a:solidFill>
                  <a:srgbClr val="161616"/>
                </a:solidFill>
                <a:latin typeface="Arial"/>
                <a:ea typeface="Arial"/>
                <a:cs typeface="Arial"/>
              </a:defRPr>
            </a:lvl8pPr>
            <a:lvl9pPr algn="l">
              <a:defRPr sz="1950" b="0">
                <a:solidFill>
                  <a:srgbClr val="161616"/>
                </a:solidFill>
                <a:latin typeface="Arial"/>
                <a:ea typeface="Arial"/>
                <a:cs typeface="Arial"/>
              </a:defRPr>
            </a:lvl9pPr>
          </a:lstStyle>
          <a:p xmlns:a="http://schemas.openxmlformats.org/drawingml/2006/main">
            <a:pPr algn="l">
              <a:defRPr sz="1950" b="0">
                <a:solidFill>
                  <a:srgbClr val="161616"/>
                </a:solidFill>
                <a:latin typeface="Arial"/>
                <a:ea typeface="Arial"/>
                <a:cs typeface="Arial"/>
              </a:defRPr>
            </a:pPr>
            <a:r>
              <a:rPr sz="1950" b="0">
                <a:solidFill>
                  <a:srgbClr val="161616"/>
                </a:solidFill>
                <a:latin typeface="Arial"/>
                <a:ea typeface="Arial"/>
                <a:cs typeface="Arial"/>
              </a:rPr>
              <a:t>5 qubits in a chain, with 8 CZ entangling gates.</a:t>
            </a:r>
          </a:p>
        </p:txBody>
      </p:sp>
      <p:sp>
        <p:nvSpPr>
          <p:cNvPr id="5" name="">
            <a:extLst xmlns:a="http://schemas.openxmlformats.org/drawingml/2006/main">
              <a:ext uri="{FF2B5EF4-FFF2-40B4-BE49-F238E27FC236}">
                <a16:creationId xmlns:a16="http://schemas.microsoft.com/office/drawing/2014/main" id="{C22C6B21-3D7F-4F75-AC6E-AA1BA5B77E55}"/>
              </a:ext>
            </a:extLst>
          </p:cNvPr>
          <p:cNvSpPr>
            <a:spLocks xmlns:a="http://schemas.openxmlformats.org/drawingml/2006/main" noGrp="1"/>
          </p:cNvSpPr>
          <p:nvPr/>
        </p:nvSpPr>
        <p:spPr>
          <a:xfrm xmlns:a="http://schemas.openxmlformats.org/drawingml/2006/main">
            <a:off x="6381750" y="178117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Measurement</a:t>
            </a:r>
          </a:p>
        </p:txBody>
      </p:sp>
      <p:sp>
        <p:nvSpPr>
          <p:cNvPr id="6" name="">
            <a:extLst xmlns:a="http://schemas.openxmlformats.org/drawingml/2006/main">
              <a:ext uri="{FF2B5EF4-FFF2-40B4-BE49-F238E27FC236}">
                <a16:creationId xmlns:a16="http://schemas.microsoft.com/office/drawing/2014/main" id="{8ED2DD18-DE9B-41C4-8958-C403A0995506}"/>
              </a:ext>
            </a:extLst>
          </p:cNvPr>
          <p:cNvSpPr>
            <a:spLocks xmlns:a="http://schemas.openxmlformats.org/drawingml/2006/main" noGrp="1"/>
          </p:cNvSpPr>
          <p:nvPr/>
        </p:nvSpPr>
        <p:spPr>
          <a:xfrm xmlns:a="http://schemas.openxmlformats.org/drawingml/2006/main">
            <a:off x="6381750" y="2152650"/>
            <a:ext cx="4762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Average X value of the center qubit, estimated with Qiskit’s Estimator primitive.</a:t>
            </a:r>
          </a:p>
        </p:txBody>
      </p:sp>
      <p:sp>
        <p:nvSpPr>
          <p:cNvPr id="7" name="">
            <a:extLst xmlns:a="http://schemas.openxmlformats.org/drawingml/2006/main">
              <a:ext uri="{FF2B5EF4-FFF2-40B4-BE49-F238E27FC236}">
                <a16:creationId xmlns:a16="http://schemas.microsoft.com/office/drawing/2014/main" id="{BC306807-284C-4EE3-A55A-28ED66C7F4AA}"/>
              </a:ext>
            </a:extLst>
          </p:cNvPr>
          <p:cNvSpPr>
            <a:spLocks xmlns:a="http://schemas.openxmlformats.org/drawingml/2006/main" noGrp="1"/>
          </p:cNvSpPr>
          <p:nvPr/>
        </p:nvSpPr>
        <p:spPr>
          <a:xfrm xmlns:a="http://schemas.openxmlformats.org/drawingml/2006/main">
            <a:off x="685800" y="34766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Comparison</a:t>
            </a:r>
          </a:p>
        </p:txBody>
      </p:sp>
      <p:sp>
        <p:nvSpPr>
          <p:cNvPr id="8" name="">
            <a:extLst xmlns:a="http://schemas.openxmlformats.org/drawingml/2006/main">
              <a:ext uri="{FF2B5EF4-FFF2-40B4-BE49-F238E27FC236}">
                <a16:creationId xmlns:a16="http://schemas.microsoft.com/office/drawing/2014/main" id="{BE578C18-6540-48AE-9149-0F395252F978}"/>
              </a:ext>
            </a:extLst>
          </p:cNvPr>
          <p:cNvSpPr>
            <a:spLocks xmlns:a="http://schemas.openxmlformats.org/drawingml/2006/main" noGrp="1"/>
          </p:cNvSpPr>
          <p:nvPr/>
        </p:nvSpPr>
        <p:spPr>
          <a:xfrm xmlns:a="http://schemas.openxmlformats.org/drawingml/2006/main">
            <a:off x="685800" y="3848100"/>
            <a:ext cx="4762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Ideal simulation vs. simulated noisy circuit, then full PNA vs. SLC-selected PNA.</a:t>
            </a:r>
          </a:p>
        </p:txBody>
      </p:sp>
      <p:sp>
        <p:nvSpPr>
          <p:cNvPr id="9" name="">
            <a:extLst xmlns:a="http://schemas.openxmlformats.org/drawingml/2006/main">
              <a:ext uri="{FF2B5EF4-FFF2-40B4-BE49-F238E27FC236}">
                <a16:creationId xmlns:a16="http://schemas.microsoft.com/office/drawing/2014/main" id="{39F6B1BF-A17A-4ACA-B8BB-DF971A708A88}"/>
              </a:ext>
            </a:extLst>
          </p:cNvPr>
          <p:cNvSpPr>
            <a:spLocks xmlns:a="http://schemas.openxmlformats.org/drawingml/2006/main" noGrp="1"/>
          </p:cNvSpPr>
          <p:nvPr/>
        </p:nvSpPr>
        <p:spPr>
          <a:xfrm xmlns:a="http://schemas.openxmlformats.org/drawingml/2006/main">
            <a:off x="6381750" y="347662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Noise levels</a:t>
            </a:r>
          </a:p>
        </p:txBody>
      </p:sp>
      <p:sp>
        <p:nvSpPr>
          <p:cNvPr id="10" name="">
            <a:extLst xmlns:a="http://schemas.openxmlformats.org/drawingml/2006/main">
              <a:ext uri="{FF2B5EF4-FFF2-40B4-BE49-F238E27FC236}">
                <a16:creationId xmlns:a16="http://schemas.microsoft.com/office/drawing/2014/main" id="{DABD3828-15D6-4C15-91D5-07EF0C828121}"/>
              </a:ext>
            </a:extLst>
          </p:cNvPr>
          <p:cNvSpPr>
            <a:spLocks xmlns:a="http://schemas.openxmlformats.org/drawingml/2006/main" noGrp="1"/>
          </p:cNvSpPr>
          <p:nvPr/>
        </p:nvSpPr>
        <p:spPr>
          <a:xfrm xmlns:a="http://schemas.openxmlformats.org/drawingml/2006/main">
            <a:off x="6381750" y="3848100"/>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0.5×, 1× and 2× the same modeled error rates.</a:t>
            </a:r>
          </a:p>
        </p:txBody>
      </p:sp>
      <p:sp>
        <p:nvSpPr>
          <p:cNvPr id="11" name="">
            <a:extLst xmlns:a="http://schemas.openxmlformats.org/drawingml/2006/main">
              <a:ext uri="{FF2B5EF4-FFF2-40B4-BE49-F238E27FC236}">
                <a16:creationId xmlns:a16="http://schemas.microsoft.com/office/drawing/2014/main" id="{41E7006F-6204-4B41-AC7B-848B4BB38E13}"/>
              </a:ext>
            </a:extLst>
          </p:cNvPr>
          <p:cNvSpPr>
            <a:spLocks xmlns:a="http://schemas.openxmlformats.org/drawingml/2006/main" noGrp="1"/>
          </p:cNvSpPr>
          <p:nvPr/>
        </p:nvSpPr>
        <p:spPr>
          <a:xfrm xmlns:a="http://schemas.openxmlformats.org/drawingml/2006/main">
            <a:off x="685800" y="5372100"/>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25252"/>
                </a:solidFill>
                <a:latin typeface="Arial"/>
                <a:ea typeface="Arial"/>
                <a:cs typeface="Arial"/>
              </a:defRPr>
            </a:defPPr>
            <a:lvl1pPr algn="l">
              <a:defRPr sz="1575" b="0">
                <a:solidFill>
                  <a:srgbClr val="525252"/>
                </a:solidFill>
                <a:latin typeface="Arial"/>
                <a:ea typeface="Arial"/>
                <a:cs typeface="Arial"/>
              </a:defRPr>
            </a:lvl1pPr>
            <a:lvl2pPr algn="l">
              <a:defRPr sz="1575" b="0">
                <a:solidFill>
                  <a:srgbClr val="525252"/>
                </a:solidFill>
                <a:latin typeface="Arial"/>
                <a:ea typeface="Arial"/>
                <a:cs typeface="Arial"/>
              </a:defRPr>
            </a:lvl2pPr>
            <a:lvl3pPr algn="l">
              <a:defRPr sz="1575" b="0">
                <a:solidFill>
                  <a:srgbClr val="525252"/>
                </a:solidFill>
                <a:latin typeface="Arial"/>
                <a:ea typeface="Arial"/>
                <a:cs typeface="Arial"/>
              </a:defRPr>
            </a:lvl3pPr>
            <a:lvl4pPr algn="l">
              <a:defRPr sz="1575" b="0">
                <a:solidFill>
                  <a:srgbClr val="525252"/>
                </a:solidFill>
                <a:latin typeface="Arial"/>
                <a:ea typeface="Arial"/>
                <a:cs typeface="Arial"/>
              </a:defRPr>
            </a:lvl4pPr>
            <a:lvl5pPr algn="l">
              <a:defRPr sz="1575" b="0">
                <a:solidFill>
                  <a:srgbClr val="525252"/>
                </a:solidFill>
                <a:latin typeface="Arial"/>
                <a:ea typeface="Arial"/>
                <a:cs typeface="Arial"/>
              </a:defRPr>
            </a:lvl5pPr>
            <a:lvl6pPr algn="l">
              <a:defRPr sz="1575" b="0">
                <a:solidFill>
                  <a:srgbClr val="525252"/>
                </a:solidFill>
                <a:latin typeface="Arial"/>
                <a:ea typeface="Arial"/>
                <a:cs typeface="Arial"/>
              </a:defRPr>
            </a:lvl6pPr>
            <a:lvl7pPr algn="l">
              <a:defRPr sz="1575" b="0">
                <a:solidFill>
                  <a:srgbClr val="525252"/>
                </a:solidFill>
                <a:latin typeface="Arial"/>
                <a:ea typeface="Arial"/>
                <a:cs typeface="Arial"/>
              </a:defRPr>
            </a:lvl7pPr>
            <a:lvl8pPr algn="l">
              <a:defRPr sz="1575" b="0">
                <a:solidFill>
                  <a:srgbClr val="525252"/>
                </a:solidFill>
                <a:latin typeface="Arial"/>
                <a:ea typeface="Arial"/>
                <a:cs typeface="Arial"/>
              </a:defRPr>
            </a:lvl8pPr>
            <a:lvl9pPr algn="l">
              <a:defRPr sz="1575" b="0">
                <a:solidFill>
                  <a:srgbClr val="525252"/>
                </a:solidFill>
                <a:latin typeface="Arial"/>
                <a:ea typeface="Arial"/>
                <a:cs typeface="Arial"/>
              </a:defRPr>
            </a:lvl9pPr>
          </a:lstStyle>
          <a:p xmlns:a="http://schemas.openxmlformats.org/drawingml/2006/main">
            <a:pPr algn="l">
              <a:defRPr sz="1575" b="0">
                <a:solidFill>
                  <a:srgbClr val="525252"/>
                </a:solidFill>
                <a:latin typeface="Arial"/>
                <a:ea typeface="Arial"/>
                <a:cs typeface="Arial"/>
              </a:defRPr>
            </a:pPr>
            <a:r>
              <a:rPr sz="1575" b="0">
                <a:solidFill>
                  <a:srgbClr val="525252"/>
                </a:solidFill>
                <a:latin typeface="Arial"/>
                <a:ea typeface="Arial"/>
                <a:cs typeface="Arial"/>
              </a:rPr>
              <a:t>State fidelity is calculated directly from the simulator’s density matrix.</a:t>
            </a:r>
          </a:p>
        </p:txBody>
      </p:sp>
    </p:spTree>
    <p:extLst>
      <p:ext uri="{BB962C8B-B14F-4D97-AF65-F5344CB8AC3E}">
        <p14:creationId xmlns:p14="http://schemas.microsoft.com/office/powerpoint/2010/main" val="10652406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1E66A6-4E1D-40F0-AFB3-C16D0F1B13B7}"/>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8A1579B3-2844-471A-AEF8-3E646ED35581}"/>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How the tools fit together</a:t>
            </a:r>
          </a:p>
        </p:txBody>
      </p:sp>
      <p:sp>
        <p:nvSpPr>
          <p:cNvPr id="3" name="">
            <a:extLst xmlns:a="http://schemas.openxmlformats.org/drawingml/2006/main">
              <a:ext uri="{FF2B5EF4-FFF2-40B4-BE49-F238E27FC236}">
                <a16:creationId xmlns:a16="http://schemas.microsoft.com/office/drawing/2014/main" id="{3F8BC7C5-BC13-462B-8979-57B5709FCA7B}"/>
              </a:ext>
            </a:extLst>
          </p:cNvPr>
          <p:cNvSpPr>
            <a:spLocks xmlns:a="http://schemas.openxmlformats.org/drawingml/2006/main" noGrp="1"/>
          </p:cNvSpPr>
          <p:nvPr/>
        </p:nvSpPr>
        <p:spPr>
          <a:xfrm xmlns:a="http://schemas.openxmlformats.org/drawingml/2006/main">
            <a:off x="685800" y="17526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F62FE"/>
                </a:solidFill>
                <a:latin typeface="Arial"/>
                <a:ea typeface="Arial"/>
                <a:cs typeface="Arial"/>
              </a:defRPr>
            </a:defPPr>
            <a:lvl1pPr algn="l">
              <a:defRPr sz="1875" b="1">
                <a:solidFill>
                  <a:srgbClr val="0F62FE"/>
                </a:solidFill>
                <a:latin typeface="Arial"/>
                <a:ea typeface="Arial"/>
                <a:cs typeface="Arial"/>
              </a:defRPr>
            </a:lvl1pPr>
            <a:lvl2pPr algn="l">
              <a:defRPr sz="1875" b="1">
                <a:solidFill>
                  <a:srgbClr val="0F62FE"/>
                </a:solidFill>
                <a:latin typeface="Arial"/>
                <a:ea typeface="Arial"/>
                <a:cs typeface="Arial"/>
              </a:defRPr>
            </a:lvl2pPr>
            <a:lvl3pPr algn="l">
              <a:defRPr sz="1875" b="1">
                <a:solidFill>
                  <a:srgbClr val="0F62FE"/>
                </a:solidFill>
                <a:latin typeface="Arial"/>
                <a:ea typeface="Arial"/>
                <a:cs typeface="Arial"/>
              </a:defRPr>
            </a:lvl3pPr>
            <a:lvl4pPr algn="l">
              <a:defRPr sz="1875" b="1">
                <a:solidFill>
                  <a:srgbClr val="0F62FE"/>
                </a:solidFill>
                <a:latin typeface="Arial"/>
                <a:ea typeface="Arial"/>
                <a:cs typeface="Arial"/>
              </a:defRPr>
            </a:lvl4pPr>
            <a:lvl5pPr algn="l">
              <a:defRPr sz="1875" b="1">
                <a:solidFill>
                  <a:srgbClr val="0F62FE"/>
                </a:solidFill>
                <a:latin typeface="Arial"/>
                <a:ea typeface="Arial"/>
                <a:cs typeface="Arial"/>
              </a:defRPr>
            </a:lvl5pPr>
            <a:lvl6pPr algn="l">
              <a:defRPr sz="1875" b="1">
                <a:solidFill>
                  <a:srgbClr val="0F62FE"/>
                </a:solidFill>
                <a:latin typeface="Arial"/>
                <a:ea typeface="Arial"/>
                <a:cs typeface="Arial"/>
              </a:defRPr>
            </a:lvl6pPr>
            <a:lvl7pPr algn="l">
              <a:defRPr sz="1875" b="1">
                <a:solidFill>
                  <a:srgbClr val="0F62FE"/>
                </a:solidFill>
                <a:latin typeface="Arial"/>
                <a:ea typeface="Arial"/>
                <a:cs typeface="Arial"/>
              </a:defRPr>
            </a:lvl7pPr>
            <a:lvl8pPr algn="l">
              <a:defRPr sz="1875" b="1">
                <a:solidFill>
                  <a:srgbClr val="0F62FE"/>
                </a:solidFill>
                <a:latin typeface="Arial"/>
                <a:ea typeface="Arial"/>
                <a:cs typeface="Arial"/>
              </a:defRPr>
            </a:lvl8pPr>
            <a:lvl9pPr algn="l">
              <a:defRPr sz="1875" b="1">
                <a:solidFill>
                  <a:srgbClr val="0F62FE"/>
                </a:solidFill>
                <a:latin typeface="Arial"/>
                <a:ea typeface="Arial"/>
                <a:cs typeface="Arial"/>
              </a:defRPr>
            </a:lvl9pPr>
          </a:lstStyle>
          <a:p xmlns:a="http://schemas.openxmlformats.org/drawingml/2006/main">
            <a:pPr algn="l">
              <a:defRPr sz="1875" b="1">
                <a:solidFill>
                  <a:srgbClr val="0F62FE"/>
                </a:solidFill>
                <a:latin typeface="Arial"/>
                <a:ea typeface="Arial"/>
                <a:cs typeface="Arial"/>
              </a:defRPr>
            </a:pPr>
            <a:r>
              <a:rPr sz="1875" b="1">
                <a:solidFill>
                  <a:srgbClr val="0F62FE"/>
                </a:solidFill>
                <a:latin typeface="Arial"/>
                <a:ea typeface="Arial"/>
                <a:cs typeface="Arial"/>
              </a:rPr>
              <a:t>1  Estimate errors</a:t>
            </a:r>
          </a:p>
        </p:txBody>
      </p:sp>
      <p:sp>
        <p:nvSpPr>
          <p:cNvPr id="4" name="">
            <a:extLst xmlns:a="http://schemas.openxmlformats.org/drawingml/2006/main">
              <a:ext uri="{FF2B5EF4-FFF2-40B4-BE49-F238E27FC236}">
                <a16:creationId xmlns:a16="http://schemas.microsoft.com/office/drawing/2014/main" id="{0D6B499D-BBE6-4FA8-B6B0-306951B8A272}"/>
              </a:ext>
            </a:extLst>
          </p:cNvPr>
          <p:cNvSpPr>
            <a:spLocks xmlns:a="http://schemas.openxmlformats.org/drawingml/2006/main" noGrp="1"/>
          </p:cNvSpPr>
          <p:nvPr/>
        </p:nvSpPr>
        <p:spPr>
          <a:xfrm xmlns:a="http://schemas.openxmlformats.org/drawingml/2006/main">
            <a:off x="3714750" y="1752600"/>
            <a:ext cx="742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Use a known, simulated calibration model for this local experiment.</a:t>
            </a:r>
          </a:p>
        </p:txBody>
      </p:sp>
      <p:sp>
        <p:nvSpPr>
          <p:cNvPr id="5" name="">
            <a:extLst xmlns:a="http://schemas.openxmlformats.org/drawingml/2006/main">
              <a:ext uri="{FF2B5EF4-FFF2-40B4-BE49-F238E27FC236}">
                <a16:creationId xmlns:a16="http://schemas.microsoft.com/office/drawing/2014/main" id="{6AF5B9D3-AD14-48A9-A8AB-ACA303C648F3}"/>
              </a:ext>
            </a:extLst>
          </p:cNvPr>
          <p:cNvSpPr>
            <a:spLocks xmlns:a="http://schemas.openxmlformats.org/drawingml/2006/main" noGrp="1"/>
          </p:cNvSpPr>
          <p:nvPr/>
        </p:nvSpPr>
        <p:spPr>
          <a:xfrm xmlns:a="http://schemas.openxmlformats.org/drawingml/2006/main">
            <a:off x="685800" y="240982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09D9A"/>
                </a:solidFill>
                <a:latin typeface="Arial"/>
                <a:ea typeface="Arial"/>
                <a:cs typeface="Arial"/>
              </a:defRPr>
            </a:defPPr>
            <a:lvl1pPr algn="l">
              <a:defRPr sz="1875" b="1">
                <a:solidFill>
                  <a:srgbClr val="009D9A"/>
                </a:solidFill>
                <a:latin typeface="Arial"/>
                <a:ea typeface="Arial"/>
                <a:cs typeface="Arial"/>
              </a:defRPr>
            </a:lvl1pPr>
            <a:lvl2pPr algn="l">
              <a:defRPr sz="1875" b="1">
                <a:solidFill>
                  <a:srgbClr val="009D9A"/>
                </a:solidFill>
                <a:latin typeface="Arial"/>
                <a:ea typeface="Arial"/>
                <a:cs typeface="Arial"/>
              </a:defRPr>
            </a:lvl2pPr>
            <a:lvl3pPr algn="l">
              <a:defRPr sz="1875" b="1">
                <a:solidFill>
                  <a:srgbClr val="009D9A"/>
                </a:solidFill>
                <a:latin typeface="Arial"/>
                <a:ea typeface="Arial"/>
                <a:cs typeface="Arial"/>
              </a:defRPr>
            </a:lvl3pPr>
            <a:lvl4pPr algn="l">
              <a:defRPr sz="1875" b="1">
                <a:solidFill>
                  <a:srgbClr val="009D9A"/>
                </a:solidFill>
                <a:latin typeface="Arial"/>
                <a:ea typeface="Arial"/>
                <a:cs typeface="Arial"/>
              </a:defRPr>
            </a:lvl4pPr>
            <a:lvl5pPr algn="l">
              <a:defRPr sz="1875" b="1">
                <a:solidFill>
                  <a:srgbClr val="009D9A"/>
                </a:solidFill>
                <a:latin typeface="Arial"/>
                <a:ea typeface="Arial"/>
                <a:cs typeface="Arial"/>
              </a:defRPr>
            </a:lvl5pPr>
            <a:lvl6pPr algn="l">
              <a:defRPr sz="1875" b="1">
                <a:solidFill>
                  <a:srgbClr val="009D9A"/>
                </a:solidFill>
                <a:latin typeface="Arial"/>
                <a:ea typeface="Arial"/>
                <a:cs typeface="Arial"/>
              </a:defRPr>
            </a:lvl6pPr>
            <a:lvl7pPr algn="l">
              <a:defRPr sz="1875" b="1">
                <a:solidFill>
                  <a:srgbClr val="009D9A"/>
                </a:solidFill>
                <a:latin typeface="Arial"/>
                <a:ea typeface="Arial"/>
                <a:cs typeface="Arial"/>
              </a:defRPr>
            </a:lvl7pPr>
            <a:lvl8pPr algn="l">
              <a:defRPr sz="1875" b="1">
                <a:solidFill>
                  <a:srgbClr val="009D9A"/>
                </a:solidFill>
                <a:latin typeface="Arial"/>
                <a:ea typeface="Arial"/>
                <a:cs typeface="Arial"/>
              </a:defRPr>
            </a:lvl8pPr>
            <a:lvl9pPr algn="l">
              <a:defRPr sz="1875" b="1">
                <a:solidFill>
                  <a:srgbClr val="009D9A"/>
                </a:solidFill>
                <a:latin typeface="Arial"/>
                <a:ea typeface="Arial"/>
                <a:cs typeface="Arial"/>
              </a:defRPr>
            </a:lvl9pPr>
          </a:lstStyle>
          <a:p xmlns:a="http://schemas.openxmlformats.org/drawingml/2006/main">
            <a:pPr algn="l">
              <a:defRPr sz="1875" b="1">
                <a:solidFill>
                  <a:srgbClr val="009D9A"/>
                </a:solidFill>
                <a:latin typeface="Arial"/>
                <a:ea typeface="Arial"/>
                <a:cs typeface="Arial"/>
              </a:defRPr>
            </a:pPr>
            <a:r>
              <a:rPr sz="1875" b="1">
                <a:solidFill>
                  <a:srgbClr val="009D9A"/>
                </a:solidFill>
                <a:latin typeface="Arial"/>
                <a:ea typeface="Arial"/>
                <a:cs typeface="Arial"/>
              </a:rPr>
              <a:t>2  Focus the work</a:t>
            </a:r>
          </a:p>
        </p:txBody>
      </p:sp>
      <p:sp>
        <p:nvSpPr>
          <p:cNvPr id="6" name="">
            <a:extLst xmlns:a="http://schemas.openxmlformats.org/drawingml/2006/main">
              <a:ext uri="{FF2B5EF4-FFF2-40B4-BE49-F238E27FC236}">
                <a16:creationId xmlns:a16="http://schemas.microsoft.com/office/drawing/2014/main" id="{3F309A19-C9D9-48ED-B0A6-344F65ECFAD3}"/>
              </a:ext>
            </a:extLst>
          </p:cNvPr>
          <p:cNvSpPr>
            <a:spLocks xmlns:a="http://schemas.openxmlformats.org/drawingml/2006/main" noGrp="1"/>
          </p:cNvSpPr>
          <p:nvPr/>
        </p:nvSpPr>
        <p:spPr>
          <a:xfrm xmlns:a="http://schemas.openxmlformats.org/drawingml/2006/main">
            <a:off x="3714750" y="2409825"/>
            <a:ext cx="742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SLC ranks errors by how much they can affect the chosen measurement.</a:t>
            </a:r>
          </a:p>
        </p:txBody>
      </p:sp>
      <p:sp>
        <p:nvSpPr>
          <p:cNvPr id="7" name="">
            <a:extLst xmlns:a="http://schemas.openxmlformats.org/drawingml/2006/main">
              <a:ext uri="{FF2B5EF4-FFF2-40B4-BE49-F238E27FC236}">
                <a16:creationId xmlns:a16="http://schemas.microsoft.com/office/drawing/2014/main" id="{2DCCF861-1C99-4FF2-82B6-BA966B17AD2C}"/>
              </a:ext>
            </a:extLst>
          </p:cNvPr>
          <p:cNvSpPr>
            <a:spLocks xmlns:a="http://schemas.openxmlformats.org/drawingml/2006/main" noGrp="1"/>
          </p:cNvSpPr>
          <p:nvPr/>
        </p:nvSpPr>
        <p:spPr>
          <a:xfrm xmlns:a="http://schemas.openxmlformats.org/drawingml/2006/main">
            <a:off x="685800" y="30670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8A3FFC"/>
                </a:solidFill>
                <a:latin typeface="Arial"/>
                <a:ea typeface="Arial"/>
                <a:cs typeface="Arial"/>
              </a:defRPr>
            </a:defPPr>
            <a:lvl1pPr algn="l">
              <a:defRPr sz="1875" b="1">
                <a:solidFill>
                  <a:srgbClr val="8A3FFC"/>
                </a:solidFill>
                <a:latin typeface="Arial"/>
                <a:ea typeface="Arial"/>
                <a:cs typeface="Arial"/>
              </a:defRPr>
            </a:lvl1pPr>
            <a:lvl2pPr algn="l">
              <a:defRPr sz="1875" b="1">
                <a:solidFill>
                  <a:srgbClr val="8A3FFC"/>
                </a:solidFill>
                <a:latin typeface="Arial"/>
                <a:ea typeface="Arial"/>
                <a:cs typeface="Arial"/>
              </a:defRPr>
            </a:lvl2pPr>
            <a:lvl3pPr algn="l">
              <a:defRPr sz="1875" b="1">
                <a:solidFill>
                  <a:srgbClr val="8A3FFC"/>
                </a:solidFill>
                <a:latin typeface="Arial"/>
                <a:ea typeface="Arial"/>
                <a:cs typeface="Arial"/>
              </a:defRPr>
            </a:lvl3pPr>
            <a:lvl4pPr algn="l">
              <a:defRPr sz="1875" b="1">
                <a:solidFill>
                  <a:srgbClr val="8A3FFC"/>
                </a:solidFill>
                <a:latin typeface="Arial"/>
                <a:ea typeface="Arial"/>
                <a:cs typeface="Arial"/>
              </a:defRPr>
            </a:lvl4pPr>
            <a:lvl5pPr algn="l">
              <a:defRPr sz="1875" b="1">
                <a:solidFill>
                  <a:srgbClr val="8A3FFC"/>
                </a:solidFill>
                <a:latin typeface="Arial"/>
                <a:ea typeface="Arial"/>
                <a:cs typeface="Arial"/>
              </a:defRPr>
            </a:lvl5pPr>
            <a:lvl6pPr algn="l">
              <a:defRPr sz="1875" b="1">
                <a:solidFill>
                  <a:srgbClr val="8A3FFC"/>
                </a:solidFill>
                <a:latin typeface="Arial"/>
                <a:ea typeface="Arial"/>
                <a:cs typeface="Arial"/>
              </a:defRPr>
            </a:lvl6pPr>
            <a:lvl7pPr algn="l">
              <a:defRPr sz="1875" b="1">
                <a:solidFill>
                  <a:srgbClr val="8A3FFC"/>
                </a:solidFill>
                <a:latin typeface="Arial"/>
                <a:ea typeface="Arial"/>
                <a:cs typeface="Arial"/>
              </a:defRPr>
            </a:lvl7pPr>
            <a:lvl8pPr algn="l">
              <a:defRPr sz="1875" b="1">
                <a:solidFill>
                  <a:srgbClr val="8A3FFC"/>
                </a:solidFill>
                <a:latin typeface="Arial"/>
                <a:ea typeface="Arial"/>
                <a:cs typeface="Arial"/>
              </a:defRPr>
            </a:lvl8pPr>
            <a:lvl9pPr algn="l">
              <a:defRPr sz="1875" b="1">
                <a:solidFill>
                  <a:srgbClr val="8A3FFC"/>
                </a:solidFill>
                <a:latin typeface="Arial"/>
                <a:ea typeface="Arial"/>
                <a:cs typeface="Arial"/>
              </a:defRPr>
            </a:lvl9pPr>
          </a:lstStyle>
          <a:p xmlns:a="http://schemas.openxmlformats.org/drawingml/2006/main">
            <a:pPr algn="l">
              <a:defRPr sz="1875" b="1">
                <a:solidFill>
                  <a:srgbClr val="8A3FFC"/>
                </a:solidFill>
                <a:latin typeface="Arial"/>
                <a:ea typeface="Arial"/>
                <a:cs typeface="Arial"/>
              </a:defRPr>
            </a:pPr>
            <a:r>
              <a:rPr sz="1875" b="1">
                <a:solidFill>
                  <a:srgbClr val="8A3FFC"/>
                </a:solidFill>
                <a:latin typeface="Arial"/>
                <a:ea typeface="Arial"/>
                <a:cs typeface="Arial"/>
              </a:rPr>
              <a:t>3  Correct the result</a:t>
            </a:r>
          </a:p>
        </p:txBody>
      </p:sp>
      <p:sp>
        <p:nvSpPr>
          <p:cNvPr id="8" name="">
            <a:extLst xmlns:a="http://schemas.openxmlformats.org/drawingml/2006/main">
              <a:ext uri="{FF2B5EF4-FFF2-40B4-BE49-F238E27FC236}">
                <a16:creationId xmlns:a16="http://schemas.microsoft.com/office/drawing/2014/main" id="{1C517B94-E3E3-4D34-B579-4600AB098A58}"/>
              </a:ext>
            </a:extLst>
          </p:cNvPr>
          <p:cNvSpPr>
            <a:spLocks xmlns:a="http://schemas.openxmlformats.org/drawingml/2006/main" noGrp="1"/>
          </p:cNvSpPr>
          <p:nvPr/>
        </p:nvSpPr>
        <p:spPr>
          <a:xfrm xmlns:a="http://schemas.openxmlformats.org/drawingml/2006/main">
            <a:off x="3714750" y="3067050"/>
            <a:ext cx="742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PNA folds the modeled correction into the measured quantity.</a:t>
            </a:r>
          </a:p>
        </p:txBody>
      </p:sp>
      <p:sp>
        <p:nvSpPr>
          <p:cNvPr id="9" name="">
            <a:extLst xmlns:a="http://schemas.openxmlformats.org/drawingml/2006/main">
              <a:ext uri="{FF2B5EF4-FFF2-40B4-BE49-F238E27FC236}">
                <a16:creationId xmlns:a16="http://schemas.microsoft.com/office/drawing/2014/main" id="{E0FFEBE7-39B0-4903-BA98-D26A54912286}"/>
              </a:ext>
            </a:extLst>
          </p:cNvPr>
          <p:cNvSpPr>
            <a:spLocks xmlns:a="http://schemas.openxmlformats.org/drawingml/2006/main" noGrp="1"/>
          </p:cNvSpPr>
          <p:nvPr/>
        </p:nvSpPr>
        <p:spPr>
          <a:xfrm xmlns:a="http://schemas.openxmlformats.org/drawingml/2006/main">
            <a:off x="685800" y="401955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61616"/>
                </a:solidFill>
                <a:latin typeface="Arial"/>
                <a:ea typeface="Arial"/>
                <a:cs typeface="Arial"/>
              </a:defRPr>
            </a:defPPr>
            <a:lvl1pPr algn="l">
              <a:defRPr sz="1950" b="1">
                <a:solidFill>
                  <a:srgbClr val="161616"/>
                </a:solidFill>
                <a:latin typeface="Arial"/>
                <a:ea typeface="Arial"/>
                <a:cs typeface="Arial"/>
              </a:defRPr>
            </a:lvl1pPr>
            <a:lvl2pPr algn="l">
              <a:defRPr sz="1950" b="1">
                <a:solidFill>
                  <a:srgbClr val="161616"/>
                </a:solidFill>
                <a:latin typeface="Arial"/>
                <a:ea typeface="Arial"/>
                <a:cs typeface="Arial"/>
              </a:defRPr>
            </a:lvl2pPr>
            <a:lvl3pPr algn="l">
              <a:defRPr sz="1950" b="1">
                <a:solidFill>
                  <a:srgbClr val="161616"/>
                </a:solidFill>
                <a:latin typeface="Arial"/>
                <a:ea typeface="Arial"/>
                <a:cs typeface="Arial"/>
              </a:defRPr>
            </a:lvl3pPr>
            <a:lvl4pPr algn="l">
              <a:defRPr sz="1950" b="1">
                <a:solidFill>
                  <a:srgbClr val="161616"/>
                </a:solidFill>
                <a:latin typeface="Arial"/>
                <a:ea typeface="Arial"/>
                <a:cs typeface="Arial"/>
              </a:defRPr>
            </a:lvl4pPr>
            <a:lvl5pPr algn="l">
              <a:defRPr sz="1950" b="1">
                <a:solidFill>
                  <a:srgbClr val="161616"/>
                </a:solidFill>
                <a:latin typeface="Arial"/>
                <a:ea typeface="Arial"/>
                <a:cs typeface="Arial"/>
              </a:defRPr>
            </a:lvl5pPr>
            <a:lvl6pPr algn="l">
              <a:defRPr sz="1950" b="1">
                <a:solidFill>
                  <a:srgbClr val="161616"/>
                </a:solidFill>
                <a:latin typeface="Arial"/>
                <a:ea typeface="Arial"/>
                <a:cs typeface="Arial"/>
              </a:defRPr>
            </a:lvl6pPr>
            <a:lvl7pPr algn="l">
              <a:defRPr sz="1950" b="1">
                <a:solidFill>
                  <a:srgbClr val="161616"/>
                </a:solidFill>
                <a:latin typeface="Arial"/>
                <a:ea typeface="Arial"/>
                <a:cs typeface="Arial"/>
              </a:defRPr>
            </a:lvl7pPr>
            <a:lvl8pPr algn="l">
              <a:defRPr sz="1950" b="1">
                <a:solidFill>
                  <a:srgbClr val="161616"/>
                </a:solidFill>
                <a:latin typeface="Arial"/>
                <a:ea typeface="Arial"/>
                <a:cs typeface="Arial"/>
              </a:defRPr>
            </a:lvl8pPr>
            <a:lvl9pPr algn="l">
              <a:defRPr sz="1950" b="1">
                <a:solidFill>
                  <a:srgbClr val="161616"/>
                </a:solidFill>
                <a:latin typeface="Arial"/>
                <a:ea typeface="Arial"/>
                <a:cs typeface="Arial"/>
              </a:defRPr>
            </a:lvl9pPr>
          </a:lstStyle>
          <a:p xmlns:a="http://schemas.openxmlformats.org/drawingml/2006/main">
            <a:pPr algn="l">
              <a:defRPr sz="1950" b="1">
                <a:solidFill>
                  <a:srgbClr val="161616"/>
                </a:solidFill>
                <a:latin typeface="Arial"/>
                <a:ea typeface="Arial"/>
                <a:cs typeface="Arial"/>
              </a:defRPr>
            </a:pPr>
            <a:r>
              <a:rPr sz="1950" b="1">
                <a:solidFill>
                  <a:srgbClr val="161616"/>
                </a:solidFill>
                <a:latin typeface="Arial"/>
                <a:ea typeface="Arial"/>
                <a:cs typeface="Arial"/>
              </a:rPr>
              <a:t>Why not NoiseLearnerV3 here?</a:t>
            </a:r>
          </a:p>
        </p:txBody>
      </p:sp>
      <p:sp>
        <p:nvSpPr>
          <p:cNvPr id="10" name="">
            <a:extLst xmlns:a="http://schemas.openxmlformats.org/drawingml/2006/main">
              <a:ext uri="{FF2B5EF4-FFF2-40B4-BE49-F238E27FC236}">
                <a16:creationId xmlns:a16="http://schemas.microsoft.com/office/drawing/2014/main" id="{C24938DF-B6A9-43B1-A6C7-43D8249C7459}"/>
              </a:ext>
            </a:extLst>
          </p:cNvPr>
          <p:cNvSpPr>
            <a:spLocks xmlns:a="http://schemas.openxmlformats.org/drawingml/2006/main" noGrp="1"/>
          </p:cNvSpPr>
          <p:nvPr/>
        </p:nvSpPr>
        <p:spPr>
          <a:xfrm xmlns:a="http://schemas.openxmlformats.org/drawingml/2006/main">
            <a:off x="685800" y="44767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5252"/>
                </a:solidFill>
                <a:latin typeface="Arial"/>
                <a:ea typeface="Arial"/>
                <a:cs typeface="Arial"/>
              </a:defRPr>
            </a:defPPr>
            <a:lvl1pPr algn="l">
              <a:defRPr sz="1650" b="0">
                <a:solidFill>
                  <a:srgbClr val="525252"/>
                </a:solidFill>
                <a:latin typeface="Arial"/>
                <a:ea typeface="Arial"/>
                <a:cs typeface="Arial"/>
              </a:defRPr>
            </a:lvl1pPr>
            <a:lvl2pPr algn="l">
              <a:defRPr sz="1650" b="0">
                <a:solidFill>
                  <a:srgbClr val="525252"/>
                </a:solidFill>
                <a:latin typeface="Arial"/>
                <a:ea typeface="Arial"/>
                <a:cs typeface="Arial"/>
              </a:defRPr>
            </a:lvl2pPr>
            <a:lvl3pPr algn="l">
              <a:defRPr sz="1650" b="0">
                <a:solidFill>
                  <a:srgbClr val="525252"/>
                </a:solidFill>
                <a:latin typeface="Arial"/>
                <a:ea typeface="Arial"/>
                <a:cs typeface="Arial"/>
              </a:defRPr>
            </a:lvl3pPr>
            <a:lvl4pPr algn="l">
              <a:defRPr sz="1650" b="0">
                <a:solidFill>
                  <a:srgbClr val="525252"/>
                </a:solidFill>
                <a:latin typeface="Arial"/>
                <a:ea typeface="Arial"/>
                <a:cs typeface="Arial"/>
              </a:defRPr>
            </a:lvl4pPr>
            <a:lvl5pPr algn="l">
              <a:defRPr sz="1650" b="0">
                <a:solidFill>
                  <a:srgbClr val="525252"/>
                </a:solidFill>
                <a:latin typeface="Arial"/>
                <a:ea typeface="Arial"/>
                <a:cs typeface="Arial"/>
              </a:defRPr>
            </a:lvl5pPr>
            <a:lvl6pPr algn="l">
              <a:defRPr sz="1650" b="0">
                <a:solidFill>
                  <a:srgbClr val="525252"/>
                </a:solidFill>
                <a:latin typeface="Arial"/>
                <a:ea typeface="Arial"/>
                <a:cs typeface="Arial"/>
              </a:defRPr>
            </a:lvl6pPr>
            <a:lvl7pPr algn="l">
              <a:defRPr sz="1650" b="0">
                <a:solidFill>
                  <a:srgbClr val="525252"/>
                </a:solidFill>
                <a:latin typeface="Arial"/>
                <a:ea typeface="Arial"/>
                <a:cs typeface="Arial"/>
              </a:defRPr>
            </a:lvl7pPr>
            <a:lvl8pPr algn="l">
              <a:defRPr sz="1650" b="0">
                <a:solidFill>
                  <a:srgbClr val="525252"/>
                </a:solidFill>
                <a:latin typeface="Arial"/>
                <a:ea typeface="Arial"/>
                <a:cs typeface="Arial"/>
              </a:defRPr>
            </a:lvl8pPr>
            <a:lvl9pPr algn="l">
              <a:defRPr sz="1650" b="0">
                <a:solidFill>
                  <a:srgbClr val="525252"/>
                </a:solidFill>
                <a:latin typeface="Arial"/>
                <a:ea typeface="Arial"/>
                <a:cs typeface="Arial"/>
              </a:defRPr>
            </a:lvl9pPr>
          </a:lstStyle>
          <a:p xmlns:a="http://schemas.openxmlformats.org/drawingml/2006/main">
            <a:pPr algn="l">
              <a:defRPr sz="1650" b="0">
                <a:solidFill>
                  <a:srgbClr val="525252"/>
                </a:solidFill>
                <a:latin typeface="Arial"/>
                <a:ea typeface="Arial"/>
                <a:cs typeface="Arial"/>
              </a:defRPr>
            </a:pPr>
            <a:r>
              <a:rPr sz="1650" b="0">
                <a:solidFill>
                  <a:srgbClr val="525252"/>
                </a:solidFill>
                <a:latin typeface="Arial"/>
                <a:ea typeface="Arial"/>
                <a:cs typeface="Arial"/>
              </a:rPr>
              <a:t>Its official workflow submits learning jobs to IBM Quantum. No IBM account is configured on this computer, so local rates are simulated inputs, not hardware measurements.</a:t>
            </a:r>
          </a:p>
        </p:txBody>
      </p:sp>
    </p:spTree>
    <p:extLst>
      <p:ext uri="{BB962C8B-B14F-4D97-AF65-F5344CB8AC3E}">
        <p14:creationId xmlns:p14="http://schemas.microsoft.com/office/powerpoint/2010/main" val="11950579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EFBE333-E941-4089-A4E9-7DC7877950D9}"/>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2E806AD2-6B93-4604-9529-BA7400CA1A94}"/>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SLC reduced the error model</a:t>
            </a:r>
          </a:p>
        </p:txBody>
      </p:sp>
      <p:graphicFrame>
        <p:nvGraphicFramePr>
          <p:cNvPr id="3" name="Chart">
            <a:extLst xmlns:a="http://schemas.openxmlformats.org/drawingml/2006/main">
              <a:ext uri="{FF2B5EF4-FFF2-40B4-BE49-F238E27FC236}">
                <a16:creationId xmlns:a16="http://schemas.microsoft.com/office/drawing/2014/main" id="{95EF48F1-C670-4FA7-8B80-B00C1458C89A}"/>
              </a:ext>
            </a:extLst>
          </p:cNvPr>
          <p:cNvGraphicFramePr/>
          <p:nvPr/>
        </p:nvGraphicFramePr>
        <p:xfrm>
          <a:off xmlns:a="http://schemas.openxmlformats.org/drawingml/2006/main" x="666750" y="1809750"/>
          <a:ext xmlns:a="http://schemas.openxmlformats.org/drawingml/2006/main" cx="6667500" cy="3810000"/>
        </p:xfrm>
        <a:graphic xmlns:a="http://schemas.openxmlformats.org/drawingml/2006/main">
          <a:graphicData uri="http://schemas.openxmlformats.org/drawingml/2006/chart">
            <c:chart xmlns:r="http://schemas.openxmlformats.org/officeDocument/2006/relationships" xmlns:c="http://schemas.openxmlformats.org/drawingml/2006/chart" r:id="R91927ae9b57c428d"/>
          </a:graphicData>
        </a:graphic>
      </p:graphicFrame>
      <p:sp>
        <p:nvSpPr>
          <p:cNvPr id="4" name="">
            <a:extLst xmlns:a="http://schemas.openxmlformats.org/drawingml/2006/main">
              <a:ext uri="{FF2B5EF4-FFF2-40B4-BE49-F238E27FC236}">
                <a16:creationId xmlns:a16="http://schemas.microsoft.com/office/drawing/2014/main" id="{9604E632-AD5D-4322-A6FC-835A358E0592}"/>
              </a:ext>
            </a:extLst>
          </p:cNvPr>
          <p:cNvSpPr>
            <a:spLocks xmlns:a="http://schemas.openxmlformats.org/drawingml/2006/main" noGrp="1"/>
          </p:cNvSpPr>
          <p:nvPr/>
        </p:nvSpPr>
        <p:spPr>
          <a:xfrm xmlns:a="http://schemas.openxmlformats.org/drawingml/2006/main">
            <a:off x="8048625" y="2190750"/>
            <a:ext cx="2286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00" b="1">
                <a:solidFill>
                  <a:srgbClr val="0F62FE"/>
                </a:solidFill>
                <a:latin typeface="Arial"/>
                <a:ea typeface="Arial"/>
                <a:cs typeface="Arial"/>
              </a:defRPr>
            </a:defPPr>
            <a:lvl1pPr algn="l">
              <a:defRPr sz="4500" b="1">
                <a:solidFill>
                  <a:srgbClr val="0F62FE"/>
                </a:solidFill>
                <a:latin typeface="Arial"/>
                <a:ea typeface="Arial"/>
                <a:cs typeface="Arial"/>
              </a:defRPr>
            </a:lvl1pPr>
            <a:lvl2pPr algn="l">
              <a:defRPr sz="4500" b="1">
                <a:solidFill>
                  <a:srgbClr val="0F62FE"/>
                </a:solidFill>
                <a:latin typeface="Arial"/>
                <a:ea typeface="Arial"/>
                <a:cs typeface="Arial"/>
              </a:defRPr>
            </a:lvl2pPr>
            <a:lvl3pPr algn="l">
              <a:defRPr sz="4500" b="1">
                <a:solidFill>
                  <a:srgbClr val="0F62FE"/>
                </a:solidFill>
                <a:latin typeface="Arial"/>
                <a:ea typeface="Arial"/>
                <a:cs typeface="Arial"/>
              </a:defRPr>
            </a:lvl3pPr>
            <a:lvl4pPr algn="l">
              <a:defRPr sz="4500" b="1">
                <a:solidFill>
                  <a:srgbClr val="0F62FE"/>
                </a:solidFill>
                <a:latin typeface="Arial"/>
                <a:ea typeface="Arial"/>
                <a:cs typeface="Arial"/>
              </a:defRPr>
            </a:lvl4pPr>
            <a:lvl5pPr algn="l">
              <a:defRPr sz="4500" b="1">
                <a:solidFill>
                  <a:srgbClr val="0F62FE"/>
                </a:solidFill>
                <a:latin typeface="Arial"/>
                <a:ea typeface="Arial"/>
                <a:cs typeface="Arial"/>
              </a:defRPr>
            </a:lvl5pPr>
            <a:lvl6pPr algn="l">
              <a:defRPr sz="4500" b="1">
                <a:solidFill>
                  <a:srgbClr val="0F62FE"/>
                </a:solidFill>
                <a:latin typeface="Arial"/>
                <a:ea typeface="Arial"/>
                <a:cs typeface="Arial"/>
              </a:defRPr>
            </a:lvl6pPr>
            <a:lvl7pPr algn="l">
              <a:defRPr sz="4500" b="1">
                <a:solidFill>
                  <a:srgbClr val="0F62FE"/>
                </a:solidFill>
                <a:latin typeface="Arial"/>
                <a:ea typeface="Arial"/>
                <a:cs typeface="Arial"/>
              </a:defRPr>
            </a:lvl7pPr>
            <a:lvl8pPr algn="l">
              <a:defRPr sz="4500" b="1">
                <a:solidFill>
                  <a:srgbClr val="0F62FE"/>
                </a:solidFill>
                <a:latin typeface="Arial"/>
                <a:ea typeface="Arial"/>
                <a:cs typeface="Arial"/>
              </a:defRPr>
            </a:lvl8pPr>
            <a:lvl9pPr algn="l">
              <a:defRPr sz="4500" b="1">
                <a:solidFill>
                  <a:srgbClr val="0F62FE"/>
                </a:solidFill>
                <a:latin typeface="Arial"/>
                <a:ea typeface="Arial"/>
                <a:cs typeface="Arial"/>
              </a:defRPr>
            </a:lvl9pPr>
          </a:lstStyle>
          <a:p xmlns:a="http://schemas.openxmlformats.org/drawingml/2006/main">
            <a:pPr algn="l">
              <a:defRPr sz="4500" b="1">
                <a:solidFill>
                  <a:srgbClr val="0F62FE"/>
                </a:solidFill>
                <a:latin typeface="Arial"/>
                <a:ea typeface="Arial"/>
                <a:cs typeface="Arial"/>
              </a:defRPr>
            </a:pPr>
            <a:r>
              <a:rPr sz="4500" b="1">
                <a:solidFill>
                  <a:srgbClr val="0F62FE"/>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72DFFF40-E1CB-43EF-ADA2-91B387D0E47E}"/>
              </a:ext>
            </a:extLst>
          </p:cNvPr>
          <p:cNvSpPr>
            <a:spLocks xmlns:a="http://schemas.openxmlformats.org/drawingml/2006/main" noGrp="1"/>
          </p:cNvSpPr>
          <p:nvPr/>
        </p:nvSpPr>
        <p:spPr>
          <a:xfrm xmlns:a="http://schemas.openxmlformats.org/drawingml/2006/main">
            <a:off x="8048625" y="2952750"/>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fewer modeled error terms at 1× noise</a:t>
            </a:r>
          </a:p>
        </p:txBody>
      </p:sp>
      <p:sp>
        <p:nvSpPr>
          <p:cNvPr id="6" name="">
            <a:extLst xmlns:a="http://schemas.openxmlformats.org/drawingml/2006/main">
              <a:ext uri="{FF2B5EF4-FFF2-40B4-BE49-F238E27FC236}">
                <a16:creationId xmlns:a16="http://schemas.microsoft.com/office/drawing/2014/main" id="{143533E9-E8B0-4BF1-B16D-E997332E45CF}"/>
              </a:ext>
            </a:extLst>
          </p:cNvPr>
          <p:cNvSpPr>
            <a:spLocks xmlns:a="http://schemas.openxmlformats.org/drawingml/2006/main" noGrp="1"/>
          </p:cNvSpPr>
          <p:nvPr/>
        </p:nvSpPr>
        <p:spPr>
          <a:xfrm xmlns:a="http://schemas.openxmlformats.org/drawingml/2006/main">
            <a:off x="8048625" y="3857625"/>
            <a:ext cx="2286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00" b="1">
                <a:solidFill>
                  <a:srgbClr val="009D9A"/>
                </a:solidFill>
                <a:latin typeface="Arial"/>
                <a:ea typeface="Arial"/>
                <a:cs typeface="Arial"/>
              </a:defRPr>
            </a:defPPr>
            <a:lvl1pPr algn="l">
              <a:defRPr sz="4500" b="1">
                <a:solidFill>
                  <a:srgbClr val="009D9A"/>
                </a:solidFill>
                <a:latin typeface="Arial"/>
                <a:ea typeface="Arial"/>
                <a:cs typeface="Arial"/>
              </a:defRPr>
            </a:lvl1pPr>
            <a:lvl2pPr algn="l">
              <a:defRPr sz="4500" b="1">
                <a:solidFill>
                  <a:srgbClr val="009D9A"/>
                </a:solidFill>
                <a:latin typeface="Arial"/>
                <a:ea typeface="Arial"/>
                <a:cs typeface="Arial"/>
              </a:defRPr>
            </a:lvl2pPr>
            <a:lvl3pPr algn="l">
              <a:defRPr sz="4500" b="1">
                <a:solidFill>
                  <a:srgbClr val="009D9A"/>
                </a:solidFill>
                <a:latin typeface="Arial"/>
                <a:ea typeface="Arial"/>
                <a:cs typeface="Arial"/>
              </a:defRPr>
            </a:lvl3pPr>
            <a:lvl4pPr algn="l">
              <a:defRPr sz="4500" b="1">
                <a:solidFill>
                  <a:srgbClr val="009D9A"/>
                </a:solidFill>
                <a:latin typeface="Arial"/>
                <a:ea typeface="Arial"/>
                <a:cs typeface="Arial"/>
              </a:defRPr>
            </a:lvl4pPr>
            <a:lvl5pPr algn="l">
              <a:defRPr sz="4500" b="1">
                <a:solidFill>
                  <a:srgbClr val="009D9A"/>
                </a:solidFill>
                <a:latin typeface="Arial"/>
                <a:ea typeface="Arial"/>
                <a:cs typeface="Arial"/>
              </a:defRPr>
            </a:lvl5pPr>
            <a:lvl6pPr algn="l">
              <a:defRPr sz="4500" b="1">
                <a:solidFill>
                  <a:srgbClr val="009D9A"/>
                </a:solidFill>
                <a:latin typeface="Arial"/>
                <a:ea typeface="Arial"/>
                <a:cs typeface="Arial"/>
              </a:defRPr>
            </a:lvl6pPr>
            <a:lvl7pPr algn="l">
              <a:defRPr sz="4500" b="1">
                <a:solidFill>
                  <a:srgbClr val="009D9A"/>
                </a:solidFill>
                <a:latin typeface="Arial"/>
                <a:ea typeface="Arial"/>
                <a:cs typeface="Arial"/>
              </a:defRPr>
            </a:lvl7pPr>
            <a:lvl8pPr algn="l">
              <a:defRPr sz="4500" b="1">
                <a:solidFill>
                  <a:srgbClr val="009D9A"/>
                </a:solidFill>
                <a:latin typeface="Arial"/>
                <a:ea typeface="Arial"/>
                <a:cs typeface="Arial"/>
              </a:defRPr>
            </a:lvl8pPr>
            <a:lvl9pPr algn="l">
              <a:defRPr sz="4500" b="1">
                <a:solidFill>
                  <a:srgbClr val="009D9A"/>
                </a:solidFill>
                <a:latin typeface="Arial"/>
                <a:ea typeface="Arial"/>
                <a:cs typeface="Arial"/>
              </a:defRPr>
            </a:lvl9pPr>
          </a:lstStyle>
          <a:p xmlns:a="http://schemas.openxmlformats.org/drawingml/2006/main">
            <a:pPr algn="l">
              <a:defRPr sz="4500" b="1">
                <a:solidFill>
                  <a:srgbClr val="009D9A"/>
                </a:solidFill>
                <a:latin typeface="Arial"/>
                <a:ea typeface="Arial"/>
                <a:cs typeface="Arial"/>
              </a:defRPr>
            </a:pPr>
            <a:r>
              <a:rPr sz="4500" b="1">
                <a:solidFill>
                  <a:srgbClr val="009D9A"/>
                </a:solidFill>
                <a:latin typeface="Arial"/>
                <a:ea typeface="Arial"/>
                <a:cs typeface="Arial"/>
              </a:rPr>
              <a:t>9%</a:t>
            </a:r>
          </a:p>
        </p:txBody>
      </p:sp>
      <p:sp>
        <p:nvSpPr>
          <p:cNvPr id="7" name="">
            <a:extLst xmlns:a="http://schemas.openxmlformats.org/drawingml/2006/main">
              <a:ext uri="{FF2B5EF4-FFF2-40B4-BE49-F238E27FC236}">
                <a16:creationId xmlns:a16="http://schemas.microsoft.com/office/drawing/2014/main" id="{64455285-84FC-4FAB-BE89-FF4683051272}"/>
              </a:ext>
            </a:extLst>
          </p:cNvPr>
          <p:cNvSpPr>
            <a:spLocks xmlns:a="http://schemas.openxmlformats.org/drawingml/2006/main" noGrp="1"/>
          </p:cNvSpPr>
          <p:nvPr/>
        </p:nvSpPr>
        <p:spPr>
          <a:xfrm xmlns:a="http://schemas.openxmlformats.org/drawingml/2006/main">
            <a:off x="8048625" y="4619625"/>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less PNA setup time in this small run</a:t>
            </a:r>
          </a:p>
        </p:txBody>
      </p:sp>
      <p:sp>
        <p:nvSpPr>
          <p:cNvPr id="8" name="">
            <a:extLst xmlns:a="http://schemas.openxmlformats.org/drawingml/2006/main">
              <a:ext uri="{FF2B5EF4-FFF2-40B4-BE49-F238E27FC236}">
                <a16:creationId xmlns:a16="http://schemas.microsoft.com/office/drawing/2014/main" id="{20A50A73-E418-4781-BE8E-7BCED10B8AF0}"/>
              </a:ext>
            </a:extLst>
          </p:cNvPr>
          <p:cNvSpPr>
            <a:spLocks xmlns:a="http://schemas.openxmlformats.org/drawingml/2006/main" noGrp="1"/>
          </p:cNvSpPr>
          <p:nvPr/>
        </p:nvSpPr>
        <p:spPr>
          <a:xfrm xmlns:a="http://schemas.openxmlformats.org/drawingml/2006/main">
            <a:off x="685800" y="58578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At 1× noise, the SLC bias bound was 0.047 (under the 0.05 limit we set).</a:t>
            </a:r>
          </a:p>
        </p:txBody>
      </p:sp>
    </p:spTree>
    <p:extLst>
      <p:ext uri="{BB962C8B-B14F-4D97-AF65-F5344CB8AC3E}">
        <p14:creationId xmlns:p14="http://schemas.microsoft.com/office/powerpoint/2010/main" val="18161042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DB9EFBD-540B-4CCD-8DC3-41434D429B13}"/>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76A13AAC-7923-4D81-92A3-5B46AE96061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PNA recovered the measured value</a:t>
            </a:r>
          </a:p>
        </p:txBody>
      </p:sp>
      <p:graphicFrame>
        <p:nvGraphicFramePr>
          <p:cNvPr id="3" name="Chart">
            <a:extLst xmlns:a="http://schemas.openxmlformats.org/drawingml/2006/main">
              <a:ext uri="{FF2B5EF4-FFF2-40B4-BE49-F238E27FC236}">
                <a16:creationId xmlns:a16="http://schemas.microsoft.com/office/drawing/2014/main" id="{07046152-0188-4ED4-990A-6D13FFB484B2}"/>
              </a:ext>
            </a:extLst>
          </p:cNvPr>
          <p:cNvGraphicFramePr/>
          <p:nvPr/>
        </p:nvGraphicFramePr>
        <p:xfrm>
          <a:off xmlns:a="http://schemas.openxmlformats.org/drawingml/2006/main" x="609600" y="1695450"/>
          <a:ext xmlns:a="http://schemas.openxmlformats.org/drawingml/2006/main" cx="7620000" cy="4191000"/>
        </p:xfrm>
        <a:graphic xmlns:a="http://schemas.openxmlformats.org/drawingml/2006/main">
          <a:graphicData uri="http://schemas.openxmlformats.org/drawingml/2006/chart">
            <c:chart xmlns:r="http://schemas.openxmlformats.org/officeDocument/2006/relationships" xmlns:c="http://schemas.openxmlformats.org/drawingml/2006/chart" r:id="Re21265005d1044c8"/>
          </a:graphicData>
        </a:graphic>
      </p:graphicFrame>
      <p:sp>
        <p:nvSpPr>
          <p:cNvPr id="4" name="">
            <a:extLst xmlns:a="http://schemas.openxmlformats.org/drawingml/2006/main">
              <a:ext uri="{FF2B5EF4-FFF2-40B4-BE49-F238E27FC236}">
                <a16:creationId xmlns:a16="http://schemas.microsoft.com/office/drawing/2014/main" id="{61E298D1-1A3A-40DB-A710-F5B980FE390B}"/>
              </a:ext>
            </a:extLst>
          </p:cNvPr>
          <p:cNvSpPr>
            <a:spLocks xmlns:a="http://schemas.openxmlformats.org/drawingml/2006/main" noGrp="1"/>
          </p:cNvSpPr>
          <p:nvPr/>
        </p:nvSpPr>
        <p:spPr>
          <a:xfrm xmlns:a="http://schemas.openxmlformats.org/drawingml/2006/main">
            <a:off x="8858250" y="21336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525252"/>
                </a:solidFill>
                <a:latin typeface="Arial"/>
                <a:ea typeface="Arial"/>
                <a:cs typeface="Arial"/>
              </a:defRPr>
            </a:defPPr>
            <a:lvl1pPr algn="l">
              <a:defRPr sz="1650" b="1">
                <a:solidFill>
                  <a:srgbClr val="525252"/>
                </a:solidFill>
                <a:latin typeface="Arial"/>
                <a:ea typeface="Arial"/>
                <a:cs typeface="Arial"/>
              </a:defRPr>
            </a:lvl1pPr>
            <a:lvl2pPr algn="l">
              <a:defRPr sz="1650" b="1">
                <a:solidFill>
                  <a:srgbClr val="525252"/>
                </a:solidFill>
                <a:latin typeface="Arial"/>
                <a:ea typeface="Arial"/>
                <a:cs typeface="Arial"/>
              </a:defRPr>
            </a:lvl2pPr>
            <a:lvl3pPr algn="l">
              <a:defRPr sz="1650" b="1">
                <a:solidFill>
                  <a:srgbClr val="525252"/>
                </a:solidFill>
                <a:latin typeface="Arial"/>
                <a:ea typeface="Arial"/>
                <a:cs typeface="Arial"/>
              </a:defRPr>
            </a:lvl3pPr>
            <a:lvl4pPr algn="l">
              <a:defRPr sz="1650" b="1">
                <a:solidFill>
                  <a:srgbClr val="525252"/>
                </a:solidFill>
                <a:latin typeface="Arial"/>
                <a:ea typeface="Arial"/>
                <a:cs typeface="Arial"/>
              </a:defRPr>
            </a:lvl4pPr>
            <a:lvl5pPr algn="l">
              <a:defRPr sz="1650" b="1">
                <a:solidFill>
                  <a:srgbClr val="525252"/>
                </a:solidFill>
                <a:latin typeface="Arial"/>
                <a:ea typeface="Arial"/>
                <a:cs typeface="Arial"/>
              </a:defRPr>
            </a:lvl5pPr>
            <a:lvl6pPr algn="l">
              <a:defRPr sz="1650" b="1">
                <a:solidFill>
                  <a:srgbClr val="525252"/>
                </a:solidFill>
                <a:latin typeface="Arial"/>
                <a:ea typeface="Arial"/>
                <a:cs typeface="Arial"/>
              </a:defRPr>
            </a:lvl6pPr>
            <a:lvl7pPr algn="l">
              <a:defRPr sz="1650" b="1">
                <a:solidFill>
                  <a:srgbClr val="525252"/>
                </a:solidFill>
                <a:latin typeface="Arial"/>
                <a:ea typeface="Arial"/>
                <a:cs typeface="Arial"/>
              </a:defRPr>
            </a:lvl7pPr>
            <a:lvl8pPr algn="l">
              <a:defRPr sz="1650" b="1">
                <a:solidFill>
                  <a:srgbClr val="525252"/>
                </a:solidFill>
                <a:latin typeface="Arial"/>
                <a:ea typeface="Arial"/>
                <a:cs typeface="Arial"/>
              </a:defRPr>
            </a:lvl8pPr>
            <a:lvl9pPr algn="l">
              <a:defRPr sz="1650" b="1">
                <a:solidFill>
                  <a:srgbClr val="525252"/>
                </a:solidFill>
                <a:latin typeface="Arial"/>
                <a:ea typeface="Arial"/>
                <a:cs typeface="Arial"/>
              </a:defRPr>
            </a:lvl9pPr>
          </a:lstStyle>
          <a:p xmlns:a="http://schemas.openxmlformats.org/drawingml/2006/main">
            <a:pPr algn="l">
              <a:defRPr sz="1650" b="1">
                <a:solidFill>
                  <a:srgbClr val="525252"/>
                </a:solidFill>
                <a:latin typeface="Arial"/>
                <a:ea typeface="Arial"/>
                <a:cs typeface="Arial"/>
              </a:defRPr>
            </a:pPr>
            <a:r>
              <a:rPr sz="1650" b="1">
                <a:solidFill>
                  <a:srgbClr val="525252"/>
                </a:solidFill>
                <a:latin typeface="Arial"/>
                <a:ea typeface="Arial"/>
                <a:cs typeface="Arial"/>
              </a:rPr>
              <a:t>At 1× noise</a:t>
            </a:r>
          </a:p>
        </p:txBody>
      </p:sp>
      <p:sp>
        <p:nvSpPr>
          <p:cNvPr id="5" name="">
            <a:extLst xmlns:a="http://schemas.openxmlformats.org/drawingml/2006/main">
              <a:ext uri="{FF2B5EF4-FFF2-40B4-BE49-F238E27FC236}">
                <a16:creationId xmlns:a16="http://schemas.microsoft.com/office/drawing/2014/main" id="{50881335-6CFC-4808-850F-72FF0D6BBC95}"/>
              </a:ext>
            </a:extLst>
          </p:cNvPr>
          <p:cNvSpPr>
            <a:spLocks xmlns:a="http://schemas.openxmlformats.org/drawingml/2006/main" noGrp="1"/>
          </p:cNvSpPr>
          <p:nvPr/>
        </p:nvSpPr>
        <p:spPr>
          <a:xfrm xmlns:a="http://schemas.openxmlformats.org/drawingml/2006/main">
            <a:off x="8858250" y="2600325"/>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F832B"/>
                </a:solidFill>
                <a:latin typeface="Arial"/>
                <a:ea typeface="Arial"/>
                <a:cs typeface="Arial"/>
              </a:defRPr>
            </a:defPPr>
            <a:lvl1pPr algn="l">
              <a:defRPr sz="3150" b="1">
                <a:solidFill>
                  <a:srgbClr val="FF832B"/>
                </a:solidFill>
                <a:latin typeface="Arial"/>
                <a:ea typeface="Arial"/>
                <a:cs typeface="Arial"/>
              </a:defRPr>
            </a:lvl1pPr>
            <a:lvl2pPr algn="l">
              <a:defRPr sz="3150" b="1">
                <a:solidFill>
                  <a:srgbClr val="FF832B"/>
                </a:solidFill>
                <a:latin typeface="Arial"/>
                <a:ea typeface="Arial"/>
                <a:cs typeface="Arial"/>
              </a:defRPr>
            </a:lvl2pPr>
            <a:lvl3pPr algn="l">
              <a:defRPr sz="3150" b="1">
                <a:solidFill>
                  <a:srgbClr val="FF832B"/>
                </a:solidFill>
                <a:latin typeface="Arial"/>
                <a:ea typeface="Arial"/>
                <a:cs typeface="Arial"/>
              </a:defRPr>
            </a:lvl3pPr>
            <a:lvl4pPr algn="l">
              <a:defRPr sz="3150" b="1">
                <a:solidFill>
                  <a:srgbClr val="FF832B"/>
                </a:solidFill>
                <a:latin typeface="Arial"/>
                <a:ea typeface="Arial"/>
                <a:cs typeface="Arial"/>
              </a:defRPr>
            </a:lvl4pPr>
            <a:lvl5pPr algn="l">
              <a:defRPr sz="3150" b="1">
                <a:solidFill>
                  <a:srgbClr val="FF832B"/>
                </a:solidFill>
                <a:latin typeface="Arial"/>
                <a:ea typeface="Arial"/>
                <a:cs typeface="Arial"/>
              </a:defRPr>
            </a:lvl5pPr>
            <a:lvl6pPr algn="l">
              <a:defRPr sz="3150" b="1">
                <a:solidFill>
                  <a:srgbClr val="FF832B"/>
                </a:solidFill>
                <a:latin typeface="Arial"/>
                <a:ea typeface="Arial"/>
                <a:cs typeface="Arial"/>
              </a:defRPr>
            </a:lvl6pPr>
            <a:lvl7pPr algn="l">
              <a:defRPr sz="3150" b="1">
                <a:solidFill>
                  <a:srgbClr val="FF832B"/>
                </a:solidFill>
                <a:latin typeface="Arial"/>
                <a:ea typeface="Arial"/>
                <a:cs typeface="Arial"/>
              </a:defRPr>
            </a:lvl7pPr>
            <a:lvl8pPr algn="l">
              <a:defRPr sz="3150" b="1">
                <a:solidFill>
                  <a:srgbClr val="FF832B"/>
                </a:solidFill>
                <a:latin typeface="Arial"/>
                <a:ea typeface="Arial"/>
                <a:cs typeface="Arial"/>
              </a:defRPr>
            </a:lvl8pPr>
            <a:lvl9pPr algn="l">
              <a:defRPr sz="3150" b="1">
                <a:solidFill>
                  <a:srgbClr val="FF832B"/>
                </a:solidFill>
                <a:latin typeface="Arial"/>
                <a:ea typeface="Arial"/>
                <a:cs typeface="Arial"/>
              </a:defRPr>
            </a:lvl9pPr>
          </a:lstStyle>
          <a:p xmlns:a="http://schemas.openxmlformats.org/drawingml/2006/main">
            <a:pPr algn="l">
              <a:defRPr sz="3150" b="1">
                <a:solidFill>
                  <a:srgbClr val="FF832B"/>
                </a:solidFill>
                <a:latin typeface="Arial"/>
                <a:ea typeface="Arial"/>
                <a:cs typeface="Arial"/>
              </a:defRPr>
            </a:pPr>
            <a:r>
              <a:rPr sz="3150" b="1">
                <a:solidFill>
                  <a:srgbClr val="FF832B"/>
                </a:solidFill>
                <a:latin typeface="Arial"/>
                <a:ea typeface="Arial"/>
                <a:cs typeface="Arial"/>
              </a:rPr>
              <a:t>0.687</a:t>
            </a:r>
          </a:p>
        </p:txBody>
      </p:sp>
      <p:sp>
        <p:nvSpPr>
          <p:cNvPr id="6" name="">
            <a:extLst xmlns:a="http://schemas.openxmlformats.org/drawingml/2006/main">
              <a:ext uri="{FF2B5EF4-FFF2-40B4-BE49-F238E27FC236}">
                <a16:creationId xmlns:a16="http://schemas.microsoft.com/office/drawing/2014/main" id="{EEA5A503-2C96-4417-822E-81F087C97BE9}"/>
              </a:ext>
            </a:extLst>
          </p:cNvPr>
          <p:cNvSpPr>
            <a:spLocks xmlns:a="http://schemas.openxmlformats.org/drawingml/2006/main" noGrp="1"/>
          </p:cNvSpPr>
          <p:nvPr/>
        </p:nvSpPr>
        <p:spPr>
          <a:xfrm xmlns:a="http://schemas.openxmlformats.org/drawingml/2006/main">
            <a:off x="8858250" y="31146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without correction</a:t>
            </a:r>
          </a:p>
        </p:txBody>
      </p:sp>
      <p:sp>
        <p:nvSpPr>
          <p:cNvPr id="7" name="">
            <a:extLst xmlns:a="http://schemas.openxmlformats.org/drawingml/2006/main">
              <a:ext uri="{FF2B5EF4-FFF2-40B4-BE49-F238E27FC236}">
                <a16:creationId xmlns:a16="http://schemas.microsoft.com/office/drawing/2014/main" id="{D0753E61-5ABD-4700-A86F-C010C8F71668}"/>
              </a:ext>
            </a:extLst>
          </p:cNvPr>
          <p:cNvSpPr>
            <a:spLocks xmlns:a="http://schemas.openxmlformats.org/drawingml/2006/main" noGrp="1"/>
          </p:cNvSpPr>
          <p:nvPr/>
        </p:nvSpPr>
        <p:spPr>
          <a:xfrm xmlns:a="http://schemas.openxmlformats.org/drawingml/2006/main">
            <a:off x="8858250" y="371475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0F62FE"/>
                </a:solidFill>
                <a:latin typeface="Arial"/>
                <a:ea typeface="Arial"/>
                <a:cs typeface="Arial"/>
              </a:defRPr>
            </a:defPPr>
            <a:lvl1pPr algn="l">
              <a:defRPr sz="3150" b="1">
                <a:solidFill>
                  <a:srgbClr val="0F62FE"/>
                </a:solidFill>
                <a:latin typeface="Arial"/>
                <a:ea typeface="Arial"/>
                <a:cs typeface="Arial"/>
              </a:defRPr>
            </a:lvl1pPr>
            <a:lvl2pPr algn="l">
              <a:defRPr sz="3150" b="1">
                <a:solidFill>
                  <a:srgbClr val="0F62FE"/>
                </a:solidFill>
                <a:latin typeface="Arial"/>
                <a:ea typeface="Arial"/>
                <a:cs typeface="Arial"/>
              </a:defRPr>
            </a:lvl2pPr>
            <a:lvl3pPr algn="l">
              <a:defRPr sz="3150" b="1">
                <a:solidFill>
                  <a:srgbClr val="0F62FE"/>
                </a:solidFill>
                <a:latin typeface="Arial"/>
                <a:ea typeface="Arial"/>
                <a:cs typeface="Arial"/>
              </a:defRPr>
            </a:lvl3pPr>
            <a:lvl4pPr algn="l">
              <a:defRPr sz="3150" b="1">
                <a:solidFill>
                  <a:srgbClr val="0F62FE"/>
                </a:solidFill>
                <a:latin typeface="Arial"/>
                <a:ea typeface="Arial"/>
                <a:cs typeface="Arial"/>
              </a:defRPr>
            </a:lvl4pPr>
            <a:lvl5pPr algn="l">
              <a:defRPr sz="3150" b="1">
                <a:solidFill>
                  <a:srgbClr val="0F62FE"/>
                </a:solidFill>
                <a:latin typeface="Arial"/>
                <a:ea typeface="Arial"/>
                <a:cs typeface="Arial"/>
              </a:defRPr>
            </a:lvl5pPr>
            <a:lvl6pPr algn="l">
              <a:defRPr sz="3150" b="1">
                <a:solidFill>
                  <a:srgbClr val="0F62FE"/>
                </a:solidFill>
                <a:latin typeface="Arial"/>
                <a:ea typeface="Arial"/>
                <a:cs typeface="Arial"/>
              </a:defRPr>
            </a:lvl6pPr>
            <a:lvl7pPr algn="l">
              <a:defRPr sz="3150" b="1">
                <a:solidFill>
                  <a:srgbClr val="0F62FE"/>
                </a:solidFill>
                <a:latin typeface="Arial"/>
                <a:ea typeface="Arial"/>
                <a:cs typeface="Arial"/>
              </a:defRPr>
            </a:lvl7pPr>
            <a:lvl8pPr algn="l">
              <a:defRPr sz="3150" b="1">
                <a:solidFill>
                  <a:srgbClr val="0F62FE"/>
                </a:solidFill>
                <a:latin typeface="Arial"/>
                <a:ea typeface="Arial"/>
                <a:cs typeface="Arial"/>
              </a:defRPr>
            </a:lvl8pPr>
            <a:lvl9pPr algn="l">
              <a:defRPr sz="3150" b="1">
                <a:solidFill>
                  <a:srgbClr val="0F62FE"/>
                </a:solidFill>
                <a:latin typeface="Arial"/>
                <a:ea typeface="Arial"/>
                <a:cs typeface="Arial"/>
              </a:defRPr>
            </a:lvl9pPr>
          </a:lstStyle>
          <a:p xmlns:a="http://schemas.openxmlformats.org/drawingml/2006/main">
            <a:pPr algn="l">
              <a:defRPr sz="3150" b="1">
                <a:solidFill>
                  <a:srgbClr val="0F62FE"/>
                </a:solidFill>
                <a:latin typeface="Arial"/>
                <a:ea typeface="Arial"/>
                <a:cs typeface="Arial"/>
              </a:defRPr>
            </a:pPr>
            <a:r>
              <a:rPr sz="3150" b="1">
                <a:solidFill>
                  <a:srgbClr val="0F62FE"/>
                </a:solidFill>
                <a:latin typeface="Arial"/>
                <a:ea typeface="Arial"/>
                <a:cs typeface="Arial"/>
              </a:rPr>
              <a:t>0.977</a:t>
            </a:r>
          </a:p>
        </p:txBody>
      </p:sp>
      <p:sp>
        <p:nvSpPr>
          <p:cNvPr id="8" name="">
            <a:extLst xmlns:a="http://schemas.openxmlformats.org/drawingml/2006/main">
              <a:ext uri="{FF2B5EF4-FFF2-40B4-BE49-F238E27FC236}">
                <a16:creationId xmlns:a16="http://schemas.microsoft.com/office/drawing/2014/main" id="{0DE2C444-BF6C-4BF5-A634-E5E3D996C5DB}"/>
              </a:ext>
            </a:extLst>
          </p:cNvPr>
          <p:cNvSpPr>
            <a:spLocks xmlns:a="http://schemas.openxmlformats.org/drawingml/2006/main" noGrp="1"/>
          </p:cNvSpPr>
          <p:nvPr/>
        </p:nvSpPr>
        <p:spPr>
          <a:xfrm xmlns:a="http://schemas.openxmlformats.org/drawingml/2006/main">
            <a:off x="8858250" y="42291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with full PNA</a:t>
            </a:r>
          </a:p>
        </p:txBody>
      </p:sp>
      <p:sp>
        <p:nvSpPr>
          <p:cNvPr id="9" name="">
            <a:extLst xmlns:a="http://schemas.openxmlformats.org/drawingml/2006/main">
              <a:ext uri="{FF2B5EF4-FFF2-40B4-BE49-F238E27FC236}">
                <a16:creationId xmlns:a16="http://schemas.microsoft.com/office/drawing/2014/main" id="{F4EB39A8-35FE-4A72-B20F-C7385C6A4452}"/>
              </a:ext>
            </a:extLst>
          </p:cNvPr>
          <p:cNvSpPr>
            <a:spLocks xmlns:a="http://schemas.openxmlformats.org/drawingml/2006/main" noGrp="1"/>
          </p:cNvSpPr>
          <p:nvPr/>
        </p:nvSpPr>
        <p:spPr>
          <a:xfrm xmlns:a="http://schemas.openxmlformats.org/drawingml/2006/main">
            <a:off x="8858250" y="4829175"/>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009D9A"/>
                </a:solidFill>
                <a:latin typeface="Arial"/>
                <a:ea typeface="Arial"/>
                <a:cs typeface="Arial"/>
              </a:defRPr>
            </a:defPPr>
            <a:lvl1pPr algn="l">
              <a:defRPr sz="3150" b="1">
                <a:solidFill>
                  <a:srgbClr val="009D9A"/>
                </a:solidFill>
                <a:latin typeface="Arial"/>
                <a:ea typeface="Arial"/>
                <a:cs typeface="Arial"/>
              </a:defRPr>
            </a:lvl1pPr>
            <a:lvl2pPr algn="l">
              <a:defRPr sz="3150" b="1">
                <a:solidFill>
                  <a:srgbClr val="009D9A"/>
                </a:solidFill>
                <a:latin typeface="Arial"/>
                <a:ea typeface="Arial"/>
                <a:cs typeface="Arial"/>
              </a:defRPr>
            </a:lvl2pPr>
            <a:lvl3pPr algn="l">
              <a:defRPr sz="3150" b="1">
                <a:solidFill>
                  <a:srgbClr val="009D9A"/>
                </a:solidFill>
                <a:latin typeface="Arial"/>
                <a:ea typeface="Arial"/>
                <a:cs typeface="Arial"/>
              </a:defRPr>
            </a:lvl3pPr>
            <a:lvl4pPr algn="l">
              <a:defRPr sz="3150" b="1">
                <a:solidFill>
                  <a:srgbClr val="009D9A"/>
                </a:solidFill>
                <a:latin typeface="Arial"/>
                <a:ea typeface="Arial"/>
                <a:cs typeface="Arial"/>
              </a:defRPr>
            </a:lvl4pPr>
            <a:lvl5pPr algn="l">
              <a:defRPr sz="3150" b="1">
                <a:solidFill>
                  <a:srgbClr val="009D9A"/>
                </a:solidFill>
                <a:latin typeface="Arial"/>
                <a:ea typeface="Arial"/>
                <a:cs typeface="Arial"/>
              </a:defRPr>
            </a:lvl5pPr>
            <a:lvl6pPr algn="l">
              <a:defRPr sz="3150" b="1">
                <a:solidFill>
                  <a:srgbClr val="009D9A"/>
                </a:solidFill>
                <a:latin typeface="Arial"/>
                <a:ea typeface="Arial"/>
                <a:cs typeface="Arial"/>
              </a:defRPr>
            </a:lvl6pPr>
            <a:lvl7pPr algn="l">
              <a:defRPr sz="3150" b="1">
                <a:solidFill>
                  <a:srgbClr val="009D9A"/>
                </a:solidFill>
                <a:latin typeface="Arial"/>
                <a:ea typeface="Arial"/>
                <a:cs typeface="Arial"/>
              </a:defRPr>
            </a:lvl7pPr>
            <a:lvl8pPr algn="l">
              <a:defRPr sz="3150" b="1">
                <a:solidFill>
                  <a:srgbClr val="009D9A"/>
                </a:solidFill>
                <a:latin typeface="Arial"/>
                <a:ea typeface="Arial"/>
                <a:cs typeface="Arial"/>
              </a:defRPr>
            </a:lvl8pPr>
            <a:lvl9pPr algn="l">
              <a:defRPr sz="3150" b="1">
                <a:solidFill>
                  <a:srgbClr val="009D9A"/>
                </a:solidFill>
                <a:latin typeface="Arial"/>
                <a:ea typeface="Arial"/>
                <a:cs typeface="Arial"/>
              </a:defRPr>
            </a:lvl9pPr>
          </a:lstStyle>
          <a:p xmlns:a="http://schemas.openxmlformats.org/drawingml/2006/main">
            <a:pPr algn="l">
              <a:defRPr sz="3150" b="1">
                <a:solidFill>
                  <a:srgbClr val="009D9A"/>
                </a:solidFill>
                <a:latin typeface="Arial"/>
                <a:ea typeface="Arial"/>
                <a:cs typeface="Arial"/>
              </a:defRPr>
            </a:pPr>
            <a:r>
              <a:rPr sz="3150" b="1">
                <a:solidFill>
                  <a:srgbClr val="009D9A"/>
                </a:solidFill>
                <a:latin typeface="Arial"/>
                <a:ea typeface="Arial"/>
                <a:cs typeface="Arial"/>
              </a:rPr>
              <a:t>0.962</a:t>
            </a:r>
          </a:p>
        </p:txBody>
      </p:sp>
      <p:sp>
        <p:nvSpPr>
          <p:cNvPr id="10" name="">
            <a:extLst xmlns:a="http://schemas.openxmlformats.org/drawingml/2006/main">
              <a:ext uri="{FF2B5EF4-FFF2-40B4-BE49-F238E27FC236}">
                <a16:creationId xmlns:a16="http://schemas.microsoft.com/office/drawing/2014/main" id="{2836C8A1-A254-42C2-B207-F2580A4C0C20}"/>
              </a:ext>
            </a:extLst>
          </p:cNvPr>
          <p:cNvSpPr>
            <a:spLocks xmlns:a="http://schemas.openxmlformats.org/drawingml/2006/main" noGrp="1"/>
          </p:cNvSpPr>
          <p:nvPr/>
        </p:nvSpPr>
        <p:spPr>
          <a:xfrm xmlns:a="http://schemas.openxmlformats.org/drawingml/2006/main">
            <a:off x="8858250" y="53435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with SLC + PNA</a:t>
            </a:r>
          </a:p>
        </p:txBody>
      </p:sp>
    </p:spTree>
    <p:extLst>
      <p:ext uri="{BB962C8B-B14F-4D97-AF65-F5344CB8AC3E}">
        <p14:creationId xmlns:p14="http://schemas.microsoft.com/office/powerpoint/2010/main" val="14908815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C23FBC2-581C-4EB0-85C1-8CB25AED6861}"/>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3794443F-DDF2-4097-8930-A34ED55B9B76}"/>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Mitigation raised the fidelity estimates</a:t>
            </a:r>
          </a:p>
        </p:txBody>
      </p:sp>
      <p:graphicFrame>
        <p:nvGraphicFramePr>
          <p:cNvPr id="3" name="Chart">
            <a:extLst xmlns:a="http://schemas.openxmlformats.org/drawingml/2006/main">
              <a:ext uri="{FF2B5EF4-FFF2-40B4-BE49-F238E27FC236}">
                <a16:creationId xmlns:a16="http://schemas.microsoft.com/office/drawing/2014/main" id="{D83702C6-D44D-42E8-8F29-6D75EBCD4972}"/>
              </a:ext>
            </a:extLst>
          </p:cNvPr>
          <p:cNvGraphicFramePr/>
          <p:nvPr/>
        </p:nvGraphicFramePr>
        <p:xfrm>
          <a:off xmlns:a="http://schemas.openxmlformats.org/drawingml/2006/main" x="714375" y="1762125"/>
          <a:ext xmlns:a="http://schemas.openxmlformats.org/drawingml/2006/main" cx="7048500" cy="3905250"/>
        </p:xfrm>
        <a:graphic xmlns:a="http://schemas.openxmlformats.org/drawingml/2006/main">
          <a:graphicData uri="http://schemas.openxmlformats.org/drawingml/2006/chart">
            <c:chart xmlns:r="http://schemas.openxmlformats.org/officeDocument/2006/relationships" xmlns:c="http://schemas.openxmlformats.org/drawingml/2006/chart" r:id="R7e2f5241bcfb4853"/>
          </a:graphicData>
        </a:graphic>
      </p:graphicFrame>
      <p:sp>
        <p:nvSpPr>
          <p:cNvPr id="4" name="">
            <a:extLst xmlns:a="http://schemas.openxmlformats.org/drawingml/2006/main">
              <a:ext uri="{FF2B5EF4-FFF2-40B4-BE49-F238E27FC236}">
                <a16:creationId xmlns:a16="http://schemas.microsoft.com/office/drawing/2014/main" id="{3446506C-B0B6-4032-B453-AD042EC2482F}"/>
              </a:ext>
            </a:extLst>
          </p:cNvPr>
          <p:cNvSpPr>
            <a:spLocks xmlns:a="http://schemas.openxmlformats.org/drawingml/2006/main" noGrp="1"/>
          </p:cNvSpPr>
          <p:nvPr/>
        </p:nvSpPr>
        <p:spPr>
          <a:xfrm xmlns:a="http://schemas.openxmlformats.org/drawingml/2006/main">
            <a:off x="8524875" y="219075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525252"/>
                </a:solidFill>
                <a:latin typeface="Arial"/>
                <a:ea typeface="Arial"/>
                <a:cs typeface="Arial"/>
              </a:defRPr>
            </a:defPPr>
            <a:lvl1pPr algn="l">
              <a:defRPr sz="1575" b="1">
                <a:solidFill>
                  <a:srgbClr val="525252"/>
                </a:solidFill>
                <a:latin typeface="Arial"/>
                <a:ea typeface="Arial"/>
                <a:cs typeface="Arial"/>
              </a:defRPr>
            </a:lvl1pPr>
            <a:lvl2pPr algn="l">
              <a:defRPr sz="1575" b="1">
                <a:solidFill>
                  <a:srgbClr val="525252"/>
                </a:solidFill>
                <a:latin typeface="Arial"/>
                <a:ea typeface="Arial"/>
                <a:cs typeface="Arial"/>
              </a:defRPr>
            </a:lvl2pPr>
            <a:lvl3pPr algn="l">
              <a:defRPr sz="1575" b="1">
                <a:solidFill>
                  <a:srgbClr val="525252"/>
                </a:solidFill>
                <a:latin typeface="Arial"/>
                <a:ea typeface="Arial"/>
                <a:cs typeface="Arial"/>
              </a:defRPr>
            </a:lvl3pPr>
            <a:lvl4pPr algn="l">
              <a:defRPr sz="1575" b="1">
                <a:solidFill>
                  <a:srgbClr val="525252"/>
                </a:solidFill>
                <a:latin typeface="Arial"/>
                <a:ea typeface="Arial"/>
                <a:cs typeface="Arial"/>
              </a:defRPr>
            </a:lvl4pPr>
            <a:lvl5pPr algn="l">
              <a:defRPr sz="1575" b="1">
                <a:solidFill>
                  <a:srgbClr val="525252"/>
                </a:solidFill>
                <a:latin typeface="Arial"/>
                <a:ea typeface="Arial"/>
                <a:cs typeface="Arial"/>
              </a:defRPr>
            </a:lvl5pPr>
            <a:lvl6pPr algn="l">
              <a:defRPr sz="1575" b="1">
                <a:solidFill>
                  <a:srgbClr val="525252"/>
                </a:solidFill>
                <a:latin typeface="Arial"/>
                <a:ea typeface="Arial"/>
                <a:cs typeface="Arial"/>
              </a:defRPr>
            </a:lvl6pPr>
            <a:lvl7pPr algn="l">
              <a:defRPr sz="1575" b="1">
                <a:solidFill>
                  <a:srgbClr val="525252"/>
                </a:solidFill>
                <a:latin typeface="Arial"/>
                <a:ea typeface="Arial"/>
                <a:cs typeface="Arial"/>
              </a:defRPr>
            </a:lvl7pPr>
            <a:lvl8pPr algn="l">
              <a:defRPr sz="1575" b="1">
                <a:solidFill>
                  <a:srgbClr val="525252"/>
                </a:solidFill>
                <a:latin typeface="Arial"/>
                <a:ea typeface="Arial"/>
                <a:cs typeface="Arial"/>
              </a:defRPr>
            </a:lvl8pPr>
            <a:lvl9pPr algn="l">
              <a:defRPr sz="1575" b="1">
                <a:solidFill>
                  <a:srgbClr val="525252"/>
                </a:solidFill>
                <a:latin typeface="Arial"/>
                <a:ea typeface="Arial"/>
                <a:cs typeface="Arial"/>
              </a:defRPr>
            </a:lvl9pPr>
          </a:lstStyle>
          <a:p xmlns:a="http://schemas.openxmlformats.org/drawingml/2006/main">
            <a:pPr algn="l">
              <a:defRPr sz="1575" b="1">
                <a:solidFill>
                  <a:srgbClr val="525252"/>
                </a:solidFill>
                <a:latin typeface="Arial"/>
                <a:ea typeface="Arial"/>
                <a:cs typeface="Arial"/>
              </a:defRPr>
            </a:pPr>
            <a:r>
              <a:rPr sz="1575" b="1">
                <a:solidFill>
                  <a:srgbClr val="525252"/>
                </a:solidFill>
                <a:latin typeface="Arial"/>
                <a:ea typeface="Arial"/>
                <a:cs typeface="Arial"/>
              </a:rPr>
              <a:t>At 1× noise</a:t>
            </a:r>
          </a:p>
        </p:txBody>
      </p:sp>
      <p:sp>
        <p:nvSpPr>
          <p:cNvPr id="5" name="">
            <a:extLst xmlns:a="http://schemas.openxmlformats.org/drawingml/2006/main">
              <a:ext uri="{FF2B5EF4-FFF2-40B4-BE49-F238E27FC236}">
                <a16:creationId xmlns:a16="http://schemas.microsoft.com/office/drawing/2014/main" id="{92CDBD87-62C4-48C1-8948-34EB1BF486C5}"/>
              </a:ext>
            </a:extLst>
          </p:cNvPr>
          <p:cNvSpPr>
            <a:spLocks xmlns:a="http://schemas.openxmlformats.org/drawingml/2006/main" noGrp="1"/>
          </p:cNvSpPr>
          <p:nvPr/>
        </p:nvSpPr>
        <p:spPr>
          <a:xfrm xmlns:a="http://schemas.openxmlformats.org/drawingml/2006/main">
            <a:off x="8524875" y="263842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8A3FFC"/>
                </a:solidFill>
                <a:latin typeface="Arial"/>
                <a:ea typeface="Arial"/>
                <a:cs typeface="Arial"/>
              </a:defRPr>
            </a:defPPr>
            <a:lvl1pPr algn="l">
              <a:defRPr sz="2925" b="1">
                <a:solidFill>
                  <a:srgbClr val="8A3FFC"/>
                </a:solidFill>
                <a:latin typeface="Arial"/>
                <a:ea typeface="Arial"/>
                <a:cs typeface="Arial"/>
              </a:defRPr>
            </a:lvl1pPr>
            <a:lvl2pPr algn="l">
              <a:defRPr sz="2925" b="1">
                <a:solidFill>
                  <a:srgbClr val="8A3FFC"/>
                </a:solidFill>
                <a:latin typeface="Arial"/>
                <a:ea typeface="Arial"/>
                <a:cs typeface="Arial"/>
              </a:defRPr>
            </a:lvl2pPr>
            <a:lvl3pPr algn="l">
              <a:defRPr sz="2925" b="1">
                <a:solidFill>
                  <a:srgbClr val="8A3FFC"/>
                </a:solidFill>
                <a:latin typeface="Arial"/>
                <a:ea typeface="Arial"/>
                <a:cs typeface="Arial"/>
              </a:defRPr>
            </a:lvl3pPr>
            <a:lvl4pPr algn="l">
              <a:defRPr sz="2925" b="1">
                <a:solidFill>
                  <a:srgbClr val="8A3FFC"/>
                </a:solidFill>
                <a:latin typeface="Arial"/>
                <a:ea typeface="Arial"/>
                <a:cs typeface="Arial"/>
              </a:defRPr>
            </a:lvl4pPr>
            <a:lvl5pPr algn="l">
              <a:defRPr sz="2925" b="1">
                <a:solidFill>
                  <a:srgbClr val="8A3FFC"/>
                </a:solidFill>
                <a:latin typeface="Arial"/>
                <a:ea typeface="Arial"/>
                <a:cs typeface="Arial"/>
              </a:defRPr>
            </a:lvl5pPr>
            <a:lvl6pPr algn="l">
              <a:defRPr sz="2925" b="1">
                <a:solidFill>
                  <a:srgbClr val="8A3FFC"/>
                </a:solidFill>
                <a:latin typeface="Arial"/>
                <a:ea typeface="Arial"/>
                <a:cs typeface="Arial"/>
              </a:defRPr>
            </a:lvl6pPr>
            <a:lvl7pPr algn="l">
              <a:defRPr sz="2925" b="1">
                <a:solidFill>
                  <a:srgbClr val="8A3FFC"/>
                </a:solidFill>
                <a:latin typeface="Arial"/>
                <a:ea typeface="Arial"/>
                <a:cs typeface="Arial"/>
              </a:defRPr>
            </a:lvl7pPr>
            <a:lvl8pPr algn="l">
              <a:defRPr sz="2925" b="1">
                <a:solidFill>
                  <a:srgbClr val="8A3FFC"/>
                </a:solidFill>
                <a:latin typeface="Arial"/>
                <a:ea typeface="Arial"/>
                <a:cs typeface="Arial"/>
              </a:defRPr>
            </a:lvl8pPr>
            <a:lvl9pPr algn="l">
              <a:defRPr sz="2925" b="1">
                <a:solidFill>
                  <a:srgbClr val="8A3FFC"/>
                </a:solidFill>
                <a:latin typeface="Arial"/>
                <a:ea typeface="Arial"/>
                <a:cs typeface="Arial"/>
              </a:defRPr>
            </a:lvl9pPr>
          </a:lstStyle>
          <a:p xmlns:a="http://schemas.openxmlformats.org/drawingml/2006/main">
            <a:pPr algn="l">
              <a:defRPr sz="2925" b="1">
                <a:solidFill>
                  <a:srgbClr val="8A3FFC"/>
                </a:solidFill>
                <a:latin typeface="Arial"/>
                <a:ea typeface="Arial"/>
                <a:cs typeface="Arial"/>
              </a:defRPr>
            </a:pPr>
            <a:r>
              <a:rPr sz="2925" b="1">
                <a:solidFill>
                  <a:srgbClr val="8A3FFC"/>
                </a:solidFill>
                <a:latin typeface="Arial"/>
                <a:ea typeface="Arial"/>
                <a:cs typeface="Arial"/>
              </a:rPr>
              <a:t>0.695</a:t>
            </a:r>
          </a:p>
        </p:txBody>
      </p:sp>
      <p:sp>
        <p:nvSpPr>
          <p:cNvPr id="6" name="">
            <a:extLst xmlns:a="http://schemas.openxmlformats.org/drawingml/2006/main">
              <a:ext uri="{FF2B5EF4-FFF2-40B4-BE49-F238E27FC236}">
                <a16:creationId xmlns:a16="http://schemas.microsoft.com/office/drawing/2014/main" id="{9F4C9349-2EA5-4CAF-A0E7-1BA37C6DB3CF}"/>
              </a:ext>
            </a:extLst>
          </p:cNvPr>
          <p:cNvSpPr>
            <a:spLocks xmlns:a="http://schemas.openxmlformats.org/drawingml/2006/main" noGrp="1"/>
          </p:cNvSpPr>
          <p:nvPr/>
        </p:nvSpPr>
        <p:spPr>
          <a:xfrm xmlns:a="http://schemas.openxmlformats.org/drawingml/2006/main">
            <a:off x="8524875" y="3143250"/>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noisy-state fidelity</a:t>
            </a:r>
          </a:p>
        </p:txBody>
      </p:sp>
      <p:sp>
        <p:nvSpPr>
          <p:cNvPr id="7" name="">
            <a:extLst xmlns:a="http://schemas.openxmlformats.org/drawingml/2006/main">
              <a:ext uri="{FF2B5EF4-FFF2-40B4-BE49-F238E27FC236}">
                <a16:creationId xmlns:a16="http://schemas.microsoft.com/office/drawing/2014/main" id="{DD1D9DF7-FF84-4D50-84DC-53FF8D7C59E3}"/>
              </a:ext>
            </a:extLst>
          </p:cNvPr>
          <p:cNvSpPr>
            <a:spLocks xmlns:a="http://schemas.openxmlformats.org/drawingml/2006/main" noGrp="1"/>
          </p:cNvSpPr>
          <p:nvPr/>
        </p:nvSpPr>
        <p:spPr>
          <a:xfrm xmlns:a="http://schemas.openxmlformats.org/drawingml/2006/main">
            <a:off x="8524875" y="376237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0F62FE"/>
                </a:solidFill>
                <a:latin typeface="Arial"/>
                <a:ea typeface="Arial"/>
                <a:cs typeface="Arial"/>
              </a:defRPr>
            </a:defPPr>
            <a:lvl1pPr algn="l">
              <a:defRPr sz="2925" b="1">
                <a:solidFill>
                  <a:srgbClr val="0F62FE"/>
                </a:solidFill>
                <a:latin typeface="Arial"/>
                <a:ea typeface="Arial"/>
                <a:cs typeface="Arial"/>
              </a:defRPr>
            </a:lvl1pPr>
            <a:lvl2pPr algn="l">
              <a:defRPr sz="2925" b="1">
                <a:solidFill>
                  <a:srgbClr val="0F62FE"/>
                </a:solidFill>
                <a:latin typeface="Arial"/>
                <a:ea typeface="Arial"/>
                <a:cs typeface="Arial"/>
              </a:defRPr>
            </a:lvl2pPr>
            <a:lvl3pPr algn="l">
              <a:defRPr sz="2925" b="1">
                <a:solidFill>
                  <a:srgbClr val="0F62FE"/>
                </a:solidFill>
                <a:latin typeface="Arial"/>
                <a:ea typeface="Arial"/>
                <a:cs typeface="Arial"/>
              </a:defRPr>
            </a:lvl3pPr>
            <a:lvl4pPr algn="l">
              <a:defRPr sz="2925" b="1">
                <a:solidFill>
                  <a:srgbClr val="0F62FE"/>
                </a:solidFill>
                <a:latin typeface="Arial"/>
                <a:ea typeface="Arial"/>
                <a:cs typeface="Arial"/>
              </a:defRPr>
            </a:lvl4pPr>
            <a:lvl5pPr algn="l">
              <a:defRPr sz="2925" b="1">
                <a:solidFill>
                  <a:srgbClr val="0F62FE"/>
                </a:solidFill>
                <a:latin typeface="Arial"/>
                <a:ea typeface="Arial"/>
                <a:cs typeface="Arial"/>
              </a:defRPr>
            </a:lvl5pPr>
            <a:lvl6pPr algn="l">
              <a:defRPr sz="2925" b="1">
                <a:solidFill>
                  <a:srgbClr val="0F62FE"/>
                </a:solidFill>
                <a:latin typeface="Arial"/>
                <a:ea typeface="Arial"/>
                <a:cs typeface="Arial"/>
              </a:defRPr>
            </a:lvl6pPr>
            <a:lvl7pPr algn="l">
              <a:defRPr sz="2925" b="1">
                <a:solidFill>
                  <a:srgbClr val="0F62FE"/>
                </a:solidFill>
                <a:latin typeface="Arial"/>
                <a:ea typeface="Arial"/>
                <a:cs typeface="Arial"/>
              </a:defRPr>
            </a:lvl7pPr>
            <a:lvl8pPr algn="l">
              <a:defRPr sz="2925" b="1">
                <a:solidFill>
                  <a:srgbClr val="0F62FE"/>
                </a:solidFill>
                <a:latin typeface="Arial"/>
                <a:ea typeface="Arial"/>
                <a:cs typeface="Arial"/>
              </a:defRPr>
            </a:lvl8pPr>
            <a:lvl9pPr algn="l">
              <a:defRPr sz="2925" b="1">
                <a:solidFill>
                  <a:srgbClr val="0F62FE"/>
                </a:solidFill>
                <a:latin typeface="Arial"/>
                <a:ea typeface="Arial"/>
                <a:cs typeface="Arial"/>
              </a:defRPr>
            </a:lvl9pPr>
          </a:lstStyle>
          <a:p xmlns:a="http://schemas.openxmlformats.org/drawingml/2006/main">
            <a:pPr algn="l">
              <a:defRPr sz="2925" b="1">
                <a:solidFill>
                  <a:srgbClr val="0F62FE"/>
                </a:solidFill>
                <a:latin typeface="Arial"/>
                <a:ea typeface="Arial"/>
                <a:cs typeface="Arial"/>
              </a:defRPr>
            </a:pPr>
            <a:r>
              <a:rPr sz="2925" b="1">
                <a:solidFill>
                  <a:srgbClr val="0F62FE"/>
                </a:solidFill>
                <a:latin typeface="Arial"/>
                <a:ea typeface="Arial"/>
                <a:cs typeface="Arial"/>
              </a:rPr>
              <a:t>1.004</a:t>
            </a:r>
          </a:p>
        </p:txBody>
      </p:sp>
      <p:sp>
        <p:nvSpPr>
          <p:cNvPr id="8" name="">
            <a:extLst xmlns:a="http://schemas.openxmlformats.org/drawingml/2006/main">
              <a:ext uri="{FF2B5EF4-FFF2-40B4-BE49-F238E27FC236}">
                <a16:creationId xmlns:a16="http://schemas.microsoft.com/office/drawing/2014/main" id="{597A3155-EF81-450B-B58C-29D04BE54A71}"/>
              </a:ext>
            </a:extLst>
          </p:cNvPr>
          <p:cNvSpPr>
            <a:spLocks xmlns:a="http://schemas.openxmlformats.org/drawingml/2006/main" noGrp="1"/>
          </p:cNvSpPr>
          <p:nvPr/>
        </p:nvSpPr>
        <p:spPr>
          <a:xfrm xmlns:a="http://schemas.openxmlformats.org/drawingml/2006/main">
            <a:off x="8524875" y="4267200"/>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full-PNA projector estimate</a:t>
            </a:r>
          </a:p>
        </p:txBody>
      </p:sp>
      <p:sp>
        <p:nvSpPr>
          <p:cNvPr id="9" name="">
            <a:extLst xmlns:a="http://schemas.openxmlformats.org/drawingml/2006/main">
              <a:ext uri="{FF2B5EF4-FFF2-40B4-BE49-F238E27FC236}">
                <a16:creationId xmlns:a16="http://schemas.microsoft.com/office/drawing/2014/main" id="{D923FBF5-2789-4865-B1F7-71EE5354852D}"/>
              </a:ext>
            </a:extLst>
          </p:cNvPr>
          <p:cNvSpPr>
            <a:spLocks xmlns:a="http://schemas.openxmlformats.org/drawingml/2006/main" noGrp="1"/>
          </p:cNvSpPr>
          <p:nvPr/>
        </p:nvSpPr>
        <p:spPr>
          <a:xfrm xmlns:a="http://schemas.openxmlformats.org/drawingml/2006/main">
            <a:off x="8524875" y="471487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009D9A"/>
                </a:solidFill>
                <a:latin typeface="Arial"/>
                <a:ea typeface="Arial"/>
                <a:cs typeface="Arial"/>
              </a:defRPr>
            </a:defPPr>
            <a:lvl1pPr algn="l">
              <a:defRPr sz="2925" b="1">
                <a:solidFill>
                  <a:srgbClr val="009D9A"/>
                </a:solidFill>
                <a:latin typeface="Arial"/>
                <a:ea typeface="Arial"/>
                <a:cs typeface="Arial"/>
              </a:defRPr>
            </a:lvl1pPr>
            <a:lvl2pPr algn="l">
              <a:defRPr sz="2925" b="1">
                <a:solidFill>
                  <a:srgbClr val="009D9A"/>
                </a:solidFill>
                <a:latin typeface="Arial"/>
                <a:ea typeface="Arial"/>
                <a:cs typeface="Arial"/>
              </a:defRPr>
            </a:lvl2pPr>
            <a:lvl3pPr algn="l">
              <a:defRPr sz="2925" b="1">
                <a:solidFill>
                  <a:srgbClr val="009D9A"/>
                </a:solidFill>
                <a:latin typeface="Arial"/>
                <a:ea typeface="Arial"/>
                <a:cs typeface="Arial"/>
              </a:defRPr>
            </a:lvl3pPr>
            <a:lvl4pPr algn="l">
              <a:defRPr sz="2925" b="1">
                <a:solidFill>
                  <a:srgbClr val="009D9A"/>
                </a:solidFill>
                <a:latin typeface="Arial"/>
                <a:ea typeface="Arial"/>
                <a:cs typeface="Arial"/>
              </a:defRPr>
            </a:lvl4pPr>
            <a:lvl5pPr algn="l">
              <a:defRPr sz="2925" b="1">
                <a:solidFill>
                  <a:srgbClr val="009D9A"/>
                </a:solidFill>
                <a:latin typeface="Arial"/>
                <a:ea typeface="Arial"/>
                <a:cs typeface="Arial"/>
              </a:defRPr>
            </a:lvl5pPr>
            <a:lvl6pPr algn="l">
              <a:defRPr sz="2925" b="1">
                <a:solidFill>
                  <a:srgbClr val="009D9A"/>
                </a:solidFill>
                <a:latin typeface="Arial"/>
                <a:ea typeface="Arial"/>
                <a:cs typeface="Arial"/>
              </a:defRPr>
            </a:lvl6pPr>
            <a:lvl7pPr algn="l">
              <a:defRPr sz="2925" b="1">
                <a:solidFill>
                  <a:srgbClr val="009D9A"/>
                </a:solidFill>
                <a:latin typeface="Arial"/>
                <a:ea typeface="Arial"/>
                <a:cs typeface="Arial"/>
              </a:defRPr>
            </a:lvl7pPr>
            <a:lvl8pPr algn="l">
              <a:defRPr sz="2925" b="1">
                <a:solidFill>
                  <a:srgbClr val="009D9A"/>
                </a:solidFill>
                <a:latin typeface="Arial"/>
                <a:ea typeface="Arial"/>
                <a:cs typeface="Arial"/>
              </a:defRPr>
            </a:lvl8pPr>
            <a:lvl9pPr algn="l">
              <a:defRPr sz="2925" b="1">
                <a:solidFill>
                  <a:srgbClr val="009D9A"/>
                </a:solidFill>
                <a:latin typeface="Arial"/>
                <a:ea typeface="Arial"/>
                <a:cs typeface="Arial"/>
              </a:defRPr>
            </a:lvl9pPr>
          </a:lstStyle>
          <a:p xmlns:a="http://schemas.openxmlformats.org/drawingml/2006/main">
            <a:pPr algn="l">
              <a:defRPr sz="2925" b="1">
                <a:solidFill>
                  <a:srgbClr val="009D9A"/>
                </a:solidFill>
                <a:latin typeface="Arial"/>
                <a:ea typeface="Arial"/>
                <a:cs typeface="Arial"/>
              </a:defRPr>
            </a:pPr>
            <a:r>
              <a:rPr sz="2925" b="1">
                <a:solidFill>
                  <a:srgbClr val="009D9A"/>
                </a:solidFill>
                <a:latin typeface="Arial"/>
                <a:ea typeface="Arial"/>
                <a:cs typeface="Arial"/>
              </a:rPr>
              <a:t>0.892</a:t>
            </a:r>
          </a:p>
        </p:txBody>
      </p:sp>
      <p:sp>
        <p:nvSpPr>
          <p:cNvPr id="10" name="">
            <a:extLst xmlns:a="http://schemas.openxmlformats.org/drawingml/2006/main">
              <a:ext uri="{FF2B5EF4-FFF2-40B4-BE49-F238E27FC236}">
                <a16:creationId xmlns:a16="http://schemas.microsoft.com/office/drawing/2014/main" id="{2830AA07-4840-4E1C-9D4B-9816D71EB209}"/>
              </a:ext>
            </a:extLst>
          </p:cNvPr>
          <p:cNvSpPr>
            <a:spLocks xmlns:a="http://schemas.openxmlformats.org/drawingml/2006/main" noGrp="1"/>
          </p:cNvSpPr>
          <p:nvPr/>
        </p:nvSpPr>
        <p:spPr>
          <a:xfrm xmlns:a="http://schemas.openxmlformats.org/drawingml/2006/main">
            <a:off x="8524875" y="5219700"/>
            <a:ext cx="2667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SLC + PNA projector estimate</a:t>
            </a:r>
          </a:p>
        </p:txBody>
      </p:sp>
      <p:sp>
        <p:nvSpPr>
          <p:cNvPr id="11" name="">
            <a:extLst xmlns:a="http://schemas.openxmlformats.org/drawingml/2006/main">
              <a:ext uri="{FF2B5EF4-FFF2-40B4-BE49-F238E27FC236}">
                <a16:creationId xmlns:a16="http://schemas.microsoft.com/office/drawing/2014/main" id="{40F1BCF9-0515-45BC-AC9B-80EA665BBD0D}"/>
              </a:ext>
            </a:extLst>
          </p:cNvPr>
          <p:cNvSpPr>
            <a:spLocks xmlns:a="http://schemas.openxmlformats.org/drawingml/2006/main" noGrp="1"/>
          </p:cNvSpPr>
          <p:nvPr/>
        </p:nvSpPr>
        <p:spPr>
          <a:xfrm xmlns:a="http://schemas.openxmlformats.org/drawingml/2006/main">
            <a:off x="714375" y="595312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25252"/>
                </a:solidFill>
                <a:latin typeface="Arial"/>
                <a:ea typeface="Arial"/>
                <a:cs typeface="Arial"/>
              </a:defRPr>
            </a:defPPr>
            <a:lvl1pPr algn="l">
              <a:defRPr sz="1275" b="0">
                <a:solidFill>
                  <a:srgbClr val="525252"/>
                </a:solidFill>
                <a:latin typeface="Arial"/>
                <a:ea typeface="Arial"/>
                <a:cs typeface="Arial"/>
              </a:defRPr>
            </a:lvl1pPr>
            <a:lvl2pPr algn="l">
              <a:defRPr sz="1275" b="0">
                <a:solidFill>
                  <a:srgbClr val="525252"/>
                </a:solidFill>
                <a:latin typeface="Arial"/>
                <a:ea typeface="Arial"/>
                <a:cs typeface="Arial"/>
              </a:defRPr>
            </a:lvl2pPr>
            <a:lvl3pPr algn="l">
              <a:defRPr sz="1275" b="0">
                <a:solidFill>
                  <a:srgbClr val="525252"/>
                </a:solidFill>
                <a:latin typeface="Arial"/>
                <a:ea typeface="Arial"/>
                <a:cs typeface="Arial"/>
              </a:defRPr>
            </a:lvl3pPr>
            <a:lvl4pPr algn="l">
              <a:defRPr sz="1275" b="0">
                <a:solidFill>
                  <a:srgbClr val="525252"/>
                </a:solidFill>
                <a:latin typeface="Arial"/>
                <a:ea typeface="Arial"/>
                <a:cs typeface="Arial"/>
              </a:defRPr>
            </a:lvl4pPr>
            <a:lvl5pPr algn="l">
              <a:defRPr sz="1275" b="0">
                <a:solidFill>
                  <a:srgbClr val="525252"/>
                </a:solidFill>
                <a:latin typeface="Arial"/>
                <a:ea typeface="Arial"/>
                <a:cs typeface="Arial"/>
              </a:defRPr>
            </a:lvl5pPr>
            <a:lvl6pPr algn="l">
              <a:defRPr sz="1275" b="0">
                <a:solidFill>
                  <a:srgbClr val="525252"/>
                </a:solidFill>
                <a:latin typeface="Arial"/>
                <a:ea typeface="Arial"/>
                <a:cs typeface="Arial"/>
              </a:defRPr>
            </a:lvl6pPr>
            <a:lvl7pPr algn="l">
              <a:defRPr sz="1275" b="0">
                <a:solidFill>
                  <a:srgbClr val="525252"/>
                </a:solidFill>
                <a:latin typeface="Arial"/>
                <a:ea typeface="Arial"/>
                <a:cs typeface="Arial"/>
              </a:defRPr>
            </a:lvl7pPr>
            <a:lvl8pPr algn="l">
              <a:defRPr sz="1275" b="0">
                <a:solidFill>
                  <a:srgbClr val="525252"/>
                </a:solidFill>
                <a:latin typeface="Arial"/>
                <a:ea typeface="Arial"/>
                <a:cs typeface="Arial"/>
              </a:defRPr>
            </a:lvl8pPr>
            <a:lvl9pPr algn="l">
              <a:defRPr sz="1275" b="0">
                <a:solidFill>
                  <a:srgbClr val="525252"/>
                </a:solidFill>
                <a:latin typeface="Arial"/>
                <a:ea typeface="Arial"/>
                <a:cs typeface="Arial"/>
              </a:defRPr>
            </a:lvl9pPr>
          </a:lstStyle>
          <a:p xmlns:a="http://schemas.openxmlformats.org/drawingml/2006/main">
            <a:pPr algn="l">
              <a:defRPr sz="1275" b="0">
                <a:solidFill>
                  <a:srgbClr val="525252"/>
                </a:solidFill>
                <a:latin typeface="Arial"/>
                <a:ea typeface="Arial"/>
                <a:cs typeface="Arial"/>
              </a:defRPr>
            </a:pPr>
            <a:r>
              <a:rPr sz="1275" b="0">
                <a:solidFill>
                  <a:srgbClr val="525252"/>
                </a:solidFill>
                <a:latin typeface="Arial"/>
                <a:ea typeface="Arial"/>
                <a:cs typeface="Arial"/>
              </a:rPr>
              <a:t>Corrected projector values are estimates and can exceed 1; physical fidelity cannot.</a:t>
            </a:r>
          </a:p>
        </p:txBody>
      </p:sp>
    </p:spTree>
    <p:extLst>
      <p:ext uri="{BB962C8B-B14F-4D97-AF65-F5344CB8AC3E}">
        <p14:creationId xmlns:p14="http://schemas.microsoft.com/office/powerpoint/2010/main" val="18141178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4A2C9AB-0090-44B5-B87F-53F512A78F42}"/>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CECBB636-F92A-484F-8EDB-FCC55725406B}"/>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SLC lowered setup time across the sweep</a:t>
            </a:r>
          </a:p>
        </p:txBody>
      </p:sp>
      <p:graphicFrame>
        <p:nvGraphicFramePr>
          <p:cNvPr id="3" name="Chart">
            <a:extLst xmlns:a="http://schemas.openxmlformats.org/drawingml/2006/main">
              <a:ext uri="{FF2B5EF4-FFF2-40B4-BE49-F238E27FC236}">
                <a16:creationId xmlns:a16="http://schemas.microsoft.com/office/drawing/2014/main" id="{C6FAD4BB-1906-4E61-9385-CFEC75FAB593}"/>
              </a:ext>
            </a:extLst>
          </p:cNvPr>
          <p:cNvGraphicFramePr/>
          <p:nvPr/>
        </p:nvGraphicFramePr>
        <p:xfrm>
          <a:off xmlns:a="http://schemas.openxmlformats.org/drawingml/2006/main" x="666750" y="1762125"/>
          <a:ext xmlns:a="http://schemas.openxmlformats.org/drawingml/2006/main" cx="7239000" cy="3905250"/>
        </p:xfrm>
        <a:graphic xmlns:a="http://schemas.openxmlformats.org/drawingml/2006/main">
          <a:graphicData uri="http://schemas.openxmlformats.org/drawingml/2006/chart">
            <c:chart xmlns:r="http://schemas.openxmlformats.org/officeDocument/2006/relationships" xmlns:c="http://schemas.openxmlformats.org/drawingml/2006/chart" r:id="R9e14e3ed800245ef"/>
          </a:graphicData>
        </a:graphic>
      </p:graphicFrame>
      <p:sp>
        <p:nvSpPr>
          <p:cNvPr id="4" name="">
            <a:extLst xmlns:a="http://schemas.openxmlformats.org/drawingml/2006/main">
              <a:ext uri="{FF2B5EF4-FFF2-40B4-BE49-F238E27FC236}">
                <a16:creationId xmlns:a16="http://schemas.microsoft.com/office/drawing/2014/main" id="{C4654DFA-B64F-4411-B871-5801C9804249}"/>
              </a:ext>
            </a:extLst>
          </p:cNvPr>
          <p:cNvSpPr>
            <a:spLocks xmlns:a="http://schemas.openxmlformats.org/drawingml/2006/main" noGrp="1"/>
          </p:cNvSpPr>
          <p:nvPr/>
        </p:nvSpPr>
        <p:spPr>
          <a:xfrm xmlns:a="http://schemas.openxmlformats.org/drawingml/2006/main">
            <a:off x="8572500" y="22383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525252"/>
                </a:solidFill>
                <a:latin typeface="Arial"/>
                <a:ea typeface="Arial"/>
                <a:cs typeface="Arial"/>
              </a:defRPr>
            </a:defPPr>
            <a:lvl1pPr algn="l">
              <a:defRPr sz="1650" b="1">
                <a:solidFill>
                  <a:srgbClr val="525252"/>
                </a:solidFill>
                <a:latin typeface="Arial"/>
                <a:ea typeface="Arial"/>
                <a:cs typeface="Arial"/>
              </a:defRPr>
            </a:lvl1pPr>
            <a:lvl2pPr algn="l">
              <a:defRPr sz="1650" b="1">
                <a:solidFill>
                  <a:srgbClr val="525252"/>
                </a:solidFill>
                <a:latin typeface="Arial"/>
                <a:ea typeface="Arial"/>
                <a:cs typeface="Arial"/>
              </a:defRPr>
            </a:lvl2pPr>
            <a:lvl3pPr algn="l">
              <a:defRPr sz="1650" b="1">
                <a:solidFill>
                  <a:srgbClr val="525252"/>
                </a:solidFill>
                <a:latin typeface="Arial"/>
                <a:ea typeface="Arial"/>
                <a:cs typeface="Arial"/>
              </a:defRPr>
            </a:lvl3pPr>
            <a:lvl4pPr algn="l">
              <a:defRPr sz="1650" b="1">
                <a:solidFill>
                  <a:srgbClr val="525252"/>
                </a:solidFill>
                <a:latin typeface="Arial"/>
                <a:ea typeface="Arial"/>
                <a:cs typeface="Arial"/>
              </a:defRPr>
            </a:lvl4pPr>
            <a:lvl5pPr algn="l">
              <a:defRPr sz="1650" b="1">
                <a:solidFill>
                  <a:srgbClr val="525252"/>
                </a:solidFill>
                <a:latin typeface="Arial"/>
                <a:ea typeface="Arial"/>
                <a:cs typeface="Arial"/>
              </a:defRPr>
            </a:lvl5pPr>
            <a:lvl6pPr algn="l">
              <a:defRPr sz="1650" b="1">
                <a:solidFill>
                  <a:srgbClr val="525252"/>
                </a:solidFill>
                <a:latin typeface="Arial"/>
                <a:ea typeface="Arial"/>
                <a:cs typeface="Arial"/>
              </a:defRPr>
            </a:lvl6pPr>
            <a:lvl7pPr algn="l">
              <a:defRPr sz="1650" b="1">
                <a:solidFill>
                  <a:srgbClr val="525252"/>
                </a:solidFill>
                <a:latin typeface="Arial"/>
                <a:ea typeface="Arial"/>
                <a:cs typeface="Arial"/>
              </a:defRPr>
            </a:lvl7pPr>
            <a:lvl8pPr algn="l">
              <a:defRPr sz="1650" b="1">
                <a:solidFill>
                  <a:srgbClr val="525252"/>
                </a:solidFill>
                <a:latin typeface="Arial"/>
                <a:ea typeface="Arial"/>
                <a:cs typeface="Arial"/>
              </a:defRPr>
            </a:lvl8pPr>
            <a:lvl9pPr algn="l">
              <a:defRPr sz="1650" b="1">
                <a:solidFill>
                  <a:srgbClr val="525252"/>
                </a:solidFill>
                <a:latin typeface="Arial"/>
                <a:ea typeface="Arial"/>
                <a:cs typeface="Arial"/>
              </a:defRPr>
            </a:lvl9pPr>
          </a:lstStyle>
          <a:p xmlns:a="http://schemas.openxmlformats.org/drawingml/2006/main">
            <a:pPr algn="l">
              <a:defRPr sz="1650" b="1">
                <a:solidFill>
                  <a:srgbClr val="525252"/>
                </a:solidFill>
                <a:latin typeface="Arial"/>
                <a:ea typeface="Arial"/>
                <a:cs typeface="Arial"/>
              </a:defRPr>
            </a:pPr>
            <a:r>
              <a:rPr sz="1650" b="1">
                <a:solidFill>
                  <a:srgbClr val="525252"/>
                </a:solidFill>
                <a:latin typeface="Arial"/>
                <a:ea typeface="Arial"/>
                <a:cs typeface="Arial"/>
              </a:rPr>
              <a:t>At 1× noise</a:t>
            </a:r>
          </a:p>
        </p:txBody>
      </p:sp>
      <p:sp>
        <p:nvSpPr>
          <p:cNvPr id="5" name="">
            <a:extLst xmlns:a="http://schemas.openxmlformats.org/drawingml/2006/main">
              <a:ext uri="{FF2B5EF4-FFF2-40B4-BE49-F238E27FC236}">
                <a16:creationId xmlns:a16="http://schemas.microsoft.com/office/drawing/2014/main" id="{06849C10-8829-485F-BD92-7D8003DE26FA}"/>
              </a:ext>
            </a:extLst>
          </p:cNvPr>
          <p:cNvSpPr>
            <a:spLocks xmlns:a="http://schemas.openxmlformats.org/drawingml/2006/main" noGrp="1"/>
          </p:cNvSpPr>
          <p:nvPr/>
        </p:nvSpPr>
        <p:spPr>
          <a:xfrm xmlns:a="http://schemas.openxmlformats.org/drawingml/2006/main">
            <a:off x="8572500" y="272415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525252"/>
                </a:solidFill>
                <a:latin typeface="Arial"/>
                <a:ea typeface="Arial"/>
                <a:cs typeface="Arial"/>
              </a:defRPr>
            </a:defPPr>
            <a:lvl1pPr algn="l">
              <a:defRPr sz="2850" b="1">
                <a:solidFill>
                  <a:srgbClr val="525252"/>
                </a:solidFill>
                <a:latin typeface="Arial"/>
                <a:ea typeface="Arial"/>
                <a:cs typeface="Arial"/>
              </a:defRPr>
            </a:lvl1pPr>
            <a:lvl2pPr algn="l">
              <a:defRPr sz="2850" b="1">
                <a:solidFill>
                  <a:srgbClr val="525252"/>
                </a:solidFill>
                <a:latin typeface="Arial"/>
                <a:ea typeface="Arial"/>
                <a:cs typeface="Arial"/>
              </a:defRPr>
            </a:lvl2pPr>
            <a:lvl3pPr algn="l">
              <a:defRPr sz="2850" b="1">
                <a:solidFill>
                  <a:srgbClr val="525252"/>
                </a:solidFill>
                <a:latin typeface="Arial"/>
                <a:ea typeface="Arial"/>
                <a:cs typeface="Arial"/>
              </a:defRPr>
            </a:lvl3pPr>
            <a:lvl4pPr algn="l">
              <a:defRPr sz="2850" b="1">
                <a:solidFill>
                  <a:srgbClr val="525252"/>
                </a:solidFill>
                <a:latin typeface="Arial"/>
                <a:ea typeface="Arial"/>
                <a:cs typeface="Arial"/>
              </a:defRPr>
            </a:lvl4pPr>
            <a:lvl5pPr algn="l">
              <a:defRPr sz="2850" b="1">
                <a:solidFill>
                  <a:srgbClr val="525252"/>
                </a:solidFill>
                <a:latin typeface="Arial"/>
                <a:ea typeface="Arial"/>
                <a:cs typeface="Arial"/>
              </a:defRPr>
            </a:lvl5pPr>
            <a:lvl6pPr algn="l">
              <a:defRPr sz="2850" b="1">
                <a:solidFill>
                  <a:srgbClr val="525252"/>
                </a:solidFill>
                <a:latin typeface="Arial"/>
                <a:ea typeface="Arial"/>
                <a:cs typeface="Arial"/>
              </a:defRPr>
            </a:lvl6pPr>
            <a:lvl7pPr algn="l">
              <a:defRPr sz="2850" b="1">
                <a:solidFill>
                  <a:srgbClr val="525252"/>
                </a:solidFill>
                <a:latin typeface="Arial"/>
                <a:ea typeface="Arial"/>
                <a:cs typeface="Arial"/>
              </a:defRPr>
            </a:lvl7pPr>
            <a:lvl8pPr algn="l">
              <a:defRPr sz="2850" b="1">
                <a:solidFill>
                  <a:srgbClr val="525252"/>
                </a:solidFill>
                <a:latin typeface="Arial"/>
                <a:ea typeface="Arial"/>
                <a:cs typeface="Arial"/>
              </a:defRPr>
            </a:lvl8pPr>
            <a:lvl9pPr algn="l">
              <a:defRPr sz="2850" b="1">
                <a:solidFill>
                  <a:srgbClr val="525252"/>
                </a:solidFill>
                <a:latin typeface="Arial"/>
                <a:ea typeface="Arial"/>
                <a:cs typeface="Arial"/>
              </a:defRPr>
            </a:lvl9pPr>
          </a:lstStyle>
          <a:p xmlns:a="http://schemas.openxmlformats.org/drawingml/2006/main">
            <a:pPr algn="l">
              <a:defRPr sz="2850" b="1">
                <a:solidFill>
                  <a:srgbClr val="525252"/>
                </a:solidFill>
                <a:latin typeface="Arial"/>
                <a:ea typeface="Arial"/>
                <a:cs typeface="Arial"/>
              </a:defRPr>
            </a:pPr>
            <a:r>
              <a:rPr sz="2850" b="1">
                <a:solidFill>
                  <a:srgbClr val="525252"/>
                </a:solidFill>
                <a:latin typeface="Arial"/>
                <a:ea typeface="Arial"/>
                <a:cs typeface="Arial"/>
              </a:rPr>
              <a:t>1.23 s</a:t>
            </a:r>
          </a:p>
        </p:txBody>
      </p:sp>
      <p:sp>
        <p:nvSpPr>
          <p:cNvPr id="6" name="">
            <a:extLst xmlns:a="http://schemas.openxmlformats.org/drawingml/2006/main">
              <a:ext uri="{FF2B5EF4-FFF2-40B4-BE49-F238E27FC236}">
                <a16:creationId xmlns:a16="http://schemas.microsoft.com/office/drawing/2014/main" id="{98643797-9A54-4189-A495-7D73F7F608B9}"/>
              </a:ext>
            </a:extLst>
          </p:cNvPr>
          <p:cNvSpPr>
            <a:spLocks xmlns:a="http://schemas.openxmlformats.org/drawingml/2006/main" noGrp="1"/>
          </p:cNvSpPr>
          <p:nvPr/>
        </p:nvSpPr>
        <p:spPr>
          <a:xfrm xmlns:a="http://schemas.openxmlformats.org/drawingml/2006/main">
            <a:off x="8572500" y="3238500"/>
            <a:ext cx="2667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full PNA setup</a:t>
            </a:r>
          </a:p>
        </p:txBody>
      </p:sp>
      <p:sp>
        <p:nvSpPr>
          <p:cNvPr id="7" name="">
            <a:extLst xmlns:a="http://schemas.openxmlformats.org/drawingml/2006/main">
              <a:ext uri="{FF2B5EF4-FFF2-40B4-BE49-F238E27FC236}">
                <a16:creationId xmlns:a16="http://schemas.microsoft.com/office/drawing/2014/main" id="{26F4C300-58C4-40F3-8A24-ABB4553A11BC}"/>
              </a:ext>
            </a:extLst>
          </p:cNvPr>
          <p:cNvSpPr>
            <a:spLocks xmlns:a="http://schemas.openxmlformats.org/drawingml/2006/main" noGrp="1"/>
          </p:cNvSpPr>
          <p:nvPr/>
        </p:nvSpPr>
        <p:spPr>
          <a:xfrm xmlns:a="http://schemas.openxmlformats.org/drawingml/2006/main">
            <a:off x="8572500" y="382905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009D9A"/>
                </a:solidFill>
                <a:latin typeface="Arial"/>
                <a:ea typeface="Arial"/>
                <a:cs typeface="Arial"/>
              </a:defRPr>
            </a:defPPr>
            <a:lvl1pPr algn="l">
              <a:defRPr sz="2850" b="1">
                <a:solidFill>
                  <a:srgbClr val="009D9A"/>
                </a:solidFill>
                <a:latin typeface="Arial"/>
                <a:ea typeface="Arial"/>
                <a:cs typeface="Arial"/>
              </a:defRPr>
            </a:lvl1pPr>
            <a:lvl2pPr algn="l">
              <a:defRPr sz="2850" b="1">
                <a:solidFill>
                  <a:srgbClr val="009D9A"/>
                </a:solidFill>
                <a:latin typeface="Arial"/>
                <a:ea typeface="Arial"/>
                <a:cs typeface="Arial"/>
              </a:defRPr>
            </a:lvl2pPr>
            <a:lvl3pPr algn="l">
              <a:defRPr sz="2850" b="1">
                <a:solidFill>
                  <a:srgbClr val="009D9A"/>
                </a:solidFill>
                <a:latin typeface="Arial"/>
                <a:ea typeface="Arial"/>
                <a:cs typeface="Arial"/>
              </a:defRPr>
            </a:lvl3pPr>
            <a:lvl4pPr algn="l">
              <a:defRPr sz="2850" b="1">
                <a:solidFill>
                  <a:srgbClr val="009D9A"/>
                </a:solidFill>
                <a:latin typeface="Arial"/>
                <a:ea typeface="Arial"/>
                <a:cs typeface="Arial"/>
              </a:defRPr>
            </a:lvl4pPr>
            <a:lvl5pPr algn="l">
              <a:defRPr sz="2850" b="1">
                <a:solidFill>
                  <a:srgbClr val="009D9A"/>
                </a:solidFill>
                <a:latin typeface="Arial"/>
                <a:ea typeface="Arial"/>
                <a:cs typeface="Arial"/>
              </a:defRPr>
            </a:lvl5pPr>
            <a:lvl6pPr algn="l">
              <a:defRPr sz="2850" b="1">
                <a:solidFill>
                  <a:srgbClr val="009D9A"/>
                </a:solidFill>
                <a:latin typeface="Arial"/>
                <a:ea typeface="Arial"/>
                <a:cs typeface="Arial"/>
              </a:defRPr>
            </a:lvl6pPr>
            <a:lvl7pPr algn="l">
              <a:defRPr sz="2850" b="1">
                <a:solidFill>
                  <a:srgbClr val="009D9A"/>
                </a:solidFill>
                <a:latin typeface="Arial"/>
                <a:ea typeface="Arial"/>
                <a:cs typeface="Arial"/>
              </a:defRPr>
            </a:lvl7pPr>
            <a:lvl8pPr algn="l">
              <a:defRPr sz="2850" b="1">
                <a:solidFill>
                  <a:srgbClr val="009D9A"/>
                </a:solidFill>
                <a:latin typeface="Arial"/>
                <a:ea typeface="Arial"/>
                <a:cs typeface="Arial"/>
              </a:defRPr>
            </a:lvl8pPr>
            <a:lvl9pPr algn="l">
              <a:defRPr sz="2850" b="1">
                <a:solidFill>
                  <a:srgbClr val="009D9A"/>
                </a:solidFill>
                <a:latin typeface="Arial"/>
                <a:ea typeface="Arial"/>
                <a:cs typeface="Arial"/>
              </a:defRPr>
            </a:lvl9pPr>
          </a:lstStyle>
          <a:p xmlns:a="http://schemas.openxmlformats.org/drawingml/2006/main">
            <a:pPr algn="l">
              <a:defRPr sz="2850" b="1">
                <a:solidFill>
                  <a:srgbClr val="009D9A"/>
                </a:solidFill>
                <a:latin typeface="Arial"/>
                <a:ea typeface="Arial"/>
                <a:cs typeface="Arial"/>
              </a:defRPr>
            </a:pPr>
            <a:r>
              <a:rPr sz="2850" b="1">
                <a:solidFill>
                  <a:srgbClr val="009D9A"/>
                </a:solidFill>
                <a:latin typeface="Arial"/>
                <a:ea typeface="Arial"/>
                <a:cs typeface="Arial"/>
              </a:rPr>
              <a:t>1.12 s</a:t>
            </a:r>
          </a:p>
        </p:txBody>
      </p:sp>
      <p:sp>
        <p:nvSpPr>
          <p:cNvPr id="8" name="">
            <a:extLst xmlns:a="http://schemas.openxmlformats.org/drawingml/2006/main">
              <a:ext uri="{FF2B5EF4-FFF2-40B4-BE49-F238E27FC236}">
                <a16:creationId xmlns:a16="http://schemas.microsoft.com/office/drawing/2014/main" id="{436154C5-F6B9-447D-B991-4F5AC371B548}"/>
              </a:ext>
            </a:extLst>
          </p:cNvPr>
          <p:cNvSpPr>
            <a:spLocks xmlns:a="http://schemas.openxmlformats.org/drawingml/2006/main" noGrp="1"/>
          </p:cNvSpPr>
          <p:nvPr/>
        </p:nvSpPr>
        <p:spPr>
          <a:xfrm xmlns:a="http://schemas.openxmlformats.org/drawingml/2006/main">
            <a:off x="8572500" y="43434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SLC + PNA setup (9% less)</a:t>
            </a:r>
          </a:p>
        </p:txBody>
      </p:sp>
      <p:sp>
        <p:nvSpPr>
          <p:cNvPr id="9" name="">
            <a:extLst xmlns:a="http://schemas.openxmlformats.org/drawingml/2006/main">
              <a:ext uri="{FF2B5EF4-FFF2-40B4-BE49-F238E27FC236}">
                <a16:creationId xmlns:a16="http://schemas.microsoft.com/office/drawing/2014/main" id="{08C1C361-A538-4997-8AFF-311E005DCAE5}"/>
              </a:ext>
            </a:extLst>
          </p:cNvPr>
          <p:cNvSpPr>
            <a:spLocks xmlns:a="http://schemas.openxmlformats.org/drawingml/2006/main" noGrp="1"/>
          </p:cNvSpPr>
          <p:nvPr/>
        </p:nvSpPr>
        <p:spPr>
          <a:xfrm xmlns:a="http://schemas.openxmlformats.org/drawingml/2006/main">
            <a:off x="685800" y="5905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Times are local preprocessing measurements, not quantum-hardware run times.</a:t>
            </a:r>
          </a:p>
        </p:txBody>
      </p:sp>
    </p:spTree>
    <p:extLst>
      <p:ext uri="{BB962C8B-B14F-4D97-AF65-F5344CB8AC3E}">
        <p14:creationId xmlns:p14="http://schemas.microsoft.com/office/powerpoint/2010/main" val="6964731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B262CB-A0DD-4774-8818-BC3C08044448}"/>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C07FC588-BFFC-484D-BDD2-F50C649AEF53}"/>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What we learned</a:t>
            </a:r>
          </a:p>
        </p:txBody>
      </p:sp>
      <p:sp>
        <p:nvSpPr>
          <p:cNvPr id="3" name="">
            <a:extLst xmlns:a="http://schemas.openxmlformats.org/drawingml/2006/main">
              <a:ext uri="{FF2B5EF4-FFF2-40B4-BE49-F238E27FC236}">
                <a16:creationId xmlns:a16="http://schemas.microsoft.com/office/drawing/2014/main" id="{FF312046-1282-4871-BF55-14051E9C70A8}"/>
              </a:ext>
            </a:extLst>
          </p:cNvPr>
          <p:cNvSpPr>
            <a:spLocks xmlns:a="http://schemas.openxmlformats.org/drawingml/2006/main" noGrp="1"/>
          </p:cNvSpPr>
          <p:nvPr/>
        </p:nvSpPr>
        <p:spPr>
          <a:xfrm xmlns:a="http://schemas.openxmlformats.org/drawingml/2006/main">
            <a:off x="685800" y="1762125"/>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0F62FE"/>
                </a:solidFill>
                <a:latin typeface="Arial"/>
                <a:ea typeface="Arial"/>
                <a:cs typeface="Arial"/>
              </a:defRPr>
            </a:defPPr>
            <a:lvl1pPr algn="l">
              <a:defRPr sz="2025" b="1">
                <a:solidFill>
                  <a:srgbClr val="0F62FE"/>
                </a:solidFill>
                <a:latin typeface="Arial"/>
                <a:ea typeface="Arial"/>
                <a:cs typeface="Arial"/>
              </a:defRPr>
            </a:lvl1pPr>
            <a:lvl2pPr algn="l">
              <a:defRPr sz="2025" b="1">
                <a:solidFill>
                  <a:srgbClr val="0F62FE"/>
                </a:solidFill>
                <a:latin typeface="Arial"/>
                <a:ea typeface="Arial"/>
                <a:cs typeface="Arial"/>
              </a:defRPr>
            </a:lvl2pPr>
            <a:lvl3pPr algn="l">
              <a:defRPr sz="2025" b="1">
                <a:solidFill>
                  <a:srgbClr val="0F62FE"/>
                </a:solidFill>
                <a:latin typeface="Arial"/>
                <a:ea typeface="Arial"/>
                <a:cs typeface="Arial"/>
              </a:defRPr>
            </a:lvl3pPr>
            <a:lvl4pPr algn="l">
              <a:defRPr sz="2025" b="1">
                <a:solidFill>
                  <a:srgbClr val="0F62FE"/>
                </a:solidFill>
                <a:latin typeface="Arial"/>
                <a:ea typeface="Arial"/>
                <a:cs typeface="Arial"/>
              </a:defRPr>
            </a:lvl4pPr>
            <a:lvl5pPr algn="l">
              <a:defRPr sz="2025" b="1">
                <a:solidFill>
                  <a:srgbClr val="0F62FE"/>
                </a:solidFill>
                <a:latin typeface="Arial"/>
                <a:ea typeface="Arial"/>
                <a:cs typeface="Arial"/>
              </a:defRPr>
            </a:lvl5pPr>
            <a:lvl6pPr algn="l">
              <a:defRPr sz="2025" b="1">
                <a:solidFill>
                  <a:srgbClr val="0F62FE"/>
                </a:solidFill>
                <a:latin typeface="Arial"/>
                <a:ea typeface="Arial"/>
                <a:cs typeface="Arial"/>
              </a:defRPr>
            </a:lvl6pPr>
            <a:lvl7pPr algn="l">
              <a:defRPr sz="2025" b="1">
                <a:solidFill>
                  <a:srgbClr val="0F62FE"/>
                </a:solidFill>
                <a:latin typeface="Arial"/>
                <a:ea typeface="Arial"/>
                <a:cs typeface="Arial"/>
              </a:defRPr>
            </a:lvl7pPr>
            <a:lvl8pPr algn="l">
              <a:defRPr sz="2025" b="1">
                <a:solidFill>
                  <a:srgbClr val="0F62FE"/>
                </a:solidFill>
                <a:latin typeface="Arial"/>
                <a:ea typeface="Arial"/>
                <a:cs typeface="Arial"/>
              </a:defRPr>
            </a:lvl8pPr>
            <a:lvl9pPr algn="l">
              <a:defRPr sz="2025" b="1">
                <a:solidFill>
                  <a:srgbClr val="0F62FE"/>
                </a:solidFill>
                <a:latin typeface="Arial"/>
                <a:ea typeface="Arial"/>
                <a:cs typeface="Arial"/>
              </a:defRPr>
            </a:lvl9pPr>
          </a:lstStyle>
          <a:p xmlns:a="http://schemas.openxmlformats.org/drawingml/2006/main">
            <a:pPr algn="l">
              <a:defRPr sz="2025" b="1">
                <a:solidFill>
                  <a:srgbClr val="0F62FE"/>
                </a:solidFill>
                <a:latin typeface="Arial"/>
                <a:ea typeface="Arial"/>
                <a:cs typeface="Arial"/>
              </a:defRPr>
            </a:pPr>
            <a:r>
              <a:rPr sz="2025" b="1">
                <a:solidFill>
                  <a:srgbClr val="0F62FE"/>
                </a:solidFill>
                <a:latin typeface="Arial"/>
                <a:ea typeface="Arial"/>
                <a:cs typeface="Arial"/>
              </a:rPr>
              <a:t>PNA helped</a:t>
            </a:r>
          </a:p>
        </p:txBody>
      </p:sp>
      <p:sp>
        <p:nvSpPr>
          <p:cNvPr id="4" name="">
            <a:extLst xmlns:a="http://schemas.openxmlformats.org/drawingml/2006/main">
              <a:ext uri="{FF2B5EF4-FFF2-40B4-BE49-F238E27FC236}">
                <a16:creationId xmlns:a16="http://schemas.microsoft.com/office/drawing/2014/main" id="{E3964BBA-9EC7-43AC-B18B-8A99A5C891EC}"/>
              </a:ext>
            </a:extLst>
          </p:cNvPr>
          <p:cNvSpPr>
            <a:spLocks xmlns:a="http://schemas.openxmlformats.org/drawingml/2006/main" noGrp="1"/>
          </p:cNvSpPr>
          <p:nvPr/>
        </p:nvSpPr>
        <p:spPr>
          <a:xfrm xmlns:a="http://schemas.openxmlformats.org/drawingml/2006/main">
            <a:off x="685800" y="2228850"/>
            <a:ext cx="971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It moved the measured value closer to the ideal result at all three noise levels.</a:t>
            </a:r>
          </a:p>
        </p:txBody>
      </p:sp>
      <p:sp>
        <p:nvSpPr>
          <p:cNvPr id="5" name="">
            <a:extLst xmlns:a="http://schemas.openxmlformats.org/drawingml/2006/main">
              <a:ext uri="{FF2B5EF4-FFF2-40B4-BE49-F238E27FC236}">
                <a16:creationId xmlns:a16="http://schemas.microsoft.com/office/drawing/2014/main" id="{231FD9EF-C441-4555-9B0C-DC4AB2DE3E41}"/>
              </a:ext>
            </a:extLst>
          </p:cNvPr>
          <p:cNvSpPr>
            <a:spLocks xmlns:a="http://schemas.openxmlformats.org/drawingml/2006/main" noGrp="1"/>
          </p:cNvSpPr>
          <p:nvPr/>
        </p:nvSpPr>
        <p:spPr>
          <a:xfrm xmlns:a="http://schemas.openxmlformats.org/drawingml/2006/main">
            <a:off x="685800" y="33147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009D9A"/>
                </a:solidFill>
                <a:latin typeface="Arial"/>
                <a:ea typeface="Arial"/>
                <a:cs typeface="Arial"/>
              </a:defRPr>
            </a:defPPr>
            <a:lvl1pPr algn="l">
              <a:defRPr sz="2025" b="1">
                <a:solidFill>
                  <a:srgbClr val="009D9A"/>
                </a:solidFill>
                <a:latin typeface="Arial"/>
                <a:ea typeface="Arial"/>
                <a:cs typeface="Arial"/>
              </a:defRPr>
            </a:lvl1pPr>
            <a:lvl2pPr algn="l">
              <a:defRPr sz="2025" b="1">
                <a:solidFill>
                  <a:srgbClr val="009D9A"/>
                </a:solidFill>
                <a:latin typeface="Arial"/>
                <a:ea typeface="Arial"/>
                <a:cs typeface="Arial"/>
              </a:defRPr>
            </a:lvl2pPr>
            <a:lvl3pPr algn="l">
              <a:defRPr sz="2025" b="1">
                <a:solidFill>
                  <a:srgbClr val="009D9A"/>
                </a:solidFill>
                <a:latin typeface="Arial"/>
                <a:ea typeface="Arial"/>
                <a:cs typeface="Arial"/>
              </a:defRPr>
            </a:lvl3pPr>
            <a:lvl4pPr algn="l">
              <a:defRPr sz="2025" b="1">
                <a:solidFill>
                  <a:srgbClr val="009D9A"/>
                </a:solidFill>
                <a:latin typeface="Arial"/>
                <a:ea typeface="Arial"/>
                <a:cs typeface="Arial"/>
              </a:defRPr>
            </a:lvl4pPr>
            <a:lvl5pPr algn="l">
              <a:defRPr sz="2025" b="1">
                <a:solidFill>
                  <a:srgbClr val="009D9A"/>
                </a:solidFill>
                <a:latin typeface="Arial"/>
                <a:ea typeface="Arial"/>
                <a:cs typeface="Arial"/>
              </a:defRPr>
            </a:lvl5pPr>
            <a:lvl6pPr algn="l">
              <a:defRPr sz="2025" b="1">
                <a:solidFill>
                  <a:srgbClr val="009D9A"/>
                </a:solidFill>
                <a:latin typeface="Arial"/>
                <a:ea typeface="Arial"/>
                <a:cs typeface="Arial"/>
              </a:defRPr>
            </a:lvl6pPr>
            <a:lvl7pPr algn="l">
              <a:defRPr sz="2025" b="1">
                <a:solidFill>
                  <a:srgbClr val="009D9A"/>
                </a:solidFill>
                <a:latin typeface="Arial"/>
                <a:ea typeface="Arial"/>
                <a:cs typeface="Arial"/>
              </a:defRPr>
            </a:lvl7pPr>
            <a:lvl8pPr algn="l">
              <a:defRPr sz="2025" b="1">
                <a:solidFill>
                  <a:srgbClr val="009D9A"/>
                </a:solidFill>
                <a:latin typeface="Arial"/>
                <a:ea typeface="Arial"/>
                <a:cs typeface="Arial"/>
              </a:defRPr>
            </a:lvl8pPr>
            <a:lvl9pPr algn="l">
              <a:defRPr sz="2025" b="1">
                <a:solidFill>
                  <a:srgbClr val="009D9A"/>
                </a:solidFill>
                <a:latin typeface="Arial"/>
                <a:ea typeface="Arial"/>
                <a:cs typeface="Arial"/>
              </a:defRPr>
            </a:lvl9pPr>
          </a:lstStyle>
          <a:p xmlns:a="http://schemas.openxmlformats.org/drawingml/2006/main">
            <a:pPr algn="l">
              <a:defRPr sz="2025" b="1">
                <a:solidFill>
                  <a:srgbClr val="009D9A"/>
                </a:solidFill>
                <a:latin typeface="Arial"/>
                <a:ea typeface="Arial"/>
                <a:cs typeface="Arial"/>
              </a:defRPr>
            </a:pPr>
            <a:r>
              <a:rPr sz="2025" b="1">
                <a:solidFill>
                  <a:srgbClr val="009D9A"/>
                </a:solidFill>
                <a:latin typeface="Arial"/>
                <a:ea typeface="Arial"/>
                <a:cs typeface="Arial"/>
              </a:rPr>
              <a:t>SLC traded a little accuracy for lower cost</a:t>
            </a:r>
          </a:p>
        </p:txBody>
      </p:sp>
      <p:sp>
        <p:nvSpPr>
          <p:cNvPr id="6" name="">
            <a:extLst xmlns:a="http://schemas.openxmlformats.org/drawingml/2006/main">
              <a:ext uri="{FF2B5EF4-FFF2-40B4-BE49-F238E27FC236}">
                <a16:creationId xmlns:a16="http://schemas.microsoft.com/office/drawing/2014/main" id="{C4F5B85F-403C-4E5F-8C48-B8A50E861C98}"/>
              </a:ext>
            </a:extLst>
          </p:cNvPr>
          <p:cNvSpPr>
            <a:spLocks xmlns:a="http://schemas.openxmlformats.org/drawingml/2006/main" noGrp="1"/>
          </p:cNvSpPr>
          <p:nvPr/>
        </p:nvSpPr>
        <p:spPr>
          <a:xfrm xmlns:a="http://schemas.openxmlformats.org/drawingml/2006/main">
            <a:off x="685800" y="3781425"/>
            <a:ext cx="971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It dropped low-impact error terms and lowered the estimated sampling cost, with a small allowed bias.</a:t>
            </a:r>
          </a:p>
        </p:txBody>
      </p:sp>
      <p:sp>
        <p:nvSpPr>
          <p:cNvPr id="7" name="">
            <a:extLst xmlns:a="http://schemas.openxmlformats.org/drawingml/2006/main">
              <a:ext uri="{FF2B5EF4-FFF2-40B4-BE49-F238E27FC236}">
                <a16:creationId xmlns:a16="http://schemas.microsoft.com/office/drawing/2014/main" id="{97BFFFE9-4144-49D3-8D43-94BFFDC51F39}"/>
              </a:ext>
            </a:extLst>
          </p:cNvPr>
          <p:cNvSpPr>
            <a:spLocks xmlns:a="http://schemas.openxmlformats.org/drawingml/2006/main" noGrp="1"/>
          </p:cNvSpPr>
          <p:nvPr/>
        </p:nvSpPr>
        <p:spPr>
          <a:xfrm xmlns:a="http://schemas.openxmlformats.org/drawingml/2006/main">
            <a:off x="685800" y="48768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8A3FFC"/>
                </a:solidFill>
                <a:latin typeface="Arial"/>
                <a:ea typeface="Arial"/>
                <a:cs typeface="Arial"/>
              </a:defRPr>
            </a:defPPr>
            <a:lvl1pPr algn="l">
              <a:defRPr sz="2025" b="1">
                <a:solidFill>
                  <a:srgbClr val="8A3FFC"/>
                </a:solidFill>
                <a:latin typeface="Arial"/>
                <a:ea typeface="Arial"/>
                <a:cs typeface="Arial"/>
              </a:defRPr>
            </a:lvl1pPr>
            <a:lvl2pPr algn="l">
              <a:defRPr sz="2025" b="1">
                <a:solidFill>
                  <a:srgbClr val="8A3FFC"/>
                </a:solidFill>
                <a:latin typeface="Arial"/>
                <a:ea typeface="Arial"/>
                <a:cs typeface="Arial"/>
              </a:defRPr>
            </a:lvl2pPr>
            <a:lvl3pPr algn="l">
              <a:defRPr sz="2025" b="1">
                <a:solidFill>
                  <a:srgbClr val="8A3FFC"/>
                </a:solidFill>
                <a:latin typeface="Arial"/>
                <a:ea typeface="Arial"/>
                <a:cs typeface="Arial"/>
              </a:defRPr>
            </a:lvl3pPr>
            <a:lvl4pPr algn="l">
              <a:defRPr sz="2025" b="1">
                <a:solidFill>
                  <a:srgbClr val="8A3FFC"/>
                </a:solidFill>
                <a:latin typeface="Arial"/>
                <a:ea typeface="Arial"/>
                <a:cs typeface="Arial"/>
              </a:defRPr>
            </a:lvl4pPr>
            <a:lvl5pPr algn="l">
              <a:defRPr sz="2025" b="1">
                <a:solidFill>
                  <a:srgbClr val="8A3FFC"/>
                </a:solidFill>
                <a:latin typeface="Arial"/>
                <a:ea typeface="Arial"/>
                <a:cs typeface="Arial"/>
              </a:defRPr>
            </a:lvl5pPr>
            <a:lvl6pPr algn="l">
              <a:defRPr sz="2025" b="1">
                <a:solidFill>
                  <a:srgbClr val="8A3FFC"/>
                </a:solidFill>
                <a:latin typeface="Arial"/>
                <a:ea typeface="Arial"/>
                <a:cs typeface="Arial"/>
              </a:defRPr>
            </a:lvl6pPr>
            <a:lvl7pPr algn="l">
              <a:defRPr sz="2025" b="1">
                <a:solidFill>
                  <a:srgbClr val="8A3FFC"/>
                </a:solidFill>
                <a:latin typeface="Arial"/>
                <a:ea typeface="Arial"/>
                <a:cs typeface="Arial"/>
              </a:defRPr>
            </a:lvl7pPr>
            <a:lvl8pPr algn="l">
              <a:defRPr sz="2025" b="1">
                <a:solidFill>
                  <a:srgbClr val="8A3FFC"/>
                </a:solidFill>
                <a:latin typeface="Arial"/>
                <a:ea typeface="Arial"/>
                <a:cs typeface="Arial"/>
              </a:defRPr>
            </a:lvl8pPr>
            <a:lvl9pPr algn="l">
              <a:defRPr sz="2025" b="1">
                <a:solidFill>
                  <a:srgbClr val="8A3FFC"/>
                </a:solidFill>
                <a:latin typeface="Arial"/>
                <a:ea typeface="Arial"/>
                <a:cs typeface="Arial"/>
              </a:defRPr>
            </a:lvl9pPr>
          </a:lstStyle>
          <a:p xmlns:a="http://schemas.openxmlformats.org/drawingml/2006/main">
            <a:pPr algn="l">
              <a:defRPr sz="2025" b="1">
                <a:solidFill>
                  <a:srgbClr val="8A3FFC"/>
                </a:solidFill>
                <a:latin typeface="Arial"/>
                <a:ea typeface="Arial"/>
                <a:cs typeface="Arial"/>
              </a:defRPr>
            </a:pPr>
            <a:r>
              <a:rPr sz="2025" b="1">
                <a:solidFill>
                  <a:srgbClr val="8A3FFC"/>
                </a:solidFill>
                <a:latin typeface="Arial"/>
                <a:ea typeface="Arial"/>
                <a:cs typeface="Arial"/>
              </a:rPr>
              <a:t>Next step for a hardware-ready result</a:t>
            </a:r>
          </a:p>
        </p:txBody>
      </p:sp>
      <p:sp>
        <p:nvSpPr>
          <p:cNvPr id="8" name="">
            <a:extLst xmlns:a="http://schemas.openxmlformats.org/drawingml/2006/main">
              <a:ext uri="{FF2B5EF4-FFF2-40B4-BE49-F238E27FC236}">
                <a16:creationId xmlns:a16="http://schemas.microsoft.com/office/drawing/2014/main" id="{515E7DA1-36B5-4C70-B447-74530BD4EA33}"/>
              </a:ext>
            </a:extLst>
          </p:cNvPr>
          <p:cNvSpPr>
            <a:spLocks xmlns:a="http://schemas.openxmlformats.org/drawingml/2006/main" noGrp="1"/>
          </p:cNvSpPr>
          <p:nvPr/>
        </p:nvSpPr>
        <p:spPr>
          <a:xfrm xmlns:a="http://schemas.openxmlformats.org/drawingml/2006/main">
            <a:off x="685800" y="5343525"/>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Connect NoiseLearnerV3 to an IBM Quantum backend, then rerun the same workflow with measured rates.</a:t>
            </a:r>
          </a:p>
        </p:txBody>
      </p:sp>
    </p:spTree>
    <p:extLst>
      <p:ext uri="{BB962C8B-B14F-4D97-AF65-F5344CB8AC3E}">
        <p14:creationId xmlns:p14="http://schemas.microsoft.com/office/powerpoint/2010/main" val="270122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C541DD-408C-43C6-9F54-413237CAA063}"/>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69B4B5D3-93E8-4199-B495-B179A24423DE}"/>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Spacetime checks &amp; error detection</a:t>
            </a:r>
          </a:p>
        </p:txBody>
      </p:sp>
      <p:sp>
        <p:nvSpPr>
          <p:cNvPr id="3" name="">
            <a:extLst xmlns:a="http://schemas.openxmlformats.org/drawingml/2006/main">
              <a:ext uri="{FF2B5EF4-FFF2-40B4-BE49-F238E27FC236}">
                <a16:creationId xmlns:a16="http://schemas.microsoft.com/office/drawing/2014/main" id="{72734005-6EB1-4671-82F7-41E0811BF316}"/>
              </a:ext>
            </a:extLst>
          </p:cNvPr>
          <p:cNvSpPr>
            <a:spLocks xmlns:a="http://schemas.openxmlformats.org/drawingml/2006/main" noGrp="1"/>
          </p:cNvSpPr>
          <p:nvPr/>
        </p:nvSpPr>
        <p:spPr>
          <a:xfrm xmlns:a="http://schemas.openxmlformats.org/drawingml/2006/main">
            <a:off x="685800" y="1809750"/>
            <a:ext cx="1000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61616"/>
                </a:solidFill>
                <a:latin typeface="Arial"/>
                <a:ea typeface="Arial"/>
                <a:cs typeface="Arial"/>
              </a:defRPr>
            </a:defPPr>
            <a:lvl1pPr algn="l">
              <a:defRPr sz="2250" b="1">
                <a:solidFill>
                  <a:srgbClr val="161616"/>
                </a:solidFill>
                <a:latin typeface="Arial"/>
                <a:ea typeface="Arial"/>
                <a:cs typeface="Arial"/>
              </a:defRPr>
            </a:lvl1pPr>
            <a:lvl2pPr algn="l">
              <a:defRPr sz="2250" b="1">
                <a:solidFill>
                  <a:srgbClr val="161616"/>
                </a:solidFill>
                <a:latin typeface="Arial"/>
                <a:ea typeface="Arial"/>
                <a:cs typeface="Arial"/>
              </a:defRPr>
            </a:lvl2pPr>
            <a:lvl3pPr algn="l">
              <a:defRPr sz="2250" b="1">
                <a:solidFill>
                  <a:srgbClr val="161616"/>
                </a:solidFill>
                <a:latin typeface="Arial"/>
                <a:ea typeface="Arial"/>
                <a:cs typeface="Arial"/>
              </a:defRPr>
            </a:lvl3pPr>
            <a:lvl4pPr algn="l">
              <a:defRPr sz="2250" b="1">
                <a:solidFill>
                  <a:srgbClr val="161616"/>
                </a:solidFill>
                <a:latin typeface="Arial"/>
                <a:ea typeface="Arial"/>
                <a:cs typeface="Arial"/>
              </a:defRPr>
            </a:lvl4pPr>
            <a:lvl5pPr algn="l">
              <a:defRPr sz="2250" b="1">
                <a:solidFill>
                  <a:srgbClr val="161616"/>
                </a:solidFill>
                <a:latin typeface="Arial"/>
                <a:ea typeface="Arial"/>
                <a:cs typeface="Arial"/>
              </a:defRPr>
            </a:lvl5pPr>
            <a:lvl6pPr algn="l">
              <a:defRPr sz="2250" b="1">
                <a:solidFill>
                  <a:srgbClr val="161616"/>
                </a:solidFill>
                <a:latin typeface="Arial"/>
                <a:ea typeface="Arial"/>
                <a:cs typeface="Arial"/>
              </a:defRPr>
            </a:lvl6pPr>
            <a:lvl7pPr algn="l">
              <a:defRPr sz="2250" b="1">
                <a:solidFill>
                  <a:srgbClr val="161616"/>
                </a:solidFill>
                <a:latin typeface="Arial"/>
                <a:ea typeface="Arial"/>
                <a:cs typeface="Arial"/>
              </a:defRPr>
            </a:lvl7pPr>
            <a:lvl8pPr algn="l">
              <a:defRPr sz="2250" b="1">
                <a:solidFill>
                  <a:srgbClr val="161616"/>
                </a:solidFill>
                <a:latin typeface="Arial"/>
                <a:ea typeface="Arial"/>
                <a:cs typeface="Arial"/>
              </a:defRPr>
            </a:lvl8pPr>
            <a:lvl9pPr algn="l">
              <a:defRPr sz="2250" b="1">
                <a:solidFill>
                  <a:srgbClr val="161616"/>
                </a:solidFill>
                <a:latin typeface="Arial"/>
                <a:ea typeface="Arial"/>
                <a:cs typeface="Arial"/>
              </a:defRPr>
            </a:lvl9pPr>
          </a:lstStyle>
          <a:p xmlns:a="http://schemas.openxmlformats.org/drawingml/2006/main">
            <a:pPr algn="l">
              <a:defRPr sz="2250" b="1">
                <a:solidFill>
                  <a:srgbClr val="161616"/>
                </a:solidFill>
                <a:latin typeface="Arial"/>
                <a:ea typeface="Arial"/>
                <a:cs typeface="Arial"/>
              </a:defRPr>
            </a:pPr>
            <a:r>
              <a:rPr sz="2250" b="1">
                <a:solidFill>
                  <a:srgbClr val="161616"/>
                </a:solidFill>
                <a:latin typeface="Arial"/>
                <a:ea typeface="Arial"/>
                <a:cs typeface="Arial"/>
              </a:rPr>
              <a:t>A simulator study of Pauli checks, syndrome filtering, and output distributions.</a:t>
            </a:r>
          </a:p>
        </p:txBody>
      </p:sp>
      <p:sp>
        <p:nvSpPr>
          <p:cNvPr id="4" name="">
            <a:extLst xmlns:a="http://schemas.openxmlformats.org/drawingml/2006/main">
              <a:ext uri="{FF2B5EF4-FFF2-40B4-BE49-F238E27FC236}">
                <a16:creationId xmlns:a16="http://schemas.microsoft.com/office/drawing/2014/main" id="{D3ACAB7B-048C-498E-8950-5DF2FAA92C93}"/>
              </a:ext>
            </a:extLst>
          </p:cNvPr>
          <p:cNvSpPr>
            <a:spLocks xmlns:a="http://schemas.openxmlformats.org/drawingml/2006/main" noGrp="1"/>
          </p:cNvSpPr>
          <p:nvPr/>
        </p:nvSpPr>
        <p:spPr>
          <a:xfrm xmlns:a="http://schemas.openxmlformats.org/drawingml/2006/main">
            <a:off x="685800" y="3048000"/>
            <a:ext cx="10096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525252"/>
                </a:solidFill>
                <a:latin typeface="Arial"/>
                <a:ea typeface="Arial"/>
                <a:cs typeface="Arial"/>
              </a:defRPr>
            </a:defPPr>
            <a:lvl1pPr algn="l">
              <a:defRPr sz="1875" b="0">
                <a:solidFill>
                  <a:srgbClr val="525252"/>
                </a:solidFill>
                <a:latin typeface="Arial"/>
                <a:ea typeface="Arial"/>
                <a:cs typeface="Arial"/>
              </a:defRPr>
            </a:lvl1pPr>
            <a:lvl2pPr algn="l">
              <a:defRPr sz="1875" b="0">
                <a:solidFill>
                  <a:srgbClr val="525252"/>
                </a:solidFill>
                <a:latin typeface="Arial"/>
                <a:ea typeface="Arial"/>
                <a:cs typeface="Arial"/>
              </a:defRPr>
            </a:lvl2pPr>
            <a:lvl3pPr algn="l">
              <a:defRPr sz="1875" b="0">
                <a:solidFill>
                  <a:srgbClr val="525252"/>
                </a:solidFill>
                <a:latin typeface="Arial"/>
                <a:ea typeface="Arial"/>
                <a:cs typeface="Arial"/>
              </a:defRPr>
            </a:lvl3pPr>
            <a:lvl4pPr algn="l">
              <a:defRPr sz="1875" b="0">
                <a:solidFill>
                  <a:srgbClr val="525252"/>
                </a:solidFill>
                <a:latin typeface="Arial"/>
                <a:ea typeface="Arial"/>
                <a:cs typeface="Arial"/>
              </a:defRPr>
            </a:lvl4pPr>
            <a:lvl5pPr algn="l">
              <a:defRPr sz="1875" b="0">
                <a:solidFill>
                  <a:srgbClr val="525252"/>
                </a:solidFill>
                <a:latin typeface="Arial"/>
                <a:ea typeface="Arial"/>
                <a:cs typeface="Arial"/>
              </a:defRPr>
            </a:lvl5pPr>
            <a:lvl6pPr algn="l">
              <a:defRPr sz="1875" b="0">
                <a:solidFill>
                  <a:srgbClr val="525252"/>
                </a:solidFill>
                <a:latin typeface="Arial"/>
                <a:ea typeface="Arial"/>
                <a:cs typeface="Arial"/>
              </a:defRPr>
            </a:lvl6pPr>
            <a:lvl7pPr algn="l">
              <a:defRPr sz="1875" b="0">
                <a:solidFill>
                  <a:srgbClr val="525252"/>
                </a:solidFill>
                <a:latin typeface="Arial"/>
                <a:ea typeface="Arial"/>
                <a:cs typeface="Arial"/>
              </a:defRPr>
            </a:lvl7pPr>
            <a:lvl8pPr algn="l">
              <a:defRPr sz="1875" b="0">
                <a:solidFill>
                  <a:srgbClr val="525252"/>
                </a:solidFill>
                <a:latin typeface="Arial"/>
                <a:ea typeface="Arial"/>
                <a:cs typeface="Arial"/>
              </a:defRPr>
            </a:lvl8pPr>
            <a:lvl9pPr algn="l">
              <a:defRPr sz="1875" b="0">
                <a:solidFill>
                  <a:srgbClr val="525252"/>
                </a:solidFill>
                <a:latin typeface="Arial"/>
                <a:ea typeface="Arial"/>
                <a:cs typeface="Arial"/>
              </a:defRPr>
            </a:lvl9pPr>
          </a:lstStyle>
          <a:p xmlns:a="http://schemas.openxmlformats.org/drawingml/2006/main">
            <a:pPr algn="l">
              <a:defRPr sz="1875" b="0">
                <a:solidFill>
                  <a:srgbClr val="525252"/>
                </a:solidFill>
                <a:latin typeface="Arial"/>
                <a:ea typeface="Arial"/>
                <a:cs typeface="Arial"/>
              </a:defRPr>
            </a:pPr>
            <a:r>
              <a:rPr sz="1875" b="0">
                <a:solidFill>
                  <a:srgbClr val="525252"/>
                </a:solidFill>
                <a:latin typeface="Arial"/>
                <a:ea typeface="Arial"/>
                <a:cs typeface="Arial"/>
              </a:rPr>
              <a:t>The experiment inserts checks into a small Clifford circuit, rejects shots with non-zero syndrome, and compares the resulting measurement distributions.</a:t>
            </a:r>
          </a:p>
        </p:txBody>
      </p:sp>
      <p:sp>
        <p:nvSpPr>
          <p:cNvPr id="5" name="">
            <a:extLst xmlns:a="http://schemas.openxmlformats.org/drawingml/2006/main">
              <a:ext uri="{FF2B5EF4-FFF2-40B4-BE49-F238E27FC236}">
                <a16:creationId xmlns:a16="http://schemas.microsoft.com/office/drawing/2014/main" id="{CB5C6D66-A560-41DA-AA36-F77DD8F93E50}"/>
              </a:ext>
            </a:extLst>
          </p:cNvPr>
          <p:cNvSpPr>
            <a:spLocks xmlns:a="http://schemas.openxmlformats.org/drawingml/2006/main" noGrp="1"/>
          </p:cNvSpPr>
          <p:nvPr/>
        </p:nvSpPr>
        <p:spPr>
          <a:xfrm xmlns:a="http://schemas.openxmlformats.org/drawingml/2006/main">
            <a:off x="685800" y="509587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62FE"/>
                </a:solidFill>
                <a:latin typeface="Arial"/>
                <a:ea typeface="Arial"/>
                <a:cs typeface="Arial"/>
              </a:defRPr>
            </a:defPPr>
            <a:lvl1pPr algn="l">
              <a:defRPr sz="1725" b="1">
                <a:solidFill>
                  <a:srgbClr val="0F62FE"/>
                </a:solidFill>
                <a:latin typeface="Arial"/>
                <a:ea typeface="Arial"/>
                <a:cs typeface="Arial"/>
              </a:defRPr>
            </a:lvl1pPr>
            <a:lvl2pPr algn="l">
              <a:defRPr sz="1725" b="1">
                <a:solidFill>
                  <a:srgbClr val="0F62FE"/>
                </a:solidFill>
                <a:latin typeface="Arial"/>
                <a:ea typeface="Arial"/>
                <a:cs typeface="Arial"/>
              </a:defRPr>
            </a:lvl2pPr>
            <a:lvl3pPr algn="l">
              <a:defRPr sz="1725" b="1">
                <a:solidFill>
                  <a:srgbClr val="0F62FE"/>
                </a:solidFill>
                <a:latin typeface="Arial"/>
                <a:ea typeface="Arial"/>
                <a:cs typeface="Arial"/>
              </a:defRPr>
            </a:lvl3pPr>
            <a:lvl4pPr algn="l">
              <a:defRPr sz="1725" b="1">
                <a:solidFill>
                  <a:srgbClr val="0F62FE"/>
                </a:solidFill>
                <a:latin typeface="Arial"/>
                <a:ea typeface="Arial"/>
                <a:cs typeface="Arial"/>
              </a:defRPr>
            </a:lvl4pPr>
            <a:lvl5pPr algn="l">
              <a:defRPr sz="1725" b="1">
                <a:solidFill>
                  <a:srgbClr val="0F62FE"/>
                </a:solidFill>
                <a:latin typeface="Arial"/>
                <a:ea typeface="Arial"/>
                <a:cs typeface="Arial"/>
              </a:defRPr>
            </a:lvl5pPr>
            <a:lvl6pPr algn="l">
              <a:defRPr sz="1725" b="1">
                <a:solidFill>
                  <a:srgbClr val="0F62FE"/>
                </a:solidFill>
                <a:latin typeface="Arial"/>
                <a:ea typeface="Arial"/>
                <a:cs typeface="Arial"/>
              </a:defRPr>
            </a:lvl6pPr>
            <a:lvl7pPr algn="l">
              <a:defRPr sz="1725" b="1">
                <a:solidFill>
                  <a:srgbClr val="0F62FE"/>
                </a:solidFill>
                <a:latin typeface="Arial"/>
                <a:ea typeface="Arial"/>
                <a:cs typeface="Arial"/>
              </a:defRPr>
            </a:lvl7pPr>
            <a:lvl8pPr algn="l">
              <a:defRPr sz="1725" b="1">
                <a:solidFill>
                  <a:srgbClr val="0F62FE"/>
                </a:solidFill>
                <a:latin typeface="Arial"/>
                <a:ea typeface="Arial"/>
                <a:cs typeface="Arial"/>
              </a:defRPr>
            </a:lvl8pPr>
            <a:lvl9pPr algn="l">
              <a:defRPr sz="1725" b="1">
                <a:solidFill>
                  <a:srgbClr val="0F62FE"/>
                </a:solidFill>
                <a:latin typeface="Arial"/>
                <a:ea typeface="Arial"/>
                <a:cs typeface="Arial"/>
              </a:defRPr>
            </a:lvl9pPr>
          </a:lstStyle>
          <a:p xmlns:a="http://schemas.openxmlformats.org/drawingml/2006/main">
            <a:pPr algn="l">
              <a:defRPr sz="1725" b="1">
                <a:solidFill>
                  <a:srgbClr val="0F62FE"/>
                </a:solidFill>
                <a:latin typeface="Arial"/>
                <a:ea typeface="Arial"/>
                <a:cs typeface="Arial"/>
              </a:defRPr>
            </a:pPr>
            <a:r>
              <a:rPr sz="1725" b="1">
                <a:solidFill>
                  <a:srgbClr val="0F62FE"/>
                </a:solidFill>
                <a:latin typeface="Arial"/>
                <a:ea typeface="Arial"/>
                <a:cs typeface="Arial"/>
              </a:rPr>
              <a:t>DETECT  ·  FILTER  ·  COMPARE</a:t>
            </a:r>
          </a:p>
        </p:txBody>
      </p:sp>
    </p:spTree>
    <p:extLst>
      <p:ext uri="{BB962C8B-B14F-4D97-AF65-F5344CB8AC3E}">
        <p14:creationId xmlns:p14="http://schemas.microsoft.com/office/powerpoint/2010/main" val="20923094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BCA517-DA23-494C-B437-F9BB2D99D676}"/>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45D42C14-3419-4792-9896-A64D433E6ED6}"/>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Why error detection matters</a:t>
            </a:r>
          </a:p>
        </p:txBody>
      </p:sp>
      <p:sp>
        <p:nvSpPr>
          <p:cNvPr id="3" name="">
            <a:extLst xmlns:a="http://schemas.openxmlformats.org/drawingml/2006/main">
              <a:ext uri="{FF2B5EF4-FFF2-40B4-BE49-F238E27FC236}">
                <a16:creationId xmlns:a16="http://schemas.microsoft.com/office/drawing/2014/main" id="{F55BCEE9-D1C8-4946-AACF-3DED81B9B92D}"/>
              </a:ext>
            </a:extLst>
          </p:cNvPr>
          <p:cNvSpPr>
            <a:spLocks xmlns:a="http://schemas.openxmlformats.org/drawingml/2006/main" noGrp="1"/>
          </p:cNvSpPr>
          <p:nvPr/>
        </p:nvSpPr>
        <p:spPr>
          <a:xfrm xmlns:a="http://schemas.openxmlformats.org/drawingml/2006/main">
            <a:off x="685800" y="18097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Quantum noise</a:t>
            </a:r>
          </a:p>
        </p:txBody>
      </p:sp>
      <p:sp>
        <p:nvSpPr>
          <p:cNvPr id="4" name="">
            <a:extLst xmlns:a="http://schemas.openxmlformats.org/drawingml/2006/main">
              <a:ext uri="{FF2B5EF4-FFF2-40B4-BE49-F238E27FC236}">
                <a16:creationId xmlns:a16="http://schemas.microsoft.com/office/drawing/2014/main" id="{A7E974FD-6537-409E-A769-EB096FAFAABB}"/>
              </a:ext>
            </a:extLst>
          </p:cNvPr>
          <p:cNvSpPr>
            <a:spLocks xmlns:a="http://schemas.openxmlformats.org/drawingml/2006/main" noGrp="1"/>
          </p:cNvSpPr>
          <p:nvPr/>
        </p:nvSpPr>
        <p:spPr>
          <a:xfrm xmlns:a="http://schemas.openxmlformats.org/drawingml/2006/main">
            <a:off x="685800" y="2257425"/>
            <a:ext cx="3143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Gates and measurements can introduce errors that change the output.</a:t>
            </a:r>
          </a:p>
        </p:txBody>
      </p:sp>
      <p:sp>
        <p:nvSpPr>
          <p:cNvPr id="5" name="">
            <a:extLst xmlns:a="http://schemas.openxmlformats.org/drawingml/2006/main">
              <a:ext uri="{FF2B5EF4-FFF2-40B4-BE49-F238E27FC236}">
                <a16:creationId xmlns:a16="http://schemas.microsoft.com/office/drawing/2014/main" id="{9C9FDE6C-764E-4C1E-B6C7-5FBCBAA6C70B}"/>
              </a:ext>
            </a:extLst>
          </p:cNvPr>
          <p:cNvSpPr>
            <a:spLocks xmlns:a="http://schemas.openxmlformats.org/drawingml/2006/main" noGrp="1"/>
          </p:cNvSpPr>
          <p:nvPr/>
        </p:nvSpPr>
        <p:spPr>
          <a:xfrm xmlns:a="http://schemas.openxmlformats.org/drawingml/2006/main">
            <a:off x="4429125" y="18097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Syndrome evidence</a:t>
            </a:r>
          </a:p>
        </p:txBody>
      </p:sp>
      <p:sp>
        <p:nvSpPr>
          <p:cNvPr id="6" name="">
            <a:extLst xmlns:a="http://schemas.openxmlformats.org/drawingml/2006/main">
              <a:ext uri="{FF2B5EF4-FFF2-40B4-BE49-F238E27FC236}">
                <a16:creationId xmlns:a16="http://schemas.microsoft.com/office/drawing/2014/main" id="{8E64BD5D-7375-4772-AC55-0F96F3BCCEC8}"/>
              </a:ext>
            </a:extLst>
          </p:cNvPr>
          <p:cNvSpPr>
            <a:spLocks xmlns:a="http://schemas.openxmlformats.org/drawingml/2006/main" noGrp="1"/>
          </p:cNvSpPr>
          <p:nvPr/>
        </p:nvSpPr>
        <p:spPr>
          <a:xfrm xmlns:a="http://schemas.openxmlformats.org/drawingml/2006/main">
            <a:off x="4429125" y="2257425"/>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Extra checks can flag some corrupted shots, but add more operations and noise exposure.</a:t>
            </a:r>
          </a:p>
        </p:txBody>
      </p:sp>
      <p:sp>
        <p:nvSpPr>
          <p:cNvPr id="7" name="">
            <a:extLst xmlns:a="http://schemas.openxmlformats.org/drawingml/2006/main">
              <a:ext uri="{FF2B5EF4-FFF2-40B4-BE49-F238E27FC236}">
                <a16:creationId xmlns:a16="http://schemas.microsoft.com/office/drawing/2014/main" id="{1DFEB8F3-8F89-4483-87F9-22B8E1F813F6}"/>
              </a:ext>
            </a:extLst>
          </p:cNvPr>
          <p:cNvSpPr>
            <a:spLocks xmlns:a="http://schemas.openxmlformats.org/drawingml/2006/main" noGrp="1"/>
          </p:cNvSpPr>
          <p:nvPr/>
        </p:nvSpPr>
        <p:spPr>
          <a:xfrm xmlns:a="http://schemas.openxmlformats.org/drawingml/2006/main">
            <a:off x="8191500" y="18097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8A3FFC"/>
                </a:solidFill>
                <a:latin typeface="Arial"/>
                <a:ea typeface="Arial"/>
                <a:cs typeface="Arial"/>
              </a:defRPr>
            </a:defPPr>
            <a:lvl1pPr algn="l">
              <a:defRPr sz="1500" b="1">
                <a:solidFill>
                  <a:srgbClr val="8A3FFC"/>
                </a:solidFill>
                <a:latin typeface="Arial"/>
                <a:ea typeface="Arial"/>
                <a:cs typeface="Arial"/>
              </a:defRPr>
            </a:lvl1pPr>
            <a:lvl2pPr algn="l">
              <a:defRPr sz="1500" b="1">
                <a:solidFill>
                  <a:srgbClr val="8A3FFC"/>
                </a:solidFill>
                <a:latin typeface="Arial"/>
                <a:ea typeface="Arial"/>
                <a:cs typeface="Arial"/>
              </a:defRPr>
            </a:lvl2pPr>
            <a:lvl3pPr algn="l">
              <a:defRPr sz="1500" b="1">
                <a:solidFill>
                  <a:srgbClr val="8A3FFC"/>
                </a:solidFill>
                <a:latin typeface="Arial"/>
                <a:ea typeface="Arial"/>
                <a:cs typeface="Arial"/>
              </a:defRPr>
            </a:lvl3pPr>
            <a:lvl4pPr algn="l">
              <a:defRPr sz="1500" b="1">
                <a:solidFill>
                  <a:srgbClr val="8A3FFC"/>
                </a:solidFill>
                <a:latin typeface="Arial"/>
                <a:ea typeface="Arial"/>
                <a:cs typeface="Arial"/>
              </a:defRPr>
            </a:lvl4pPr>
            <a:lvl5pPr algn="l">
              <a:defRPr sz="1500" b="1">
                <a:solidFill>
                  <a:srgbClr val="8A3FFC"/>
                </a:solidFill>
                <a:latin typeface="Arial"/>
                <a:ea typeface="Arial"/>
                <a:cs typeface="Arial"/>
              </a:defRPr>
            </a:lvl5pPr>
            <a:lvl6pPr algn="l">
              <a:defRPr sz="1500" b="1">
                <a:solidFill>
                  <a:srgbClr val="8A3FFC"/>
                </a:solidFill>
                <a:latin typeface="Arial"/>
                <a:ea typeface="Arial"/>
                <a:cs typeface="Arial"/>
              </a:defRPr>
            </a:lvl6pPr>
            <a:lvl7pPr algn="l">
              <a:defRPr sz="1500" b="1">
                <a:solidFill>
                  <a:srgbClr val="8A3FFC"/>
                </a:solidFill>
                <a:latin typeface="Arial"/>
                <a:ea typeface="Arial"/>
                <a:cs typeface="Arial"/>
              </a:defRPr>
            </a:lvl7pPr>
            <a:lvl8pPr algn="l">
              <a:defRPr sz="1500" b="1">
                <a:solidFill>
                  <a:srgbClr val="8A3FFC"/>
                </a:solidFill>
                <a:latin typeface="Arial"/>
                <a:ea typeface="Arial"/>
                <a:cs typeface="Arial"/>
              </a:defRPr>
            </a:lvl8pPr>
            <a:lvl9pPr algn="l">
              <a:defRPr sz="1500" b="1">
                <a:solidFill>
                  <a:srgbClr val="8A3FFC"/>
                </a:solidFill>
                <a:latin typeface="Arial"/>
                <a:ea typeface="Arial"/>
                <a:cs typeface="Arial"/>
              </a:defRPr>
            </a:lvl9pPr>
          </a:lstStyle>
          <a:p xmlns:a="http://schemas.openxmlformats.org/drawingml/2006/main">
            <a:pPr algn="l">
              <a:defRPr sz="1500" b="1">
                <a:solidFill>
                  <a:srgbClr val="8A3FFC"/>
                </a:solidFill>
                <a:latin typeface="Arial"/>
                <a:ea typeface="Arial"/>
                <a:cs typeface="Arial"/>
              </a:defRPr>
            </a:pPr>
            <a:r>
              <a:rPr sz="1500" b="1">
                <a:solidFill>
                  <a:srgbClr val="8A3FFC"/>
                </a:solidFill>
                <a:latin typeface="Arial"/>
                <a:ea typeface="Arial"/>
                <a:cs typeface="Arial"/>
              </a:rPr>
              <a:t>Research question</a:t>
            </a:r>
          </a:p>
        </p:txBody>
      </p:sp>
      <p:sp>
        <p:nvSpPr>
          <p:cNvPr id="8" name="">
            <a:extLst xmlns:a="http://schemas.openxmlformats.org/drawingml/2006/main">
              <a:ext uri="{FF2B5EF4-FFF2-40B4-BE49-F238E27FC236}">
                <a16:creationId xmlns:a16="http://schemas.microsoft.com/office/drawing/2014/main" id="{06BB53FF-9045-4679-A612-3143D03B1069}"/>
              </a:ext>
            </a:extLst>
          </p:cNvPr>
          <p:cNvSpPr>
            <a:spLocks xmlns:a="http://schemas.openxmlformats.org/drawingml/2006/main" noGrp="1"/>
          </p:cNvSpPr>
          <p:nvPr/>
        </p:nvSpPr>
        <p:spPr>
          <a:xfrm xmlns:a="http://schemas.openxmlformats.org/drawingml/2006/main">
            <a:off x="8191500" y="2257425"/>
            <a:ext cx="3190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How does check placement relate to fidelity after post-selection?</a:t>
            </a:r>
          </a:p>
        </p:txBody>
      </p:sp>
      <p:sp>
        <p:nvSpPr>
          <p:cNvPr id="9" name="">
            <a:extLst xmlns:a="http://schemas.openxmlformats.org/drawingml/2006/main">
              <a:ext uri="{FF2B5EF4-FFF2-40B4-BE49-F238E27FC236}">
                <a16:creationId xmlns:a16="http://schemas.microsoft.com/office/drawing/2014/main" id="{5C8280D5-AEC8-42F3-96B3-583CBD32D8EA}"/>
              </a:ext>
            </a:extLst>
          </p:cNvPr>
          <p:cNvSpPr>
            <a:spLocks xmlns:a="http://schemas.openxmlformats.org/drawingml/2006/main" noGrp="1"/>
          </p:cNvSpPr>
          <p:nvPr/>
        </p:nvSpPr>
        <p:spPr>
          <a:xfrm xmlns:a="http://schemas.openxmlformats.org/drawingml/2006/main">
            <a:off x="685800" y="4762500"/>
            <a:ext cx="1038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61616"/>
                </a:solidFill>
                <a:latin typeface="Arial"/>
                <a:ea typeface="Arial"/>
                <a:cs typeface="Arial"/>
              </a:defRPr>
            </a:defPPr>
            <a:lvl1pPr algn="l">
              <a:defRPr sz="1875" b="1">
                <a:solidFill>
                  <a:srgbClr val="161616"/>
                </a:solidFill>
                <a:latin typeface="Arial"/>
                <a:ea typeface="Arial"/>
                <a:cs typeface="Arial"/>
              </a:defRPr>
            </a:lvl1pPr>
            <a:lvl2pPr algn="l">
              <a:defRPr sz="1875" b="1">
                <a:solidFill>
                  <a:srgbClr val="161616"/>
                </a:solidFill>
                <a:latin typeface="Arial"/>
                <a:ea typeface="Arial"/>
                <a:cs typeface="Arial"/>
              </a:defRPr>
            </a:lvl2pPr>
            <a:lvl3pPr algn="l">
              <a:defRPr sz="1875" b="1">
                <a:solidFill>
                  <a:srgbClr val="161616"/>
                </a:solidFill>
                <a:latin typeface="Arial"/>
                <a:ea typeface="Arial"/>
                <a:cs typeface="Arial"/>
              </a:defRPr>
            </a:lvl3pPr>
            <a:lvl4pPr algn="l">
              <a:defRPr sz="1875" b="1">
                <a:solidFill>
                  <a:srgbClr val="161616"/>
                </a:solidFill>
                <a:latin typeface="Arial"/>
                <a:ea typeface="Arial"/>
                <a:cs typeface="Arial"/>
              </a:defRPr>
            </a:lvl4pPr>
            <a:lvl5pPr algn="l">
              <a:defRPr sz="1875" b="1">
                <a:solidFill>
                  <a:srgbClr val="161616"/>
                </a:solidFill>
                <a:latin typeface="Arial"/>
                <a:ea typeface="Arial"/>
                <a:cs typeface="Arial"/>
              </a:defRPr>
            </a:lvl5pPr>
            <a:lvl6pPr algn="l">
              <a:defRPr sz="1875" b="1">
                <a:solidFill>
                  <a:srgbClr val="161616"/>
                </a:solidFill>
                <a:latin typeface="Arial"/>
                <a:ea typeface="Arial"/>
                <a:cs typeface="Arial"/>
              </a:defRPr>
            </a:lvl6pPr>
            <a:lvl7pPr algn="l">
              <a:defRPr sz="1875" b="1">
                <a:solidFill>
                  <a:srgbClr val="161616"/>
                </a:solidFill>
                <a:latin typeface="Arial"/>
                <a:ea typeface="Arial"/>
                <a:cs typeface="Arial"/>
              </a:defRPr>
            </a:lvl7pPr>
            <a:lvl8pPr algn="l">
              <a:defRPr sz="1875" b="1">
                <a:solidFill>
                  <a:srgbClr val="161616"/>
                </a:solidFill>
                <a:latin typeface="Arial"/>
                <a:ea typeface="Arial"/>
                <a:cs typeface="Arial"/>
              </a:defRPr>
            </a:lvl8pPr>
            <a:lvl9pPr algn="l">
              <a:defRPr sz="1875" b="1">
                <a:solidFill>
                  <a:srgbClr val="161616"/>
                </a:solidFill>
                <a:latin typeface="Arial"/>
                <a:ea typeface="Arial"/>
                <a:cs typeface="Arial"/>
              </a:defRPr>
            </a:lvl9pPr>
          </a:lstStyle>
          <a:p xmlns:a="http://schemas.openxmlformats.org/drawingml/2006/main">
            <a:pPr algn="l">
              <a:defRPr sz="1875" b="1">
                <a:solidFill>
                  <a:srgbClr val="161616"/>
                </a:solidFill>
                <a:latin typeface="Arial"/>
                <a:ea typeface="Arial"/>
                <a:cs typeface="Arial"/>
              </a:defRPr>
            </a:pPr>
            <a:r>
              <a:rPr sz="1875" b="1">
                <a:solidFill>
                  <a:srgbClr val="161616"/>
                </a:solidFill>
                <a:latin typeface="Arial"/>
                <a:ea typeface="Arial"/>
                <a:cs typeface="Arial"/>
              </a:rPr>
              <a:t>Goal: compare unfiltered and filtered output distributions in a reproducible simulator.</a:t>
            </a:r>
          </a:p>
        </p:txBody>
      </p:sp>
    </p:spTree>
    <p:extLst>
      <p:ext uri="{BB962C8B-B14F-4D97-AF65-F5344CB8AC3E}">
        <p14:creationId xmlns:p14="http://schemas.microsoft.com/office/powerpoint/2010/main" val="35140833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0BD75E-7A7A-44CC-A5AE-62CB2570EF7E}"/>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791187DC-CF06-46AA-B21A-CEC814FB4CA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What the Track 1 prototype does</a:t>
            </a:r>
          </a:p>
        </p:txBody>
      </p:sp>
      <p:sp>
        <p:nvSpPr>
          <p:cNvPr id="3" name="">
            <a:extLst xmlns:a="http://schemas.openxmlformats.org/drawingml/2006/main">
              <a:ext uri="{FF2B5EF4-FFF2-40B4-BE49-F238E27FC236}">
                <a16:creationId xmlns:a16="http://schemas.microsoft.com/office/drawing/2014/main" id="{55C57AF2-0D5E-4B49-864F-5C10236348C1}"/>
              </a:ext>
            </a:extLst>
          </p:cNvPr>
          <p:cNvSpPr>
            <a:spLocks xmlns:a="http://schemas.openxmlformats.org/drawingml/2006/main" noGrp="1"/>
          </p:cNvSpPr>
          <p:nvPr/>
        </p:nvSpPr>
        <p:spPr>
          <a:xfrm xmlns:a="http://schemas.openxmlformats.org/drawingml/2006/main">
            <a:off x="685800" y="17145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EXPERIMENT</a:t>
            </a:r>
          </a:p>
        </p:txBody>
      </p:sp>
      <p:sp>
        <p:nvSpPr>
          <p:cNvPr id="4" name="">
            <a:extLst xmlns:a="http://schemas.openxmlformats.org/drawingml/2006/main">
              <a:ext uri="{FF2B5EF4-FFF2-40B4-BE49-F238E27FC236}">
                <a16:creationId xmlns:a16="http://schemas.microsoft.com/office/drawing/2014/main" id="{1B2E964C-FF9D-4E5A-BA44-842AE2A39D12}"/>
              </a:ext>
            </a:extLst>
          </p:cNvPr>
          <p:cNvSpPr>
            <a:spLocks xmlns:a="http://schemas.openxmlformats.org/drawingml/2006/main" noGrp="1"/>
          </p:cNvSpPr>
          <p:nvPr/>
        </p:nvSpPr>
        <p:spPr>
          <a:xfrm xmlns:a="http://schemas.openxmlformats.org/drawingml/2006/main">
            <a:off x="685800" y="2095500"/>
            <a:ext cx="5143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Build a three-qubit Clifford circuit</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Insert Pauli checks with Qiskit Paulice</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Inspect support bits and interactions</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Apply a custom syndrome-parity filter</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Compare output distributions</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Run a separate T-doped comparison</a:t>
            </a:r>
          </a:p>
        </p:txBody>
      </p:sp>
      <p:sp>
        <p:nvSpPr>
          <p:cNvPr id="5" name="">
            <a:extLst xmlns:a="http://schemas.openxmlformats.org/drawingml/2006/main">
              <a:ext uri="{FF2B5EF4-FFF2-40B4-BE49-F238E27FC236}">
                <a16:creationId xmlns:a16="http://schemas.microsoft.com/office/drawing/2014/main" id="{408CF4F4-4C19-4270-8591-AA9EAB6AEBA5}"/>
              </a:ext>
            </a:extLst>
          </p:cNvPr>
          <p:cNvSpPr>
            <a:spLocks xmlns:a="http://schemas.openxmlformats.org/drawingml/2006/main" noGrp="1"/>
          </p:cNvSpPr>
          <p:nvPr/>
        </p:nvSpPr>
        <p:spPr>
          <a:xfrm xmlns:a="http://schemas.openxmlformats.org/drawingml/2006/main">
            <a:off x="6477000" y="1714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09D9A"/>
                </a:solidFill>
                <a:latin typeface="Arial"/>
                <a:ea typeface="Arial"/>
                <a:cs typeface="Arial"/>
              </a:defRPr>
            </a:defPPr>
            <a:lvl1pPr algn="l">
              <a:defRPr sz="1350" b="1">
                <a:solidFill>
                  <a:srgbClr val="009D9A"/>
                </a:solidFill>
                <a:latin typeface="Arial"/>
                <a:ea typeface="Arial"/>
                <a:cs typeface="Arial"/>
              </a:defRPr>
            </a:lvl1pPr>
            <a:lvl2pPr algn="l">
              <a:defRPr sz="1350" b="1">
                <a:solidFill>
                  <a:srgbClr val="009D9A"/>
                </a:solidFill>
                <a:latin typeface="Arial"/>
                <a:ea typeface="Arial"/>
                <a:cs typeface="Arial"/>
              </a:defRPr>
            </a:lvl2pPr>
            <a:lvl3pPr algn="l">
              <a:defRPr sz="1350" b="1">
                <a:solidFill>
                  <a:srgbClr val="009D9A"/>
                </a:solidFill>
                <a:latin typeface="Arial"/>
                <a:ea typeface="Arial"/>
                <a:cs typeface="Arial"/>
              </a:defRPr>
            </a:lvl3pPr>
            <a:lvl4pPr algn="l">
              <a:defRPr sz="1350" b="1">
                <a:solidFill>
                  <a:srgbClr val="009D9A"/>
                </a:solidFill>
                <a:latin typeface="Arial"/>
                <a:ea typeface="Arial"/>
                <a:cs typeface="Arial"/>
              </a:defRPr>
            </a:lvl4pPr>
            <a:lvl5pPr algn="l">
              <a:defRPr sz="1350" b="1">
                <a:solidFill>
                  <a:srgbClr val="009D9A"/>
                </a:solidFill>
                <a:latin typeface="Arial"/>
                <a:ea typeface="Arial"/>
                <a:cs typeface="Arial"/>
              </a:defRPr>
            </a:lvl5pPr>
            <a:lvl6pPr algn="l">
              <a:defRPr sz="1350" b="1">
                <a:solidFill>
                  <a:srgbClr val="009D9A"/>
                </a:solidFill>
                <a:latin typeface="Arial"/>
                <a:ea typeface="Arial"/>
                <a:cs typeface="Arial"/>
              </a:defRPr>
            </a:lvl6pPr>
            <a:lvl7pPr algn="l">
              <a:defRPr sz="1350" b="1">
                <a:solidFill>
                  <a:srgbClr val="009D9A"/>
                </a:solidFill>
                <a:latin typeface="Arial"/>
                <a:ea typeface="Arial"/>
                <a:cs typeface="Arial"/>
              </a:defRPr>
            </a:lvl7pPr>
            <a:lvl8pPr algn="l">
              <a:defRPr sz="1350" b="1">
                <a:solidFill>
                  <a:srgbClr val="009D9A"/>
                </a:solidFill>
                <a:latin typeface="Arial"/>
                <a:ea typeface="Arial"/>
                <a:cs typeface="Arial"/>
              </a:defRPr>
            </a:lvl8pPr>
            <a:lvl9pPr algn="l">
              <a:defRPr sz="1350" b="1">
                <a:solidFill>
                  <a:srgbClr val="009D9A"/>
                </a:solidFill>
                <a:latin typeface="Arial"/>
                <a:ea typeface="Arial"/>
                <a:cs typeface="Arial"/>
              </a:defRPr>
            </a:lvl9pPr>
          </a:lstStyle>
          <a:p xmlns:a="http://schemas.openxmlformats.org/drawingml/2006/main">
            <a:pPr algn="l">
              <a:defRPr sz="1350" b="1">
                <a:solidFill>
                  <a:srgbClr val="009D9A"/>
                </a:solidFill>
                <a:latin typeface="Arial"/>
                <a:ea typeface="Arial"/>
                <a:cs typeface="Arial"/>
              </a:defRPr>
            </a:pPr>
            <a:r>
              <a:rPr sz="1350" b="1">
                <a:solidFill>
                  <a:srgbClr val="009D9A"/>
                </a:solidFill>
                <a:latin typeface="Arial"/>
                <a:ea typeface="Arial"/>
                <a:cs typeface="Arial"/>
              </a:rPr>
              <a:t>SCOPE</a:t>
            </a:r>
          </a:p>
        </p:txBody>
      </p:sp>
      <p:sp>
        <p:nvSpPr>
          <p:cNvPr id="6" name="">
            <a:extLst xmlns:a="http://schemas.openxmlformats.org/drawingml/2006/main">
              <a:ext uri="{FF2B5EF4-FFF2-40B4-BE49-F238E27FC236}">
                <a16:creationId xmlns:a16="http://schemas.microsoft.com/office/drawing/2014/main" id="{DF708D2D-DD99-42B9-A608-D916DD05120B}"/>
              </a:ext>
            </a:extLst>
          </p:cNvPr>
          <p:cNvSpPr>
            <a:spLocks xmlns:a="http://schemas.openxmlformats.org/drawingml/2006/main" noGrp="1"/>
          </p:cNvSpPr>
          <p:nvPr/>
        </p:nvSpPr>
        <p:spPr>
          <a:xfrm xmlns:a="http://schemas.openxmlformats.org/drawingml/2006/main">
            <a:off x="6477000" y="2095500"/>
            <a:ext cx="4667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61616"/>
                </a:solidFill>
                <a:latin typeface="Arial"/>
                <a:ea typeface="Arial"/>
                <a:cs typeface="Arial"/>
              </a:defRPr>
            </a:defPPr>
            <a:lvl1pPr algn="l">
              <a:defRPr sz="1875" b="1">
                <a:solidFill>
                  <a:srgbClr val="161616"/>
                </a:solidFill>
                <a:latin typeface="Arial"/>
                <a:ea typeface="Arial"/>
                <a:cs typeface="Arial"/>
              </a:defRPr>
            </a:lvl1pPr>
            <a:lvl2pPr algn="l">
              <a:defRPr sz="1875" b="1">
                <a:solidFill>
                  <a:srgbClr val="161616"/>
                </a:solidFill>
                <a:latin typeface="Arial"/>
                <a:ea typeface="Arial"/>
                <a:cs typeface="Arial"/>
              </a:defRPr>
            </a:lvl2pPr>
            <a:lvl3pPr algn="l">
              <a:defRPr sz="1875" b="1">
                <a:solidFill>
                  <a:srgbClr val="161616"/>
                </a:solidFill>
                <a:latin typeface="Arial"/>
                <a:ea typeface="Arial"/>
                <a:cs typeface="Arial"/>
              </a:defRPr>
            </a:lvl3pPr>
            <a:lvl4pPr algn="l">
              <a:defRPr sz="1875" b="1">
                <a:solidFill>
                  <a:srgbClr val="161616"/>
                </a:solidFill>
                <a:latin typeface="Arial"/>
                <a:ea typeface="Arial"/>
                <a:cs typeface="Arial"/>
              </a:defRPr>
            </a:lvl4pPr>
            <a:lvl5pPr algn="l">
              <a:defRPr sz="1875" b="1">
                <a:solidFill>
                  <a:srgbClr val="161616"/>
                </a:solidFill>
                <a:latin typeface="Arial"/>
                <a:ea typeface="Arial"/>
                <a:cs typeface="Arial"/>
              </a:defRPr>
            </a:lvl5pPr>
            <a:lvl6pPr algn="l">
              <a:defRPr sz="1875" b="1">
                <a:solidFill>
                  <a:srgbClr val="161616"/>
                </a:solidFill>
                <a:latin typeface="Arial"/>
                <a:ea typeface="Arial"/>
                <a:cs typeface="Arial"/>
              </a:defRPr>
            </a:lvl6pPr>
            <a:lvl7pPr algn="l">
              <a:defRPr sz="1875" b="1">
                <a:solidFill>
                  <a:srgbClr val="161616"/>
                </a:solidFill>
                <a:latin typeface="Arial"/>
                <a:ea typeface="Arial"/>
                <a:cs typeface="Arial"/>
              </a:defRPr>
            </a:lvl7pPr>
            <a:lvl8pPr algn="l">
              <a:defRPr sz="1875" b="1">
                <a:solidFill>
                  <a:srgbClr val="161616"/>
                </a:solidFill>
                <a:latin typeface="Arial"/>
                <a:ea typeface="Arial"/>
                <a:cs typeface="Arial"/>
              </a:defRPr>
            </a:lvl8pPr>
            <a:lvl9pPr algn="l">
              <a:defRPr sz="1875" b="1">
                <a:solidFill>
                  <a:srgbClr val="161616"/>
                </a:solidFill>
                <a:latin typeface="Arial"/>
                <a:ea typeface="Arial"/>
                <a:cs typeface="Arial"/>
              </a:defRPr>
            </a:lvl9pPr>
          </a:lstStyle>
          <a:p xmlns:a="http://schemas.openxmlformats.org/drawingml/2006/main">
            <a:pPr algn="l">
              <a:defRPr sz="1875" b="1">
                <a:solidFill>
                  <a:srgbClr val="161616"/>
                </a:solidFill>
                <a:latin typeface="Arial"/>
                <a:ea typeface="Arial"/>
                <a:cs typeface="Arial"/>
              </a:defRPr>
            </a:pPr>
            <a:r>
              <a:rPr sz="1875" b="1">
                <a:solidFill>
                  <a:srgbClr val="161616"/>
                </a:solidFill>
                <a:latin typeface="Arial"/>
                <a:ea typeface="Arial"/>
                <a:cs typeface="Arial"/>
              </a:rPr>
              <a:t>A working simulator prototype, not a hardware experiment or full fault-tolerant logical computation.</a:t>
            </a:r>
          </a:p>
        </p:txBody>
      </p:sp>
      <p:sp>
        <p:nvSpPr>
          <p:cNvPr id="7" name="">
            <a:extLst xmlns:a="http://schemas.openxmlformats.org/drawingml/2006/main">
              <a:ext uri="{FF2B5EF4-FFF2-40B4-BE49-F238E27FC236}">
                <a16:creationId xmlns:a16="http://schemas.microsoft.com/office/drawing/2014/main" id="{C97460EF-10ED-4DFF-86FC-DB4D9B2BB33A}"/>
              </a:ext>
            </a:extLst>
          </p:cNvPr>
          <p:cNvSpPr>
            <a:spLocks xmlns:a="http://schemas.openxmlformats.org/drawingml/2006/main" noGrp="1"/>
          </p:cNvSpPr>
          <p:nvPr/>
        </p:nvSpPr>
        <p:spPr>
          <a:xfrm xmlns:a="http://schemas.openxmlformats.org/drawingml/2006/main">
            <a:off x="6477000" y="3524250"/>
            <a:ext cx="46672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5252"/>
                </a:solidFill>
                <a:latin typeface="Arial"/>
                <a:ea typeface="Arial"/>
                <a:cs typeface="Arial"/>
              </a:defRPr>
            </a:defPPr>
            <a:lvl1pPr algn="l">
              <a:defRPr sz="1650" b="0">
                <a:solidFill>
                  <a:srgbClr val="525252"/>
                </a:solidFill>
                <a:latin typeface="Arial"/>
                <a:ea typeface="Arial"/>
                <a:cs typeface="Arial"/>
              </a:defRPr>
            </a:lvl1pPr>
            <a:lvl2pPr algn="l">
              <a:defRPr sz="1650" b="0">
                <a:solidFill>
                  <a:srgbClr val="525252"/>
                </a:solidFill>
                <a:latin typeface="Arial"/>
                <a:ea typeface="Arial"/>
                <a:cs typeface="Arial"/>
              </a:defRPr>
            </a:lvl2pPr>
            <a:lvl3pPr algn="l">
              <a:defRPr sz="1650" b="0">
                <a:solidFill>
                  <a:srgbClr val="525252"/>
                </a:solidFill>
                <a:latin typeface="Arial"/>
                <a:ea typeface="Arial"/>
                <a:cs typeface="Arial"/>
              </a:defRPr>
            </a:lvl3pPr>
            <a:lvl4pPr algn="l">
              <a:defRPr sz="1650" b="0">
                <a:solidFill>
                  <a:srgbClr val="525252"/>
                </a:solidFill>
                <a:latin typeface="Arial"/>
                <a:ea typeface="Arial"/>
                <a:cs typeface="Arial"/>
              </a:defRPr>
            </a:lvl4pPr>
            <a:lvl5pPr algn="l">
              <a:defRPr sz="1650" b="0">
                <a:solidFill>
                  <a:srgbClr val="525252"/>
                </a:solidFill>
                <a:latin typeface="Arial"/>
                <a:ea typeface="Arial"/>
                <a:cs typeface="Arial"/>
              </a:defRPr>
            </a:lvl5pPr>
            <a:lvl6pPr algn="l">
              <a:defRPr sz="1650" b="0">
                <a:solidFill>
                  <a:srgbClr val="525252"/>
                </a:solidFill>
                <a:latin typeface="Arial"/>
                <a:ea typeface="Arial"/>
                <a:cs typeface="Arial"/>
              </a:defRPr>
            </a:lvl6pPr>
            <a:lvl7pPr algn="l">
              <a:defRPr sz="1650" b="0">
                <a:solidFill>
                  <a:srgbClr val="525252"/>
                </a:solidFill>
                <a:latin typeface="Arial"/>
                <a:ea typeface="Arial"/>
                <a:cs typeface="Arial"/>
              </a:defRPr>
            </a:lvl7pPr>
            <a:lvl8pPr algn="l">
              <a:defRPr sz="1650" b="0">
                <a:solidFill>
                  <a:srgbClr val="525252"/>
                </a:solidFill>
                <a:latin typeface="Arial"/>
                <a:ea typeface="Arial"/>
                <a:cs typeface="Arial"/>
              </a:defRPr>
            </a:lvl8pPr>
            <a:lvl9pPr algn="l">
              <a:defRPr sz="1650" b="0">
                <a:solidFill>
                  <a:srgbClr val="525252"/>
                </a:solidFill>
                <a:latin typeface="Arial"/>
                <a:ea typeface="Arial"/>
                <a:cs typeface="Arial"/>
              </a:defRPr>
            </a:lvl9pPr>
          </a:lstStyle>
          <a:p xmlns:a="http://schemas.openxmlformats.org/drawingml/2006/main">
            <a:pPr algn="l">
              <a:defRPr sz="1650" b="0">
                <a:solidFill>
                  <a:srgbClr val="525252"/>
                </a:solidFill>
                <a:latin typeface="Arial"/>
                <a:ea typeface="Arial"/>
                <a:cs typeface="Arial"/>
              </a:defRPr>
            </a:pPr>
            <a:r>
              <a:rPr sz="1650" b="0">
                <a:solidFill>
                  <a:srgbClr val="525252"/>
                </a:solidFill>
                <a:latin typeface="Arial"/>
                <a:ea typeface="Arial"/>
                <a:cs typeface="Arial"/>
              </a:rPr>
              <a:t>The T-doped comparison is separate: the documented Paulice workflow is Clifford-focused, so we do not claim validated checks on that circuit.</a:t>
            </a:r>
          </a:p>
        </p:txBody>
      </p:sp>
    </p:spTree>
    <p:extLst>
      <p:ext uri="{BB962C8B-B14F-4D97-AF65-F5344CB8AC3E}">
        <p14:creationId xmlns:p14="http://schemas.microsoft.com/office/powerpoint/2010/main" val="11740381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2F21F36-3DC5-43A8-852C-3B22B856A5DA}"/>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B4D2F53D-834D-4155-89D5-20238A20905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Five terms used in the check experiment</a:t>
            </a:r>
          </a:p>
        </p:txBody>
      </p:sp>
      <p:sp>
        <p:nvSpPr>
          <p:cNvPr id="3" name="">
            <a:extLst xmlns:a="http://schemas.openxmlformats.org/drawingml/2006/main">
              <a:ext uri="{FF2B5EF4-FFF2-40B4-BE49-F238E27FC236}">
                <a16:creationId xmlns:a16="http://schemas.microsoft.com/office/drawing/2014/main" id="{E4953CB7-26EC-4ED4-9344-8718A28ECA73}"/>
              </a:ext>
            </a:extLst>
          </p:cNvPr>
          <p:cNvSpPr>
            <a:spLocks xmlns:a="http://schemas.openxmlformats.org/drawingml/2006/main" noGrp="1"/>
          </p:cNvSpPr>
          <p:nvPr/>
        </p:nvSpPr>
        <p:spPr>
          <a:xfrm xmlns:a="http://schemas.openxmlformats.org/drawingml/2006/main">
            <a:off x="685800" y="18097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Pauli check</a:t>
            </a:r>
          </a:p>
        </p:txBody>
      </p:sp>
      <p:sp>
        <p:nvSpPr>
          <p:cNvPr id="4" name="">
            <a:extLst xmlns:a="http://schemas.openxmlformats.org/drawingml/2006/main">
              <a:ext uri="{FF2B5EF4-FFF2-40B4-BE49-F238E27FC236}">
                <a16:creationId xmlns:a16="http://schemas.microsoft.com/office/drawing/2014/main" id="{FB3B9D31-4DA2-4F14-A7E3-1F4B68C947E8}"/>
              </a:ext>
            </a:extLst>
          </p:cNvPr>
          <p:cNvSpPr>
            <a:spLocks xmlns:a="http://schemas.openxmlformats.org/drawingml/2006/main" noGrp="1"/>
          </p:cNvSpPr>
          <p:nvPr/>
        </p:nvSpPr>
        <p:spPr>
          <a:xfrm xmlns:a="http://schemas.openxmlformats.org/drawingml/2006/main">
            <a:off x="685800" y="21907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An ancilla-based operation sequence that probes a Pauli-related parity.</a:t>
            </a:r>
          </a:p>
        </p:txBody>
      </p:sp>
      <p:sp>
        <p:nvSpPr>
          <p:cNvPr id="5" name="">
            <a:extLst xmlns:a="http://schemas.openxmlformats.org/drawingml/2006/main">
              <a:ext uri="{FF2B5EF4-FFF2-40B4-BE49-F238E27FC236}">
                <a16:creationId xmlns:a16="http://schemas.microsoft.com/office/drawing/2014/main" id="{D2666B5C-DF79-4D0B-97D6-43DE90AC1F0A}"/>
              </a:ext>
            </a:extLst>
          </p:cNvPr>
          <p:cNvSpPr>
            <a:spLocks xmlns:a="http://schemas.openxmlformats.org/drawingml/2006/main" noGrp="1"/>
          </p:cNvSpPr>
          <p:nvPr/>
        </p:nvSpPr>
        <p:spPr>
          <a:xfrm xmlns:a="http://schemas.openxmlformats.org/drawingml/2006/main">
            <a:off x="6286500" y="18097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Syndrome</a:t>
            </a:r>
          </a:p>
        </p:txBody>
      </p:sp>
      <p:sp>
        <p:nvSpPr>
          <p:cNvPr id="6" name="">
            <a:extLst xmlns:a="http://schemas.openxmlformats.org/drawingml/2006/main">
              <a:ext uri="{FF2B5EF4-FFF2-40B4-BE49-F238E27FC236}">
                <a16:creationId xmlns:a16="http://schemas.microsoft.com/office/drawing/2014/main" id="{A288DA80-A683-4378-8A59-DC6A03719377}"/>
              </a:ext>
            </a:extLst>
          </p:cNvPr>
          <p:cNvSpPr>
            <a:spLocks xmlns:a="http://schemas.openxmlformats.org/drawingml/2006/main" noGrp="1"/>
          </p:cNvSpPr>
          <p:nvPr/>
        </p:nvSpPr>
        <p:spPr>
          <a:xfrm xmlns:a="http://schemas.openxmlformats.org/drawingml/2006/main">
            <a:off x="6286500" y="21907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A parity calculated from measured bits; non-zero marks a shot for rejection.</a:t>
            </a:r>
          </a:p>
        </p:txBody>
      </p:sp>
      <p:sp>
        <p:nvSpPr>
          <p:cNvPr id="7" name="">
            <a:extLst xmlns:a="http://schemas.openxmlformats.org/drawingml/2006/main">
              <a:ext uri="{FF2B5EF4-FFF2-40B4-BE49-F238E27FC236}">
                <a16:creationId xmlns:a16="http://schemas.microsoft.com/office/drawing/2014/main" id="{9060CD3A-B30D-4527-BBC7-EFBC4764C9EF}"/>
              </a:ext>
            </a:extLst>
          </p:cNvPr>
          <p:cNvSpPr>
            <a:spLocks xmlns:a="http://schemas.openxmlformats.org/drawingml/2006/main" noGrp="1"/>
          </p:cNvSpPr>
          <p:nvPr/>
        </p:nvSpPr>
        <p:spPr>
          <a:xfrm xmlns:a="http://schemas.openxmlformats.org/drawingml/2006/main">
            <a:off x="685800" y="31432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Post-selection</a:t>
            </a:r>
          </a:p>
        </p:txBody>
      </p:sp>
      <p:sp>
        <p:nvSpPr>
          <p:cNvPr id="8" name="">
            <a:extLst xmlns:a="http://schemas.openxmlformats.org/drawingml/2006/main">
              <a:ext uri="{FF2B5EF4-FFF2-40B4-BE49-F238E27FC236}">
                <a16:creationId xmlns:a16="http://schemas.microsoft.com/office/drawing/2014/main" id="{6EBABBDE-C422-4F04-845F-14D7EC542966}"/>
              </a:ext>
            </a:extLst>
          </p:cNvPr>
          <p:cNvSpPr>
            <a:spLocks xmlns:a="http://schemas.openxmlformats.org/drawingml/2006/main" noGrp="1"/>
          </p:cNvSpPr>
          <p:nvPr/>
        </p:nvSpPr>
        <p:spPr>
          <a:xfrm xmlns:a="http://schemas.openxmlformats.org/drawingml/2006/main">
            <a:off x="685800" y="35242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Keep shots that pass the chosen syndrome rule; discard the rest.</a:t>
            </a:r>
          </a:p>
        </p:txBody>
      </p:sp>
      <p:sp>
        <p:nvSpPr>
          <p:cNvPr id="9" name="">
            <a:extLst xmlns:a="http://schemas.openxmlformats.org/drawingml/2006/main">
              <a:ext uri="{FF2B5EF4-FFF2-40B4-BE49-F238E27FC236}">
                <a16:creationId xmlns:a16="http://schemas.microsoft.com/office/drawing/2014/main" id="{47A04DC8-0057-4354-8C55-B40FAF31807C}"/>
              </a:ext>
            </a:extLst>
          </p:cNvPr>
          <p:cNvSpPr>
            <a:spLocks xmlns:a="http://schemas.openxmlformats.org/drawingml/2006/main" noGrp="1"/>
          </p:cNvSpPr>
          <p:nvPr/>
        </p:nvSpPr>
        <p:spPr>
          <a:xfrm xmlns:a="http://schemas.openxmlformats.org/drawingml/2006/main">
            <a:off x="6286500" y="31432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Interaction span</a:t>
            </a:r>
          </a:p>
        </p:txBody>
      </p:sp>
      <p:sp>
        <p:nvSpPr>
          <p:cNvPr id="10" name="">
            <a:extLst xmlns:a="http://schemas.openxmlformats.org/drawingml/2006/main">
              <a:ext uri="{FF2B5EF4-FFF2-40B4-BE49-F238E27FC236}">
                <a16:creationId xmlns:a16="http://schemas.microsoft.com/office/drawing/2014/main" id="{B47A2D98-4A71-4E0E-832B-24214AC9B0E7}"/>
              </a:ext>
            </a:extLst>
          </p:cNvPr>
          <p:cNvSpPr>
            <a:spLocks xmlns:a="http://schemas.openxmlformats.org/drawingml/2006/main" noGrp="1"/>
          </p:cNvSpPr>
          <p:nvPr/>
        </p:nvSpPr>
        <p:spPr>
          <a:xfrm xmlns:a="http://schemas.openxmlformats.org/drawingml/2006/main">
            <a:off x="6286500" y="35242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Instruction-index gap between the first and last recorded check interaction.</a:t>
            </a:r>
          </a:p>
        </p:txBody>
      </p:sp>
      <p:sp>
        <p:nvSpPr>
          <p:cNvPr id="11" name="">
            <a:extLst xmlns:a="http://schemas.openxmlformats.org/drawingml/2006/main">
              <a:ext uri="{FF2B5EF4-FFF2-40B4-BE49-F238E27FC236}">
                <a16:creationId xmlns:a16="http://schemas.microsoft.com/office/drawing/2014/main" id="{A016F8EF-B028-4E42-B6CF-0CE7A700FB87}"/>
              </a:ext>
            </a:extLst>
          </p:cNvPr>
          <p:cNvSpPr>
            <a:spLocks xmlns:a="http://schemas.openxmlformats.org/drawingml/2006/main" noGrp="1"/>
          </p:cNvSpPr>
          <p:nvPr/>
        </p:nvSpPr>
        <p:spPr>
          <a:xfrm xmlns:a="http://schemas.openxmlformats.org/drawingml/2006/main">
            <a:off x="685800" y="45720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Distribution fidelity</a:t>
            </a:r>
          </a:p>
        </p:txBody>
      </p:sp>
      <p:sp>
        <p:nvSpPr>
          <p:cNvPr id="12" name="">
            <a:extLst xmlns:a="http://schemas.openxmlformats.org/drawingml/2006/main">
              <a:ext uri="{FF2B5EF4-FFF2-40B4-BE49-F238E27FC236}">
                <a16:creationId xmlns:a16="http://schemas.microsoft.com/office/drawing/2014/main" id="{4CBB2073-B3D6-41D1-B1EF-C1B51E1AA5A7}"/>
              </a:ext>
            </a:extLst>
          </p:cNvPr>
          <p:cNvSpPr>
            <a:spLocks xmlns:a="http://schemas.openxmlformats.org/drawingml/2006/main" noGrp="1"/>
          </p:cNvSpPr>
          <p:nvPr/>
        </p:nvSpPr>
        <p:spPr>
          <a:xfrm xmlns:a="http://schemas.openxmlformats.org/drawingml/2006/main">
            <a:off x="685800" y="495300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Squared Bhattacharyya overlap between ideal and observed output probabilities.</a:t>
            </a:r>
          </a:p>
        </p:txBody>
      </p:sp>
    </p:spTree>
    <p:extLst>
      <p:ext uri="{BB962C8B-B14F-4D97-AF65-F5344CB8AC3E}">
        <p14:creationId xmlns:p14="http://schemas.microsoft.com/office/powerpoint/2010/main" val="92005729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B8CC320-E227-4A7C-90EF-F41B781BF53F}"/>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E47FCBD9-4EDC-4CD7-BFA1-912CC5BA081F}"/>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Track 1 experimental workflow</a:t>
            </a:r>
          </a:p>
        </p:txBody>
      </p:sp>
      <p:sp>
        <p:nvSpPr>
          <p:cNvPr id="3" name="">
            <a:extLst xmlns:a="http://schemas.openxmlformats.org/drawingml/2006/main">
              <a:ext uri="{FF2B5EF4-FFF2-40B4-BE49-F238E27FC236}">
                <a16:creationId xmlns:a16="http://schemas.microsoft.com/office/drawing/2014/main" id="{2B74D65A-2473-46B2-BFF9-D92F085CBF9C}"/>
              </a:ext>
            </a:extLst>
          </p:cNvPr>
          <p:cNvSpPr>
            <a:spLocks xmlns:a="http://schemas.openxmlformats.org/drawingml/2006/main" noGrp="1"/>
          </p:cNvSpPr>
          <p:nvPr/>
        </p:nvSpPr>
        <p:spPr>
          <a:xfrm xmlns:a="http://schemas.openxmlformats.org/drawingml/2006/main">
            <a:off x="666750"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1 · Build</a:t>
            </a:r>
          </a:p>
        </p:txBody>
      </p:sp>
      <p:sp>
        <p:nvSpPr>
          <p:cNvPr id="4" name="">
            <a:extLst xmlns:a="http://schemas.openxmlformats.org/drawingml/2006/main">
              <a:ext uri="{FF2B5EF4-FFF2-40B4-BE49-F238E27FC236}">
                <a16:creationId xmlns:a16="http://schemas.microsoft.com/office/drawing/2014/main" id="{8D8C6035-23BE-477E-86EF-84BEEEA23B43}"/>
              </a:ext>
            </a:extLst>
          </p:cNvPr>
          <p:cNvSpPr>
            <a:spLocks xmlns:a="http://schemas.openxmlformats.org/drawingml/2006/main" noGrp="1"/>
          </p:cNvSpPr>
          <p:nvPr/>
        </p:nvSpPr>
        <p:spPr>
          <a:xfrm xmlns:a="http://schemas.openxmlformats.org/drawingml/2006/main">
            <a:off x="666750"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3 data qubits</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Clifford gates</a:t>
            </a:r>
          </a:p>
        </p:txBody>
      </p:sp>
      <p:sp>
        <p:nvSpPr>
          <p:cNvPr id="5" name="">
            <a:extLst xmlns:a="http://schemas.openxmlformats.org/drawingml/2006/main">
              <a:ext uri="{FF2B5EF4-FFF2-40B4-BE49-F238E27FC236}">
                <a16:creationId xmlns:a16="http://schemas.microsoft.com/office/drawing/2014/main" id="{6E5B7D31-F82D-40B0-825D-160D43EFF2DB}"/>
              </a:ext>
            </a:extLst>
          </p:cNvPr>
          <p:cNvSpPr>
            <a:spLocks xmlns:a="http://schemas.openxmlformats.org/drawingml/2006/main" noGrp="1"/>
          </p:cNvSpPr>
          <p:nvPr/>
        </p:nvSpPr>
        <p:spPr>
          <a:xfrm xmlns:a="http://schemas.openxmlformats.org/drawingml/2006/main">
            <a:off x="2476500"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AE79F8A7-EFCA-4CD2-91C2-D7623756F400}"/>
              </a:ext>
            </a:extLst>
          </p:cNvPr>
          <p:cNvSpPr>
            <a:spLocks xmlns:a="http://schemas.openxmlformats.org/drawingml/2006/main" noGrp="1"/>
          </p:cNvSpPr>
          <p:nvPr/>
        </p:nvSpPr>
        <p:spPr>
          <a:xfrm xmlns:a="http://schemas.openxmlformats.org/drawingml/2006/main">
            <a:off x="2905125"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2 · Generate</a:t>
            </a:r>
          </a:p>
        </p:txBody>
      </p:sp>
      <p:sp>
        <p:nvSpPr>
          <p:cNvPr id="7" name="">
            <a:extLst xmlns:a="http://schemas.openxmlformats.org/drawingml/2006/main">
              <a:ext uri="{FF2B5EF4-FFF2-40B4-BE49-F238E27FC236}">
                <a16:creationId xmlns:a16="http://schemas.microsoft.com/office/drawing/2014/main" id="{329EECCC-69A6-4705-A40A-50C23D04D99E}"/>
              </a:ext>
            </a:extLst>
          </p:cNvPr>
          <p:cNvSpPr>
            <a:spLocks xmlns:a="http://schemas.openxmlformats.org/drawingml/2006/main" noGrp="1"/>
          </p:cNvSpPr>
          <p:nvPr/>
        </p:nvSpPr>
        <p:spPr>
          <a:xfrm xmlns:a="http://schemas.openxmlformats.org/drawingml/2006/main">
            <a:off x="2905125"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Paulice search</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Insert checks</a:t>
            </a:r>
          </a:p>
        </p:txBody>
      </p:sp>
      <p:sp>
        <p:nvSpPr>
          <p:cNvPr id="8" name="">
            <a:extLst xmlns:a="http://schemas.openxmlformats.org/drawingml/2006/main">
              <a:ext uri="{FF2B5EF4-FFF2-40B4-BE49-F238E27FC236}">
                <a16:creationId xmlns:a16="http://schemas.microsoft.com/office/drawing/2014/main" id="{5FA04939-A40E-4111-B852-1EC744E1E0EF}"/>
              </a:ext>
            </a:extLst>
          </p:cNvPr>
          <p:cNvSpPr>
            <a:spLocks xmlns:a="http://schemas.openxmlformats.org/drawingml/2006/main" noGrp="1"/>
          </p:cNvSpPr>
          <p:nvPr/>
        </p:nvSpPr>
        <p:spPr>
          <a:xfrm xmlns:a="http://schemas.openxmlformats.org/drawingml/2006/main">
            <a:off x="471487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BC664EB0-8C1F-42BA-9E31-C4A16B2B3822}"/>
              </a:ext>
            </a:extLst>
          </p:cNvPr>
          <p:cNvSpPr>
            <a:spLocks xmlns:a="http://schemas.openxmlformats.org/drawingml/2006/main" noGrp="1"/>
          </p:cNvSpPr>
          <p:nvPr/>
        </p:nvSpPr>
        <p:spPr>
          <a:xfrm xmlns:a="http://schemas.openxmlformats.org/drawingml/2006/main">
            <a:off x="5143500"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8A3FFC"/>
                </a:solidFill>
                <a:latin typeface="Arial"/>
                <a:ea typeface="Arial"/>
                <a:cs typeface="Arial"/>
              </a:defRPr>
            </a:defPPr>
            <a:lvl1pPr algn="l">
              <a:defRPr sz="1500" b="1">
                <a:solidFill>
                  <a:srgbClr val="8A3FFC"/>
                </a:solidFill>
                <a:latin typeface="Arial"/>
                <a:ea typeface="Arial"/>
                <a:cs typeface="Arial"/>
              </a:defRPr>
            </a:lvl1pPr>
            <a:lvl2pPr algn="l">
              <a:defRPr sz="1500" b="1">
                <a:solidFill>
                  <a:srgbClr val="8A3FFC"/>
                </a:solidFill>
                <a:latin typeface="Arial"/>
                <a:ea typeface="Arial"/>
                <a:cs typeface="Arial"/>
              </a:defRPr>
            </a:lvl2pPr>
            <a:lvl3pPr algn="l">
              <a:defRPr sz="1500" b="1">
                <a:solidFill>
                  <a:srgbClr val="8A3FFC"/>
                </a:solidFill>
                <a:latin typeface="Arial"/>
                <a:ea typeface="Arial"/>
                <a:cs typeface="Arial"/>
              </a:defRPr>
            </a:lvl3pPr>
            <a:lvl4pPr algn="l">
              <a:defRPr sz="1500" b="1">
                <a:solidFill>
                  <a:srgbClr val="8A3FFC"/>
                </a:solidFill>
                <a:latin typeface="Arial"/>
                <a:ea typeface="Arial"/>
                <a:cs typeface="Arial"/>
              </a:defRPr>
            </a:lvl4pPr>
            <a:lvl5pPr algn="l">
              <a:defRPr sz="1500" b="1">
                <a:solidFill>
                  <a:srgbClr val="8A3FFC"/>
                </a:solidFill>
                <a:latin typeface="Arial"/>
                <a:ea typeface="Arial"/>
                <a:cs typeface="Arial"/>
              </a:defRPr>
            </a:lvl5pPr>
            <a:lvl6pPr algn="l">
              <a:defRPr sz="1500" b="1">
                <a:solidFill>
                  <a:srgbClr val="8A3FFC"/>
                </a:solidFill>
                <a:latin typeface="Arial"/>
                <a:ea typeface="Arial"/>
                <a:cs typeface="Arial"/>
              </a:defRPr>
            </a:lvl6pPr>
            <a:lvl7pPr algn="l">
              <a:defRPr sz="1500" b="1">
                <a:solidFill>
                  <a:srgbClr val="8A3FFC"/>
                </a:solidFill>
                <a:latin typeface="Arial"/>
                <a:ea typeface="Arial"/>
                <a:cs typeface="Arial"/>
              </a:defRPr>
            </a:lvl7pPr>
            <a:lvl8pPr algn="l">
              <a:defRPr sz="1500" b="1">
                <a:solidFill>
                  <a:srgbClr val="8A3FFC"/>
                </a:solidFill>
                <a:latin typeface="Arial"/>
                <a:ea typeface="Arial"/>
                <a:cs typeface="Arial"/>
              </a:defRPr>
            </a:lvl8pPr>
            <a:lvl9pPr algn="l">
              <a:defRPr sz="1500" b="1">
                <a:solidFill>
                  <a:srgbClr val="8A3FFC"/>
                </a:solidFill>
                <a:latin typeface="Arial"/>
                <a:ea typeface="Arial"/>
                <a:cs typeface="Arial"/>
              </a:defRPr>
            </a:lvl9pPr>
          </a:lstStyle>
          <a:p xmlns:a="http://schemas.openxmlformats.org/drawingml/2006/main">
            <a:pPr algn="l">
              <a:defRPr sz="1500" b="1">
                <a:solidFill>
                  <a:srgbClr val="8A3FFC"/>
                </a:solidFill>
                <a:latin typeface="Arial"/>
                <a:ea typeface="Arial"/>
                <a:cs typeface="Arial"/>
              </a:defRPr>
            </a:pPr>
            <a:r>
              <a:rPr sz="1500" b="1">
                <a:solidFill>
                  <a:srgbClr val="8A3FFC"/>
                </a:solidFill>
                <a:latin typeface="Arial"/>
                <a:ea typeface="Arial"/>
                <a:cs typeface="Arial"/>
              </a:rPr>
              <a:t>3 · Simulate</a:t>
            </a:r>
          </a:p>
        </p:txBody>
      </p:sp>
      <p:sp>
        <p:nvSpPr>
          <p:cNvPr id="10" name="">
            <a:extLst xmlns:a="http://schemas.openxmlformats.org/drawingml/2006/main">
              <a:ext uri="{FF2B5EF4-FFF2-40B4-BE49-F238E27FC236}">
                <a16:creationId xmlns:a16="http://schemas.microsoft.com/office/drawing/2014/main" id="{2BBE6086-7685-4AFD-BCAA-85506A3823FB}"/>
              </a:ext>
            </a:extLst>
          </p:cNvPr>
          <p:cNvSpPr>
            <a:spLocks xmlns:a="http://schemas.openxmlformats.org/drawingml/2006/main" noGrp="1"/>
          </p:cNvSpPr>
          <p:nvPr/>
        </p:nvSpPr>
        <p:spPr>
          <a:xfrm xmlns:a="http://schemas.openxmlformats.org/drawingml/2006/main">
            <a:off x="5143500"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Aer noise model</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Sample shots</a:t>
            </a:r>
          </a:p>
        </p:txBody>
      </p:sp>
      <p:sp>
        <p:nvSpPr>
          <p:cNvPr id="11" name="">
            <a:extLst xmlns:a="http://schemas.openxmlformats.org/drawingml/2006/main">
              <a:ext uri="{FF2B5EF4-FFF2-40B4-BE49-F238E27FC236}">
                <a16:creationId xmlns:a16="http://schemas.microsoft.com/office/drawing/2014/main" id="{73FA2E51-D962-4776-9358-81480277D04F}"/>
              </a:ext>
            </a:extLst>
          </p:cNvPr>
          <p:cNvSpPr>
            <a:spLocks xmlns:a="http://schemas.openxmlformats.org/drawingml/2006/main" noGrp="1"/>
          </p:cNvSpPr>
          <p:nvPr/>
        </p:nvSpPr>
        <p:spPr>
          <a:xfrm xmlns:a="http://schemas.openxmlformats.org/drawingml/2006/main">
            <a:off x="6953250"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B94CEB27-EDCA-4268-900B-35D803BD005D}"/>
              </a:ext>
            </a:extLst>
          </p:cNvPr>
          <p:cNvSpPr>
            <a:spLocks xmlns:a="http://schemas.openxmlformats.org/drawingml/2006/main" noGrp="1"/>
          </p:cNvSpPr>
          <p:nvPr/>
        </p:nvSpPr>
        <p:spPr>
          <a:xfrm xmlns:a="http://schemas.openxmlformats.org/drawingml/2006/main">
            <a:off x="7381875"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832B"/>
                </a:solidFill>
                <a:latin typeface="Arial"/>
                <a:ea typeface="Arial"/>
                <a:cs typeface="Arial"/>
              </a:defRPr>
            </a:defPPr>
            <a:lvl1pPr algn="l">
              <a:defRPr sz="1500" b="1">
                <a:solidFill>
                  <a:srgbClr val="FF832B"/>
                </a:solidFill>
                <a:latin typeface="Arial"/>
                <a:ea typeface="Arial"/>
                <a:cs typeface="Arial"/>
              </a:defRPr>
            </a:lvl1pPr>
            <a:lvl2pPr algn="l">
              <a:defRPr sz="1500" b="1">
                <a:solidFill>
                  <a:srgbClr val="FF832B"/>
                </a:solidFill>
                <a:latin typeface="Arial"/>
                <a:ea typeface="Arial"/>
                <a:cs typeface="Arial"/>
              </a:defRPr>
            </a:lvl2pPr>
            <a:lvl3pPr algn="l">
              <a:defRPr sz="1500" b="1">
                <a:solidFill>
                  <a:srgbClr val="FF832B"/>
                </a:solidFill>
                <a:latin typeface="Arial"/>
                <a:ea typeface="Arial"/>
                <a:cs typeface="Arial"/>
              </a:defRPr>
            </a:lvl3pPr>
            <a:lvl4pPr algn="l">
              <a:defRPr sz="1500" b="1">
                <a:solidFill>
                  <a:srgbClr val="FF832B"/>
                </a:solidFill>
                <a:latin typeface="Arial"/>
                <a:ea typeface="Arial"/>
                <a:cs typeface="Arial"/>
              </a:defRPr>
            </a:lvl4pPr>
            <a:lvl5pPr algn="l">
              <a:defRPr sz="1500" b="1">
                <a:solidFill>
                  <a:srgbClr val="FF832B"/>
                </a:solidFill>
                <a:latin typeface="Arial"/>
                <a:ea typeface="Arial"/>
                <a:cs typeface="Arial"/>
              </a:defRPr>
            </a:lvl5pPr>
            <a:lvl6pPr algn="l">
              <a:defRPr sz="1500" b="1">
                <a:solidFill>
                  <a:srgbClr val="FF832B"/>
                </a:solidFill>
                <a:latin typeface="Arial"/>
                <a:ea typeface="Arial"/>
                <a:cs typeface="Arial"/>
              </a:defRPr>
            </a:lvl6pPr>
            <a:lvl7pPr algn="l">
              <a:defRPr sz="1500" b="1">
                <a:solidFill>
                  <a:srgbClr val="FF832B"/>
                </a:solidFill>
                <a:latin typeface="Arial"/>
                <a:ea typeface="Arial"/>
                <a:cs typeface="Arial"/>
              </a:defRPr>
            </a:lvl7pPr>
            <a:lvl8pPr algn="l">
              <a:defRPr sz="1500" b="1">
                <a:solidFill>
                  <a:srgbClr val="FF832B"/>
                </a:solidFill>
                <a:latin typeface="Arial"/>
                <a:ea typeface="Arial"/>
                <a:cs typeface="Arial"/>
              </a:defRPr>
            </a:lvl8pPr>
            <a:lvl9pPr algn="l">
              <a:defRPr sz="1500" b="1">
                <a:solidFill>
                  <a:srgbClr val="FF832B"/>
                </a:solidFill>
                <a:latin typeface="Arial"/>
                <a:ea typeface="Arial"/>
                <a:cs typeface="Arial"/>
              </a:defRPr>
            </a:lvl9pPr>
          </a:lstStyle>
          <a:p xmlns:a="http://schemas.openxmlformats.org/drawingml/2006/main">
            <a:pPr algn="l">
              <a:defRPr sz="1500" b="1">
                <a:solidFill>
                  <a:srgbClr val="FF832B"/>
                </a:solidFill>
                <a:latin typeface="Arial"/>
                <a:ea typeface="Arial"/>
                <a:cs typeface="Arial"/>
              </a:defRPr>
            </a:pPr>
            <a:r>
              <a:rPr sz="1500" b="1">
                <a:solidFill>
                  <a:srgbClr val="FF832B"/>
                </a:solidFill>
                <a:latin typeface="Arial"/>
                <a:ea typeface="Arial"/>
                <a:cs typeface="Arial"/>
              </a:rPr>
              <a:t>4 · Filter</a:t>
            </a:r>
          </a:p>
        </p:txBody>
      </p:sp>
      <p:sp>
        <p:nvSpPr>
          <p:cNvPr id="13" name="">
            <a:extLst xmlns:a="http://schemas.openxmlformats.org/drawingml/2006/main">
              <a:ext uri="{FF2B5EF4-FFF2-40B4-BE49-F238E27FC236}">
                <a16:creationId xmlns:a16="http://schemas.microsoft.com/office/drawing/2014/main" id="{8A5E3F17-5441-40F8-B7A6-A2B7D49DAA02}"/>
              </a:ext>
            </a:extLst>
          </p:cNvPr>
          <p:cNvSpPr>
            <a:spLocks xmlns:a="http://schemas.openxmlformats.org/drawingml/2006/main" noGrp="1"/>
          </p:cNvSpPr>
          <p:nvPr/>
        </p:nvSpPr>
        <p:spPr>
          <a:xfrm xmlns:a="http://schemas.openxmlformats.org/drawingml/2006/main">
            <a:off x="7381875"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Compute parity</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Accept / reject</a:t>
            </a:r>
          </a:p>
        </p:txBody>
      </p:sp>
      <p:sp>
        <p:nvSpPr>
          <p:cNvPr id="14" name="">
            <a:extLst xmlns:a="http://schemas.openxmlformats.org/drawingml/2006/main">
              <a:ext uri="{FF2B5EF4-FFF2-40B4-BE49-F238E27FC236}">
                <a16:creationId xmlns:a16="http://schemas.microsoft.com/office/drawing/2014/main" id="{A0F090FB-8935-4B9B-B36A-44D7B93F6F68}"/>
              </a:ext>
            </a:extLst>
          </p:cNvPr>
          <p:cNvSpPr>
            <a:spLocks xmlns:a="http://schemas.openxmlformats.org/drawingml/2006/main" noGrp="1"/>
          </p:cNvSpPr>
          <p:nvPr/>
        </p:nvSpPr>
        <p:spPr>
          <a:xfrm xmlns:a="http://schemas.openxmlformats.org/drawingml/2006/main">
            <a:off x="919162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4EFA51C7-D566-48F8-9021-F3575A8C22A1}"/>
              </a:ext>
            </a:extLst>
          </p:cNvPr>
          <p:cNvSpPr>
            <a:spLocks xmlns:a="http://schemas.openxmlformats.org/drawingml/2006/main" noGrp="1"/>
          </p:cNvSpPr>
          <p:nvPr/>
        </p:nvSpPr>
        <p:spPr>
          <a:xfrm xmlns:a="http://schemas.openxmlformats.org/drawingml/2006/main">
            <a:off x="9620250"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5 · Evaluate</a:t>
            </a:r>
          </a:p>
        </p:txBody>
      </p:sp>
      <p:sp>
        <p:nvSpPr>
          <p:cNvPr id="16" name="">
            <a:extLst xmlns:a="http://schemas.openxmlformats.org/drawingml/2006/main">
              <a:ext uri="{FF2B5EF4-FFF2-40B4-BE49-F238E27FC236}">
                <a16:creationId xmlns:a16="http://schemas.microsoft.com/office/drawing/2014/main" id="{E787B2D5-0D7E-483C-9AFC-4588BD67CD84}"/>
              </a:ext>
            </a:extLst>
          </p:cNvPr>
          <p:cNvSpPr>
            <a:spLocks xmlns:a="http://schemas.openxmlformats.org/drawingml/2006/main" noGrp="1"/>
          </p:cNvSpPr>
          <p:nvPr/>
        </p:nvSpPr>
        <p:spPr>
          <a:xfrm xmlns:a="http://schemas.openxmlformats.org/drawingml/2006/main">
            <a:off x="9620250"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Compare output</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distributions</a:t>
            </a:r>
          </a:p>
        </p:txBody>
      </p:sp>
      <p:sp>
        <p:nvSpPr>
          <p:cNvPr id="17" name="">
            <a:extLst xmlns:a="http://schemas.openxmlformats.org/drawingml/2006/main">
              <a:ext uri="{FF2B5EF4-FFF2-40B4-BE49-F238E27FC236}">
                <a16:creationId xmlns:a16="http://schemas.microsoft.com/office/drawing/2014/main" id="{52EFBFD6-9262-4B30-B639-FF412A256C3D}"/>
              </a:ext>
            </a:extLst>
          </p:cNvPr>
          <p:cNvSpPr>
            <a:spLocks xmlns:a="http://schemas.openxmlformats.org/drawingml/2006/main" noGrp="1"/>
          </p:cNvSpPr>
          <p:nvPr/>
        </p:nvSpPr>
        <p:spPr>
          <a:xfrm xmlns:a="http://schemas.openxmlformats.org/drawingml/2006/main">
            <a:off x="685800" y="47625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25252"/>
                </a:solidFill>
                <a:latin typeface="Arial"/>
                <a:ea typeface="Arial"/>
                <a:cs typeface="Arial"/>
              </a:defRPr>
            </a:defPPr>
            <a:lvl1pPr algn="l">
              <a:defRPr sz="1575" b="0">
                <a:solidFill>
                  <a:srgbClr val="525252"/>
                </a:solidFill>
                <a:latin typeface="Arial"/>
                <a:ea typeface="Arial"/>
                <a:cs typeface="Arial"/>
              </a:defRPr>
            </a:lvl1pPr>
            <a:lvl2pPr algn="l">
              <a:defRPr sz="1575" b="0">
                <a:solidFill>
                  <a:srgbClr val="525252"/>
                </a:solidFill>
                <a:latin typeface="Arial"/>
                <a:ea typeface="Arial"/>
                <a:cs typeface="Arial"/>
              </a:defRPr>
            </a:lvl2pPr>
            <a:lvl3pPr algn="l">
              <a:defRPr sz="1575" b="0">
                <a:solidFill>
                  <a:srgbClr val="525252"/>
                </a:solidFill>
                <a:latin typeface="Arial"/>
                <a:ea typeface="Arial"/>
                <a:cs typeface="Arial"/>
              </a:defRPr>
            </a:lvl3pPr>
            <a:lvl4pPr algn="l">
              <a:defRPr sz="1575" b="0">
                <a:solidFill>
                  <a:srgbClr val="525252"/>
                </a:solidFill>
                <a:latin typeface="Arial"/>
                <a:ea typeface="Arial"/>
                <a:cs typeface="Arial"/>
              </a:defRPr>
            </a:lvl4pPr>
            <a:lvl5pPr algn="l">
              <a:defRPr sz="1575" b="0">
                <a:solidFill>
                  <a:srgbClr val="525252"/>
                </a:solidFill>
                <a:latin typeface="Arial"/>
                <a:ea typeface="Arial"/>
                <a:cs typeface="Arial"/>
              </a:defRPr>
            </a:lvl5pPr>
            <a:lvl6pPr algn="l">
              <a:defRPr sz="1575" b="0">
                <a:solidFill>
                  <a:srgbClr val="525252"/>
                </a:solidFill>
                <a:latin typeface="Arial"/>
                <a:ea typeface="Arial"/>
                <a:cs typeface="Arial"/>
              </a:defRPr>
            </a:lvl6pPr>
            <a:lvl7pPr algn="l">
              <a:defRPr sz="1575" b="0">
                <a:solidFill>
                  <a:srgbClr val="525252"/>
                </a:solidFill>
                <a:latin typeface="Arial"/>
                <a:ea typeface="Arial"/>
                <a:cs typeface="Arial"/>
              </a:defRPr>
            </a:lvl7pPr>
            <a:lvl8pPr algn="l">
              <a:defRPr sz="1575" b="0">
                <a:solidFill>
                  <a:srgbClr val="525252"/>
                </a:solidFill>
                <a:latin typeface="Arial"/>
                <a:ea typeface="Arial"/>
                <a:cs typeface="Arial"/>
              </a:defRPr>
            </a:lvl8pPr>
            <a:lvl9pPr algn="l">
              <a:defRPr sz="1575" b="0">
                <a:solidFill>
                  <a:srgbClr val="525252"/>
                </a:solidFill>
                <a:latin typeface="Arial"/>
                <a:ea typeface="Arial"/>
                <a:cs typeface="Arial"/>
              </a:defRPr>
            </a:lvl9pPr>
          </a:lstStyle>
          <a:p xmlns:a="http://schemas.openxmlformats.org/drawingml/2006/main">
            <a:pPr algn="l">
              <a:defRPr sz="1575" b="0">
                <a:solidFill>
                  <a:srgbClr val="525252"/>
                </a:solidFill>
                <a:latin typeface="Arial"/>
                <a:ea typeface="Arial"/>
                <a:cs typeface="Arial"/>
              </a:defRPr>
            </a:pPr>
            <a:r>
              <a:rPr sz="1575" b="0">
                <a:solidFill>
                  <a:srgbClr val="525252"/>
                </a:solidFill>
                <a:latin typeface="Arial"/>
                <a:ea typeface="Arial"/>
                <a:cs typeface="Arial"/>
              </a:rPr>
              <a:t>Tools reported: Python · Qiskit · Qiskit Aer · Qiskit Paulice · NumPy · Matplotlib</a:t>
            </a:r>
          </a:p>
        </p:txBody>
      </p:sp>
    </p:spTree>
    <p:extLst>
      <p:ext uri="{BB962C8B-B14F-4D97-AF65-F5344CB8AC3E}">
        <p14:creationId xmlns:p14="http://schemas.microsoft.com/office/powerpoint/2010/main" val="63980484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DC2B9B-B01F-4243-8398-0E40BB3E2EBF}"/>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FF504324-8541-464D-999A-7E9BFC21DB66}"/>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The custom syndrome-parity filter</a:t>
            </a:r>
          </a:p>
        </p:txBody>
      </p:sp>
      <p:sp>
        <p:nvSpPr>
          <p:cNvPr id="3" name="">
            <a:extLst xmlns:a="http://schemas.openxmlformats.org/drawingml/2006/main">
              <a:ext uri="{FF2B5EF4-FFF2-40B4-BE49-F238E27FC236}">
                <a16:creationId xmlns:a16="http://schemas.microsoft.com/office/drawing/2014/main" id="{DD944CED-912E-4918-957E-6D356048DB36}"/>
              </a:ext>
            </a:extLst>
          </p:cNvPr>
          <p:cNvSpPr>
            <a:spLocks xmlns:a="http://schemas.openxmlformats.org/drawingml/2006/main" noGrp="1"/>
          </p:cNvSpPr>
          <p:nvPr/>
        </p:nvSpPr>
        <p:spPr>
          <a:xfrm xmlns:a="http://schemas.openxmlformats.org/drawingml/2006/main">
            <a:off x="685800" y="1857375"/>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62FE"/>
                </a:solidFill>
                <a:latin typeface="Arial"/>
                <a:ea typeface="Arial"/>
                <a:cs typeface="Arial"/>
              </a:defRPr>
            </a:defPPr>
            <a:lvl1pPr algn="l">
              <a:defRPr sz="1725" b="1">
                <a:solidFill>
                  <a:srgbClr val="0F62FE"/>
                </a:solidFill>
                <a:latin typeface="Arial"/>
                <a:ea typeface="Arial"/>
                <a:cs typeface="Arial"/>
              </a:defRPr>
            </a:lvl1pPr>
            <a:lvl2pPr algn="l">
              <a:defRPr sz="1725" b="1">
                <a:solidFill>
                  <a:srgbClr val="0F62FE"/>
                </a:solidFill>
                <a:latin typeface="Arial"/>
                <a:ea typeface="Arial"/>
                <a:cs typeface="Arial"/>
              </a:defRPr>
            </a:lvl2pPr>
            <a:lvl3pPr algn="l">
              <a:defRPr sz="1725" b="1">
                <a:solidFill>
                  <a:srgbClr val="0F62FE"/>
                </a:solidFill>
                <a:latin typeface="Arial"/>
                <a:ea typeface="Arial"/>
                <a:cs typeface="Arial"/>
              </a:defRPr>
            </a:lvl3pPr>
            <a:lvl4pPr algn="l">
              <a:defRPr sz="1725" b="1">
                <a:solidFill>
                  <a:srgbClr val="0F62FE"/>
                </a:solidFill>
                <a:latin typeface="Arial"/>
                <a:ea typeface="Arial"/>
                <a:cs typeface="Arial"/>
              </a:defRPr>
            </a:lvl4pPr>
            <a:lvl5pPr algn="l">
              <a:defRPr sz="1725" b="1">
                <a:solidFill>
                  <a:srgbClr val="0F62FE"/>
                </a:solidFill>
                <a:latin typeface="Arial"/>
                <a:ea typeface="Arial"/>
                <a:cs typeface="Arial"/>
              </a:defRPr>
            </a:lvl5pPr>
            <a:lvl6pPr algn="l">
              <a:defRPr sz="1725" b="1">
                <a:solidFill>
                  <a:srgbClr val="0F62FE"/>
                </a:solidFill>
                <a:latin typeface="Arial"/>
                <a:ea typeface="Arial"/>
                <a:cs typeface="Arial"/>
              </a:defRPr>
            </a:lvl6pPr>
            <a:lvl7pPr algn="l">
              <a:defRPr sz="1725" b="1">
                <a:solidFill>
                  <a:srgbClr val="0F62FE"/>
                </a:solidFill>
                <a:latin typeface="Arial"/>
                <a:ea typeface="Arial"/>
                <a:cs typeface="Arial"/>
              </a:defRPr>
            </a:lvl7pPr>
            <a:lvl8pPr algn="l">
              <a:defRPr sz="1725" b="1">
                <a:solidFill>
                  <a:srgbClr val="0F62FE"/>
                </a:solidFill>
                <a:latin typeface="Arial"/>
                <a:ea typeface="Arial"/>
                <a:cs typeface="Arial"/>
              </a:defRPr>
            </a:lvl8pPr>
            <a:lvl9pPr algn="l">
              <a:defRPr sz="1725" b="1">
                <a:solidFill>
                  <a:srgbClr val="0F62FE"/>
                </a:solidFill>
                <a:latin typeface="Arial"/>
                <a:ea typeface="Arial"/>
                <a:cs typeface="Arial"/>
              </a:defRPr>
            </a:lvl9pPr>
          </a:lstStyle>
          <a:p xmlns:a="http://schemas.openxmlformats.org/drawingml/2006/main">
            <a:pPr algn="l">
              <a:defRPr sz="1725" b="1">
                <a:solidFill>
                  <a:srgbClr val="0F62FE"/>
                </a:solidFill>
                <a:latin typeface="Arial"/>
                <a:ea typeface="Arial"/>
                <a:cs typeface="Arial"/>
              </a:defRPr>
            </a:pPr>
            <a:r>
              <a:rPr sz="1725" b="1">
                <a:solidFill>
                  <a:srgbClr val="0F62FE"/>
                </a:solidFill>
                <a:latin typeface="Arial"/>
                <a:ea typeface="Arial"/>
                <a:cs typeface="Arial"/>
              </a:rPr>
              <a:t>For check support (0, 1, 3)</a:t>
            </a:r>
          </a:p>
        </p:txBody>
      </p:sp>
      <p:sp>
        <p:nvSpPr>
          <p:cNvPr id="4" name="">
            <a:extLst xmlns:a="http://schemas.openxmlformats.org/drawingml/2006/main">
              <a:ext uri="{FF2B5EF4-FFF2-40B4-BE49-F238E27FC236}">
                <a16:creationId xmlns:a16="http://schemas.microsoft.com/office/drawing/2014/main" id="{A2E59562-BBEC-4FA5-B23F-1B46FE34F4A7}"/>
              </a:ext>
            </a:extLst>
          </p:cNvPr>
          <p:cNvSpPr>
            <a:spLocks xmlns:a="http://schemas.openxmlformats.org/drawingml/2006/main" noGrp="1"/>
          </p:cNvSpPr>
          <p:nvPr/>
        </p:nvSpPr>
        <p:spPr>
          <a:xfrm xmlns:a="http://schemas.openxmlformats.org/drawingml/2006/main">
            <a:off x="685800" y="2476500"/>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61616"/>
                </a:solidFill>
                <a:latin typeface="Arial"/>
                <a:ea typeface="Arial"/>
                <a:cs typeface="Arial"/>
              </a:defRPr>
            </a:defPPr>
            <a:lvl1pPr algn="l">
              <a:defRPr sz="3150" b="1">
                <a:solidFill>
                  <a:srgbClr val="161616"/>
                </a:solidFill>
                <a:latin typeface="Arial"/>
                <a:ea typeface="Arial"/>
                <a:cs typeface="Arial"/>
              </a:defRPr>
            </a:lvl1pPr>
            <a:lvl2pPr algn="l">
              <a:defRPr sz="3150" b="1">
                <a:solidFill>
                  <a:srgbClr val="161616"/>
                </a:solidFill>
                <a:latin typeface="Arial"/>
                <a:ea typeface="Arial"/>
                <a:cs typeface="Arial"/>
              </a:defRPr>
            </a:lvl2pPr>
            <a:lvl3pPr algn="l">
              <a:defRPr sz="3150" b="1">
                <a:solidFill>
                  <a:srgbClr val="161616"/>
                </a:solidFill>
                <a:latin typeface="Arial"/>
                <a:ea typeface="Arial"/>
                <a:cs typeface="Arial"/>
              </a:defRPr>
            </a:lvl3pPr>
            <a:lvl4pPr algn="l">
              <a:defRPr sz="3150" b="1">
                <a:solidFill>
                  <a:srgbClr val="161616"/>
                </a:solidFill>
                <a:latin typeface="Arial"/>
                <a:ea typeface="Arial"/>
                <a:cs typeface="Arial"/>
              </a:defRPr>
            </a:lvl4pPr>
            <a:lvl5pPr algn="l">
              <a:defRPr sz="3150" b="1">
                <a:solidFill>
                  <a:srgbClr val="161616"/>
                </a:solidFill>
                <a:latin typeface="Arial"/>
                <a:ea typeface="Arial"/>
                <a:cs typeface="Arial"/>
              </a:defRPr>
            </a:lvl5pPr>
            <a:lvl6pPr algn="l">
              <a:defRPr sz="3150" b="1">
                <a:solidFill>
                  <a:srgbClr val="161616"/>
                </a:solidFill>
                <a:latin typeface="Arial"/>
                <a:ea typeface="Arial"/>
                <a:cs typeface="Arial"/>
              </a:defRPr>
            </a:lvl6pPr>
            <a:lvl7pPr algn="l">
              <a:defRPr sz="3150" b="1">
                <a:solidFill>
                  <a:srgbClr val="161616"/>
                </a:solidFill>
                <a:latin typeface="Arial"/>
                <a:ea typeface="Arial"/>
                <a:cs typeface="Arial"/>
              </a:defRPr>
            </a:lvl7pPr>
            <a:lvl8pPr algn="l">
              <a:defRPr sz="3150" b="1">
                <a:solidFill>
                  <a:srgbClr val="161616"/>
                </a:solidFill>
                <a:latin typeface="Arial"/>
                <a:ea typeface="Arial"/>
                <a:cs typeface="Arial"/>
              </a:defRPr>
            </a:lvl8pPr>
            <a:lvl9pPr algn="l">
              <a:defRPr sz="3150" b="1">
                <a:solidFill>
                  <a:srgbClr val="161616"/>
                </a:solidFill>
                <a:latin typeface="Arial"/>
                <a:ea typeface="Arial"/>
                <a:cs typeface="Arial"/>
              </a:defRPr>
            </a:lvl9pPr>
          </a:lstStyle>
          <a:p xmlns:a="http://schemas.openxmlformats.org/drawingml/2006/main">
            <a:pPr algn="l">
              <a:defRPr sz="3150" b="1">
                <a:solidFill>
                  <a:srgbClr val="161616"/>
                </a:solidFill>
                <a:latin typeface="Arial"/>
                <a:ea typeface="Arial"/>
                <a:cs typeface="Arial"/>
              </a:defRPr>
            </a:pPr>
            <a:r>
              <a:rPr sz="3150" b="1">
                <a:solidFill>
                  <a:srgbClr val="161616"/>
                </a:solidFill>
                <a:latin typeface="Arial"/>
                <a:ea typeface="Arial"/>
                <a:cs typeface="Arial"/>
              </a:rPr>
              <a:t>S = c₀ ⊕ c₁ ⊕ c₃</a:t>
            </a:r>
          </a:p>
        </p:txBody>
      </p:sp>
      <p:sp>
        <p:nvSpPr>
          <p:cNvPr id="5" name="">
            <a:extLst xmlns:a="http://schemas.openxmlformats.org/drawingml/2006/main">
              <a:ext uri="{FF2B5EF4-FFF2-40B4-BE49-F238E27FC236}">
                <a16:creationId xmlns:a16="http://schemas.microsoft.com/office/drawing/2014/main" id="{8009273D-1667-40C4-9274-C7A19B33790D}"/>
              </a:ext>
            </a:extLst>
          </p:cNvPr>
          <p:cNvSpPr>
            <a:spLocks xmlns:a="http://schemas.openxmlformats.org/drawingml/2006/main" noGrp="1"/>
          </p:cNvSpPr>
          <p:nvPr/>
        </p:nvSpPr>
        <p:spPr>
          <a:xfrm xmlns:a="http://schemas.openxmlformats.org/drawingml/2006/main">
            <a:off x="685800" y="3476625"/>
            <a:ext cx="504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09D9A"/>
                </a:solidFill>
                <a:latin typeface="Arial"/>
                <a:ea typeface="Arial"/>
                <a:cs typeface="Arial"/>
              </a:defRPr>
            </a:defPPr>
            <a:lvl1pPr algn="l">
              <a:defRPr sz="1875" b="1">
                <a:solidFill>
                  <a:srgbClr val="009D9A"/>
                </a:solidFill>
                <a:latin typeface="Arial"/>
                <a:ea typeface="Arial"/>
                <a:cs typeface="Arial"/>
              </a:defRPr>
            </a:lvl1pPr>
            <a:lvl2pPr algn="l">
              <a:defRPr sz="1875" b="1">
                <a:solidFill>
                  <a:srgbClr val="009D9A"/>
                </a:solidFill>
                <a:latin typeface="Arial"/>
                <a:ea typeface="Arial"/>
                <a:cs typeface="Arial"/>
              </a:defRPr>
            </a:lvl2pPr>
            <a:lvl3pPr algn="l">
              <a:defRPr sz="1875" b="1">
                <a:solidFill>
                  <a:srgbClr val="009D9A"/>
                </a:solidFill>
                <a:latin typeface="Arial"/>
                <a:ea typeface="Arial"/>
                <a:cs typeface="Arial"/>
              </a:defRPr>
            </a:lvl3pPr>
            <a:lvl4pPr algn="l">
              <a:defRPr sz="1875" b="1">
                <a:solidFill>
                  <a:srgbClr val="009D9A"/>
                </a:solidFill>
                <a:latin typeface="Arial"/>
                <a:ea typeface="Arial"/>
                <a:cs typeface="Arial"/>
              </a:defRPr>
            </a:lvl4pPr>
            <a:lvl5pPr algn="l">
              <a:defRPr sz="1875" b="1">
                <a:solidFill>
                  <a:srgbClr val="009D9A"/>
                </a:solidFill>
                <a:latin typeface="Arial"/>
                <a:ea typeface="Arial"/>
                <a:cs typeface="Arial"/>
              </a:defRPr>
            </a:lvl5pPr>
            <a:lvl6pPr algn="l">
              <a:defRPr sz="1875" b="1">
                <a:solidFill>
                  <a:srgbClr val="009D9A"/>
                </a:solidFill>
                <a:latin typeface="Arial"/>
                <a:ea typeface="Arial"/>
                <a:cs typeface="Arial"/>
              </a:defRPr>
            </a:lvl6pPr>
            <a:lvl7pPr algn="l">
              <a:defRPr sz="1875" b="1">
                <a:solidFill>
                  <a:srgbClr val="009D9A"/>
                </a:solidFill>
                <a:latin typeface="Arial"/>
                <a:ea typeface="Arial"/>
                <a:cs typeface="Arial"/>
              </a:defRPr>
            </a:lvl7pPr>
            <a:lvl8pPr algn="l">
              <a:defRPr sz="1875" b="1">
                <a:solidFill>
                  <a:srgbClr val="009D9A"/>
                </a:solidFill>
                <a:latin typeface="Arial"/>
                <a:ea typeface="Arial"/>
                <a:cs typeface="Arial"/>
              </a:defRPr>
            </a:lvl8pPr>
            <a:lvl9pPr algn="l">
              <a:defRPr sz="1875" b="1">
                <a:solidFill>
                  <a:srgbClr val="009D9A"/>
                </a:solidFill>
                <a:latin typeface="Arial"/>
                <a:ea typeface="Arial"/>
                <a:cs typeface="Arial"/>
              </a:defRPr>
            </a:lvl9pPr>
          </a:lstStyle>
          <a:p xmlns:a="http://schemas.openxmlformats.org/drawingml/2006/main">
            <a:pPr algn="l">
              <a:defRPr sz="1875" b="1">
                <a:solidFill>
                  <a:srgbClr val="009D9A"/>
                </a:solidFill>
                <a:latin typeface="Arial"/>
                <a:ea typeface="Arial"/>
                <a:cs typeface="Arial"/>
              </a:defRPr>
            </a:pPr>
            <a:r>
              <a:rPr sz="1875" b="1">
                <a:solidFill>
                  <a:srgbClr val="009D9A"/>
                </a:solidFill>
                <a:latin typeface="Arial"/>
                <a:ea typeface="Arial"/>
                <a:cs typeface="Arial"/>
              </a:rPr>
              <a:t>S = 0  →  accept the shot</a:t>
            </a:r>
          </a:p>
        </p:txBody>
      </p:sp>
      <p:sp>
        <p:nvSpPr>
          <p:cNvPr id="6" name="">
            <a:extLst xmlns:a="http://schemas.openxmlformats.org/drawingml/2006/main">
              <a:ext uri="{FF2B5EF4-FFF2-40B4-BE49-F238E27FC236}">
                <a16:creationId xmlns:a16="http://schemas.microsoft.com/office/drawing/2014/main" id="{0DA0DFB2-9BF1-49FE-8F17-4E6CE454F010}"/>
              </a:ext>
            </a:extLst>
          </p:cNvPr>
          <p:cNvSpPr>
            <a:spLocks xmlns:a="http://schemas.openxmlformats.org/drawingml/2006/main" noGrp="1"/>
          </p:cNvSpPr>
          <p:nvPr/>
        </p:nvSpPr>
        <p:spPr>
          <a:xfrm xmlns:a="http://schemas.openxmlformats.org/drawingml/2006/main">
            <a:off x="685800" y="4000500"/>
            <a:ext cx="504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F832B"/>
                </a:solidFill>
                <a:latin typeface="Arial"/>
                <a:ea typeface="Arial"/>
                <a:cs typeface="Arial"/>
              </a:defRPr>
            </a:defPPr>
            <a:lvl1pPr algn="l">
              <a:defRPr sz="1875" b="1">
                <a:solidFill>
                  <a:srgbClr val="FF832B"/>
                </a:solidFill>
                <a:latin typeface="Arial"/>
                <a:ea typeface="Arial"/>
                <a:cs typeface="Arial"/>
              </a:defRPr>
            </a:lvl1pPr>
            <a:lvl2pPr algn="l">
              <a:defRPr sz="1875" b="1">
                <a:solidFill>
                  <a:srgbClr val="FF832B"/>
                </a:solidFill>
                <a:latin typeface="Arial"/>
                <a:ea typeface="Arial"/>
                <a:cs typeface="Arial"/>
              </a:defRPr>
            </a:lvl2pPr>
            <a:lvl3pPr algn="l">
              <a:defRPr sz="1875" b="1">
                <a:solidFill>
                  <a:srgbClr val="FF832B"/>
                </a:solidFill>
                <a:latin typeface="Arial"/>
                <a:ea typeface="Arial"/>
                <a:cs typeface="Arial"/>
              </a:defRPr>
            </a:lvl3pPr>
            <a:lvl4pPr algn="l">
              <a:defRPr sz="1875" b="1">
                <a:solidFill>
                  <a:srgbClr val="FF832B"/>
                </a:solidFill>
                <a:latin typeface="Arial"/>
                <a:ea typeface="Arial"/>
                <a:cs typeface="Arial"/>
              </a:defRPr>
            </a:lvl4pPr>
            <a:lvl5pPr algn="l">
              <a:defRPr sz="1875" b="1">
                <a:solidFill>
                  <a:srgbClr val="FF832B"/>
                </a:solidFill>
                <a:latin typeface="Arial"/>
                <a:ea typeface="Arial"/>
                <a:cs typeface="Arial"/>
              </a:defRPr>
            </a:lvl5pPr>
            <a:lvl6pPr algn="l">
              <a:defRPr sz="1875" b="1">
                <a:solidFill>
                  <a:srgbClr val="FF832B"/>
                </a:solidFill>
                <a:latin typeface="Arial"/>
                <a:ea typeface="Arial"/>
                <a:cs typeface="Arial"/>
              </a:defRPr>
            </a:lvl6pPr>
            <a:lvl7pPr algn="l">
              <a:defRPr sz="1875" b="1">
                <a:solidFill>
                  <a:srgbClr val="FF832B"/>
                </a:solidFill>
                <a:latin typeface="Arial"/>
                <a:ea typeface="Arial"/>
                <a:cs typeface="Arial"/>
              </a:defRPr>
            </a:lvl7pPr>
            <a:lvl8pPr algn="l">
              <a:defRPr sz="1875" b="1">
                <a:solidFill>
                  <a:srgbClr val="FF832B"/>
                </a:solidFill>
                <a:latin typeface="Arial"/>
                <a:ea typeface="Arial"/>
                <a:cs typeface="Arial"/>
              </a:defRPr>
            </a:lvl8pPr>
            <a:lvl9pPr algn="l">
              <a:defRPr sz="1875" b="1">
                <a:solidFill>
                  <a:srgbClr val="FF832B"/>
                </a:solidFill>
                <a:latin typeface="Arial"/>
                <a:ea typeface="Arial"/>
                <a:cs typeface="Arial"/>
              </a:defRPr>
            </a:lvl9pPr>
          </a:lstStyle>
          <a:p xmlns:a="http://schemas.openxmlformats.org/drawingml/2006/main">
            <a:pPr algn="l">
              <a:defRPr sz="1875" b="1">
                <a:solidFill>
                  <a:srgbClr val="FF832B"/>
                </a:solidFill>
                <a:latin typeface="Arial"/>
                <a:ea typeface="Arial"/>
                <a:cs typeface="Arial"/>
              </a:defRPr>
            </a:pPr>
            <a:r>
              <a:rPr sz="1875" b="1">
                <a:solidFill>
                  <a:srgbClr val="FF832B"/>
                </a:solidFill>
                <a:latin typeface="Arial"/>
                <a:ea typeface="Arial"/>
                <a:cs typeface="Arial"/>
              </a:rPr>
              <a:t>S = 1  →  reject the shot</a:t>
            </a:r>
          </a:p>
        </p:txBody>
      </p:sp>
      <p:sp>
        <p:nvSpPr>
          <p:cNvPr id="7" name="">
            <a:extLst xmlns:a="http://schemas.openxmlformats.org/drawingml/2006/main">
              <a:ext uri="{FF2B5EF4-FFF2-40B4-BE49-F238E27FC236}">
                <a16:creationId xmlns:a16="http://schemas.microsoft.com/office/drawing/2014/main" id="{26477924-FA22-4BA6-BE09-C3B53A32A582}"/>
              </a:ext>
            </a:extLst>
          </p:cNvPr>
          <p:cNvSpPr>
            <a:spLocks xmlns:a="http://schemas.openxmlformats.org/drawingml/2006/main" noGrp="1"/>
          </p:cNvSpPr>
          <p:nvPr/>
        </p:nvSpPr>
        <p:spPr>
          <a:xfrm xmlns:a="http://schemas.openxmlformats.org/drawingml/2006/main">
            <a:off x="6477000" y="185737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8A3FFC"/>
                </a:solidFill>
                <a:latin typeface="Arial"/>
                <a:ea typeface="Arial"/>
                <a:cs typeface="Arial"/>
              </a:defRPr>
            </a:defPPr>
            <a:lvl1pPr algn="l">
              <a:defRPr sz="1500" b="1">
                <a:solidFill>
                  <a:srgbClr val="8A3FFC"/>
                </a:solidFill>
                <a:latin typeface="Arial"/>
                <a:ea typeface="Arial"/>
                <a:cs typeface="Arial"/>
              </a:defRPr>
            </a:lvl1pPr>
            <a:lvl2pPr algn="l">
              <a:defRPr sz="1500" b="1">
                <a:solidFill>
                  <a:srgbClr val="8A3FFC"/>
                </a:solidFill>
                <a:latin typeface="Arial"/>
                <a:ea typeface="Arial"/>
                <a:cs typeface="Arial"/>
              </a:defRPr>
            </a:lvl2pPr>
            <a:lvl3pPr algn="l">
              <a:defRPr sz="1500" b="1">
                <a:solidFill>
                  <a:srgbClr val="8A3FFC"/>
                </a:solidFill>
                <a:latin typeface="Arial"/>
                <a:ea typeface="Arial"/>
                <a:cs typeface="Arial"/>
              </a:defRPr>
            </a:lvl3pPr>
            <a:lvl4pPr algn="l">
              <a:defRPr sz="1500" b="1">
                <a:solidFill>
                  <a:srgbClr val="8A3FFC"/>
                </a:solidFill>
                <a:latin typeface="Arial"/>
                <a:ea typeface="Arial"/>
                <a:cs typeface="Arial"/>
              </a:defRPr>
            </a:lvl4pPr>
            <a:lvl5pPr algn="l">
              <a:defRPr sz="1500" b="1">
                <a:solidFill>
                  <a:srgbClr val="8A3FFC"/>
                </a:solidFill>
                <a:latin typeface="Arial"/>
                <a:ea typeface="Arial"/>
                <a:cs typeface="Arial"/>
              </a:defRPr>
            </a:lvl5pPr>
            <a:lvl6pPr algn="l">
              <a:defRPr sz="1500" b="1">
                <a:solidFill>
                  <a:srgbClr val="8A3FFC"/>
                </a:solidFill>
                <a:latin typeface="Arial"/>
                <a:ea typeface="Arial"/>
                <a:cs typeface="Arial"/>
              </a:defRPr>
            </a:lvl6pPr>
            <a:lvl7pPr algn="l">
              <a:defRPr sz="1500" b="1">
                <a:solidFill>
                  <a:srgbClr val="8A3FFC"/>
                </a:solidFill>
                <a:latin typeface="Arial"/>
                <a:ea typeface="Arial"/>
                <a:cs typeface="Arial"/>
              </a:defRPr>
            </a:lvl7pPr>
            <a:lvl8pPr algn="l">
              <a:defRPr sz="1500" b="1">
                <a:solidFill>
                  <a:srgbClr val="8A3FFC"/>
                </a:solidFill>
                <a:latin typeface="Arial"/>
                <a:ea typeface="Arial"/>
                <a:cs typeface="Arial"/>
              </a:defRPr>
            </a:lvl8pPr>
            <a:lvl9pPr algn="l">
              <a:defRPr sz="1500" b="1">
                <a:solidFill>
                  <a:srgbClr val="8A3FFC"/>
                </a:solidFill>
                <a:latin typeface="Arial"/>
                <a:ea typeface="Arial"/>
                <a:cs typeface="Arial"/>
              </a:defRPr>
            </a:lvl9pPr>
          </a:lstStyle>
          <a:p xmlns:a="http://schemas.openxmlformats.org/drawingml/2006/main">
            <a:pPr algn="l">
              <a:defRPr sz="1500" b="1">
                <a:solidFill>
                  <a:srgbClr val="8A3FFC"/>
                </a:solidFill>
                <a:latin typeface="Arial"/>
                <a:ea typeface="Arial"/>
                <a:cs typeface="Arial"/>
              </a:defRPr>
            </a:pPr>
            <a:r>
              <a:rPr sz="1500" b="1">
                <a:solidFill>
                  <a:srgbClr val="8A3FFC"/>
                </a:solidFill>
                <a:latin typeface="Arial"/>
                <a:ea typeface="Arial"/>
                <a:cs typeface="Arial"/>
              </a:rPr>
              <a:t>What the rule does</a:t>
            </a:r>
          </a:p>
        </p:txBody>
      </p:sp>
      <p:sp>
        <p:nvSpPr>
          <p:cNvPr id="8" name="">
            <a:extLst xmlns:a="http://schemas.openxmlformats.org/drawingml/2006/main">
              <a:ext uri="{FF2B5EF4-FFF2-40B4-BE49-F238E27FC236}">
                <a16:creationId xmlns:a16="http://schemas.microsoft.com/office/drawing/2014/main" id="{A8737B81-8D4E-4BBF-9D0F-EC0252DB5E5F}"/>
              </a:ext>
            </a:extLst>
          </p:cNvPr>
          <p:cNvSpPr>
            <a:spLocks xmlns:a="http://schemas.openxmlformats.org/drawingml/2006/main" noGrp="1"/>
          </p:cNvSpPr>
          <p:nvPr/>
        </p:nvSpPr>
        <p:spPr>
          <a:xfrm xmlns:a="http://schemas.openxmlformats.org/drawingml/2006/main">
            <a:off x="6477000" y="2305050"/>
            <a:ext cx="4524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It reads selected measured bits and computes their XOR parity.</a:t>
            </a:r>
          </a:p>
        </p:txBody>
      </p:sp>
      <p:sp>
        <p:nvSpPr>
          <p:cNvPr id="9" name="">
            <a:extLst xmlns:a="http://schemas.openxmlformats.org/drawingml/2006/main">
              <a:ext uri="{FF2B5EF4-FFF2-40B4-BE49-F238E27FC236}">
                <a16:creationId xmlns:a16="http://schemas.microsoft.com/office/drawing/2014/main" id="{96F63D31-2787-4A17-9DF4-0FACDA9F2C44}"/>
              </a:ext>
            </a:extLst>
          </p:cNvPr>
          <p:cNvSpPr>
            <a:spLocks xmlns:a="http://schemas.openxmlformats.org/drawingml/2006/main" noGrp="1"/>
          </p:cNvSpPr>
          <p:nvPr/>
        </p:nvSpPr>
        <p:spPr>
          <a:xfrm xmlns:a="http://schemas.openxmlformats.org/drawingml/2006/main">
            <a:off x="6477000" y="357187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832B"/>
                </a:solidFill>
                <a:latin typeface="Arial"/>
                <a:ea typeface="Arial"/>
                <a:cs typeface="Arial"/>
              </a:defRPr>
            </a:defPPr>
            <a:lvl1pPr algn="l">
              <a:defRPr sz="1500" b="1">
                <a:solidFill>
                  <a:srgbClr val="FF832B"/>
                </a:solidFill>
                <a:latin typeface="Arial"/>
                <a:ea typeface="Arial"/>
                <a:cs typeface="Arial"/>
              </a:defRPr>
            </a:lvl1pPr>
            <a:lvl2pPr algn="l">
              <a:defRPr sz="1500" b="1">
                <a:solidFill>
                  <a:srgbClr val="FF832B"/>
                </a:solidFill>
                <a:latin typeface="Arial"/>
                <a:ea typeface="Arial"/>
                <a:cs typeface="Arial"/>
              </a:defRPr>
            </a:lvl2pPr>
            <a:lvl3pPr algn="l">
              <a:defRPr sz="1500" b="1">
                <a:solidFill>
                  <a:srgbClr val="FF832B"/>
                </a:solidFill>
                <a:latin typeface="Arial"/>
                <a:ea typeface="Arial"/>
                <a:cs typeface="Arial"/>
              </a:defRPr>
            </a:lvl3pPr>
            <a:lvl4pPr algn="l">
              <a:defRPr sz="1500" b="1">
                <a:solidFill>
                  <a:srgbClr val="FF832B"/>
                </a:solidFill>
                <a:latin typeface="Arial"/>
                <a:ea typeface="Arial"/>
                <a:cs typeface="Arial"/>
              </a:defRPr>
            </a:lvl4pPr>
            <a:lvl5pPr algn="l">
              <a:defRPr sz="1500" b="1">
                <a:solidFill>
                  <a:srgbClr val="FF832B"/>
                </a:solidFill>
                <a:latin typeface="Arial"/>
                <a:ea typeface="Arial"/>
                <a:cs typeface="Arial"/>
              </a:defRPr>
            </a:lvl5pPr>
            <a:lvl6pPr algn="l">
              <a:defRPr sz="1500" b="1">
                <a:solidFill>
                  <a:srgbClr val="FF832B"/>
                </a:solidFill>
                <a:latin typeface="Arial"/>
                <a:ea typeface="Arial"/>
                <a:cs typeface="Arial"/>
              </a:defRPr>
            </a:lvl6pPr>
            <a:lvl7pPr algn="l">
              <a:defRPr sz="1500" b="1">
                <a:solidFill>
                  <a:srgbClr val="FF832B"/>
                </a:solidFill>
                <a:latin typeface="Arial"/>
                <a:ea typeface="Arial"/>
                <a:cs typeface="Arial"/>
              </a:defRPr>
            </a:lvl7pPr>
            <a:lvl8pPr algn="l">
              <a:defRPr sz="1500" b="1">
                <a:solidFill>
                  <a:srgbClr val="FF832B"/>
                </a:solidFill>
                <a:latin typeface="Arial"/>
                <a:ea typeface="Arial"/>
                <a:cs typeface="Arial"/>
              </a:defRPr>
            </a:lvl8pPr>
            <a:lvl9pPr algn="l">
              <a:defRPr sz="1500" b="1">
                <a:solidFill>
                  <a:srgbClr val="FF832B"/>
                </a:solidFill>
                <a:latin typeface="Arial"/>
                <a:ea typeface="Arial"/>
                <a:cs typeface="Arial"/>
              </a:defRPr>
            </a:lvl9pPr>
          </a:lstStyle>
          <a:p xmlns:a="http://schemas.openxmlformats.org/drawingml/2006/main">
            <a:pPr algn="l">
              <a:defRPr sz="1500" b="1">
                <a:solidFill>
                  <a:srgbClr val="FF832B"/>
                </a:solidFill>
                <a:latin typeface="Arial"/>
                <a:ea typeface="Arial"/>
                <a:cs typeface="Arial"/>
              </a:defRPr>
            </a:pPr>
            <a:r>
              <a:rPr sz="1500" b="1">
                <a:solidFill>
                  <a:srgbClr val="FF832B"/>
                </a:solidFill>
                <a:latin typeface="Arial"/>
                <a:ea typeface="Arial"/>
                <a:cs typeface="Arial"/>
              </a:rPr>
              <a:t>Important limit</a:t>
            </a:r>
          </a:p>
        </p:txBody>
      </p:sp>
      <p:sp>
        <p:nvSpPr>
          <p:cNvPr id="10" name="">
            <a:extLst xmlns:a="http://schemas.openxmlformats.org/drawingml/2006/main">
              <a:ext uri="{FF2B5EF4-FFF2-40B4-BE49-F238E27FC236}">
                <a16:creationId xmlns:a16="http://schemas.microsoft.com/office/drawing/2014/main" id="{E6734001-2999-4CF4-9C34-78251AA548AA}"/>
              </a:ext>
            </a:extLst>
          </p:cNvPr>
          <p:cNvSpPr>
            <a:spLocks xmlns:a="http://schemas.openxmlformats.org/drawingml/2006/main" noGrp="1"/>
          </p:cNvSpPr>
          <p:nvPr/>
        </p:nvSpPr>
        <p:spPr>
          <a:xfrm xmlns:a="http://schemas.openxmlformats.org/drawingml/2006/main">
            <a:off x="6477000" y="4019550"/>
            <a:ext cx="4667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61616"/>
                </a:solidFill>
                <a:latin typeface="Arial"/>
                <a:ea typeface="Arial"/>
                <a:cs typeface="Arial"/>
              </a:defRPr>
            </a:defPPr>
            <a:lvl1pPr algn="l">
              <a:defRPr sz="1575" b="0">
                <a:solidFill>
                  <a:srgbClr val="161616"/>
                </a:solidFill>
                <a:latin typeface="Arial"/>
                <a:ea typeface="Arial"/>
                <a:cs typeface="Arial"/>
              </a:defRPr>
            </a:lvl1pPr>
            <a:lvl2pPr algn="l">
              <a:defRPr sz="1575" b="0">
                <a:solidFill>
                  <a:srgbClr val="161616"/>
                </a:solidFill>
                <a:latin typeface="Arial"/>
                <a:ea typeface="Arial"/>
                <a:cs typeface="Arial"/>
              </a:defRPr>
            </a:lvl2pPr>
            <a:lvl3pPr algn="l">
              <a:defRPr sz="1575" b="0">
                <a:solidFill>
                  <a:srgbClr val="161616"/>
                </a:solidFill>
                <a:latin typeface="Arial"/>
                <a:ea typeface="Arial"/>
                <a:cs typeface="Arial"/>
              </a:defRPr>
            </a:lvl3pPr>
            <a:lvl4pPr algn="l">
              <a:defRPr sz="1575" b="0">
                <a:solidFill>
                  <a:srgbClr val="161616"/>
                </a:solidFill>
                <a:latin typeface="Arial"/>
                <a:ea typeface="Arial"/>
                <a:cs typeface="Arial"/>
              </a:defRPr>
            </a:lvl4pPr>
            <a:lvl5pPr algn="l">
              <a:defRPr sz="1575" b="0">
                <a:solidFill>
                  <a:srgbClr val="161616"/>
                </a:solidFill>
                <a:latin typeface="Arial"/>
                <a:ea typeface="Arial"/>
                <a:cs typeface="Arial"/>
              </a:defRPr>
            </a:lvl5pPr>
            <a:lvl6pPr algn="l">
              <a:defRPr sz="1575" b="0">
                <a:solidFill>
                  <a:srgbClr val="161616"/>
                </a:solidFill>
                <a:latin typeface="Arial"/>
                <a:ea typeface="Arial"/>
                <a:cs typeface="Arial"/>
              </a:defRPr>
            </a:lvl6pPr>
            <a:lvl7pPr algn="l">
              <a:defRPr sz="1575" b="0">
                <a:solidFill>
                  <a:srgbClr val="161616"/>
                </a:solidFill>
                <a:latin typeface="Arial"/>
                <a:ea typeface="Arial"/>
                <a:cs typeface="Arial"/>
              </a:defRPr>
            </a:lvl7pPr>
            <a:lvl8pPr algn="l">
              <a:defRPr sz="1575" b="0">
                <a:solidFill>
                  <a:srgbClr val="161616"/>
                </a:solidFill>
                <a:latin typeface="Arial"/>
                <a:ea typeface="Arial"/>
                <a:cs typeface="Arial"/>
              </a:defRPr>
            </a:lvl8pPr>
            <a:lvl9pPr algn="l">
              <a:defRPr sz="1575" b="0">
                <a:solidFill>
                  <a:srgbClr val="161616"/>
                </a:solidFill>
                <a:latin typeface="Arial"/>
                <a:ea typeface="Arial"/>
                <a:cs typeface="Arial"/>
              </a:defRPr>
            </a:lvl9pPr>
          </a:lstStyle>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This exact expression is specific to support (0, 1, 3). Other check layouts need support-aware parity rules. Passing a check is not proof a shot is error-free.</a:t>
            </a:r>
          </a:p>
        </p:txBody>
      </p:sp>
    </p:spTree>
    <p:extLst>
      <p:ext uri="{BB962C8B-B14F-4D97-AF65-F5344CB8AC3E}">
        <p14:creationId xmlns:p14="http://schemas.microsoft.com/office/powerpoint/2010/main" val="97967650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A1DFB3-773B-4DDD-B674-33F7136CF81D}"/>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4CE1A772-090E-48F7-9D59-008256DB77B4}"/>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Post-selection improved the first result</a:t>
            </a:r>
          </a:p>
        </p:txBody>
      </p:sp>
      <p:graphicFrame>
        <p:nvGraphicFramePr>
          <p:cNvPr id="3" name="Chart">
            <a:extLst xmlns:a="http://schemas.openxmlformats.org/drawingml/2006/main">
              <a:ext uri="{FF2B5EF4-FFF2-40B4-BE49-F238E27FC236}">
                <a16:creationId xmlns:a16="http://schemas.microsoft.com/office/drawing/2014/main" id="{C52A2DE6-81AD-4041-AB7F-EE6B8BF225A2}"/>
              </a:ext>
            </a:extLst>
          </p:cNvPr>
          <p:cNvGraphicFramePr/>
          <p:nvPr/>
        </p:nvGraphicFramePr>
        <p:xfrm>
          <a:off xmlns:a="http://schemas.openxmlformats.org/drawingml/2006/main" x="666750" y="1809750"/>
          <a:ext xmlns:a="http://schemas.openxmlformats.org/drawingml/2006/main" cx="6667500" cy="3714750"/>
        </p:xfrm>
        <a:graphic xmlns:a="http://schemas.openxmlformats.org/drawingml/2006/main">
          <a:graphicData uri="http://schemas.openxmlformats.org/drawingml/2006/chart">
            <c:chart xmlns:r="http://schemas.openxmlformats.org/officeDocument/2006/relationships" xmlns:c="http://schemas.openxmlformats.org/drawingml/2006/chart" r:id="R6547892abe9742ac"/>
          </a:graphicData>
        </a:graphic>
      </p:graphicFrame>
      <p:sp>
        <p:nvSpPr>
          <p:cNvPr id="4" name="">
            <a:extLst xmlns:a="http://schemas.openxmlformats.org/drawingml/2006/main">
              <a:ext uri="{FF2B5EF4-FFF2-40B4-BE49-F238E27FC236}">
                <a16:creationId xmlns:a16="http://schemas.microsoft.com/office/drawing/2014/main" id="{CF398C94-0063-4A64-ACFE-B1924F01CC2F}"/>
              </a:ext>
            </a:extLst>
          </p:cNvPr>
          <p:cNvSpPr>
            <a:spLocks xmlns:a="http://schemas.openxmlformats.org/drawingml/2006/main" noGrp="1"/>
          </p:cNvSpPr>
          <p:nvPr/>
        </p:nvSpPr>
        <p:spPr>
          <a:xfrm xmlns:a="http://schemas.openxmlformats.org/drawingml/2006/main">
            <a:off x="8001000" y="2095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525252"/>
                </a:solidFill>
                <a:latin typeface="Arial"/>
                <a:ea typeface="Arial"/>
                <a:cs typeface="Arial"/>
              </a:defRPr>
            </a:defPPr>
            <a:lvl1pPr algn="l">
              <a:defRPr sz="1425" b="1">
                <a:solidFill>
                  <a:srgbClr val="525252"/>
                </a:solidFill>
                <a:latin typeface="Arial"/>
                <a:ea typeface="Arial"/>
                <a:cs typeface="Arial"/>
              </a:defRPr>
            </a:lvl1pPr>
            <a:lvl2pPr algn="l">
              <a:defRPr sz="1425" b="1">
                <a:solidFill>
                  <a:srgbClr val="525252"/>
                </a:solidFill>
                <a:latin typeface="Arial"/>
                <a:ea typeface="Arial"/>
                <a:cs typeface="Arial"/>
              </a:defRPr>
            </a:lvl2pPr>
            <a:lvl3pPr algn="l">
              <a:defRPr sz="1425" b="1">
                <a:solidFill>
                  <a:srgbClr val="525252"/>
                </a:solidFill>
                <a:latin typeface="Arial"/>
                <a:ea typeface="Arial"/>
                <a:cs typeface="Arial"/>
              </a:defRPr>
            </a:lvl3pPr>
            <a:lvl4pPr algn="l">
              <a:defRPr sz="1425" b="1">
                <a:solidFill>
                  <a:srgbClr val="525252"/>
                </a:solidFill>
                <a:latin typeface="Arial"/>
                <a:ea typeface="Arial"/>
                <a:cs typeface="Arial"/>
              </a:defRPr>
            </a:lvl4pPr>
            <a:lvl5pPr algn="l">
              <a:defRPr sz="1425" b="1">
                <a:solidFill>
                  <a:srgbClr val="525252"/>
                </a:solidFill>
                <a:latin typeface="Arial"/>
                <a:ea typeface="Arial"/>
                <a:cs typeface="Arial"/>
              </a:defRPr>
            </a:lvl5pPr>
            <a:lvl6pPr algn="l">
              <a:defRPr sz="1425" b="1">
                <a:solidFill>
                  <a:srgbClr val="525252"/>
                </a:solidFill>
                <a:latin typeface="Arial"/>
                <a:ea typeface="Arial"/>
                <a:cs typeface="Arial"/>
              </a:defRPr>
            </a:lvl6pPr>
            <a:lvl7pPr algn="l">
              <a:defRPr sz="1425" b="1">
                <a:solidFill>
                  <a:srgbClr val="525252"/>
                </a:solidFill>
                <a:latin typeface="Arial"/>
                <a:ea typeface="Arial"/>
                <a:cs typeface="Arial"/>
              </a:defRPr>
            </a:lvl7pPr>
            <a:lvl8pPr algn="l">
              <a:defRPr sz="1425" b="1">
                <a:solidFill>
                  <a:srgbClr val="525252"/>
                </a:solidFill>
                <a:latin typeface="Arial"/>
                <a:ea typeface="Arial"/>
                <a:cs typeface="Arial"/>
              </a:defRPr>
            </a:lvl8pPr>
            <a:lvl9pPr algn="l">
              <a:defRPr sz="1425" b="1">
                <a:solidFill>
                  <a:srgbClr val="525252"/>
                </a:solidFill>
                <a:latin typeface="Arial"/>
                <a:ea typeface="Arial"/>
                <a:cs typeface="Arial"/>
              </a:defRPr>
            </a:lvl9pPr>
          </a:lstStyle>
          <a:p xmlns:a="http://schemas.openxmlformats.org/drawingml/2006/main">
            <a:pPr algn="l">
              <a:defRPr sz="1425" b="1">
                <a:solidFill>
                  <a:srgbClr val="525252"/>
                </a:solidFill>
                <a:latin typeface="Arial"/>
                <a:ea typeface="Arial"/>
                <a:cs typeface="Arial"/>
              </a:defRPr>
            </a:pPr>
            <a:r>
              <a:rPr sz="1425" b="1">
                <a:solidFill>
                  <a:srgbClr val="525252"/>
                </a:solidFill>
                <a:latin typeface="Arial"/>
                <a:ea typeface="Arial"/>
                <a:cs typeface="Arial"/>
              </a:rPr>
              <a:t>Accepted shots</a:t>
            </a:r>
          </a:p>
        </p:txBody>
      </p:sp>
      <p:sp>
        <p:nvSpPr>
          <p:cNvPr id="5" name="">
            <a:extLst xmlns:a="http://schemas.openxmlformats.org/drawingml/2006/main">
              <a:ext uri="{FF2B5EF4-FFF2-40B4-BE49-F238E27FC236}">
                <a16:creationId xmlns:a16="http://schemas.microsoft.com/office/drawing/2014/main" id="{C51AF391-4907-408F-A817-6011DB6DCB44}"/>
              </a:ext>
            </a:extLst>
          </p:cNvPr>
          <p:cNvSpPr>
            <a:spLocks xmlns:a="http://schemas.openxmlformats.org/drawingml/2006/main" noGrp="1"/>
          </p:cNvSpPr>
          <p:nvPr/>
        </p:nvSpPr>
        <p:spPr>
          <a:xfrm xmlns:a="http://schemas.openxmlformats.org/drawingml/2006/main">
            <a:off x="8001000" y="2524125"/>
            <a:ext cx="333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009D9A"/>
                </a:solidFill>
                <a:latin typeface="Arial"/>
                <a:ea typeface="Arial"/>
                <a:cs typeface="Arial"/>
              </a:defRPr>
            </a:defPPr>
            <a:lvl1pPr algn="l">
              <a:defRPr sz="2700" b="1">
                <a:solidFill>
                  <a:srgbClr val="009D9A"/>
                </a:solidFill>
                <a:latin typeface="Arial"/>
                <a:ea typeface="Arial"/>
                <a:cs typeface="Arial"/>
              </a:defRPr>
            </a:lvl1pPr>
            <a:lvl2pPr algn="l">
              <a:defRPr sz="2700" b="1">
                <a:solidFill>
                  <a:srgbClr val="009D9A"/>
                </a:solidFill>
                <a:latin typeface="Arial"/>
                <a:ea typeface="Arial"/>
                <a:cs typeface="Arial"/>
              </a:defRPr>
            </a:lvl2pPr>
            <a:lvl3pPr algn="l">
              <a:defRPr sz="2700" b="1">
                <a:solidFill>
                  <a:srgbClr val="009D9A"/>
                </a:solidFill>
                <a:latin typeface="Arial"/>
                <a:ea typeface="Arial"/>
                <a:cs typeface="Arial"/>
              </a:defRPr>
            </a:lvl3pPr>
            <a:lvl4pPr algn="l">
              <a:defRPr sz="2700" b="1">
                <a:solidFill>
                  <a:srgbClr val="009D9A"/>
                </a:solidFill>
                <a:latin typeface="Arial"/>
                <a:ea typeface="Arial"/>
                <a:cs typeface="Arial"/>
              </a:defRPr>
            </a:lvl4pPr>
            <a:lvl5pPr algn="l">
              <a:defRPr sz="2700" b="1">
                <a:solidFill>
                  <a:srgbClr val="009D9A"/>
                </a:solidFill>
                <a:latin typeface="Arial"/>
                <a:ea typeface="Arial"/>
                <a:cs typeface="Arial"/>
              </a:defRPr>
            </a:lvl5pPr>
            <a:lvl6pPr algn="l">
              <a:defRPr sz="2700" b="1">
                <a:solidFill>
                  <a:srgbClr val="009D9A"/>
                </a:solidFill>
                <a:latin typeface="Arial"/>
                <a:ea typeface="Arial"/>
                <a:cs typeface="Arial"/>
              </a:defRPr>
            </a:lvl6pPr>
            <a:lvl7pPr algn="l">
              <a:defRPr sz="2700" b="1">
                <a:solidFill>
                  <a:srgbClr val="009D9A"/>
                </a:solidFill>
                <a:latin typeface="Arial"/>
                <a:ea typeface="Arial"/>
                <a:cs typeface="Arial"/>
              </a:defRPr>
            </a:lvl7pPr>
            <a:lvl8pPr algn="l">
              <a:defRPr sz="2700" b="1">
                <a:solidFill>
                  <a:srgbClr val="009D9A"/>
                </a:solidFill>
                <a:latin typeface="Arial"/>
                <a:ea typeface="Arial"/>
                <a:cs typeface="Arial"/>
              </a:defRPr>
            </a:lvl8pPr>
            <a:lvl9pPr algn="l">
              <a:defRPr sz="2700" b="1">
                <a:solidFill>
                  <a:srgbClr val="009D9A"/>
                </a:solidFill>
                <a:latin typeface="Arial"/>
                <a:ea typeface="Arial"/>
                <a:cs typeface="Arial"/>
              </a:defRPr>
            </a:lvl9pPr>
          </a:lstStyle>
          <a:p xmlns:a="http://schemas.openxmlformats.org/drawingml/2006/main">
            <a:pPr algn="l">
              <a:defRPr sz="2700" b="1">
                <a:solidFill>
                  <a:srgbClr val="009D9A"/>
                </a:solidFill>
                <a:latin typeface="Arial"/>
                <a:ea typeface="Arial"/>
                <a:cs typeface="Arial"/>
              </a:defRPr>
            </a:pPr>
            <a:r>
              <a:rPr sz="2700" b="1">
                <a:solidFill>
                  <a:srgbClr val="009D9A"/>
                </a:solidFill>
                <a:latin typeface="Arial"/>
                <a:ea typeface="Arial"/>
                <a:cs typeface="Arial"/>
              </a:rPr>
              <a:t>9,380 / 10,000</a:t>
            </a:r>
          </a:p>
        </p:txBody>
      </p:sp>
      <p:sp>
        <p:nvSpPr>
          <p:cNvPr id="6" name="">
            <a:extLst xmlns:a="http://schemas.openxmlformats.org/drawingml/2006/main">
              <a:ext uri="{FF2B5EF4-FFF2-40B4-BE49-F238E27FC236}">
                <a16:creationId xmlns:a16="http://schemas.microsoft.com/office/drawing/2014/main" id="{29DBA8D7-24F7-4EE3-B2B3-906FAAA588CA}"/>
              </a:ext>
            </a:extLst>
          </p:cNvPr>
          <p:cNvSpPr>
            <a:spLocks xmlns:a="http://schemas.openxmlformats.org/drawingml/2006/main" noGrp="1"/>
          </p:cNvSpPr>
          <p:nvPr/>
        </p:nvSpPr>
        <p:spPr>
          <a:xfrm xmlns:a="http://schemas.openxmlformats.org/drawingml/2006/main">
            <a:off x="8001000" y="3143250"/>
            <a:ext cx="333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93.8% acceptance · 6.2% rejected</a:t>
            </a:r>
          </a:p>
        </p:txBody>
      </p:sp>
      <p:sp>
        <p:nvSpPr>
          <p:cNvPr id="7" name="">
            <a:extLst xmlns:a="http://schemas.openxmlformats.org/drawingml/2006/main">
              <a:ext uri="{FF2B5EF4-FFF2-40B4-BE49-F238E27FC236}">
                <a16:creationId xmlns:a16="http://schemas.microsoft.com/office/drawing/2014/main" id="{1054B600-7C65-47FD-BA1C-22DA73BE0523}"/>
              </a:ext>
            </a:extLst>
          </p:cNvPr>
          <p:cNvSpPr>
            <a:spLocks xmlns:a="http://schemas.openxmlformats.org/drawingml/2006/main" noGrp="1"/>
          </p:cNvSpPr>
          <p:nvPr/>
        </p:nvSpPr>
        <p:spPr>
          <a:xfrm xmlns:a="http://schemas.openxmlformats.org/drawingml/2006/main">
            <a:off x="8001000" y="414337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In this run, filtering raised fidelity above the no-check baseline.</a:t>
            </a:r>
          </a:p>
        </p:txBody>
      </p:sp>
    </p:spTree>
    <p:extLst>
      <p:ext uri="{BB962C8B-B14F-4D97-AF65-F5344CB8AC3E}">
        <p14:creationId xmlns:p14="http://schemas.microsoft.com/office/powerpoint/2010/main" val="12986706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00A074E-1650-44D5-9791-08E41C954753}"/>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8AEEC0CE-929D-4297-98A3-1D2E46BFD1B9}"/>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Four check configurations were compared</a:t>
            </a:r>
          </a:p>
        </p:txBody>
      </p:sp>
      <p:sp>
        <p:nvSpPr>
          <p:cNvPr id="3" name="">
            <a:extLst xmlns:a="http://schemas.openxmlformats.org/drawingml/2006/main">
              <a:ext uri="{FF2B5EF4-FFF2-40B4-BE49-F238E27FC236}">
                <a16:creationId xmlns:a16="http://schemas.microsoft.com/office/drawing/2014/main" id="{A8D19DE8-792A-47FC-B6CB-6428D420F3E6}"/>
              </a:ext>
            </a:extLst>
          </p:cNvPr>
          <p:cNvSpPr>
            <a:spLocks xmlns:a="http://schemas.openxmlformats.org/drawingml/2006/main" noGrp="1"/>
          </p:cNvSpPr>
          <p:nvPr/>
        </p:nvSpPr>
        <p:spPr>
          <a:xfrm xmlns:a="http://schemas.openxmlformats.org/drawingml/2006/main">
            <a:off x="685800" y="185737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Configuration</a:t>
            </a:r>
          </a:p>
        </p:txBody>
      </p:sp>
      <p:sp>
        <p:nvSpPr>
          <p:cNvPr id="4" name="">
            <a:extLst xmlns:a="http://schemas.openxmlformats.org/drawingml/2006/main">
              <a:ext uri="{FF2B5EF4-FFF2-40B4-BE49-F238E27FC236}">
                <a16:creationId xmlns:a16="http://schemas.microsoft.com/office/drawing/2014/main" id="{DDB424A5-C5DA-4509-BB0D-02B7C344908C}"/>
              </a:ext>
            </a:extLst>
          </p:cNvPr>
          <p:cNvSpPr>
            <a:spLocks xmlns:a="http://schemas.openxmlformats.org/drawingml/2006/main" noGrp="1"/>
          </p:cNvSpPr>
          <p:nvPr/>
        </p:nvSpPr>
        <p:spPr>
          <a:xfrm xmlns:a="http://schemas.openxmlformats.org/drawingml/2006/main">
            <a:off x="6858000" y="18573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Reported span</a:t>
            </a:r>
          </a:p>
        </p:txBody>
      </p:sp>
      <p:sp>
        <p:nvSpPr>
          <p:cNvPr id="5" name="">
            <a:extLst xmlns:a="http://schemas.openxmlformats.org/drawingml/2006/main">
              <a:ext uri="{FF2B5EF4-FFF2-40B4-BE49-F238E27FC236}">
                <a16:creationId xmlns:a16="http://schemas.microsoft.com/office/drawing/2014/main" id="{F95585B1-3966-431D-AB0E-1BC411D0A0B7}"/>
              </a:ext>
            </a:extLst>
          </p:cNvPr>
          <p:cNvSpPr>
            <a:spLocks xmlns:a="http://schemas.openxmlformats.org/drawingml/2006/main" noGrp="1"/>
          </p:cNvSpPr>
          <p:nvPr/>
        </p:nvSpPr>
        <p:spPr>
          <a:xfrm xmlns:a="http://schemas.openxmlformats.org/drawingml/2006/main">
            <a:off x="685800" y="238125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61616"/>
                </a:solidFill>
                <a:latin typeface="Arial"/>
                <a:ea typeface="Arial"/>
                <a:cs typeface="Arial"/>
              </a:defRPr>
            </a:defPPr>
            <a:lvl1pPr algn="l">
              <a:defRPr sz="1875" b="0">
                <a:solidFill>
                  <a:srgbClr val="161616"/>
                </a:solidFill>
                <a:latin typeface="Arial"/>
                <a:ea typeface="Arial"/>
                <a:cs typeface="Arial"/>
              </a:defRPr>
            </a:lvl1pPr>
            <a:lvl2pPr algn="l">
              <a:defRPr sz="1875" b="0">
                <a:solidFill>
                  <a:srgbClr val="161616"/>
                </a:solidFill>
                <a:latin typeface="Arial"/>
                <a:ea typeface="Arial"/>
                <a:cs typeface="Arial"/>
              </a:defRPr>
            </a:lvl2pPr>
            <a:lvl3pPr algn="l">
              <a:defRPr sz="1875" b="0">
                <a:solidFill>
                  <a:srgbClr val="161616"/>
                </a:solidFill>
                <a:latin typeface="Arial"/>
                <a:ea typeface="Arial"/>
                <a:cs typeface="Arial"/>
              </a:defRPr>
            </a:lvl3pPr>
            <a:lvl4pPr algn="l">
              <a:defRPr sz="1875" b="0">
                <a:solidFill>
                  <a:srgbClr val="161616"/>
                </a:solidFill>
                <a:latin typeface="Arial"/>
                <a:ea typeface="Arial"/>
                <a:cs typeface="Arial"/>
              </a:defRPr>
            </a:lvl4pPr>
            <a:lvl5pPr algn="l">
              <a:defRPr sz="1875" b="0">
                <a:solidFill>
                  <a:srgbClr val="161616"/>
                </a:solidFill>
                <a:latin typeface="Arial"/>
                <a:ea typeface="Arial"/>
                <a:cs typeface="Arial"/>
              </a:defRPr>
            </a:lvl5pPr>
            <a:lvl6pPr algn="l">
              <a:defRPr sz="1875" b="0">
                <a:solidFill>
                  <a:srgbClr val="161616"/>
                </a:solidFill>
                <a:latin typeface="Arial"/>
                <a:ea typeface="Arial"/>
                <a:cs typeface="Arial"/>
              </a:defRPr>
            </a:lvl6pPr>
            <a:lvl7pPr algn="l">
              <a:defRPr sz="1875" b="0">
                <a:solidFill>
                  <a:srgbClr val="161616"/>
                </a:solidFill>
                <a:latin typeface="Arial"/>
                <a:ea typeface="Arial"/>
                <a:cs typeface="Arial"/>
              </a:defRPr>
            </a:lvl7pPr>
            <a:lvl8pPr algn="l">
              <a:defRPr sz="1875" b="0">
                <a:solidFill>
                  <a:srgbClr val="161616"/>
                </a:solidFill>
                <a:latin typeface="Arial"/>
                <a:ea typeface="Arial"/>
                <a:cs typeface="Arial"/>
              </a:defRPr>
            </a:lvl8pPr>
            <a:lvl9pPr algn="l">
              <a:defRPr sz="1875" b="0">
                <a:solidFill>
                  <a:srgbClr val="161616"/>
                </a:solidFill>
                <a:latin typeface="Arial"/>
                <a:ea typeface="Arial"/>
                <a:cs typeface="Arial"/>
              </a:defRPr>
            </a:lvl9pPr>
          </a:lstStyle>
          <a:p xmlns:a="http://schemas.openxmlformats.org/drawingml/2006/main">
            <a:pPr algn="l">
              <a:defRPr sz="1875" b="0">
                <a:solidFill>
                  <a:srgbClr val="161616"/>
                </a:solidFill>
                <a:latin typeface="Arial"/>
                <a:ea typeface="Arial"/>
                <a:cs typeface="Arial"/>
              </a:defRPr>
            </a:pPr>
            <a:r>
              <a:rPr sz="1875" b="0">
                <a:solidFill>
                  <a:srgbClr val="161616"/>
                </a:solidFill>
                <a:latin typeface="Arial"/>
                <a:ea typeface="Arial"/>
                <a:cs typeface="Arial"/>
              </a:rPr>
              <a:t>Windowed</a:t>
            </a:r>
          </a:p>
        </p:txBody>
      </p:sp>
      <p:sp>
        <p:nvSpPr>
          <p:cNvPr id="6" name="">
            <a:extLst xmlns:a="http://schemas.openxmlformats.org/drawingml/2006/main">
              <a:ext uri="{FF2B5EF4-FFF2-40B4-BE49-F238E27FC236}">
                <a16:creationId xmlns:a16="http://schemas.microsoft.com/office/drawing/2014/main" id="{127AF34D-4DD4-4BC4-BECF-FECB009304EE}"/>
              </a:ext>
            </a:extLst>
          </p:cNvPr>
          <p:cNvSpPr>
            <a:spLocks xmlns:a="http://schemas.openxmlformats.org/drawingml/2006/main" noGrp="1"/>
          </p:cNvSpPr>
          <p:nvPr/>
        </p:nvSpPr>
        <p:spPr>
          <a:xfrm xmlns:a="http://schemas.openxmlformats.org/drawingml/2006/main">
            <a:off x="6858000" y="23812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22 instruction positions</a:t>
            </a:r>
          </a:p>
        </p:txBody>
      </p:sp>
      <p:sp>
        <p:nvSpPr>
          <p:cNvPr id="7" name="">
            <a:extLst xmlns:a="http://schemas.openxmlformats.org/drawingml/2006/main">
              <a:ext uri="{FF2B5EF4-FFF2-40B4-BE49-F238E27FC236}">
                <a16:creationId xmlns:a16="http://schemas.microsoft.com/office/drawing/2014/main" id="{D020EA50-2CE1-4292-90EC-CCF77184F1E6}"/>
              </a:ext>
            </a:extLst>
          </p:cNvPr>
          <p:cNvSpPr>
            <a:spLocks xmlns:a="http://schemas.openxmlformats.org/drawingml/2006/main" noGrp="1"/>
          </p:cNvSpPr>
          <p:nvPr/>
        </p:nvSpPr>
        <p:spPr>
          <a:xfrm xmlns:a="http://schemas.openxmlformats.org/drawingml/2006/main">
            <a:off x="685800" y="308610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61616"/>
                </a:solidFill>
                <a:latin typeface="Arial"/>
                <a:ea typeface="Arial"/>
                <a:cs typeface="Arial"/>
              </a:defRPr>
            </a:defPPr>
            <a:lvl1pPr algn="l">
              <a:defRPr sz="1875" b="1">
                <a:solidFill>
                  <a:srgbClr val="161616"/>
                </a:solidFill>
                <a:latin typeface="Arial"/>
                <a:ea typeface="Arial"/>
                <a:cs typeface="Arial"/>
              </a:defRPr>
            </a:lvl1pPr>
            <a:lvl2pPr algn="l">
              <a:defRPr sz="1875" b="1">
                <a:solidFill>
                  <a:srgbClr val="161616"/>
                </a:solidFill>
                <a:latin typeface="Arial"/>
                <a:ea typeface="Arial"/>
                <a:cs typeface="Arial"/>
              </a:defRPr>
            </a:lvl2pPr>
            <a:lvl3pPr algn="l">
              <a:defRPr sz="1875" b="1">
                <a:solidFill>
                  <a:srgbClr val="161616"/>
                </a:solidFill>
                <a:latin typeface="Arial"/>
                <a:ea typeface="Arial"/>
                <a:cs typeface="Arial"/>
              </a:defRPr>
            </a:lvl3pPr>
            <a:lvl4pPr algn="l">
              <a:defRPr sz="1875" b="1">
                <a:solidFill>
                  <a:srgbClr val="161616"/>
                </a:solidFill>
                <a:latin typeface="Arial"/>
                <a:ea typeface="Arial"/>
                <a:cs typeface="Arial"/>
              </a:defRPr>
            </a:lvl4pPr>
            <a:lvl5pPr algn="l">
              <a:defRPr sz="1875" b="1">
                <a:solidFill>
                  <a:srgbClr val="161616"/>
                </a:solidFill>
                <a:latin typeface="Arial"/>
                <a:ea typeface="Arial"/>
                <a:cs typeface="Arial"/>
              </a:defRPr>
            </a:lvl5pPr>
            <a:lvl6pPr algn="l">
              <a:defRPr sz="1875" b="1">
                <a:solidFill>
                  <a:srgbClr val="161616"/>
                </a:solidFill>
                <a:latin typeface="Arial"/>
                <a:ea typeface="Arial"/>
                <a:cs typeface="Arial"/>
              </a:defRPr>
            </a:lvl6pPr>
            <a:lvl7pPr algn="l">
              <a:defRPr sz="1875" b="1">
                <a:solidFill>
                  <a:srgbClr val="161616"/>
                </a:solidFill>
                <a:latin typeface="Arial"/>
                <a:ea typeface="Arial"/>
                <a:cs typeface="Arial"/>
              </a:defRPr>
            </a:lvl7pPr>
            <a:lvl8pPr algn="l">
              <a:defRPr sz="1875" b="1">
                <a:solidFill>
                  <a:srgbClr val="161616"/>
                </a:solidFill>
                <a:latin typeface="Arial"/>
                <a:ea typeface="Arial"/>
                <a:cs typeface="Arial"/>
              </a:defRPr>
            </a:lvl8pPr>
            <a:lvl9pPr algn="l">
              <a:defRPr sz="1875" b="1">
                <a:solidFill>
                  <a:srgbClr val="161616"/>
                </a:solidFill>
                <a:latin typeface="Arial"/>
                <a:ea typeface="Arial"/>
                <a:cs typeface="Arial"/>
              </a:defRPr>
            </a:lvl9pPr>
          </a:lstStyle>
          <a:p xmlns:a="http://schemas.openxmlformats.org/drawingml/2006/main">
            <a:pPr algn="l">
              <a:defRPr sz="1875" b="1">
                <a:solidFill>
                  <a:srgbClr val="161616"/>
                </a:solidFill>
                <a:latin typeface="Arial"/>
                <a:ea typeface="Arial"/>
                <a:cs typeface="Arial"/>
              </a:defRPr>
            </a:pPr>
            <a:r>
              <a:rPr sz="1875" b="1">
                <a:solidFill>
                  <a:srgbClr val="161616"/>
                </a:solidFill>
                <a:latin typeface="Arial"/>
                <a:ea typeface="Arial"/>
                <a:cs typeface="Arial"/>
              </a:rPr>
              <a:t>Genetic Seed 1</a:t>
            </a:r>
          </a:p>
        </p:txBody>
      </p:sp>
      <p:sp>
        <p:nvSpPr>
          <p:cNvPr id="8" name="">
            <a:extLst xmlns:a="http://schemas.openxmlformats.org/drawingml/2006/main">
              <a:ext uri="{FF2B5EF4-FFF2-40B4-BE49-F238E27FC236}">
                <a16:creationId xmlns:a16="http://schemas.microsoft.com/office/drawing/2014/main" id="{FA1E8FAF-C2F1-4559-B5C0-3B3810FA807A}"/>
              </a:ext>
            </a:extLst>
          </p:cNvPr>
          <p:cNvSpPr>
            <a:spLocks xmlns:a="http://schemas.openxmlformats.org/drawingml/2006/main" noGrp="1"/>
          </p:cNvSpPr>
          <p:nvPr/>
        </p:nvSpPr>
        <p:spPr>
          <a:xfrm xmlns:a="http://schemas.openxmlformats.org/drawingml/2006/main">
            <a:off x="6858000" y="30861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16 instruction positions</a:t>
            </a:r>
          </a:p>
        </p:txBody>
      </p:sp>
      <p:sp>
        <p:nvSpPr>
          <p:cNvPr id="9" name="">
            <a:extLst xmlns:a="http://schemas.openxmlformats.org/drawingml/2006/main">
              <a:ext uri="{FF2B5EF4-FFF2-40B4-BE49-F238E27FC236}">
                <a16:creationId xmlns:a16="http://schemas.microsoft.com/office/drawing/2014/main" id="{9E0AB3E8-9D57-4ACE-B2D6-2524D83BB395}"/>
              </a:ext>
            </a:extLst>
          </p:cNvPr>
          <p:cNvSpPr>
            <a:spLocks xmlns:a="http://schemas.openxmlformats.org/drawingml/2006/main" noGrp="1"/>
          </p:cNvSpPr>
          <p:nvPr/>
        </p:nvSpPr>
        <p:spPr>
          <a:xfrm xmlns:a="http://schemas.openxmlformats.org/drawingml/2006/main">
            <a:off x="685800" y="379095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61616"/>
                </a:solidFill>
                <a:latin typeface="Arial"/>
                <a:ea typeface="Arial"/>
                <a:cs typeface="Arial"/>
              </a:defRPr>
            </a:defPPr>
            <a:lvl1pPr algn="l">
              <a:defRPr sz="1875" b="0">
                <a:solidFill>
                  <a:srgbClr val="161616"/>
                </a:solidFill>
                <a:latin typeface="Arial"/>
                <a:ea typeface="Arial"/>
                <a:cs typeface="Arial"/>
              </a:defRPr>
            </a:lvl1pPr>
            <a:lvl2pPr algn="l">
              <a:defRPr sz="1875" b="0">
                <a:solidFill>
                  <a:srgbClr val="161616"/>
                </a:solidFill>
                <a:latin typeface="Arial"/>
                <a:ea typeface="Arial"/>
                <a:cs typeface="Arial"/>
              </a:defRPr>
            </a:lvl2pPr>
            <a:lvl3pPr algn="l">
              <a:defRPr sz="1875" b="0">
                <a:solidFill>
                  <a:srgbClr val="161616"/>
                </a:solidFill>
                <a:latin typeface="Arial"/>
                <a:ea typeface="Arial"/>
                <a:cs typeface="Arial"/>
              </a:defRPr>
            </a:lvl3pPr>
            <a:lvl4pPr algn="l">
              <a:defRPr sz="1875" b="0">
                <a:solidFill>
                  <a:srgbClr val="161616"/>
                </a:solidFill>
                <a:latin typeface="Arial"/>
                <a:ea typeface="Arial"/>
                <a:cs typeface="Arial"/>
              </a:defRPr>
            </a:lvl4pPr>
            <a:lvl5pPr algn="l">
              <a:defRPr sz="1875" b="0">
                <a:solidFill>
                  <a:srgbClr val="161616"/>
                </a:solidFill>
                <a:latin typeface="Arial"/>
                <a:ea typeface="Arial"/>
                <a:cs typeface="Arial"/>
              </a:defRPr>
            </a:lvl5pPr>
            <a:lvl6pPr algn="l">
              <a:defRPr sz="1875" b="0">
                <a:solidFill>
                  <a:srgbClr val="161616"/>
                </a:solidFill>
                <a:latin typeface="Arial"/>
                <a:ea typeface="Arial"/>
                <a:cs typeface="Arial"/>
              </a:defRPr>
            </a:lvl6pPr>
            <a:lvl7pPr algn="l">
              <a:defRPr sz="1875" b="0">
                <a:solidFill>
                  <a:srgbClr val="161616"/>
                </a:solidFill>
                <a:latin typeface="Arial"/>
                <a:ea typeface="Arial"/>
                <a:cs typeface="Arial"/>
              </a:defRPr>
            </a:lvl7pPr>
            <a:lvl8pPr algn="l">
              <a:defRPr sz="1875" b="0">
                <a:solidFill>
                  <a:srgbClr val="161616"/>
                </a:solidFill>
                <a:latin typeface="Arial"/>
                <a:ea typeface="Arial"/>
                <a:cs typeface="Arial"/>
              </a:defRPr>
            </a:lvl8pPr>
            <a:lvl9pPr algn="l">
              <a:defRPr sz="1875" b="0">
                <a:solidFill>
                  <a:srgbClr val="161616"/>
                </a:solidFill>
                <a:latin typeface="Arial"/>
                <a:ea typeface="Arial"/>
                <a:cs typeface="Arial"/>
              </a:defRPr>
            </a:lvl9pPr>
          </a:lstStyle>
          <a:p xmlns:a="http://schemas.openxmlformats.org/drawingml/2006/main">
            <a:pPr algn="l">
              <a:defRPr sz="1875" b="0">
                <a:solidFill>
                  <a:srgbClr val="161616"/>
                </a:solidFill>
                <a:latin typeface="Arial"/>
                <a:ea typeface="Arial"/>
                <a:cs typeface="Arial"/>
              </a:defRPr>
            </a:pPr>
            <a:r>
              <a:rPr sz="1875" b="0">
                <a:solidFill>
                  <a:srgbClr val="161616"/>
                </a:solidFill>
                <a:latin typeface="Arial"/>
                <a:ea typeface="Arial"/>
                <a:cs typeface="Arial"/>
              </a:rPr>
              <a:t>Genetic 7</a:t>
            </a:r>
          </a:p>
        </p:txBody>
      </p:sp>
      <p:sp>
        <p:nvSpPr>
          <p:cNvPr id="10" name="">
            <a:extLst xmlns:a="http://schemas.openxmlformats.org/drawingml/2006/main">
              <a:ext uri="{FF2B5EF4-FFF2-40B4-BE49-F238E27FC236}">
                <a16:creationId xmlns:a16="http://schemas.microsoft.com/office/drawing/2014/main" id="{E046F512-32CE-4458-977F-2238265F42FB}"/>
              </a:ext>
            </a:extLst>
          </p:cNvPr>
          <p:cNvSpPr>
            <a:spLocks xmlns:a="http://schemas.openxmlformats.org/drawingml/2006/main" noGrp="1"/>
          </p:cNvSpPr>
          <p:nvPr/>
        </p:nvSpPr>
        <p:spPr>
          <a:xfrm xmlns:a="http://schemas.openxmlformats.org/drawingml/2006/main">
            <a:off x="6858000" y="37909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9 instruction positions</a:t>
            </a:r>
          </a:p>
        </p:txBody>
      </p:sp>
      <p:sp>
        <p:nvSpPr>
          <p:cNvPr id="11" name="">
            <a:extLst xmlns:a="http://schemas.openxmlformats.org/drawingml/2006/main">
              <a:ext uri="{FF2B5EF4-FFF2-40B4-BE49-F238E27FC236}">
                <a16:creationId xmlns:a16="http://schemas.microsoft.com/office/drawing/2014/main" id="{0434A603-DFBC-4C65-886D-3A76C8FF5595}"/>
              </a:ext>
            </a:extLst>
          </p:cNvPr>
          <p:cNvSpPr>
            <a:spLocks xmlns:a="http://schemas.openxmlformats.org/drawingml/2006/main" noGrp="1"/>
          </p:cNvSpPr>
          <p:nvPr/>
        </p:nvSpPr>
        <p:spPr>
          <a:xfrm xmlns:a="http://schemas.openxmlformats.org/drawingml/2006/main">
            <a:off x="685800" y="449580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61616"/>
                </a:solidFill>
                <a:latin typeface="Arial"/>
                <a:ea typeface="Arial"/>
                <a:cs typeface="Arial"/>
              </a:defRPr>
            </a:defPPr>
            <a:lvl1pPr algn="l">
              <a:defRPr sz="1875" b="0">
                <a:solidFill>
                  <a:srgbClr val="161616"/>
                </a:solidFill>
                <a:latin typeface="Arial"/>
                <a:ea typeface="Arial"/>
                <a:cs typeface="Arial"/>
              </a:defRPr>
            </a:lvl1pPr>
            <a:lvl2pPr algn="l">
              <a:defRPr sz="1875" b="0">
                <a:solidFill>
                  <a:srgbClr val="161616"/>
                </a:solidFill>
                <a:latin typeface="Arial"/>
                <a:ea typeface="Arial"/>
                <a:cs typeface="Arial"/>
              </a:defRPr>
            </a:lvl2pPr>
            <a:lvl3pPr algn="l">
              <a:defRPr sz="1875" b="0">
                <a:solidFill>
                  <a:srgbClr val="161616"/>
                </a:solidFill>
                <a:latin typeface="Arial"/>
                <a:ea typeface="Arial"/>
                <a:cs typeface="Arial"/>
              </a:defRPr>
            </a:lvl3pPr>
            <a:lvl4pPr algn="l">
              <a:defRPr sz="1875" b="0">
                <a:solidFill>
                  <a:srgbClr val="161616"/>
                </a:solidFill>
                <a:latin typeface="Arial"/>
                <a:ea typeface="Arial"/>
                <a:cs typeface="Arial"/>
              </a:defRPr>
            </a:lvl4pPr>
            <a:lvl5pPr algn="l">
              <a:defRPr sz="1875" b="0">
                <a:solidFill>
                  <a:srgbClr val="161616"/>
                </a:solidFill>
                <a:latin typeface="Arial"/>
                <a:ea typeface="Arial"/>
                <a:cs typeface="Arial"/>
              </a:defRPr>
            </a:lvl5pPr>
            <a:lvl6pPr algn="l">
              <a:defRPr sz="1875" b="0">
                <a:solidFill>
                  <a:srgbClr val="161616"/>
                </a:solidFill>
                <a:latin typeface="Arial"/>
                <a:ea typeface="Arial"/>
                <a:cs typeface="Arial"/>
              </a:defRPr>
            </a:lvl6pPr>
            <a:lvl7pPr algn="l">
              <a:defRPr sz="1875" b="0">
                <a:solidFill>
                  <a:srgbClr val="161616"/>
                </a:solidFill>
                <a:latin typeface="Arial"/>
                <a:ea typeface="Arial"/>
                <a:cs typeface="Arial"/>
              </a:defRPr>
            </a:lvl7pPr>
            <a:lvl8pPr algn="l">
              <a:defRPr sz="1875" b="0">
                <a:solidFill>
                  <a:srgbClr val="161616"/>
                </a:solidFill>
                <a:latin typeface="Arial"/>
                <a:ea typeface="Arial"/>
                <a:cs typeface="Arial"/>
              </a:defRPr>
            </a:lvl8pPr>
            <a:lvl9pPr algn="l">
              <a:defRPr sz="1875" b="0">
                <a:solidFill>
                  <a:srgbClr val="161616"/>
                </a:solidFill>
                <a:latin typeface="Arial"/>
                <a:ea typeface="Arial"/>
                <a:cs typeface="Arial"/>
              </a:defRPr>
            </a:lvl9pPr>
          </a:lstStyle>
          <a:p xmlns:a="http://schemas.openxmlformats.org/drawingml/2006/main">
            <a:pPr algn="l">
              <a:defRPr sz="1875" b="0">
                <a:solidFill>
                  <a:srgbClr val="161616"/>
                </a:solidFill>
                <a:latin typeface="Arial"/>
                <a:ea typeface="Arial"/>
                <a:cs typeface="Arial"/>
              </a:defRPr>
            </a:pPr>
            <a:r>
              <a:rPr sz="1875" b="0">
                <a:solidFill>
                  <a:srgbClr val="161616"/>
                </a:solidFill>
                <a:latin typeface="Arial"/>
                <a:ea typeface="Arial"/>
                <a:cs typeface="Arial"/>
              </a:rPr>
              <a:t>Windowed Genetic</a:t>
            </a:r>
          </a:p>
        </p:txBody>
      </p:sp>
      <p:sp>
        <p:nvSpPr>
          <p:cNvPr id="12" name="">
            <a:extLst xmlns:a="http://schemas.openxmlformats.org/drawingml/2006/main">
              <a:ext uri="{FF2B5EF4-FFF2-40B4-BE49-F238E27FC236}">
                <a16:creationId xmlns:a16="http://schemas.microsoft.com/office/drawing/2014/main" id="{6351747B-F635-4B04-A917-C57B74D99A0F}"/>
              </a:ext>
            </a:extLst>
          </p:cNvPr>
          <p:cNvSpPr>
            <a:spLocks xmlns:a="http://schemas.openxmlformats.org/drawingml/2006/main" noGrp="1"/>
          </p:cNvSpPr>
          <p:nvPr/>
        </p:nvSpPr>
        <p:spPr>
          <a:xfrm xmlns:a="http://schemas.openxmlformats.org/drawingml/2006/main">
            <a:off x="6858000" y="44958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8 instruction positions</a:t>
            </a:r>
          </a:p>
        </p:txBody>
      </p:sp>
      <p:sp>
        <p:nvSpPr>
          <p:cNvPr id="13" name="">
            <a:extLst xmlns:a="http://schemas.openxmlformats.org/drawingml/2006/main">
              <a:ext uri="{FF2B5EF4-FFF2-40B4-BE49-F238E27FC236}">
                <a16:creationId xmlns:a16="http://schemas.microsoft.com/office/drawing/2014/main" id="{A4C1EB9C-D90D-448A-991F-8FAA5979F072}"/>
              </a:ext>
            </a:extLst>
          </p:cNvPr>
          <p:cNvSpPr>
            <a:spLocks xmlns:a="http://schemas.openxmlformats.org/drawingml/2006/main" noGrp="1"/>
          </p:cNvSpPr>
          <p:nvPr/>
        </p:nvSpPr>
        <p:spPr>
          <a:xfrm xmlns:a="http://schemas.openxmlformats.org/drawingml/2006/main">
            <a:off x="685800" y="5476875"/>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Span = last minus first recorded check-ancilla CX instruction index. It is an instruction-position proxy, not physical time.</a:t>
            </a:r>
          </a:p>
        </p:txBody>
      </p:sp>
    </p:spTree>
    <p:extLst>
      <p:ext uri="{BB962C8B-B14F-4D97-AF65-F5344CB8AC3E}">
        <p14:creationId xmlns:p14="http://schemas.microsoft.com/office/powerpoint/2010/main" val="26141091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D3DCBBC-EC86-4461-BAC4-8489F05A2297}"/>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8C91AF26-893F-4CA5-BD4A-27301C5E89BD}"/>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Post-selection helped, but did not beat baseline</a:t>
            </a:r>
          </a:p>
        </p:txBody>
      </p:sp>
      <p:graphicFrame>
        <p:nvGraphicFramePr>
          <p:cNvPr id="3" name="Chart">
            <a:extLst xmlns:a="http://schemas.openxmlformats.org/drawingml/2006/main">
              <a:ext uri="{FF2B5EF4-FFF2-40B4-BE49-F238E27FC236}">
                <a16:creationId xmlns:a16="http://schemas.microsoft.com/office/drawing/2014/main" id="{A51470FD-F5B9-40D9-9EDC-54AC06540B8C}"/>
              </a:ext>
            </a:extLst>
          </p:cNvPr>
          <p:cNvGraphicFramePr/>
          <p:nvPr/>
        </p:nvGraphicFramePr>
        <p:xfrm>
          <a:off xmlns:a="http://schemas.openxmlformats.org/drawingml/2006/main" x="619125" y="1762125"/>
          <a:ext xmlns:a="http://schemas.openxmlformats.org/drawingml/2006/main" cx="7715250" cy="3952875"/>
        </p:xfrm>
        <a:graphic xmlns:a="http://schemas.openxmlformats.org/drawingml/2006/main">
          <a:graphicData uri="http://schemas.openxmlformats.org/drawingml/2006/chart">
            <c:chart xmlns:r="http://schemas.openxmlformats.org/officeDocument/2006/relationships" xmlns:c="http://schemas.openxmlformats.org/drawingml/2006/chart" r:id="Ra488642cbfec4240"/>
          </a:graphicData>
        </a:graphic>
      </p:graphicFrame>
      <p:sp>
        <p:nvSpPr>
          <p:cNvPr id="4" name="">
            <a:extLst xmlns:a="http://schemas.openxmlformats.org/drawingml/2006/main">
              <a:ext uri="{FF2B5EF4-FFF2-40B4-BE49-F238E27FC236}">
                <a16:creationId xmlns:a16="http://schemas.microsoft.com/office/drawing/2014/main" id="{F85AF921-38C1-4CFF-ACCC-2C9CC7259CAD}"/>
              </a:ext>
            </a:extLst>
          </p:cNvPr>
          <p:cNvSpPr>
            <a:spLocks xmlns:a="http://schemas.openxmlformats.org/drawingml/2006/main" noGrp="1"/>
          </p:cNvSpPr>
          <p:nvPr/>
        </p:nvSpPr>
        <p:spPr>
          <a:xfrm xmlns:a="http://schemas.openxmlformats.org/drawingml/2006/main">
            <a:off x="8763000" y="22383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25252"/>
                </a:solidFill>
                <a:latin typeface="Arial"/>
                <a:ea typeface="Arial"/>
                <a:cs typeface="Arial"/>
              </a:defRPr>
            </a:defPPr>
            <a:lvl1pPr algn="l">
              <a:defRPr sz="1350" b="1">
                <a:solidFill>
                  <a:srgbClr val="525252"/>
                </a:solidFill>
                <a:latin typeface="Arial"/>
                <a:ea typeface="Arial"/>
                <a:cs typeface="Arial"/>
              </a:defRPr>
            </a:lvl1pPr>
            <a:lvl2pPr algn="l">
              <a:defRPr sz="1350" b="1">
                <a:solidFill>
                  <a:srgbClr val="525252"/>
                </a:solidFill>
                <a:latin typeface="Arial"/>
                <a:ea typeface="Arial"/>
                <a:cs typeface="Arial"/>
              </a:defRPr>
            </a:lvl2pPr>
            <a:lvl3pPr algn="l">
              <a:defRPr sz="1350" b="1">
                <a:solidFill>
                  <a:srgbClr val="525252"/>
                </a:solidFill>
                <a:latin typeface="Arial"/>
                <a:ea typeface="Arial"/>
                <a:cs typeface="Arial"/>
              </a:defRPr>
            </a:lvl3pPr>
            <a:lvl4pPr algn="l">
              <a:defRPr sz="1350" b="1">
                <a:solidFill>
                  <a:srgbClr val="525252"/>
                </a:solidFill>
                <a:latin typeface="Arial"/>
                <a:ea typeface="Arial"/>
                <a:cs typeface="Arial"/>
              </a:defRPr>
            </a:lvl4pPr>
            <a:lvl5pPr algn="l">
              <a:defRPr sz="1350" b="1">
                <a:solidFill>
                  <a:srgbClr val="525252"/>
                </a:solidFill>
                <a:latin typeface="Arial"/>
                <a:ea typeface="Arial"/>
                <a:cs typeface="Arial"/>
              </a:defRPr>
            </a:lvl5pPr>
            <a:lvl6pPr algn="l">
              <a:defRPr sz="1350" b="1">
                <a:solidFill>
                  <a:srgbClr val="525252"/>
                </a:solidFill>
                <a:latin typeface="Arial"/>
                <a:ea typeface="Arial"/>
                <a:cs typeface="Arial"/>
              </a:defRPr>
            </a:lvl6pPr>
            <a:lvl7pPr algn="l">
              <a:defRPr sz="1350" b="1">
                <a:solidFill>
                  <a:srgbClr val="525252"/>
                </a:solidFill>
                <a:latin typeface="Arial"/>
                <a:ea typeface="Arial"/>
                <a:cs typeface="Arial"/>
              </a:defRPr>
            </a:lvl7pPr>
            <a:lvl8pPr algn="l">
              <a:defRPr sz="1350" b="1">
                <a:solidFill>
                  <a:srgbClr val="525252"/>
                </a:solidFill>
                <a:latin typeface="Arial"/>
                <a:ea typeface="Arial"/>
                <a:cs typeface="Arial"/>
              </a:defRPr>
            </a:lvl8pPr>
            <a:lvl9pPr algn="l">
              <a:defRPr sz="1350" b="1">
                <a:solidFill>
                  <a:srgbClr val="525252"/>
                </a:solidFill>
                <a:latin typeface="Arial"/>
                <a:ea typeface="Arial"/>
                <a:cs typeface="Arial"/>
              </a:defRPr>
            </a:lvl9pPr>
          </a:lstStyle>
          <a:p xmlns:a="http://schemas.openxmlformats.org/drawingml/2006/main">
            <a:pPr algn="l">
              <a:defRPr sz="1350" b="1">
                <a:solidFill>
                  <a:srgbClr val="525252"/>
                </a:solidFill>
                <a:latin typeface="Arial"/>
                <a:ea typeface="Arial"/>
                <a:cs typeface="Arial"/>
              </a:defRPr>
            </a:pPr>
            <a:r>
              <a:rPr sz="1350" b="1">
                <a:solidFill>
                  <a:srgbClr val="525252"/>
                </a:solidFill>
                <a:latin typeface="Arial"/>
                <a:ea typeface="Arial"/>
                <a:cs typeface="Arial"/>
              </a:rPr>
              <a:t>Best checked result</a:t>
            </a:r>
          </a:p>
        </p:txBody>
      </p:sp>
      <p:sp>
        <p:nvSpPr>
          <p:cNvPr id="5" name="">
            <a:extLst xmlns:a="http://schemas.openxmlformats.org/drawingml/2006/main">
              <a:ext uri="{FF2B5EF4-FFF2-40B4-BE49-F238E27FC236}">
                <a16:creationId xmlns:a16="http://schemas.microsoft.com/office/drawing/2014/main" id="{68480B49-253B-42C3-B26C-A002ABC4E3AB}"/>
              </a:ext>
            </a:extLst>
          </p:cNvPr>
          <p:cNvSpPr>
            <a:spLocks xmlns:a="http://schemas.openxmlformats.org/drawingml/2006/main" noGrp="1"/>
          </p:cNvSpPr>
          <p:nvPr/>
        </p:nvSpPr>
        <p:spPr>
          <a:xfrm xmlns:a="http://schemas.openxmlformats.org/drawingml/2006/main">
            <a:off x="8763000" y="26670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009D9A"/>
                </a:solidFill>
                <a:latin typeface="Arial"/>
                <a:ea typeface="Arial"/>
                <a:cs typeface="Arial"/>
              </a:defRPr>
            </a:defPPr>
            <a:lvl1pPr algn="l">
              <a:defRPr sz="2775" b="1">
                <a:solidFill>
                  <a:srgbClr val="009D9A"/>
                </a:solidFill>
                <a:latin typeface="Arial"/>
                <a:ea typeface="Arial"/>
                <a:cs typeface="Arial"/>
              </a:defRPr>
            </a:lvl1pPr>
            <a:lvl2pPr algn="l">
              <a:defRPr sz="2775" b="1">
                <a:solidFill>
                  <a:srgbClr val="009D9A"/>
                </a:solidFill>
                <a:latin typeface="Arial"/>
                <a:ea typeface="Arial"/>
                <a:cs typeface="Arial"/>
              </a:defRPr>
            </a:lvl2pPr>
            <a:lvl3pPr algn="l">
              <a:defRPr sz="2775" b="1">
                <a:solidFill>
                  <a:srgbClr val="009D9A"/>
                </a:solidFill>
                <a:latin typeface="Arial"/>
                <a:ea typeface="Arial"/>
                <a:cs typeface="Arial"/>
              </a:defRPr>
            </a:lvl3pPr>
            <a:lvl4pPr algn="l">
              <a:defRPr sz="2775" b="1">
                <a:solidFill>
                  <a:srgbClr val="009D9A"/>
                </a:solidFill>
                <a:latin typeface="Arial"/>
                <a:ea typeface="Arial"/>
                <a:cs typeface="Arial"/>
              </a:defRPr>
            </a:lvl4pPr>
            <a:lvl5pPr algn="l">
              <a:defRPr sz="2775" b="1">
                <a:solidFill>
                  <a:srgbClr val="009D9A"/>
                </a:solidFill>
                <a:latin typeface="Arial"/>
                <a:ea typeface="Arial"/>
                <a:cs typeface="Arial"/>
              </a:defRPr>
            </a:lvl5pPr>
            <a:lvl6pPr algn="l">
              <a:defRPr sz="2775" b="1">
                <a:solidFill>
                  <a:srgbClr val="009D9A"/>
                </a:solidFill>
                <a:latin typeface="Arial"/>
                <a:ea typeface="Arial"/>
                <a:cs typeface="Arial"/>
              </a:defRPr>
            </a:lvl6pPr>
            <a:lvl7pPr algn="l">
              <a:defRPr sz="2775" b="1">
                <a:solidFill>
                  <a:srgbClr val="009D9A"/>
                </a:solidFill>
                <a:latin typeface="Arial"/>
                <a:ea typeface="Arial"/>
                <a:cs typeface="Arial"/>
              </a:defRPr>
            </a:lvl7pPr>
            <a:lvl8pPr algn="l">
              <a:defRPr sz="2775" b="1">
                <a:solidFill>
                  <a:srgbClr val="009D9A"/>
                </a:solidFill>
                <a:latin typeface="Arial"/>
                <a:ea typeface="Arial"/>
                <a:cs typeface="Arial"/>
              </a:defRPr>
            </a:lvl8pPr>
            <a:lvl9pPr algn="l">
              <a:defRPr sz="2775" b="1">
                <a:solidFill>
                  <a:srgbClr val="009D9A"/>
                </a:solidFill>
                <a:latin typeface="Arial"/>
                <a:ea typeface="Arial"/>
                <a:cs typeface="Arial"/>
              </a:defRPr>
            </a:lvl9pPr>
          </a:lstStyle>
          <a:p xmlns:a="http://schemas.openxmlformats.org/drawingml/2006/main">
            <a:pPr algn="l">
              <a:defRPr sz="2775" b="1">
                <a:solidFill>
                  <a:srgbClr val="009D9A"/>
                </a:solidFill>
                <a:latin typeface="Arial"/>
                <a:ea typeface="Arial"/>
                <a:cs typeface="Arial"/>
              </a:defRPr>
            </a:pPr>
            <a:r>
              <a:rPr sz="2775" b="1">
                <a:solidFill>
                  <a:srgbClr val="009D9A"/>
                </a:solidFill>
                <a:latin typeface="Arial"/>
                <a:ea typeface="Arial"/>
                <a:cs typeface="Arial"/>
              </a:rPr>
              <a:t>0.97833</a:t>
            </a:r>
          </a:p>
        </p:txBody>
      </p:sp>
      <p:sp>
        <p:nvSpPr>
          <p:cNvPr id="6" name="">
            <a:extLst xmlns:a="http://schemas.openxmlformats.org/drawingml/2006/main">
              <a:ext uri="{FF2B5EF4-FFF2-40B4-BE49-F238E27FC236}">
                <a16:creationId xmlns:a16="http://schemas.microsoft.com/office/drawing/2014/main" id="{8C08D1AB-10B8-4F72-BC79-A395838D5FF8}"/>
              </a:ext>
            </a:extLst>
          </p:cNvPr>
          <p:cNvSpPr>
            <a:spLocks xmlns:a="http://schemas.openxmlformats.org/drawingml/2006/main" noGrp="1"/>
          </p:cNvSpPr>
          <p:nvPr/>
        </p:nvSpPr>
        <p:spPr>
          <a:xfrm xmlns:a="http://schemas.openxmlformats.org/drawingml/2006/main">
            <a:off x="8763000" y="31432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61616"/>
                </a:solidFill>
                <a:latin typeface="Arial"/>
                <a:ea typeface="Arial"/>
                <a:cs typeface="Arial"/>
              </a:defRPr>
            </a:defPPr>
            <a:lvl1pPr algn="l">
              <a:defRPr sz="1350" b="0">
                <a:solidFill>
                  <a:srgbClr val="161616"/>
                </a:solidFill>
                <a:latin typeface="Arial"/>
                <a:ea typeface="Arial"/>
                <a:cs typeface="Arial"/>
              </a:defRPr>
            </a:lvl1pPr>
            <a:lvl2pPr algn="l">
              <a:defRPr sz="1350" b="0">
                <a:solidFill>
                  <a:srgbClr val="161616"/>
                </a:solidFill>
                <a:latin typeface="Arial"/>
                <a:ea typeface="Arial"/>
                <a:cs typeface="Arial"/>
              </a:defRPr>
            </a:lvl2pPr>
            <a:lvl3pPr algn="l">
              <a:defRPr sz="1350" b="0">
                <a:solidFill>
                  <a:srgbClr val="161616"/>
                </a:solidFill>
                <a:latin typeface="Arial"/>
                <a:ea typeface="Arial"/>
                <a:cs typeface="Arial"/>
              </a:defRPr>
            </a:lvl3pPr>
            <a:lvl4pPr algn="l">
              <a:defRPr sz="1350" b="0">
                <a:solidFill>
                  <a:srgbClr val="161616"/>
                </a:solidFill>
                <a:latin typeface="Arial"/>
                <a:ea typeface="Arial"/>
                <a:cs typeface="Arial"/>
              </a:defRPr>
            </a:lvl4pPr>
            <a:lvl5pPr algn="l">
              <a:defRPr sz="1350" b="0">
                <a:solidFill>
                  <a:srgbClr val="161616"/>
                </a:solidFill>
                <a:latin typeface="Arial"/>
                <a:ea typeface="Arial"/>
                <a:cs typeface="Arial"/>
              </a:defRPr>
            </a:lvl5pPr>
            <a:lvl6pPr algn="l">
              <a:defRPr sz="1350" b="0">
                <a:solidFill>
                  <a:srgbClr val="161616"/>
                </a:solidFill>
                <a:latin typeface="Arial"/>
                <a:ea typeface="Arial"/>
                <a:cs typeface="Arial"/>
              </a:defRPr>
            </a:lvl6pPr>
            <a:lvl7pPr algn="l">
              <a:defRPr sz="1350" b="0">
                <a:solidFill>
                  <a:srgbClr val="161616"/>
                </a:solidFill>
                <a:latin typeface="Arial"/>
                <a:ea typeface="Arial"/>
                <a:cs typeface="Arial"/>
              </a:defRPr>
            </a:lvl7pPr>
            <a:lvl8pPr algn="l">
              <a:defRPr sz="1350" b="0">
                <a:solidFill>
                  <a:srgbClr val="161616"/>
                </a:solidFill>
                <a:latin typeface="Arial"/>
                <a:ea typeface="Arial"/>
                <a:cs typeface="Arial"/>
              </a:defRPr>
            </a:lvl8pPr>
            <a:lvl9pPr algn="l">
              <a:defRPr sz="1350" b="0">
                <a:solidFill>
                  <a:srgbClr val="161616"/>
                </a:solidFill>
                <a:latin typeface="Arial"/>
                <a:ea typeface="Arial"/>
                <a:cs typeface="Arial"/>
              </a:defRPr>
            </a:lvl9pPr>
          </a:lstStyle>
          <a:p xmlns:a="http://schemas.openxmlformats.org/drawingml/2006/main">
            <a:pPr algn="l">
              <a:defRPr sz="1350" b="0">
                <a:solidFill>
                  <a:srgbClr val="161616"/>
                </a:solidFill>
                <a:latin typeface="Arial"/>
                <a:ea typeface="Arial"/>
                <a:cs typeface="Arial"/>
              </a:defRPr>
            </a:pPr>
            <a:r>
              <a:rPr sz="1350" b="0">
                <a:solidFill>
                  <a:srgbClr val="161616"/>
                </a:solidFill>
                <a:latin typeface="Arial"/>
                <a:ea typeface="Arial"/>
                <a:cs typeface="Arial"/>
              </a:rPr>
              <a:t>Genetic Seed 1</a:t>
            </a:r>
          </a:p>
        </p:txBody>
      </p:sp>
      <p:sp>
        <p:nvSpPr>
          <p:cNvPr id="7" name="">
            <a:extLst xmlns:a="http://schemas.openxmlformats.org/drawingml/2006/main">
              <a:ext uri="{FF2B5EF4-FFF2-40B4-BE49-F238E27FC236}">
                <a16:creationId xmlns:a16="http://schemas.microsoft.com/office/drawing/2014/main" id="{E9E7E442-B903-44D0-A15E-2CA8B4D59C6B}"/>
              </a:ext>
            </a:extLst>
          </p:cNvPr>
          <p:cNvSpPr>
            <a:spLocks xmlns:a="http://schemas.openxmlformats.org/drawingml/2006/main" noGrp="1"/>
          </p:cNvSpPr>
          <p:nvPr/>
        </p:nvSpPr>
        <p:spPr>
          <a:xfrm xmlns:a="http://schemas.openxmlformats.org/drawingml/2006/main">
            <a:off x="8763000" y="39528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25252"/>
                </a:solidFill>
                <a:latin typeface="Arial"/>
                <a:ea typeface="Arial"/>
                <a:cs typeface="Arial"/>
              </a:defRPr>
            </a:defPPr>
            <a:lvl1pPr algn="l">
              <a:defRPr sz="1350" b="1">
                <a:solidFill>
                  <a:srgbClr val="525252"/>
                </a:solidFill>
                <a:latin typeface="Arial"/>
                <a:ea typeface="Arial"/>
                <a:cs typeface="Arial"/>
              </a:defRPr>
            </a:lvl1pPr>
            <a:lvl2pPr algn="l">
              <a:defRPr sz="1350" b="1">
                <a:solidFill>
                  <a:srgbClr val="525252"/>
                </a:solidFill>
                <a:latin typeface="Arial"/>
                <a:ea typeface="Arial"/>
                <a:cs typeface="Arial"/>
              </a:defRPr>
            </a:lvl2pPr>
            <a:lvl3pPr algn="l">
              <a:defRPr sz="1350" b="1">
                <a:solidFill>
                  <a:srgbClr val="525252"/>
                </a:solidFill>
                <a:latin typeface="Arial"/>
                <a:ea typeface="Arial"/>
                <a:cs typeface="Arial"/>
              </a:defRPr>
            </a:lvl3pPr>
            <a:lvl4pPr algn="l">
              <a:defRPr sz="1350" b="1">
                <a:solidFill>
                  <a:srgbClr val="525252"/>
                </a:solidFill>
                <a:latin typeface="Arial"/>
                <a:ea typeface="Arial"/>
                <a:cs typeface="Arial"/>
              </a:defRPr>
            </a:lvl4pPr>
            <a:lvl5pPr algn="l">
              <a:defRPr sz="1350" b="1">
                <a:solidFill>
                  <a:srgbClr val="525252"/>
                </a:solidFill>
                <a:latin typeface="Arial"/>
                <a:ea typeface="Arial"/>
                <a:cs typeface="Arial"/>
              </a:defRPr>
            </a:lvl5pPr>
            <a:lvl6pPr algn="l">
              <a:defRPr sz="1350" b="1">
                <a:solidFill>
                  <a:srgbClr val="525252"/>
                </a:solidFill>
                <a:latin typeface="Arial"/>
                <a:ea typeface="Arial"/>
                <a:cs typeface="Arial"/>
              </a:defRPr>
            </a:lvl6pPr>
            <a:lvl7pPr algn="l">
              <a:defRPr sz="1350" b="1">
                <a:solidFill>
                  <a:srgbClr val="525252"/>
                </a:solidFill>
                <a:latin typeface="Arial"/>
                <a:ea typeface="Arial"/>
                <a:cs typeface="Arial"/>
              </a:defRPr>
            </a:lvl7pPr>
            <a:lvl8pPr algn="l">
              <a:defRPr sz="1350" b="1">
                <a:solidFill>
                  <a:srgbClr val="525252"/>
                </a:solidFill>
                <a:latin typeface="Arial"/>
                <a:ea typeface="Arial"/>
                <a:cs typeface="Arial"/>
              </a:defRPr>
            </a:lvl8pPr>
            <a:lvl9pPr algn="l">
              <a:defRPr sz="1350" b="1">
                <a:solidFill>
                  <a:srgbClr val="525252"/>
                </a:solidFill>
                <a:latin typeface="Arial"/>
                <a:ea typeface="Arial"/>
                <a:cs typeface="Arial"/>
              </a:defRPr>
            </a:lvl9pPr>
          </a:lstStyle>
          <a:p xmlns:a="http://schemas.openxmlformats.org/drawingml/2006/main">
            <a:pPr algn="l">
              <a:defRPr sz="1350" b="1">
                <a:solidFill>
                  <a:srgbClr val="525252"/>
                </a:solidFill>
                <a:latin typeface="Arial"/>
                <a:ea typeface="Arial"/>
                <a:cs typeface="Arial"/>
              </a:defRPr>
            </a:pPr>
            <a:r>
              <a:rPr sz="1350" b="1">
                <a:solidFill>
                  <a:srgbClr val="525252"/>
                </a:solidFill>
                <a:latin typeface="Arial"/>
                <a:ea typeface="Arial"/>
                <a:cs typeface="Arial"/>
              </a:rPr>
              <a:t>No-check baseline</a:t>
            </a:r>
          </a:p>
        </p:txBody>
      </p:sp>
      <p:sp>
        <p:nvSpPr>
          <p:cNvPr id="8" name="">
            <a:extLst xmlns:a="http://schemas.openxmlformats.org/drawingml/2006/main">
              <a:ext uri="{FF2B5EF4-FFF2-40B4-BE49-F238E27FC236}">
                <a16:creationId xmlns:a16="http://schemas.microsoft.com/office/drawing/2014/main" id="{98C844D9-62E4-49B0-8536-E21A9619B753}"/>
              </a:ext>
            </a:extLst>
          </p:cNvPr>
          <p:cNvSpPr>
            <a:spLocks xmlns:a="http://schemas.openxmlformats.org/drawingml/2006/main" noGrp="1"/>
          </p:cNvSpPr>
          <p:nvPr/>
        </p:nvSpPr>
        <p:spPr>
          <a:xfrm xmlns:a="http://schemas.openxmlformats.org/drawingml/2006/main">
            <a:off x="8763000" y="43815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0F62FE"/>
                </a:solidFill>
                <a:latin typeface="Arial"/>
                <a:ea typeface="Arial"/>
                <a:cs typeface="Arial"/>
              </a:defRPr>
            </a:defPPr>
            <a:lvl1pPr algn="l">
              <a:defRPr sz="2775" b="1">
                <a:solidFill>
                  <a:srgbClr val="0F62FE"/>
                </a:solidFill>
                <a:latin typeface="Arial"/>
                <a:ea typeface="Arial"/>
                <a:cs typeface="Arial"/>
              </a:defRPr>
            </a:lvl1pPr>
            <a:lvl2pPr algn="l">
              <a:defRPr sz="2775" b="1">
                <a:solidFill>
                  <a:srgbClr val="0F62FE"/>
                </a:solidFill>
                <a:latin typeface="Arial"/>
                <a:ea typeface="Arial"/>
                <a:cs typeface="Arial"/>
              </a:defRPr>
            </a:lvl2pPr>
            <a:lvl3pPr algn="l">
              <a:defRPr sz="2775" b="1">
                <a:solidFill>
                  <a:srgbClr val="0F62FE"/>
                </a:solidFill>
                <a:latin typeface="Arial"/>
                <a:ea typeface="Arial"/>
                <a:cs typeface="Arial"/>
              </a:defRPr>
            </a:lvl3pPr>
            <a:lvl4pPr algn="l">
              <a:defRPr sz="2775" b="1">
                <a:solidFill>
                  <a:srgbClr val="0F62FE"/>
                </a:solidFill>
                <a:latin typeface="Arial"/>
                <a:ea typeface="Arial"/>
                <a:cs typeface="Arial"/>
              </a:defRPr>
            </a:lvl4pPr>
            <a:lvl5pPr algn="l">
              <a:defRPr sz="2775" b="1">
                <a:solidFill>
                  <a:srgbClr val="0F62FE"/>
                </a:solidFill>
                <a:latin typeface="Arial"/>
                <a:ea typeface="Arial"/>
                <a:cs typeface="Arial"/>
              </a:defRPr>
            </a:lvl5pPr>
            <a:lvl6pPr algn="l">
              <a:defRPr sz="2775" b="1">
                <a:solidFill>
                  <a:srgbClr val="0F62FE"/>
                </a:solidFill>
                <a:latin typeface="Arial"/>
                <a:ea typeface="Arial"/>
                <a:cs typeface="Arial"/>
              </a:defRPr>
            </a:lvl6pPr>
            <a:lvl7pPr algn="l">
              <a:defRPr sz="2775" b="1">
                <a:solidFill>
                  <a:srgbClr val="0F62FE"/>
                </a:solidFill>
                <a:latin typeface="Arial"/>
                <a:ea typeface="Arial"/>
                <a:cs typeface="Arial"/>
              </a:defRPr>
            </a:lvl7pPr>
            <a:lvl8pPr algn="l">
              <a:defRPr sz="2775" b="1">
                <a:solidFill>
                  <a:srgbClr val="0F62FE"/>
                </a:solidFill>
                <a:latin typeface="Arial"/>
                <a:ea typeface="Arial"/>
                <a:cs typeface="Arial"/>
              </a:defRPr>
            </a:lvl8pPr>
            <a:lvl9pPr algn="l">
              <a:defRPr sz="2775" b="1">
                <a:solidFill>
                  <a:srgbClr val="0F62FE"/>
                </a:solidFill>
                <a:latin typeface="Arial"/>
                <a:ea typeface="Arial"/>
                <a:cs typeface="Arial"/>
              </a:defRPr>
            </a:lvl9pPr>
          </a:lstStyle>
          <a:p xmlns:a="http://schemas.openxmlformats.org/drawingml/2006/main">
            <a:pPr algn="l">
              <a:defRPr sz="2775" b="1">
                <a:solidFill>
                  <a:srgbClr val="0F62FE"/>
                </a:solidFill>
                <a:latin typeface="Arial"/>
                <a:ea typeface="Arial"/>
                <a:cs typeface="Arial"/>
              </a:defRPr>
            </a:pPr>
            <a:r>
              <a:rPr sz="2775" b="1">
                <a:solidFill>
                  <a:srgbClr val="0F62FE"/>
                </a:solidFill>
                <a:latin typeface="Arial"/>
                <a:ea typeface="Arial"/>
                <a:cs typeface="Arial"/>
              </a:rPr>
              <a:t>0.97958</a:t>
            </a:r>
          </a:p>
        </p:txBody>
      </p:sp>
      <p:sp>
        <p:nvSpPr>
          <p:cNvPr id="9" name="">
            <a:extLst xmlns:a="http://schemas.openxmlformats.org/drawingml/2006/main">
              <a:ext uri="{FF2B5EF4-FFF2-40B4-BE49-F238E27FC236}">
                <a16:creationId xmlns:a16="http://schemas.microsoft.com/office/drawing/2014/main" id="{3636950C-8C97-4913-9AE6-E97BD8B13462}"/>
              </a:ext>
            </a:extLst>
          </p:cNvPr>
          <p:cNvSpPr>
            <a:spLocks xmlns:a="http://schemas.openxmlformats.org/drawingml/2006/main" noGrp="1"/>
          </p:cNvSpPr>
          <p:nvPr/>
        </p:nvSpPr>
        <p:spPr>
          <a:xfrm xmlns:a="http://schemas.openxmlformats.org/drawingml/2006/main">
            <a:off x="685800" y="5953125"/>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5252"/>
                </a:solidFill>
                <a:latin typeface="Arial"/>
                <a:ea typeface="Arial"/>
                <a:cs typeface="Arial"/>
              </a:defRPr>
            </a:defPPr>
            <a:lvl1pPr algn="l">
              <a:defRPr sz="1200" b="0">
                <a:solidFill>
                  <a:srgbClr val="525252"/>
                </a:solidFill>
                <a:latin typeface="Arial"/>
                <a:ea typeface="Arial"/>
                <a:cs typeface="Arial"/>
              </a:defRPr>
            </a:lvl1pPr>
            <a:lvl2pPr algn="l">
              <a:defRPr sz="1200" b="0">
                <a:solidFill>
                  <a:srgbClr val="525252"/>
                </a:solidFill>
                <a:latin typeface="Arial"/>
                <a:ea typeface="Arial"/>
                <a:cs typeface="Arial"/>
              </a:defRPr>
            </a:lvl2pPr>
            <a:lvl3pPr algn="l">
              <a:defRPr sz="1200" b="0">
                <a:solidFill>
                  <a:srgbClr val="525252"/>
                </a:solidFill>
                <a:latin typeface="Arial"/>
                <a:ea typeface="Arial"/>
                <a:cs typeface="Arial"/>
              </a:defRPr>
            </a:lvl3pPr>
            <a:lvl4pPr algn="l">
              <a:defRPr sz="1200" b="0">
                <a:solidFill>
                  <a:srgbClr val="525252"/>
                </a:solidFill>
                <a:latin typeface="Arial"/>
                <a:ea typeface="Arial"/>
                <a:cs typeface="Arial"/>
              </a:defRPr>
            </a:lvl4pPr>
            <a:lvl5pPr algn="l">
              <a:defRPr sz="1200" b="0">
                <a:solidFill>
                  <a:srgbClr val="525252"/>
                </a:solidFill>
                <a:latin typeface="Arial"/>
                <a:ea typeface="Arial"/>
                <a:cs typeface="Arial"/>
              </a:defRPr>
            </a:lvl5pPr>
            <a:lvl6pPr algn="l">
              <a:defRPr sz="1200" b="0">
                <a:solidFill>
                  <a:srgbClr val="525252"/>
                </a:solidFill>
                <a:latin typeface="Arial"/>
                <a:ea typeface="Arial"/>
                <a:cs typeface="Arial"/>
              </a:defRPr>
            </a:lvl6pPr>
            <a:lvl7pPr algn="l">
              <a:defRPr sz="1200" b="0">
                <a:solidFill>
                  <a:srgbClr val="525252"/>
                </a:solidFill>
                <a:latin typeface="Arial"/>
                <a:ea typeface="Arial"/>
                <a:cs typeface="Arial"/>
              </a:defRPr>
            </a:lvl7pPr>
            <a:lvl8pPr algn="l">
              <a:defRPr sz="1200" b="0">
                <a:solidFill>
                  <a:srgbClr val="525252"/>
                </a:solidFill>
                <a:latin typeface="Arial"/>
                <a:ea typeface="Arial"/>
                <a:cs typeface="Arial"/>
              </a:defRPr>
            </a:lvl8pPr>
            <a:lvl9pPr algn="l">
              <a:defRPr sz="1200" b="0">
                <a:solidFill>
                  <a:srgbClr val="525252"/>
                </a:solidFill>
                <a:latin typeface="Arial"/>
                <a:ea typeface="Arial"/>
                <a:cs typeface="Arial"/>
              </a:defRPr>
            </a:lvl9pPr>
          </a:lstStyle>
          <a:p xmlns:a="http://schemas.openxmlformats.org/drawingml/2006/main">
            <a:pPr algn="l">
              <a:defRPr sz="1200" b="0">
                <a:solidFill>
                  <a:srgbClr val="525252"/>
                </a:solidFill>
                <a:latin typeface="Arial"/>
                <a:ea typeface="Arial"/>
                <a:cs typeface="Arial"/>
              </a:defRPr>
            </a:pPr>
            <a:r>
              <a:rPr sz="1200" b="0">
                <a:solidFill>
                  <a:srgbClr val="525252"/>
                </a:solidFill>
                <a:latin typeface="Arial"/>
                <a:ea typeface="Arial"/>
                <a:cs typeface="Arial"/>
              </a:rPr>
              <a:t>Plot values rounded to 3 decimals except reported exact values.</a:t>
            </a:r>
          </a:p>
        </p:txBody>
      </p:sp>
    </p:spTree>
    <p:extLst>
      <p:ext uri="{BB962C8B-B14F-4D97-AF65-F5344CB8AC3E}">
        <p14:creationId xmlns:p14="http://schemas.microsoft.com/office/powerpoint/2010/main" val="7874169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2BE9AF-4B84-49F0-B8EC-96B3324BD3B0}"/>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EA9DBED0-2FEA-4F8E-861C-D947FB82E853}"/>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Greater check separation did not mean higher fidelity</a:t>
            </a:r>
          </a:p>
        </p:txBody>
      </p:sp>
      <p:graphicFrame>
        <p:nvGraphicFramePr>
          <p:cNvPr id="3" name="Chart">
            <a:extLst xmlns:a="http://schemas.openxmlformats.org/drawingml/2006/main">
              <a:ext uri="{FF2B5EF4-FFF2-40B4-BE49-F238E27FC236}">
                <a16:creationId xmlns:a16="http://schemas.microsoft.com/office/drawing/2014/main" id="{4E921504-ACA3-413F-A0CF-FA48D490EB79}"/>
              </a:ext>
            </a:extLst>
          </p:cNvPr>
          <p:cNvGraphicFramePr/>
          <p:nvPr/>
        </p:nvGraphicFramePr>
        <p:xfrm>
          <a:off xmlns:a="http://schemas.openxmlformats.org/drawingml/2006/main" x="666750" y="1809750"/>
          <a:ext xmlns:a="http://schemas.openxmlformats.org/drawingml/2006/main" cx="6858000" cy="3714750"/>
        </p:xfrm>
        <a:graphic xmlns:a="http://schemas.openxmlformats.org/drawingml/2006/main">
          <a:graphicData uri="http://schemas.openxmlformats.org/drawingml/2006/chart">
            <c:chart xmlns:r="http://schemas.openxmlformats.org/officeDocument/2006/relationships" xmlns:c="http://schemas.openxmlformats.org/drawingml/2006/chart" r:id="R0ff5633a5dcd4345"/>
          </a:graphicData>
        </a:graphic>
      </p:graphicFrame>
      <p:sp>
        <p:nvSpPr>
          <p:cNvPr id="4" name="">
            <a:extLst xmlns:a="http://schemas.openxmlformats.org/drawingml/2006/main">
              <a:ext uri="{FF2B5EF4-FFF2-40B4-BE49-F238E27FC236}">
                <a16:creationId xmlns:a16="http://schemas.microsoft.com/office/drawing/2014/main" id="{DEDA4E94-F666-4878-B079-F7A30753946C}"/>
              </a:ext>
            </a:extLst>
          </p:cNvPr>
          <p:cNvSpPr>
            <a:spLocks xmlns:a="http://schemas.openxmlformats.org/drawingml/2006/main" noGrp="1"/>
          </p:cNvSpPr>
          <p:nvPr/>
        </p:nvSpPr>
        <p:spPr>
          <a:xfrm xmlns:a="http://schemas.openxmlformats.org/drawingml/2006/main">
            <a:off x="8096250" y="2238375"/>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F62FE"/>
                </a:solidFill>
                <a:latin typeface="Arial"/>
                <a:ea typeface="Arial"/>
                <a:cs typeface="Arial"/>
              </a:defRPr>
            </a:defPPr>
            <a:lvl1pPr algn="l">
              <a:defRPr sz="1650" b="1">
                <a:solidFill>
                  <a:srgbClr val="0F62FE"/>
                </a:solidFill>
                <a:latin typeface="Arial"/>
                <a:ea typeface="Arial"/>
                <a:cs typeface="Arial"/>
              </a:defRPr>
            </a:lvl1pPr>
            <a:lvl2pPr algn="l">
              <a:defRPr sz="1650" b="1">
                <a:solidFill>
                  <a:srgbClr val="0F62FE"/>
                </a:solidFill>
                <a:latin typeface="Arial"/>
                <a:ea typeface="Arial"/>
                <a:cs typeface="Arial"/>
              </a:defRPr>
            </a:lvl2pPr>
            <a:lvl3pPr algn="l">
              <a:defRPr sz="1650" b="1">
                <a:solidFill>
                  <a:srgbClr val="0F62FE"/>
                </a:solidFill>
                <a:latin typeface="Arial"/>
                <a:ea typeface="Arial"/>
                <a:cs typeface="Arial"/>
              </a:defRPr>
            </a:lvl3pPr>
            <a:lvl4pPr algn="l">
              <a:defRPr sz="1650" b="1">
                <a:solidFill>
                  <a:srgbClr val="0F62FE"/>
                </a:solidFill>
                <a:latin typeface="Arial"/>
                <a:ea typeface="Arial"/>
                <a:cs typeface="Arial"/>
              </a:defRPr>
            </a:lvl4pPr>
            <a:lvl5pPr algn="l">
              <a:defRPr sz="1650" b="1">
                <a:solidFill>
                  <a:srgbClr val="0F62FE"/>
                </a:solidFill>
                <a:latin typeface="Arial"/>
                <a:ea typeface="Arial"/>
                <a:cs typeface="Arial"/>
              </a:defRPr>
            </a:lvl5pPr>
            <a:lvl6pPr algn="l">
              <a:defRPr sz="1650" b="1">
                <a:solidFill>
                  <a:srgbClr val="0F62FE"/>
                </a:solidFill>
                <a:latin typeface="Arial"/>
                <a:ea typeface="Arial"/>
                <a:cs typeface="Arial"/>
              </a:defRPr>
            </a:lvl6pPr>
            <a:lvl7pPr algn="l">
              <a:defRPr sz="1650" b="1">
                <a:solidFill>
                  <a:srgbClr val="0F62FE"/>
                </a:solidFill>
                <a:latin typeface="Arial"/>
                <a:ea typeface="Arial"/>
                <a:cs typeface="Arial"/>
              </a:defRPr>
            </a:lvl7pPr>
            <a:lvl8pPr algn="l">
              <a:defRPr sz="1650" b="1">
                <a:solidFill>
                  <a:srgbClr val="0F62FE"/>
                </a:solidFill>
                <a:latin typeface="Arial"/>
                <a:ea typeface="Arial"/>
                <a:cs typeface="Arial"/>
              </a:defRPr>
            </a:lvl8pPr>
            <a:lvl9pPr algn="l">
              <a:defRPr sz="1650" b="1">
                <a:solidFill>
                  <a:srgbClr val="0F62FE"/>
                </a:solidFill>
                <a:latin typeface="Arial"/>
                <a:ea typeface="Arial"/>
                <a:cs typeface="Arial"/>
              </a:defRPr>
            </a:lvl9pPr>
          </a:lstStyle>
          <a:p xmlns:a="http://schemas.openxmlformats.org/drawingml/2006/main">
            <a:pPr algn="l">
              <a:defRPr sz="1650" b="1">
                <a:solidFill>
                  <a:srgbClr val="0F62FE"/>
                </a:solidFill>
                <a:latin typeface="Arial"/>
                <a:ea typeface="Arial"/>
                <a:cs typeface="Arial"/>
              </a:defRPr>
            </a:pPr>
            <a:r>
              <a:rPr sz="1650" b="1">
                <a:solidFill>
                  <a:srgbClr val="0F62FE"/>
                </a:solidFill>
                <a:latin typeface="Arial"/>
                <a:ea typeface="Arial"/>
                <a:cs typeface="Arial"/>
              </a:rPr>
              <a:t>No monotonic trend</a:t>
            </a:r>
          </a:p>
        </p:txBody>
      </p:sp>
      <p:sp>
        <p:nvSpPr>
          <p:cNvPr id="5" name="">
            <a:extLst xmlns:a="http://schemas.openxmlformats.org/drawingml/2006/main">
              <a:ext uri="{FF2B5EF4-FFF2-40B4-BE49-F238E27FC236}">
                <a16:creationId xmlns:a16="http://schemas.microsoft.com/office/drawing/2014/main" id="{FD53BBF4-90DB-4C35-8796-E93EAE2764C4}"/>
              </a:ext>
            </a:extLst>
          </p:cNvPr>
          <p:cNvSpPr>
            <a:spLocks xmlns:a="http://schemas.openxmlformats.org/drawingml/2006/main" noGrp="1"/>
          </p:cNvSpPr>
          <p:nvPr/>
        </p:nvSpPr>
        <p:spPr>
          <a:xfrm xmlns:a="http://schemas.openxmlformats.org/drawingml/2006/main">
            <a:off x="8096250" y="2714625"/>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The observed fidelity does not consistently rise or fall as the reported span changes.</a:t>
            </a:r>
          </a:p>
        </p:txBody>
      </p:sp>
      <p:sp>
        <p:nvSpPr>
          <p:cNvPr id="6" name="">
            <a:extLst xmlns:a="http://schemas.openxmlformats.org/drawingml/2006/main">
              <a:ext uri="{FF2B5EF4-FFF2-40B4-BE49-F238E27FC236}">
                <a16:creationId xmlns:a16="http://schemas.microsoft.com/office/drawing/2014/main" id="{BF7BEB3E-01C1-46B5-A5F0-DA025A9C7640}"/>
              </a:ext>
            </a:extLst>
          </p:cNvPr>
          <p:cNvSpPr>
            <a:spLocks xmlns:a="http://schemas.openxmlformats.org/drawingml/2006/main" noGrp="1"/>
          </p:cNvSpPr>
          <p:nvPr/>
        </p:nvSpPr>
        <p:spPr>
          <a:xfrm xmlns:a="http://schemas.openxmlformats.org/drawingml/2006/main">
            <a:off x="8096250" y="4048125"/>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09D9A"/>
                </a:solidFill>
                <a:latin typeface="Arial"/>
                <a:ea typeface="Arial"/>
                <a:cs typeface="Arial"/>
              </a:defRPr>
            </a:defPPr>
            <a:lvl1pPr algn="l">
              <a:defRPr sz="1650" b="1">
                <a:solidFill>
                  <a:srgbClr val="009D9A"/>
                </a:solidFill>
                <a:latin typeface="Arial"/>
                <a:ea typeface="Arial"/>
                <a:cs typeface="Arial"/>
              </a:defRPr>
            </a:lvl1pPr>
            <a:lvl2pPr algn="l">
              <a:defRPr sz="1650" b="1">
                <a:solidFill>
                  <a:srgbClr val="009D9A"/>
                </a:solidFill>
                <a:latin typeface="Arial"/>
                <a:ea typeface="Arial"/>
                <a:cs typeface="Arial"/>
              </a:defRPr>
            </a:lvl2pPr>
            <a:lvl3pPr algn="l">
              <a:defRPr sz="1650" b="1">
                <a:solidFill>
                  <a:srgbClr val="009D9A"/>
                </a:solidFill>
                <a:latin typeface="Arial"/>
                <a:ea typeface="Arial"/>
                <a:cs typeface="Arial"/>
              </a:defRPr>
            </a:lvl3pPr>
            <a:lvl4pPr algn="l">
              <a:defRPr sz="1650" b="1">
                <a:solidFill>
                  <a:srgbClr val="009D9A"/>
                </a:solidFill>
                <a:latin typeface="Arial"/>
                <a:ea typeface="Arial"/>
                <a:cs typeface="Arial"/>
              </a:defRPr>
            </a:lvl4pPr>
            <a:lvl5pPr algn="l">
              <a:defRPr sz="1650" b="1">
                <a:solidFill>
                  <a:srgbClr val="009D9A"/>
                </a:solidFill>
                <a:latin typeface="Arial"/>
                <a:ea typeface="Arial"/>
                <a:cs typeface="Arial"/>
              </a:defRPr>
            </a:lvl5pPr>
            <a:lvl6pPr algn="l">
              <a:defRPr sz="1650" b="1">
                <a:solidFill>
                  <a:srgbClr val="009D9A"/>
                </a:solidFill>
                <a:latin typeface="Arial"/>
                <a:ea typeface="Arial"/>
                <a:cs typeface="Arial"/>
              </a:defRPr>
            </a:lvl6pPr>
            <a:lvl7pPr algn="l">
              <a:defRPr sz="1650" b="1">
                <a:solidFill>
                  <a:srgbClr val="009D9A"/>
                </a:solidFill>
                <a:latin typeface="Arial"/>
                <a:ea typeface="Arial"/>
                <a:cs typeface="Arial"/>
              </a:defRPr>
            </a:lvl7pPr>
            <a:lvl8pPr algn="l">
              <a:defRPr sz="1650" b="1">
                <a:solidFill>
                  <a:srgbClr val="009D9A"/>
                </a:solidFill>
                <a:latin typeface="Arial"/>
                <a:ea typeface="Arial"/>
                <a:cs typeface="Arial"/>
              </a:defRPr>
            </a:lvl8pPr>
            <a:lvl9pPr algn="l">
              <a:defRPr sz="1650" b="1">
                <a:solidFill>
                  <a:srgbClr val="009D9A"/>
                </a:solidFill>
                <a:latin typeface="Arial"/>
                <a:ea typeface="Arial"/>
                <a:cs typeface="Arial"/>
              </a:defRPr>
            </a:lvl9pPr>
          </a:lstStyle>
          <a:p xmlns:a="http://schemas.openxmlformats.org/drawingml/2006/main">
            <a:pPr algn="l">
              <a:defRPr sz="1650" b="1">
                <a:solidFill>
                  <a:srgbClr val="009D9A"/>
                </a:solidFill>
                <a:latin typeface="Arial"/>
                <a:ea typeface="Arial"/>
                <a:cs typeface="Arial"/>
              </a:defRPr>
            </a:pPr>
            <a:r>
              <a:rPr sz="1650" b="1">
                <a:solidFill>
                  <a:srgbClr val="009D9A"/>
                </a:solidFill>
                <a:latin typeface="Arial"/>
                <a:ea typeface="Arial"/>
                <a:cs typeface="Arial"/>
              </a:rPr>
              <a:t>Confounding factors</a:t>
            </a:r>
          </a:p>
        </p:txBody>
      </p:sp>
      <p:sp>
        <p:nvSpPr>
          <p:cNvPr id="7" name="">
            <a:extLst xmlns:a="http://schemas.openxmlformats.org/drawingml/2006/main">
              <a:ext uri="{FF2B5EF4-FFF2-40B4-BE49-F238E27FC236}">
                <a16:creationId xmlns:a16="http://schemas.microsoft.com/office/drawing/2014/main" id="{634EF0E9-F360-4D8D-9959-8A30CB55C079}"/>
              </a:ext>
            </a:extLst>
          </p:cNvPr>
          <p:cNvSpPr>
            <a:spLocks xmlns:a="http://schemas.openxmlformats.org/drawingml/2006/main" noGrp="1"/>
          </p:cNvSpPr>
          <p:nvPr/>
        </p:nvSpPr>
        <p:spPr>
          <a:xfrm xmlns:a="http://schemas.openxmlformats.org/drawingml/2006/main">
            <a:off x="8096250" y="4524375"/>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Check count, support, and circuit overhead also differ between configurations.</a:t>
            </a:r>
          </a:p>
        </p:txBody>
      </p:sp>
    </p:spTree>
    <p:extLst>
      <p:ext uri="{BB962C8B-B14F-4D97-AF65-F5344CB8AC3E}">
        <p14:creationId xmlns:p14="http://schemas.microsoft.com/office/powerpoint/2010/main" val="4424915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F3A40E-D54A-465D-84C2-67CA05469D41}"/>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2DB73B2E-680A-4A44-B211-87FDD4B60024}"/>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A separate comparison tested a T-doped circuit</a:t>
            </a:r>
          </a:p>
        </p:txBody>
      </p:sp>
      <p:graphicFrame>
        <p:nvGraphicFramePr>
          <p:cNvPr id="3" name="Chart">
            <a:extLst xmlns:a="http://schemas.openxmlformats.org/drawingml/2006/main">
              <a:ext uri="{FF2B5EF4-FFF2-40B4-BE49-F238E27FC236}">
                <a16:creationId xmlns:a16="http://schemas.microsoft.com/office/drawing/2014/main" id="{EA9937AD-5A7B-4DF0-BD09-BC55C879463A}"/>
              </a:ext>
            </a:extLst>
          </p:cNvPr>
          <p:cNvGraphicFramePr/>
          <p:nvPr/>
        </p:nvGraphicFramePr>
        <p:xfrm>
          <a:off xmlns:a="http://schemas.openxmlformats.org/drawingml/2006/main" x="762000" y="1809750"/>
          <a:ext xmlns:a="http://schemas.openxmlformats.org/drawingml/2006/main" cx="6477000" cy="3714750"/>
        </p:xfrm>
        <a:graphic xmlns:a="http://schemas.openxmlformats.org/drawingml/2006/main">
          <a:graphicData uri="http://schemas.openxmlformats.org/drawingml/2006/chart">
            <c:chart xmlns:r="http://schemas.openxmlformats.org/officeDocument/2006/relationships" xmlns:c="http://schemas.openxmlformats.org/drawingml/2006/chart" r:id="R2e94b38f9023414c"/>
          </a:graphicData>
        </a:graphic>
      </p:graphicFrame>
      <p:sp>
        <p:nvSpPr>
          <p:cNvPr id="4" name="">
            <a:extLst xmlns:a="http://schemas.openxmlformats.org/drawingml/2006/main">
              <a:ext uri="{FF2B5EF4-FFF2-40B4-BE49-F238E27FC236}">
                <a16:creationId xmlns:a16="http://schemas.microsoft.com/office/drawing/2014/main" id="{D1FF98E9-AAFF-40B6-ADA9-76DCECC7C9E1}"/>
              </a:ext>
            </a:extLst>
          </p:cNvPr>
          <p:cNvSpPr>
            <a:spLocks xmlns:a="http://schemas.openxmlformats.org/drawingml/2006/main" noGrp="1"/>
          </p:cNvSpPr>
          <p:nvPr/>
        </p:nvSpPr>
        <p:spPr>
          <a:xfrm xmlns:a="http://schemas.openxmlformats.org/drawingml/2006/main">
            <a:off x="7953375" y="20955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525252"/>
                </a:solidFill>
                <a:latin typeface="Arial"/>
                <a:ea typeface="Arial"/>
                <a:cs typeface="Arial"/>
              </a:defRPr>
            </a:defPPr>
            <a:lvl1pPr algn="l">
              <a:defRPr sz="1425" b="1">
                <a:solidFill>
                  <a:srgbClr val="525252"/>
                </a:solidFill>
                <a:latin typeface="Arial"/>
                <a:ea typeface="Arial"/>
                <a:cs typeface="Arial"/>
              </a:defRPr>
            </a:lvl1pPr>
            <a:lvl2pPr algn="l">
              <a:defRPr sz="1425" b="1">
                <a:solidFill>
                  <a:srgbClr val="525252"/>
                </a:solidFill>
                <a:latin typeface="Arial"/>
                <a:ea typeface="Arial"/>
                <a:cs typeface="Arial"/>
              </a:defRPr>
            </a:lvl2pPr>
            <a:lvl3pPr algn="l">
              <a:defRPr sz="1425" b="1">
                <a:solidFill>
                  <a:srgbClr val="525252"/>
                </a:solidFill>
                <a:latin typeface="Arial"/>
                <a:ea typeface="Arial"/>
                <a:cs typeface="Arial"/>
              </a:defRPr>
            </a:lvl3pPr>
            <a:lvl4pPr algn="l">
              <a:defRPr sz="1425" b="1">
                <a:solidFill>
                  <a:srgbClr val="525252"/>
                </a:solidFill>
                <a:latin typeface="Arial"/>
                <a:ea typeface="Arial"/>
                <a:cs typeface="Arial"/>
              </a:defRPr>
            </a:lvl4pPr>
            <a:lvl5pPr algn="l">
              <a:defRPr sz="1425" b="1">
                <a:solidFill>
                  <a:srgbClr val="525252"/>
                </a:solidFill>
                <a:latin typeface="Arial"/>
                <a:ea typeface="Arial"/>
                <a:cs typeface="Arial"/>
              </a:defRPr>
            </a:lvl5pPr>
            <a:lvl6pPr algn="l">
              <a:defRPr sz="1425" b="1">
                <a:solidFill>
                  <a:srgbClr val="525252"/>
                </a:solidFill>
                <a:latin typeface="Arial"/>
                <a:ea typeface="Arial"/>
                <a:cs typeface="Arial"/>
              </a:defRPr>
            </a:lvl6pPr>
            <a:lvl7pPr algn="l">
              <a:defRPr sz="1425" b="1">
                <a:solidFill>
                  <a:srgbClr val="525252"/>
                </a:solidFill>
                <a:latin typeface="Arial"/>
                <a:ea typeface="Arial"/>
                <a:cs typeface="Arial"/>
              </a:defRPr>
            </a:lvl7pPr>
            <a:lvl8pPr algn="l">
              <a:defRPr sz="1425" b="1">
                <a:solidFill>
                  <a:srgbClr val="525252"/>
                </a:solidFill>
                <a:latin typeface="Arial"/>
                <a:ea typeface="Arial"/>
                <a:cs typeface="Arial"/>
              </a:defRPr>
            </a:lvl8pPr>
            <a:lvl9pPr algn="l">
              <a:defRPr sz="1425" b="1">
                <a:solidFill>
                  <a:srgbClr val="525252"/>
                </a:solidFill>
                <a:latin typeface="Arial"/>
                <a:ea typeface="Arial"/>
                <a:cs typeface="Arial"/>
              </a:defRPr>
            </a:lvl9pPr>
          </a:lstStyle>
          <a:p xmlns:a="http://schemas.openxmlformats.org/drawingml/2006/main">
            <a:pPr algn="l">
              <a:defRPr sz="1425" b="1">
                <a:solidFill>
                  <a:srgbClr val="525252"/>
                </a:solidFill>
                <a:latin typeface="Arial"/>
                <a:ea typeface="Arial"/>
                <a:cs typeface="Arial"/>
              </a:defRPr>
            </a:pPr>
            <a:r>
              <a:rPr sz="1425" b="1">
                <a:solidFill>
                  <a:srgbClr val="525252"/>
                </a:solidFill>
                <a:latin typeface="Arial"/>
                <a:ea typeface="Arial"/>
                <a:cs typeface="Arial"/>
              </a:rPr>
              <a:t>Observed difference</a:t>
            </a:r>
          </a:p>
        </p:txBody>
      </p:sp>
      <p:sp>
        <p:nvSpPr>
          <p:cNvPr id="5" name="">
            <a:extLst xmlns:a="http://schemas.openxmlformats.org/drawingml/2006/main">
              <a:ext uri="{FF2B5EF4-FFF2-40B4-BE49-F238E27FC236}">
                <a16:creationId xmlns:a16="http://schemas.microsoft.com/office/drawing/2014/main" id="{F171881F-B989-4A63-B0A2-EA66E7B7C652}"/>
              </a:ext>
            </a:extLst>
          </p:cNvPr>
          <p:cNvSpPr>
            <a:spLocks xmlns:a="http://schemas.openxmlformats.org/drawingml/2006/main" noGrp="1"/>
          </p:cNvSpPr>
          <p:nvPr/>
        </p:nvSpPr>
        <p:spPr>
          <a:xfrm xmlns:a="http://schemas.openxmlformats.org/drawingml/2006/main">
            <a:off x="7953375" y="2524125"/>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009D9A"/>
                </a:solidFill>
                <a:latin typeface="Arial"/>
                <a:ea typeface="Arial"/>
                <a:cs typeface="Arial"/>
              </a:defRPr>
            </a:defPPr>
            <a:lvl1pPr algn="l">
              <a:defRPr sz="2925" b="1">
                <a:solidFill>
                  <a:srgbClr val="009D9A"/>
                </a:solidFill>
                <a:latin typeface="Arial"/>
                <a:ea typeface="Arial"/>
                <a:cs typeface="Arial"/>
              </a:defRPr>
            </a:lvl1pPr>
            <a:lvl2pPr algn="l">
              <a:defRPr sz="2925" b="1">
                <a:solidFill>
                  <a:srgbClr val="009D9A"/>
                </a:solidFill>
                <a:latin typeface="Arial"/>
                <a:ea typeface="Arial"/>
                <a:cs typeface="Arial"/>
              </a:defRPr>
            </a:lvl2pPr>
            <a:lvl3pPr algn="l">
              <a:defRPr sz="2925" b="1">
                <a:solidFill>
                  <a:srgbClr val="009D9A"/>
                </a:solidFill>
                <a:latin typeface="Arial"/>
                <a:ea typeface="Arial"/>
                <a:cs typeface="Arial"/>
              </a:defRPr>
            </a:lvl3pPr>
            <a:lvl4pPr algn="l">
              <a:defRPr sz="2925" b="1">
                <a:solidFill>
                  <a:srgbClr val="009D9A"/>
                </a:solidFill>
                <a:latin typeface="Arial"/>
                <a:ea typeface="Arial"/>
                <a:cs typeface="Arial"/>
              </a:defRPr>
            </a:lvl4pPr>
            <a:lvl5pPr algn="l">
              <a:defRPr sz="2925" b="1">
                <a:solidFill>
                  <a:srgbClr val="009D9A"/>
                </a:solidFill>
                <a:latin typeface="Arial"/>
                <a:ea typeface="Arial"/>
                <a:cs typeface="Arial"/>
              </a:defRPr>
            </a:lvl5pPr>
            <a:lvl6pPr algn="l">
              <a:defRPr sz="2925" b="1">
                <a:solidFill>
                  <a:srgbClr val="009D9A"/>
                </a:solidFill>
                <a:latin typeface="Arial"/>
                <a:ea typeface="Arial"/>
                <a:cs typeface="Arial"/>
              </a:defRPr>
            </a:lvl6pPr>
            <a:lvl7pPr algn="l">
              <a:defRPr sz="2925" b="1">
                <a:solidFill>
                  <a:srgbClr val="009D9A"/>
                </a:solidFill>
                <a:latin typeface="Arial"/>
                <a:ea typeface="Arial"/>
                <a:cs typeface="Arial"/>
              </a:defRPr>
            </a:lvl7pPr>
            <a:lvl8pPr algn="l">
              <a:defRPr sz="2925" b="1">
                <a:solidFill>
                  <a:srgbClr val="009D9A"/>
                </a:solidFill>
                <a:latin typeface="Arial"/>
                <a:ea typeface="Arial"/>
                <a:cs typeface="Arial"/>
              </a:defRPr>
            </a:lvl8pPr>
            <a:lvl9pPr algn="l">
              <a:defRPr sz="2925" b="1">
                <a:solidFill>
                  <a:srgbClr val="009D9A"/>
                </a:solidFill>
                <a:latin typeface="Arial"/>
                <a:ea typeface="Arial"/>
                <a:cs typeface="Arial"/>
              </a:defRPr>
            </a:lvl9pPr>
          </a:lstStyle>
          <a:p xmlns:a="http://schemas.openxmlformats.org/drawingml/2006/main">
            <a:pPr algn="l">
              <a:defRPr sz="2925" b="1">
                <a:solidFill>
                  <a:srgbClr val="009D9A"/>
                </a:solidFill>
                <a:latin typeface="Arial"/>
                <a:ea typeface="Arial"/>
                <a:cs typeface="Arial"/>
              </a:defRPr>
            </a:pPr>
            <a:r>
              <a:rPr sz="2925" b="1">
                <a:solidFill>
                  <a:srgbClr val="009D9A"/>
                </a:solidFill>
                <a:latin typeface="Arial"/>
                <a:ea typeface="Arial"/>
                <a:cs typeface="Arial"/>
              </a:rPr>
              <a:t>+0.00582</a:t>
            </a:r>
          </a:p>
        </p:txBody>
      </p:sp>
      <p:sp>
        <p:nvSpPr>
          <p:cNvPr id="6" name="">
            <a:extLst xmlns:a="http://schemas.openxmlformats.org/drawingml/2006/main">
              <a:ext uri="{FF2B5EF4-FFF2-40B4-BE49-F238E27FC236}">
                <a16:creationId xmlns:a16="http://schemas.microsoft.com/office/drawing/2014/main" id="{04B02265-EEFA-464C-B678-0BEF6655368A}"/>
              </a:ext>
            </a:extLst>
          </p:cNvPr>
          <p:cNvSpPr>
            <a:spLocks xmlns:a="http://schemas.openxmlformats.org/drawingml/2006/main" noGrp="1"/>
          </p:cNvSpPr>
          <p:nvPr/>
        </p:nvSpPr>
        <p:spPr>
          <a:xfrm xmlns:a="http://schemas.openxmlformats.org/drawingml/2006/main">
            <a:off x="7953375" y="3095625"/>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161616"/>
                </a:solidFill>
                <a:latin typeface="Arial"/>
                <a:ea typeface="Arial"/>
                <a:cs typeface="Arial"/>
              </a:defRPr>
            </a:defPPr>
            <a:lvl1pPr algn="l">
              <a:defRPr sz="1425" b="0">
                <a:solidFill>
                  <a:srgbClr val="161616"/>
                </a:solidFill>
                <a:latin typeface="Arial"/>
                <a:ea typeface="Arial"/>
                <a:cs typeface="Arial"/>
              </a:defRPr>
            </a:lvl1pPr>
            <a:lvl2pPr algn="l">
              <a:defRPr sz="1425" b="0">
                <a:solidFill>
                  <a:srgbClr val="161616"/>
                </a:solidFill>
                <a:latin typeface="Arial"/>
                <a:ea typeface="Arial"/>
                <a:cs typeface="Arial"/>
              </a:defRPr>
            </a:lvl2pPr>
            <a:lvl3pPr algn="l">
              <a:defRPr sz="1425" b="0">
                <a:solidFill>
                  <a:srgbClr val="161616"/>
                </a:solidFill>
                <a:latin typeface="Arial"/>
                <a:ea typeface="Arial"/>
                <a:cs typeface="Arial"/>
              </a:defRPr>
            </a:lvl3pPr>
            <a:lvl4pPr algn="l">
              <a:defRPr sz="1425" b="0">
                <a:solidFill>
                  <a:srgbClr val="161616"/>
                </a:solidFill>
                <a:latin typeface="Arial"/>
                <a:ea typeface="Arial"/>
                <a:cs typeface="Arial"/>
              </a:defRPr>
            </a:lvl4pPr>
            <a:lvl5pPr algn="l">
              <a:defRPr sz="1425" b="0">
                <a:solidFill>
                  <a:srgbClr val="161616"/>
                </a:solidFill>
                <a:latin typeface="Arial"/>
                <a:ea typeface="Arial"/>
                <a:cs typeface="Arial"/>
              </a:defRPr>
            </a:lvl5pPr>
            <a:lvl6pPr algn="l">
              <a:defRPr sz="1425" b="0">
                <a:solidFill>
                  <a:srgbClr val="161616"/>
                </a:solidFill>
                <a:latin typeface="Arial"/>
                <a:ea typeface="Arial"/>
                <a:cs typeface="Arial"/>
              </a:defRPr>
            </a:lvl6pPr>
            <a:lvl7pPr algn="l">
              <a:defRPr sz="1425" b="0">
                <a:solidFill>
                  <a:srgbClr val="161616"/>
                </a:solidFill>
                <a:latin typeface="Arial"/>
                <a:ea typeface="Arial"/>
                <a:cs typeface="Arial"/>
              </a:defRPr>
            </a:lvl7pPr>
            <a:lvl8pPr algn="l">
              <a:defRPr sz="1425" b="0">
                <a:solidFill>
                  <a:srgbClr val="161616"/>
                </a:solidFill>
                <a:latin typeface="Arial"/>
                <a:ea typeface="Arial"/>
                <a:cs typeface="Arial"/>
              </a:defRPr>
            </a:lvl8pPr>
            <a:lvl9pPr algn="l">
              <a:defRPr sz="1425" b="0">
                <a:solidFill>
                  <a:srgbClr val="161616"/>
                </a:solidFill>
                <a:latin typeface="Arial"/>
                <a:ea typeface="Arial"/>
                <a:cs typeface="Arial"/>
              </a:defRPr>
            </a:lvl9pPr>
          </a:lstStyle>
          <a:p xmlns:a="http://schemas.openxmlformats.org/drawingml/2006/main">
            <a:pPr algn="l">
              <a:defRPr sz="1425" b="0">
                <a:solidFill>
                  <a:srgbClr val="161616"/>
                </a:solidFill>
                <a:latin typeface="Arial"/>
                <a:ea typeface="Arial"/>
                <a:cs typeface="Arial"/>
              </a:defRPr>
            </a:pPr>
            <a:r>
              <a:rPr sz="1425" b="0">
                <a:solidFill>
                  <a:srgbClr val="161616"/>
                </a:solidFill>
                <a:latin typeface="Arial"/>
                <a:ea typeface="Arial"/>
                <a:cs typeface="Arial"/>
              </a:rPr>
              <a:t>for the T-doped circuit in this run</a:t>
            </a:r>
          </a:p>
        </p:txBody>
      </p:sp>
      <p:sp>
        <p:nvSpPr>
          <p:cNvPr id="7" name="">
            <a:extLst xmlns:a="http://schemas.openxmlformats.org/drawingml/2006/main">
              <a:ext uri="{FF2B5EF4-FFF2-40B4-BE49-F238E27FC236}">
                <a16:creationId xmlns:a16="http://schemas.microsoft.com/office/drawing/2014/main" id="{2E63A31A-87A2-40ED-9653-EAFCE80C0295}"/>
              </a:ext>
            </a:extLst>
          </p:cNvPr>
          <p:cNvSpPr>
            <a:spLocks xmlns:a="http://schemas.openxmlformats.org/drawingml/2006/main" noGrp="1"/>
          </p:cNvSpPr>
          <p:nvPr/>
        </p:nvSpPr>
        <p:spPr>
          <a:xfrm xmlns:a="http://schemas.openxmlformats.org/drawingml/2006/main">
            <a:off x="7953375" y="4095750"/>
            <a:ext cx="323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61616"/>
                </a:solidFill>
                <a:latin typeface="Arial"/>
                <a:ea typeface="Arial"/>
                <a:cs typeface="Arial"/>
              </a:defRPr>
            </a:defPPr>
            <a:lvl1pPr algn="l">
              <a:defRPr sz="1575" b="0">
                <a:solidFill>
                  <a:srgbClr val="161616"/>
                </a:solidFill>
                <a:latin typeface="Arial"/>
                <a:ea typeface="Arial"/>
                <a:cs typeface="Arial"/>
              </a:defRPr>
            </a:lvl1pPr>
            <a:lvl2pPr algn="l">
              <a:defRPr sz="1575" b="0">
                <a:solidFill>
                  <a:srgbClr val="161616"/>
                </a:solidFill>
                <a:latin typeface="Arial"/>
                <a:ea typeface="Arial"/>
                <a:cs typeface="Arial"/>
              </a:defRPr>
            </a:lvl2pPr>
            <a:lvl3pPr algn="l">
              <a:defRPr sz="1575" b="0">
                <a:solidFill>
                  <a:srgbClr val="161616"/>
                </a:solidFill>
                <a:latin typeface="Arial"/>
                <a:ea typeface="Arial"/>
                <a:cs typeface="Arial"/>
              </a:defRPr>
            </a:lvl3pPr>
            <a:lvl4pPr algn="l">
              <a:defRPr sz="1575" b="0">
                <a:solidFill>
                  <a:srgbClr val="161616"/>
                </a:solidFill>
                <a:latin typeface="Arial"/>
                <a:ea typeface="Arial"/>
                <a:cs typeface="Arial"/>
              </a:defRPr>
            </a:lvl4pPr>
            <a:lvl5pPr algn="l">
              <a:defRPr sz="1575" b="0">
                <a:solidFill>
                  <a:srgbClr val="161616"/>
                </a:solidFill>
                <a:latin typeface="Arial"/>
                <a:ea typeface="Arial"/>
                <a:cs typeface="Arial"/>
              </a:defRPr>
            </a:lvl5pPr>
            <a:lvl6pPr algn="l">
              <a:defRPr sz="1575" b="0">
                <a:solidFill>
                  <a:srgbClr val="161616"/>
                </a:solidFill>
                <a:latin typeface="Arial"/>
                <a:ea typeface="Arial"/>
                <a:cs typeface="Arial"/>
              </a:defRPr>
            </a:lvl6pPr>
            <a:lvl7pPr algn="l">
              <a:defRPr sz="1575" b="0">
                <a:solidFill>
                  <a:srgbClr val="161616"/>
                </a:solidFill>
                <a:latin typeface="Arial"/>
                <a:ea typeface="Arial"/>
                <a:cs typeface="Arial"/>
              </a:defRPr>
            </a:lvl7pPr>
            <a:lvl8pPr algn="l">
              <a:defRPr sz="1575" b="0">
                <a:solidFill>
                  <a:srgbClr val="161616"/>
                </a:solidFill>
                <a:latin typeface="Arial"/>
                <a:ea typeface="Arial"/>
                <a:cs typeface="Arial"/>
              </a:defRPr>
            </a:lvl8pPr>
            <a:lvl9pPr algn="l">
              <a:defRPr sz="1575" b="0">
                <a:solidFill>
                  <a:srgbClr val="161616"/>
                </a:solidFill>
                <a:latin typeface="Arial"/>
                <a:ea typeface="Arial"/>
                <a:cs typeface="Arial"/>
              </a:defRPr>
            </a:lvl9pPr>
          </a:lstStyle>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This does not show that T gates improve robustness. Each circuit is compared with its own ideal output distribution.</a:t>
            </a:r>
          </a:p>
        </p:txBody>
      </p:sp>
    </p:spTree>
    <p:extLst>
      <p:ext uri="{BB962C8B-B14F-4D97-AF65-F5344CB8AC3E}">
        <p14:creationId xmlns:p14="http://schemas.microsoft.com/office/powerpoint/2010/main" val="118274197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2DE3AC-793E-403B-9EB3-3CA150E87107}"/>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6E85CB7F-DCDA-4927-ACB9-F8ED53420DAA}"/>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What this Track 1 study does not establish</a:t>
            </a:r>
          </a:p>
        </p:txBody>
      </p:sp>
      <p:sp>
        <p:nvSpPr>
          <p:cNvPr id="3" name="">
            <a:extLst xmlns:a="http://schemas.openxmlformats.org/drawingml/2006/main">
              <a:ext uri="{FF2B5EF4-FFF2-40B4-BE49-F238E27FC236}">
                <a16:creationId xmlns:a16="http://schemas.microsoft.com/office/drawing/2014/main" id="{887C8E29-42B1-44F4-B58F-273E23C4ECB9}"/>
              </a:ext>
            </a:extLst>
          </p:cNvPr>
          <p:cNvSpPr>
            <a:spLocks xmlns:a="http://schemas.openxmlformats.org/drawingml/2006/main" noGrp="1"/>
          </p:cNvSpPr>
          <p:nvPr/>
        </p:nvSpPr>
        <p:spPr>
          <a:xfrm xmlns:a="http://schemas.openxmlformats.org/drawingml/2006/main">
            <a:off x="685800" y="1809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SIMULATION LIMITS</a:t>
            </a:r>
          </a:p>
        </p:txBody>
      </p:sp>
      <p:sp>
        <p:nvSpPr>
          <p:cNvPr id="4" name="">
            <a:extLst xmlns:a="http://schemas.openxmlformats.org/drawingml/2006/main">
              <a:ext uri="{FF2B5EF4-FFF2-40B4-BE49-F238E27FC236}">
                <a16:creationId xmlns:a16="http://schemas.microsoft.com/office/drawing/2014/main" id="{5A62A6C4-1E45-4A37-8248-F633A2E0416F}"/>
              </a:ext>
            </a:extLst>
          </p:cNvPr>
          <p:cNvSpPr>
            <a:spLocks xmlns:a="http://schemas.openxmlformats.org/drawingml/2006/main" noGrp="1"/>
          </p:cNvSpPr>
          <p:nvPr/>
        </p:nvSpPr>
        <p:spPr>
          <a:xfrm xmlns:a="http://schemas.openxmlformats.org/drawingml/2006/main">
            <a:off x="685800" y="2238375"/>
            <a:ext cx="4953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No hardware run or calibrated hardware noise</a:t>
            </a:r>
          </a:p>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One run per configuration; uncertainty not measured</a:t>
            </a:r>
          </a:p>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Zero syndrome can still miss errors</a:t>
            </a:r>
          </a:p>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Check operations add circuit overhead</a:t>
            </a:r>
          </a:p>
        </p:txBody>
      </p:sp>
      <p:sp>
        <p:nvSpPr>
          <p:cNvPr id="5" name="">
            <a:extLst xmlns:a="http://schemas.openxmlformats.org/drawingml/2006/main">
              <a:ext uri="{FF2B5EF4-FFF2-40B4-BE49-F238E27FC236}">
                <a16:creationId xmlns:a16="http://schemas.microsoft.com/office/drawing/2014/main" id="{083C4641-DDE3-471B-93AF-337D25F6B93F}"/>
              </a:ext>
            </a:extLst>
          </p:cNvPr>
          <p:cNvSpPr>
            <a:spLocks xmlns:a="http://schemas.openxmlformats.org/drawingml/2006/main" noGrp="1"/>
          </p:cNvSpPr>
          <p:nvPr/>
        </p:nvSpPr>
        <p:spPr>
          <a:xfrm xmlns:a="http://schemas.openxmlformats.org/drawingml/2006/main">
            <a:off x="6334125" y="180975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09D9A"/>
                </a:solidFill>
                <a:latin typeface="Arial"/>
                <a:ea typeface="Arial"/>
                <a:cs typeface="Arial"/>
              </a:defRPr>
            </a:defPPr>
            <a:lvl1pPr algn="l">
              <a:defRPr sz="1350" b="1">
                <a:solidFill>
                  <a:srgbClr val="009D9A"/>
                </a:solidFill>
                <a:latin typeface="Arial"/>
                <a:ea typeface="Arial"/>
                <a:cs typeface="Arial"/>
              </a:defRPr>
            </a:lvl1pPr>
            <a:lvl2pPr algn="l">
              <a:defRPr sz="1350" b="1">
                <a:solidFill>
                  <a:srgbClr val="009D9A"/>
                </a:solidFill>
                <a:latin typeface="Arial"/>
                <a:ea typeface="Arial"/>
                <a:cs typeface="Arial"/>
              </a:defRPr>
            </a:lvl2pPr>
            <a:lvl3pPr algn="l">
              <a:defRPr sz="1350" b="1">
                <a:solidFill>
                  <a:srgbClr val="009D9A"/>
                </a:solidFill>
                <a:latin typeface="Arial"/>
                <a:ea typeface="Arial"/>
                <a:cs typeface="Arial"/>
              </a:defRPr>
            </a:lvl3pPr>
            <a:lvl4pPr algn="l">
              <a:defRPr sz="1350" b="1">
                <a:solidFill>
                  <a:srgbClr val="009D9A"/>
                </a:solidFill>
                <a:latin typeface="Arial"/>
                <a:ea typeface="Arial"/>
                <a:cs typeface="Arial"/>
              </a:defRPr>
            </a:lvl4pPr>
            <a:lvl5pPr algn="l">
              <a:defRPr sz="1350" b="1">
                <a:solidFill>
                  <a:srgbClr val="009D9A"/>
                </a:solidFill>
                <a:latin typeface="Arial"/>
                <a:ea typeface="Arial"/>
                <a:cs typeface="Arial"/>
              </a:defRPr>
            </a:lvl5pPr>
            <a:lvl6pPr algn="l">
              <a:defRPr sz="1350" b="1">
                <a:solidFill>
                  <a:srgbClr val="009D9A"/>
                </a:solidFill>
                <a:latin typeface="Arial"/>
                <a:ea typeface="Arial"/>
                <a:cs typeface="Arial"/>
              </a:defRPr>
            </a:lvl6pPr>
            <a:lvl7pPr algn="l">
              <a:defRPr sz="1350" b="1">
                <a:solidFill>
                  <a:srgbClr val="009D9A"/>
                </a:solidFill>
                <a:latin typeface="Arial"/>
                <a:ea typeface="Arial"/>
                <a:cs typeface="Arial"/>
              </a:defRPr>
            </a:lvl7pPr>
            <a:lvl8pPr algn="l">
              <a:defRPr sz="1350" b="1">
                <a:solidFill>
                  <a:srgbClr val="009D9A"/>
                </a:solidFill>
                <a:latin typeface="Arial"/>
                <a:ea typeface="Arial"/>
                <a:cs typeface="Arial"/>
              </a:defRPr>
            </a:lvl8pPr>
            <a:lvl9pPr algn="l">
              <a:defRPr sz="1350" b="1">
                <a:solidFill>
                  <a:srgbClr val="009D9A"/>
                </a:solidFill>
                <a:latin typeface="Arial"/>
                <a:ea typeface="Arial"/>
                <a:cs typeface="Arial"/>
              </a:defRPr>
            </a:lvl9pPr>
          </a:lstStyle>
          <a:p xmlns:a="http://schemas.openxmlformats.org/drawingml/2006/main">
            <a:pPr algn="l">
              <a:defRPr sz="1350" b="1">
                <a:solidFill>
                  <a:srgbClr val="009D9A"/>
                </a:solidFill>
                <a:latin typeface="Arial"/>
                <a:ea typeface="Arial"/>
                <a:cs typeface="Arial"/>
              </a:defRPr>
            </a:pPr>
            <a:r>
              <a:rPr sz="1350" b="1">
                <a:solidFill>
                  <a:srgbClr val="009D9A"/>
                </a:solidFill>
                <a:latin typeface="Arial"/>
                <a:ea typeface="Arial"/>
                <a:cs typeface="Arial"/>
              </a:rPr>
              <a:t>METRIC AND SCOPE LIMITS</a:t>
            </a:r>
          </a:p>
        </p:txBody>
      </p:sp>
      <p:sp>
        <p:nvSpPr>
          <p:cNvPr id="6" name="">
            <a:extLst xmlns:a="http://schemas.openxmlformats.org/drawingml/2006/main">
              <a:ext uri="{FF2B5EF4-FFF2-40B4-BE49-F238E27FC236}">
                <a16:creationId xmlns:a16="http://schemas.microsoft.com/office/drawing/2014/main" id="{AD960EDE-C871-4046-87FA-30C11E90654F}"/>
              </a:ext>
            </a:extLst>
          </p:cNvPr>
          <p:cNvSpPr>
            <a:spLocks xmlns:a="http://schemas.openxmlformats.org/drawingml/2006/main" noGrp="1"/>
          </p:cNvSpPr>
          <p:nvPr/>
        </p:nvSpPr>
        <p:spPr>
          <a:xfrm xmlns:a="http://schemas.openxmlformats.org/drawingml/2006/main">
            <a:off x="6334125" y="2238375"/>
            <a:ext cx="5143500" cy="2619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61616"/>
                </a:solidFill>
                <a:latin typeface="Arial"/>
                <a:ea typeface="Arial"/>
                <a:cs typeface="Arial"/>
              </a:defRPr>
            </a:defPPr>
            <a:lvl1pPr algn="l">
              <a:defRPr sz="1575" b="0">
                <a:solidFill>
                  <a:srgbClr val="161616"/>
                </a:solidFill>
                <a:latin typeface="Arial"/>
                <a:ea typeface="Arial"/>
                <a:cs typeface="Arial"/>
              </a:defRPr>
            </a:lvl1pPr>
            <a:lvl2pPr algn="l">
              <a:defRPr sz="1575" b="0">
                <a:solidFill>
                  <a:srgbClr val="161616"/>
                </a:solidFill>
                <a:latin typeface="Arial"/>
                <a:ea typeface="Arial"/>
                <a:cs typeface="Arial"/>
              </a:defRPr>
            </a:lvl2pPr>
            <a:lvl3pPr algn="l">
              <a:defRPr sz="1575" b="0">
                <a:solidFill>
                  <a:srgbClr val="161616"/>
                </a:solidFill>
                <a:latin typeface="Arial"/>
                <a:ea typeface="Arial"/>
                <a:cs typeface="Arial"/>
              </a:defRPr>
            </a:lvl3pPr>
            <a:lvl4pPr algn="l">
              <a:defRPr sz="1575" b="0">
                <a:solidFill>
                  <a:srgbClr val="161616"/>
                </a:solidFill>
                <a:latin typeface="Arial"/>
                <a:ea typeface="Arial"/>
                <a:cs typeface="Arial"/>
              </a:defRPr>
            </a:lvl4pPr>
            <a:lvl5pPr algn="l">
              <a:defRPr sz="1575" b="0">
                <a:solidFill>
                  <a:srgbClr val="161616"/>
                </a:solidFill>
                <a:latin typeface="Arial"/>
                <a:ea typeface="Arial"/>
                <a:cs typeface="Arial"/>
              </a:defRPr>
            </a:lvl5pPr>
            <a:lvl6pPr algn="l">
              <a:defRPr sz="1575" b="0">
                <a:solidFill>
                  <a:srgbClr val="161616"/>
                </a:solidFill>
                <a:latin typeface="Arial"/>
                <a:ea typeface="Arial"/>
                <a:cs typeface="Arial"/>
              </a:defRPr>
            </a:lvl6pPr>
            <a:lvl7pPr algn="l">
              <a:defRPr sz="1575" b="0">
                <a:solidFill>
                  <a:srgbClr val="161616"/>
                </a:solidFill>
                <a:latin typeface="Arial"/>
                <a:ea typeface="Arial"/>
                <a:cs typeface="Arial"/>
              </a:defRPr>
            </a:lvl7pPr>
            <a:lvl8pPr algn="l">
              <a:defRPr sz="1575" b="0">
                <a:solidFill>
                  <a:srgbClr val="161616"/>
                </a:solidFill>
                <a:latin typeface="Arial"/>
                <a:ea typeface="Arial"/>
                <a:cs typeface="Arial"/>
              </a:defRPr>
            </a:lvl8pPr>
            <a:lvl9pPr algn="l">
              <a:defRPr sz="1575" b="0">
                <a:solidFill>
                  <a:srgbClr val="161616"/>
                </a:solidFill>
                <a:latin typeface="Arial"/>
                <a:ea typeface="Arial"/>
                <a:cs typeface="Arial"/>
              </a:defRPr>
            </a:lvl9pPr>
          </a:lstStyle>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Fidelity is for classical output distributions, not the full quantum state</a:t>
            </a:r>
          </a:p>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Span is instruction-index distance, not physical time</a:t>
            </a:r>
          </a:p>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Multi-check configurations need a complete span metric</a:t>
            </a:r>
          </a:p>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Paulice workflow is Clifford-focused; T-doped checks were not validated</a:t>
            </a:r>
          </a:p>
        </p:txBody>
      </p:sp>
      <p:sp>
        <p:nvSpPr>
          <p:cNvPr id="7" name="">
            <a:extLst xmlns:a="http://schemas.openxmlformats.org/drawingml/2006/main">
              <a:ext uri="{FF2B5EF4-FFF2-40B4-BE49-F238E27FC236}">
                <a16:creationId xmlns:a16="http://schemas.microsoft.com/office/drawing/2014/main" id="{2082FCCC-F0D2-4CDC-9536-F60CC1054FF3}"/>
              </a:ext>
            </a:extLst>
          </p:cNvPr>
          <p:cNvSpPr>
            <a:spLocks xmlns:a="http://schemas.openxmlformats.org/drawingml/2006/main" noGrp="1"/>
          </p:cNvSpPr>
          <p:nvPr/>
        </p:nvSpPr>
        <p:spPr>
          <a:xfrm xmlns:a="http://schemas.openxmlformats.org/drawingml/2006/main">
            <a:off x="685800" y="54292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8A3FFC"/>
                </a:solidFill>
                <a:latin typeface="Arial"/>
                <a:ea typeface="Arial"/>
                <a:cs typeface="Arial"/>
              </a:defRPr>
            </a:defPPr>
            <a:lvl1pPr algn="l">
              <a:defRPr sz="1800" b="1">
                <a:solidFill>
                  <a:srgbClr val="8A3FFC"/>
                </a:solidFill>
                <a:latin typeface="Arial"/>
                <a:ea typeface="Arial"/>
                <a:cs typeface="Arial"/>
              </a:defRPr>
            </a:lvl1pPr>
            <a:lvl2pPr algn="l">
              <a:defRPr sz="1800" b="1">
                <a:solidFill>
                  <a:srgbClr val="8A3FFC"/>
                </a:solidFill>
                <a:latin typeface="Arial"/>
                <a:ea typeface="Arial"/>
                <a:cs typeface="Arial"/>
              </a:defRPr>
            </a:lvl2pPr>
            <a:lvl3pPr algn="l">
              <a:defRPr sz="1800" b="1">
                <a:solidFill>
                  <a:srgbClr val="8A3FFC"/>
                </a:solidFill>
                <a:latin typeface="Arial"/>
                <a:ea typeface="Arial"/>
                <a:cs typeface="Arial"/>
              </a:defRPr>
            </a:lvl3pPr>
            <a:lvl4pPr algn="l">
              <a:defRPr sz="1800" b="1">
                <a:solidFill>
                  <a:srgbClr val="8A3FFC"/>
                </a:solidFill>
                <a:latin typeface="Arial"/>
                <a:ea typeface="Arial"/>
                <a:cs typeface="Arial"/>
              </a:defRPr>
            </a:lvl4pPr>
            <a:lvl5pPr algn="l">
              <a:defRPr sz="1800" b="1">
                <a:solidFill>
                  <a:srgbClr val="8A3FFC"/>
                </a:solidFill>
                <a:latin typeface="Arial"/>
                <a:ea typeface="Arial"/>
                <a:cs typeface="Arial"/>
              </a:defRPr>
            </a:lvl5pPr>
            <a:lvl6pPr algn="l">
              <a:defRPr sz="1800" b="1">
                <a:solidFill>
                  <a:srgbClr val="8A3FFC"/>
                </a:solidFill>
                <a:latin typeface="Arial"/>
                <a:ea typeface="Arial"/>
                <a:cs typeface="Arial"/>
              </a:defRPr>
            </a:lvl6pPr>
            <a:lvl7pPr algn="l">
              <a:defRPr sz="1800" b="1">
                <a:solidFill>
                  <a:srgbClr val="8A3FFC"/>
                </a:solidFill>
                <a:latin typeface="Arial"/>
                <a:ea typeface="Arial"/>
                <a:cs typeface="Arial"/>
              </a:defRPr>
            </a:lvl7pPr>
            <a:lvl8pPr algn="l">
              <a:defRPr sz="1800" b="1">
                <a:solidFill>
                  <a:srgbClr val="8A3FFC"/>
                </a:solidFill>
                <a:latin typeface="Arial"/>
                <a:ea typeface="Arial"/>
                <a:cs typeface="Arial"/>
              </a:defRPr>
            </a:lvl8pPr>
            <a:lvl9pPr algn="l">
              <a:defRPr sz="1800" b="1">
                <a:solidFill>
                  <a:srgbClr val="8A3FFC"/>
                </a:solidFill>
                <a:latin typeface="Arial"/>
                <a:ea typeface="Arial"/>
                <a:cs typeface="Arial"/>
              </a:defRPr>
            </a:lvl9pPr>
          </a:lstStyle>
          <a:p xmlns:a="http://schemas.openxmlformats.org/drawingml/2006/main">
            <a:pPr algn="l">
              <a:defRPr sz="1800" b="1">
                <a:solidFill>
                  <a:srgbClr val="8A3FFC"/>
                </a:solidFill>
                <a:latin typeface="Arial"/>
                <a:ea typeface="Arial"/>
                <a:cs typeface="Arial"/>
              </a:defRPr>
            </a:pPr>
            <a:r>
              <a:rPr sz="1800" b="1">
                <a:solidFill>
                  <a:srgbClr val="8A3FFC"/>
                </a:solidFill>
                <a:latin typeface="Arial"/>
                <a:ea typeface="Arial"/>
                <a:cs typeface="Arial"/>
              </a:rPr>
              <a:t>Treat the findings as a small exploratory simulator study.</a:t>
            </a:r>
          </a:p>
        </p:txBody>
      </p:sp>
    </p:spTree>
    <p:extLst>
      <p:ext uri="{BB962C8B-B14F-4D97-AF65-F5344CB8AC3E}">
        <p14:creationId xmlns:p14="http://schemas.microsoft.com/office/powerpoint/2010/main" val="195918883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1DB24A-01BD-4863-90C6-9F95703C7BE4}"/>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50FDF6C6-8DD1-4B8D-B8F7-26DEAEB817B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Track 1 takeaway and next steps</a:t>
            </a:r>
          </a:p>
        </p:txBody>
      </p:sp>
      <p:sp>
        <p:nvSpPr>
          <p:cNvPr id="3" name="">
            <a:extLst xmlns:a="http://schemas.openxmlformats.org/drawingml/2006/main">
              <a:ext uri="{FF2B5EF4-FFF2-40B4-BE49-F238E27FC236}">
                <a16:creationId xmlns:a16="http://schemas.microsoft.com/office/drawing/2014/main" id="{E18494C9-9505-42B0-BD75-E611F45A9469}"/>
              </a:ext>
            </a:extLst>
          </p:cNvPr>
          <p:cNvSpPr>
            <a:spLocks xmlns:a="http://schemas.openxmlformats.org/drawingml/2006/main" noGrp="1"/>
          </p:cNvSpPr>
          <p:nvPr/>
        </p:nvSpPr>
        <p:spPr>
          <a:xfrm xmlns:a="http://schemas.openxmlformats.org/drawingml/2006/main">
            <a:off x="685800" y="1809750"/>
            <a:ext cx="466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F62FE"/>
                </a:solidFill>
                <a:latin typeface="Arial"/>
                <a:ea typeface="Arial"/>
                <a:cs typeface="Arial"/>
              </a:defRPr>
            </a:defPPr>
            <a:lvl1pPr algn="l">
              <a:defRPr sz="1650" b="1">
                <a:solidFill>
                  <a:srgbClr val="0F62FE"/>
                </a:solidFill>
                <a:latin typeface="Arial"/>
                <a:ea typeface="Arial"/>
                <a:cs typeface="Arial"/>
              </a:defRPr>
            </a:lvl1pPr>
            <a:lvl2pPr algn="l">
              <a:defRPr sz="1650" b="1">
                <a:solidFill>
                  <a:srgbClr val="0F62FE"/>
                </a:solidFill>
                <a:latin typeface="Arial"/>
                <a:ea typeface="Arial"/>
                <a:cs typeface="Arial"/>
              </a:defRPr>
            </a:lvl2pPr>
            <a:lvl3pPr algn="l">
              <a:defRPr sz="1650" b="1">
                <a:solidFill>
                  <a:srgbClr val="0F62FE"/>
                </a:solidFill>
                <a:latin typeface="Arial"/>
                <a:ea typeface="Arial"/>
                <a:cs typeface="Arial"/>
              </a:defRPr>
            </a:lvl3pPr>
            <a:lvl4pPr algn="l">
              <a:defRPr sz="1650" b="1">
                <a:solidFill>
                  <a:srgbClr val="0F62FE"/>
                </a:solidFill>
                <a:latin typeface="Arial"/>
                <a:ea typeface="Arial"/>
                <a:cs typeface="Arial"/>
              </a:defRPr>
            </a:lvl4pPr>
            <a:lvl5pPr algn="l">
              <a:defRPr sz="1650" b="1">
                <a:solidFill>
                  <a:srgbClr val="0F62FE"/>
                </a:solidFill>
                <a:latin typeface="Arial"/>
                <a:ea typeface="Arial"/>
                <a:cs typeface="Arial"/>
              </a:defRPr>
            </a:lvl5pPr>
            <a:lvl6pPr algn="l">
              <a:defRPr sz="1650" b="1">
                <a:solidFill>
                  <a:srgbClr val="0F62FE"/>
                </a:solidFill>
                <a:latin typeface="Arial"/>
                <a:ea typeface="Arial"/>
                <a:cs typeface="Arial"/>
              </a:defRPr>
            </a:lvl6pPr>
            <a:lvl7pPr algn="l">
              <a:defRPr sz="1650" b="1">
                <a:solidFill>
                  <a:srgbClr val="0F62FE"/>
                </a:solidFill>
                <a:latin typeface="Arial"/>
                <a:ea typeface="Arial"/>
                <a:cs typeface="Arial"/>
              </a:defRPr>
            </a:lvl7pPr>
            <a:lvl8pPr algn="l">
              <a:defRPr sz="1650" b="1">
                <a:solidFill>
                  <a:srgbClr val="0F62FE"/>
                </a:solidFill>
                <a:latin typeface="Arial"/>
                <a:ea typeface="Arial"/>
                <a:cs typeface="Arial"/>
              </a:defRPr>
            </a:lvl8pPr>
            <a:lvl9pPr algn="l">
              <a:defRPr sz="1650" b="1">
                <a:solidFill>
                  <a:srgbClr val="0F62FE"/>
                </a:solidFill>
                <a:latin typeface="Arial"/>
                <a:ea typeface="Arial"/>
                <a:cs typeface="Arial"/>
              </a:defRPr>
            </a:lvl9pPr>
          </a:lstStyle>
          <a:p xmlns:a="http://schemas.openxmlformats.org/drawingml/2006/main">
            <a:pPr algn="l">
              <a:defRPr sz="1650" b="1">
                <a:solidFill>
                  <a:srgbClr val="0F62FE"/>
                </a:solidFill>
                <a:latin typeface="Arial"/>
                <a:ea typeface="Arial"/>
                <a:cs typeface="Arial"/>
              </a:defRPr>
            </a:pPr>
            <a:r>
              <a:rPr sz="1650" b="1">
                <a:solidFill>
                  <a:srgbClr val="0F62FE"/>
                </a:solidFill>
                <a:latin typeface="Arial"/>
                <a:ea typeface="Arial"/>
                <a:cs typeface="Arial"/>
              </a:rPr>
              <a:t>What the study achieved</a:t>
            </a:r>
          </a:p>
        </p:txBody>
      </p:sp>
      <p:sp>
        <p:nvSpPr>
          <p:cNvPr id="4" name="">
            <a:extLst xmlns:a="http://schemas.openxmlformats.org/drawingml/2006/main">
              <a:ext uri="{FF2B5EF4-FFF2-40B4-BE49-F238E27FC236}">
                <a16:creationId xmlns:a16="http://schemas.microsoft.com/office/drawing/2014/main" id="{996D4709-A4FC-43FA-B59A-4231DA054A9E}"/>
              </a:ext>
            </a:extLst>
          </p:cNvPr>
          <p:cNvSpPr>
            <a:spLocks xmlns:a="http://schemas.openxmlformats.org/drawingml/2006/main" noGrp="1"/>
          </p:cNvSpPr>
          <p:nvPr/>
        </p:nvSpPr>
        <p:spPr>
          <a:xfrm xmlns:a="http://schemas.openxmlformats.org/drawingml/2006/main">
            <a:off x="685800" y="2286000"/>
            <a:ext cx="4857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A noisy three-qubit Clifford simulation, Paulice-generated checks, a custom syndrome filter, and comparisons across check configurations plus a separate T-doped run.</a:t>
            </a:r>
          </a:p>
        </p:txBody>
      </p:sp>
      <p:sp>
        <p:nvSpPr>
          <p:cNvPr id="5" name="">
            <a:extLst xmlns:a="http://schemas.openxmlformats.org/drawingml/2006/main">
              <a:ext uri="{FF2B5EF4-FFF2-40B4-BE49-F238E27FC236}">
                <a16:creationId xmlns:a16="http://schemas.microsoft.com/office/drawing/2014/main" id="{7C365BF0-243C-4926-BA82-5B3D0DFEB3A5}"/>
              </a:ext>
            </a:extLst>
          </p:cNvPr>
          <p:cNvSpPr>
            <a:spLocks xmlns:a="http://schemas.openxmlformats.org/drawingml/2006/main" noGrp="1"/>
          </p:cNvSpPr>
          <p:nvPr/>
        </p:nvSpPr>
        <p:spPr>
          <a:xfrm xmlns:a="http://schemas.openxmlformats.org/drawingml/2006/main">
            <a:off x="6429375" y="1809750"/>
            <a:ext cx="466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09D9A"/>
                </a:solidFill>
                <a:latin typeface="Arial"/>
                <a:ea typeface="Arial"/>
                <a:cs typeface="Arial"/>
              </a:defRPr>
            </a:defPPr>
            <a:lvl1pPr algn="l">
              <a:defRPr sz="1650" b="1">
                <a:solidFill>
                  <a:srgbClr val="009D9A"/>
                </a:solidFill>
                <a:latin typeface="Arial"/>
                <a:ea typeface="Arial"/>
                <a:cs typeface="Arial"/>
              </a:defRPr>
            </a:lvl1pPr>
            <a:lvl2pPr algn="l">
              <a:defRPr sz="1650" b="1">
                <a:solidFill>
                  <a:srgbClr val="009D9A"/>
                </a:solidFill>
                <a:latin typeface="Arial"/>
                <a:ea typeface="Arial"/>
                <a:cs typeface="Arial"/>
              </a:defRPr>
            </a:lvl2pPr>
            <a:lvl3pPr algn="l">
              <a:defRPr sz="1650" b="1">
                <a:solidFill>
                  <a:srgbClr val="009D9A"/>
                </a:solidFill>
                <a:latin typeface="Arial"/>
                <a:ea typeface="Arial"/>
                <a:cs typeface="Arial"/>
              </a:defRPr>
            </a:lvl3pPr>
            <a:lvl4pPr algn="l">
              <a:defRPr sz="1650" b="1">
                <a:solidFill>
                  <a:srgbClr val="009D9A"/>
                </a:solidFill>
                <a:latin typeface="Arial"/>
                <a:ea typeface="Arial"/>
                <a:cs typeface="Arial"/>
              </a:defRPr>
            </a:lvl4pPr>
            <a:lvl5pPr algn="l">
              <a:defRPr sz="1650" b="1">
                <a:solidFill>
                  <a:srgbClr val="009D9A"/>
                </a:solidFill>
                <a:latin typeface="Arial"/>
                <a:ea typeface="Arial"/>
                <a:cs typeface="Arial"/>
              </a:defRPr>
            </a:lvl5pPr>
            <a:lvl6pPr algn="l">
              <a:defRPr sz="1650" b="1">
                <a:solidFill>
                  <a:srgbClr val="009D9A"/>
                </a:solidFill>
                <a:latin typeface="Arial"/>
                <a:ea typeface="Arial"/>
                <a:cs typeface="Arial"/>
              </a:defRPr>
            </a:lvl6pPr>
            <a:lvl7pPr algn="l">
              <a:defRPr sz="1650" b="1">
                <a:solidFill>
                  <a:srgbClr val="009D9A"/>
                </a:solidFill>
                <a:latin typeface="Arial"/>
                <a:ea typeface="Arial"/>
                <a:cs typeface="Arial"/>
              </a:defRPr>
            </a:lvl7pPr>
            <a:lvl8pPr algn="l">
              <a:defRPr sz="1650" b="1">
                <a:solidFill>
                  <a:srgbClr val="009D9A"/>
                </a:solidFill>
                <a:latin typeface="Arial"/>
                <a:ea typeface="Arial"/>
                <a:cs typeface="Arial"/>
              </a:defRPr>
            </a:lvl8pPr>
            <a:lvl9pPr algn="l">
              <a:defRPr sz="1650" b="1">
                <a:solidFill>
                  <a:srgbClr val="009D9A"/>
                </a:solidFill>
                <a:latin typeface="Arial"/>
                <a:ea typeface="Arial"/>
                <a:cs typeface="Arial"/>
              </a:defRPr>
            </a:lvl9pPr>
          </a:lstStyle>
          <a:p xmlns:a="http://schemas.openxmlformats.org/drawingml/2006/main">
            <a:pPr algn="l">
              <a:defRPr sz="1650" b="1">
                <a:solidFill>
                  <a:srgbClr val="009D9A"/>
                </a:solidFill>
                <a:latin typeface="Arial"/>
                <a:ea typeface="Arial"/>
                <a:cs typeface="Arial"/>
              </a:defRPr>
            </a:pPr>
            <a:r>
              <a:rPr sz="1650" b="1">
                <a:solidFill>
                  <a:srgbClr val="009D9A"/>
                </a:solidFill>
                <a:latin typeface="Arial"/>
                <a:ea typeface="Arial"/>
                <a:cs typeface="Arial"/>
              </a:rPr>
              <a:t>What to test next</a:t>
            </a:r>
          </a:p>
        </p:txBody>
      </p:sp>
      <p:sp>
        <p:nvSpPr>
          <p:cNvPr id="6" name="">
            <a:extLst xmlns:a="http://schemas.openxmlformats.org/drawingml/2006/main">
              <a:ext uri="{FF2B5EF4-FFF2-40B4-BE49-F238E27FC236}">
                <a16:creationId xmlns:a16="http://schemas.microsoft.com/office/drawing/2014/main" id="{66203C39-F44B-453E-983D-7E9BBBE7BD31}"/>
              </a:ext>
            </a:extLst>
          </p:cNvPr>
          <p:cNvSpPr>
            <a:spLocks xmlns:a="http://schemas.openxmlformats.org/drawingml/2006/main" noGrp="1"/>
          </p:cNvSpPr>
          <p:nvPr/>
        </p:nvSpPr>
        <p:spPr>
          <a:xfrm xmlns:a="http://schemas.openxmlformats.org/drawingml/2006/main">
            <a:off x="6429375" y="2286000"/>
            <a:ext cx="48101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Repeat with multiple random seeds and confidence intervals; vary separation while holding support and check count fixed; define a full multi-ancilla metric; test calibrated noise.</a:t>
            </a:r>
          </a:p>
        </p:txBody>
      </p:sp>
      <p:sp>
        <p:nvSpPr>
          <p:cNvPr id="7" name="">
            <a:extLst xmlns:a="http://schemas.openxmlformats.org/drawingml/2006/main">
              <a:ext uri="{FF2B5EF4-FFF2-40B4-BE49-F238E27FC236}">
                <a16:creationId xmlns:a16="http://schemas.microsoft.com/office/drawing/2014/main" id="{FF16583A-D548-436B-BE6D-01E021DF5B08}"/>
              </a:ext>
            </a:extLst>
          </p:cNvPr>
          <p:cNvSpPr>
            <a:spLocks xmlns:a="http://schemas.openxmlformats.org/drawingml/2006/main" noGrp="1"/>
          </p:cNvSpPr>
          <p:nvPr/>
        </p:nvSpPr>
        <p:spPr>
          <a:xfrm xmlns:a="http://schemas.openxmlformats.org/drawingml/2006/main">
            <a:off x="685800" y="47625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61616"/>
                </a:solidFill>
                <a:latin typeface="Arial"/>
                <a:ea typeface="Arial"/>
                <a:cs typeface="Arial"/>
              </a:defRPr>
            </a:defPPr>
            <a:lvl1pPr algn="l">
              <a:defRPr sz="1800" b="1">
                <a:solidFill>
                  <a:srgbClr val="161616"/>
                </a:solidFill>
                <a:latin typeface="Arial"/>
                <a:ea typeface="Arial"/>
                <a:cs typeface="Arial"/>
              </a:defRPr>
            </a:lvl1pPr>
            <a:lvl2pPr algn="l">
              <a:defRPr sz="1800" b="1">
                <a:solidFill>
                  <a:srgbClr val="161616"/>
                </a:solidFill>
                <a:latin typeface="Arial"/>
                <a:ea typeface="Arial"/>
                <a:cs typeface="Arial"/>
              </a:defRPr>
            </a:lvl2pPr>
            <a:lvl3pPr algn="l">
              <a:defRPr sz="1800" b="1">
                <a:solidFill>
                  <a:srgbClr val="161616"/>
                </a:solidFill>
                <a:latin typeface="Arial"/>
                <a:ea typeface="Arial"/>
                <a:cs typeface="Arial"/>
              </a:defRPr>
            </a:lvl3pPr>
            <a:lvl4pPr algn="l">
              <a:defRPr sz="1800" b="1">
                <a:solidFill>
                  <a:srgbClr val="161616"/>
                </a:solidFill>
                <a:latin typeface="Arial"/>
                <a:ea typeface="Arial"/>
                <a:cs typeface="Arial"/>
              </a:defRPr>
            </a:lvl4pPr>
            <a:lvl5pPr algn="l">
              <a:defRPr sz="1800" b="1">
                <a:solidFill>
                  <a:srgbClr val="161616"/>
                </a:solidFill>
                <a:latin typeface="Arial"/>
                <a:ea typeface="Arial"/>
                <a:cs typeface="Arial"/>
              </a:defRPr>
            </a:lvl5pPr>
            <a:lvl6pPr algn="l">
              <a:defRPr sz="1800" b="1">
                <a:solidFill>
                  <a:srgbClr val="161616"/>
                </a:solidFill>
                <a:latin typeface="Arial"/>
                <a:ea typeface="Arial"/>
                <a:cs typeface="Arial"/>
              </a:defRPr>
            </a:lvl6pPr>
            <a:lvl7pPr algn="l">
              <a:defRPr sz="1800" b="1">
                <a:solidFill>
                  <a:srgbClr val="161616"/>
                </a:solidFill>
                <a:latin typeface="Arial"/>
                <a:ea typeface="Arial"/>
                <a:cs typeface="Arial"/>
              </a:defRPr>
            </a:lvl7pPr>
            <a:lvl8pPr algn="l">
              <a:defRPr sz="1800" b="1">
                <a:solidFill>
                  <a:srgbClr val="161616"/>
                </a:solidFill>
                <a:latin typeface="Arial"/>
                <a:ea typeface="Arial"/>
                <a:cs typeface="Arial"/>
              </a:defRPr>
            </a:lvl8pPr>
            <a:lvl9pPr algn="l">
              <a:defRPr sz="1800" b="1">
                <a:solidFill>
                  <a:srgbClr val="161616"/>
                </a:solidFill>
                <a:latin typeface="Arial"/>
                <a:ea typeface="Arial"/>
                <a:cs typeface="Arial"/>
              </a:defRPr>
            </a:lvl9pPr>
          </a:lstStyle>
          <a:p xmlns:a="http://schemas.openxmlformats.org/drawingml/2006/main">
            <a:pPr algn="l">
              <a:defRPr sz="1800" b="1">
                <a:solidFill>
                  <a:srgbClr val="161616"/>
                </a:solidFill>
                <a:latin typeface="Arial"/>
                <a:ea typeface="Arial"/>
                <a:cs typeface="Arial"/>
              </a:defRPr>
            </a:pPr>
            <a:r>
              <a:rPr sz="1800" b="1">
                <a:solidFill>
                  <a:srgbClr val="161616"/>
                </a:solidFill>
                <a:latin typeface="Arial"/>
                <a:ea typeface="Arial"/>
                <a:cs typeface="Arial"/>
              </a:rPr>
              <a:t>Takeaway: filtering improved the checked output distributions in the reported runs, but the placement study does not isolate a causal effect of separation.</a:t>
            </a:r>
          </a:p>
        </p:txBody>
      </p:sp>
    </p:spTree>
    <p:extLst>
      <p:ext uri="{BB962C8B-B14F-4D97-AF65-F5344CB8AC3E}">
        <p14:creationId xmlns:p14="http://schemas.microsoft.com/office/powerpoint/2010/main" val="146194273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7427168-17CA-4038-8DE8-8BC737ADF6DB}"/>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814B0C51-14DD-4AE6-8E08-98A8DEB7C4D0}"/>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Questions judges may ask</a:t>
            </a:r>
          </a:p>
        </p:txBody>
      </p:sp>
      <p:sp>
        <p:nvSpPr>
          <p:cNvPr id="3" name="">
            <a:extLst xmlns:a="http://schemas.openxmlformats.org/drawingml/2006/main">
              <a:ext uri="{FF2B5EF4-FFF2-40B4-BE49-F238E27FC236}">
                <a16:creationId xmlns:a16="http://schemas.microsoft.com/office/drawing/2014/main" id="{73272543-F921-4704-9B00-FD10806CD276}"/>
              </a:ext>
            </a:extLst>
          </p:cNvPr>
          <p:cNvSpPr>
            <a:spLocks xmlns:a="http://schemas.openxmlformats.org/drawingml/2006/main" noGrp="1"/>
          </p:cNvSpPr>
          <p:nvPr/>
        </p:nvSpPr>
        <p:spPr>
          <a:xfrm xmlns:a="http://schemas.openxmlformats.org/drawingml/2006/main">
            <a:off x="685800" y="1666875"/>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What is the fidelity metric?</a:t>
            </a:r>
          </a:p>
        </p:txBody>
      </p:sp>
      <p:sp>
        <p:nvSpPr>
          <p:cNvPr id="4" name="">
            <a:extLst xmlns:a="http://schemas.openxmlformats.org/drawingml/2006/main">
              <a:ext uri="{FF2B5EF4-FFF2-40B4-BE49-F238E27FC236}">
                <a16:creationId xmlns:a16="http://schemas.microsoft.com/office/drawing/2014/main" id="{C9C0D03D-8A00-4C3E-A9B1-45F0C003A248}"/>
              </a:ext>
            </a:extLst>
          </p:cNvPr>
          <p:cNvSpPr>
            <a:spLocks xmlns:a="http://schemas.openxmlformats.org/drawingml/2006/main" noGrp="1"/>
          </p:cNvSpPr>
          <p:nvPr/>
        </p:nvSpPr>
        <p:spPr>
          <a:xfrm xmlns:a="http://schemas.openxmlformats.org/drawingml/2006/main">
            <a:off x="685800" y="2076450"/>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Squared Bhattacharyya coefficient between ideal and observed classical output distributions.</a:t>
            </a:r>
          </a:p>
        </p:txBody>
      </p:sp>
      <p:sp>
        <p:nvSpPr>
          <p:cNvPr id="5" name="">
            <a:extLst xmlns:a="http://schemas.openxmlformats.org/drawingml/2006/main">
              <a:ext uri="{FF2B5EF4-FFF2-40B4-BE49-F238E27FC236}">
                <a16:creationId xmlns:a16="http://schemas.microsoft.com/office/drawing/2014/main" id="{8F97E5A1-A3BF-4202-B483-19B00D5FDC8D}"/>
              </a:ext>
            </a:extLst>
          </p:cNvPr>
          <p:cNvSpPr>
            <a:spLocks xmlns:a="http://schemas.openxmlformats.org/drawingml/2006/main" noGrp="1"/>
          </p:cNvSpPr>
          <p:nvPr/>
        </p:nvSpPr>
        <p:spPr>
          <a:xfrm xmlns:a="http://schemas.openxmlformats.org/drawingml/2006/main">
            <a:off x="6305550" y="1666875"/>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09D9A"/>
                </a:solidFill>
                <a:latin typeface="Arial"/>
                <a:ea typeface="Arial"/>
                <a:cs typeface="Arial"/>
              </a:defRPr>
            </a:defPPr>
            <a:lvl1pPr algn="l">
              <a:defRPr sz="1425" b="1">
                <a:solidFill>
                  <a:srgbClr val="009D9A"/>
                </a:solidFill>
                <a:latin typeface="Arial"/>
                <a:ea typeface="Arial"/>
                <a:cs typeface="Arial"/>
              </a:defRPr>
            </a:lvl1pPr>
            <a:lvl2pPr algn="l">
              <a:defRPr sz="1425" b="1">
                <a:solidFill>
                  <a:srgbClr val="009D9A"/>
                </a:solidFill>
                <a:latin typeface="Arial"/>
                <a:ea typeface="Arial"/>
                <a:cs typeface="Arial"/>
              </a:defRPr>
            </a:lvl2pPr>
            <a:lvl3pPr algn="l">
              <a:defRPr sz="1425" b="1">
                <a:solidFill>
                  <a:srgbClr val="009D9A"/>
                </a:solidFill>
                <a:latin typeface="Arial"/>
                <a:ea typeface="Arial"/>
                <a:cs typeface="Arial"/>
              </a:defRPr>
            </a:lvl3pPr>
            <a:lvl4pPr algn="l">
              <a:defRPr sz="1425" b="1">
                <a:solidFill>
                  <a:srgbClr val="009D9A"/>
                </a:solidFill>
                <a:latin typeface="Arial"/>
                <a:ea typeface="Arial"/>
                <a:cs typeface="Arial"/>
              </a:defRPr>
            </a:lvl4pPr>
            <a:lvl5pPr algn="l">
              <a:defRPr sz="1425" b="1">
                <a:solidFill>
                  <a:srgbClr val="009D9A"/>
                </a:solidFill>
                <a:latin typeface="Arial"/>
                <a:ea typeface="Arial"/>
                <a:cs typeface="Arial"/>
              </a:defRPr>
            </a:lvl5pPr>
            <a:lvl6pPr algn="l">
              <a:defRPr sz="1425" b="1">
                <a:solidFill>
                  <a:srgbClr val="009D9A"/>
                </a:solidFill>
                <a:latin typeface="Arial"/>
                <a:ea typeface="Arial"/>
                <a:cs typeface="Arial"/>
              </a:defRPr>
            </a:lvl6pPr>
            <a:lvl7pPr algn="l">
              <a:defRPr sz="1425" b="1">
                <a:solidFill>
                  <a:srgbClr val="009D9A"/>
                </a:solidFill>
                <a:latin typeface="Arial"/>
                <a:ea typeface="Arial"/>
                <a:cs typeface="Arial"/>
              </a:defRPr>
            </a:lvl7pPr>
            <a:lvl8pPr algn="l">
              <a:defRPr sz="1425" b="1">
                <a:solidFill>
                  <a:srgbClr val="009D9A"/>
                </a:solidFill>
                <a:latin typeface="Arial"/>
                <a:ea typeface="Arial"/>
                <a:cs typeface="Arial"/>
              </a:defRPr>
            </a:lvl8pPr>
            <a:lvl9pPr algn="l">
              <a:defRPr sz="1425" b="1">
                <a:solidFill>
                  <a:srgbClr val="009D9A"/>
                </a:solidFill>
                <a:latin typeface="Arial"/>
                <a:ea typeface="Arial"/>
                <a:cs typeface="Arial"/>
              </a:defRPr>
            </a:lvl9pPr>
          </a:lstStyle>
          <a:p xmlns:a="http://schemas.openxmlformats.org/drawingml/2006/main">
            <a:pPr algn="l">
              <a:defRPr sz="1425" b="1">
                <a:solidFill>
                  <a:srgbClr val="009D9A"/>
                </a:solidFill>
                <a:latin typeface="Arial"/>
                <a:ea typeface="Arial"/>
                <a:cs typeface="Arial"/>
              </a:defRPr>
            </a:pPr>
            <a:r>
              <a:rPr sz="1425" b="1">
                <a:solidFill>
                  <a:srgbClr val="009D9A"/>
                </a:solidFill>
                <a:latin typeface="Arial"/>
                <a:ea typeface="Arial"/>
                <a:cs typeface="Arial"/>
              </a:rPr>
              <a:t>Does zero syndrome mean no error?</a:t>
            </a:r>
          </a:p>
        </p:txBody>
      </p:sp>
      <p:sp>
        <p:nvSpPr>
          <p:cNvPr id="6" name="">
            <a:extLst xmlns:a="http://schemas.openxmlformats.org/drawingml/2006/main">
              <a:ext uri="{FF2B5EF4-FFF2-40B4-BE49-F238E27FC236}">
                <a16:creationId xmlns:a16="http://schemas.microsoft.com/office/drawing/2014/main" id="{35237F64-1592-48DD-BD05-5705900058D9}"/>
              </a:ext>
            </a:extLst>
          </p:cNvPr>
          <p:cNvSpPr>
            <a:spLocks xmlns:a="http://schemas.openxmlformats.org/drawingml/2006/main" noGrp="1"/>
          </p:cNvSpPr>
          <p:nvPr/>
        </p:nvSpPr>
        <p:spPr>
          <a:xfrm xmlns:a="http://schemas.openxmlformats.org/drawingml/2006/main">
            <a:off x="6305550" y="2076450"/>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No. It means the measured parity passed; undetected errors can remain.</a:t>
            </a:r>
          </a:p>
        </p:txBody>
      </p:sp>
      <p:sp>
        <p:nvSpPr>
          <p:cNvPr id="7" name="">
            <a:extLst xmlns:a="http://schemas.openxmlformats.org/drawingml/2006/main">
              <a:ext uri="{FF2B5EF4-FFF2-40B4-BE49-F238E27FC236}">
                <a16:creationId xmlns:a16="http://schemas.microsoft.com/office/drawing/2014/main" id="{EE5F1D0D-A97E-4CF9-A9CF-BE276E2B1398}"/>
              </a:ext>
            </a:extLst>
          </p:cNvPr>
          <p:cNvSpPr>
            <a:spLocks xmlns:a="http://schemas.openxmlformats.org/drawingml/2006/main" noGrp="1"/>
          </p:cNvSpPr>
          <p:nvPr/>
        </p:nvSpPr>
        <p:spPr>
          <a:xfrm xmlns:a="http://schemas.openxmlformats.org/drawingml/2006/main">
            <a:off x="685800" y="304800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Why did checks lower raw fidelity?</a:t>
            </a:r>
          </a:p>
        </p:txBody>
      </p:sp>
      <p:sp>
        <p:nvSpPr>
          <p:cNvPr id="8" name="">
            <a:extLst xmlns:a="http://schemas.openxmlformats.org/drawingml/2006/main">
              <a:ext uri="{FF2B5EF4-FFF2-40B4-BE49-F238E27FC236}">
                <a16:creationId xmlns:a16="http://schemas.microsoft.com/office/drawing/2014/main" id="{960F5DB6-EFAB-430A-ADF4-1EDC48C1EB69}"/>
              </a:ext>
            </a:extLst>
          </p:cNvPr>
          <p:cNvSpPr>
            <a:spLocks xmlns:a="http://schemas.openxmlformats.org/drawingml/2006/main" noGrp="1"/>
          </p:cNvSpPr>
          <p:nvPr/>
        </p:nvSpPr>
        <p:spPr>
          <a:xfrm xmlns:a="http://schemas.openxmlformats.org/drawingml/2006/main">
            <a:off x="685800" y="3457575"/>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They add operations and depth, increasing noise exposure.</a:t>
            </a:r>
          </a:p>
        </p:txBody>
      </p:sp>
      <p:sp>
        <p:nvSpPr>
          <p:cNvPr id="9" name="">
            <a:extLst xmlns:a="http://schemas.openxmlformats.org/drawingml/2006/main">
              <a:ext uri="{FF2B5EF4-FFF2-40B4-BE49-F238E27FC236}">
                <a16:creationId xmlns:a16="http://schemas.microsoft.com/office/drawing/2014/main" id="{B687105B-4C6B-4E8E-9CB0-6B230CEFFAA2}"/>
              </a:ext>
            </a:extLst>
          </p:cNvPr>
          <p:cNvSpPr>
            <a:spLocks xmlns:a="http://schemas.openxmlformats.org/drawingml/2006/main" noGrp="1"/>
          </p:cNvSpPr>
          <p:nvPr/>
        </p:nvSpPr>
        <p:spPr>
          <a:xfrm xmlns:a="http://schemas.openxmlformats.org/drawingml/2006/main">
            <a:off x="6305550" y="304800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09D9A"/>
                </a:solidFill>
                <a:latin typeface="Arial"/>
                <a:ea typeface="Arial"/>
                <a:cs typeface="Arial"/>
              </a:defRPr>
            </a:defPPr>
            <a:lvl1pPr algn="l">
              <a:defRPr sz="1425" b="1">
                <a:solidFill>
                  <a:srgbClr val="009D9A"/>
                </a:solidFill>
                <a:latin typeface="Arial"/>
                <a:ea typeface="Arial"/>
                <a:cs typeface="Arial"/>
              </a:defRPr>
            </a:lvl1pPr>
            <a:lvl2pPr algn="l">
              <a:defRPr sz="1425" b="1">
                <a:solidFill>
                  <a:srgbClr val="009D9A"/>
                </a:solidFill>
                <a:latin typeface="Arial"/>
                <a:ea typeface="Arial"/>
                <a:cs typeface="Arial"/>
              </a:defRPr>
            </a:lvl2pPr>
            <a:lvl3pPr algn="l">
              <a:defRPr sz="1425" b="1">
                <a:solidFill>
                  <a:srgbClr val="009D9A"/>
                </a:solidFill>
                <a:latin typeface="Arial"/>
                <a:ea typeface="Arial"/>
                <a:cs typeface="Arial"/>
              </a:defRPr>
            </a:lvl3pPr>
            <a:lvl4pPr algn="l">
              <a:defRPr sz="1425" b="1">
                <a:solidFill>
                  <a:srgbClr val="009D9A"/>
                </a:solidFill>
                <a:latin typeface="Arial"/>
                <a:ea typeface="Arial"/>
                <a:cs typeface="Arial"/>
              </a:defRPr>
            </a:lvl4pPr>
            <a:lvl5pPr algn="l">
              <a:defRPr sz="1425" b="1">
                <a:solidFill>
                  <a:srgbClr val="009D9A"/>
                </a:solidFill>
                <a:latin typeface="Arial"/>
                <a:ea typeface="Arial"/>
                <a:cs typeface="Arial"/>
              </a:defRPr>
            </a:lvl5pPr>
            <a:lvl6pPr algn="l">
              <a:defRPr sz="1425" b="1">
                <a:solidFill>
                  <a:srgbClr val="009D9A"/>
                </a:solidFill>
                <a:latin typeface="Arial"/>
                <a:ea typeface="Arial"/>
                <a:cs typeface="Arial"/>
              </a:defRPr>
            </a:lvl6pPr>
            <a:lvl7pPr algn="l">
              <a:defRPr sz="1425" b="1">
                <a:solidFill>
                  <a:srgbClr val="009D9A"/>
                </a:solidFill>
                <a:latin typeface="Arial"/>
                <a:ea typeface="Arial"/>
                <a:cs typeface="Arial"/>
              </a:defRPr>
            </a:lvl7pPr>
            <a:lvl8pPr algn="l">
              <a:defRPr sz="1425" b="1">
                <a:solidFill>
                  <a:srgbClr val="009D9A"/>
                </a:solidFill>
                <a:latin typeface="Arial"/>
                <a:ea typeface="Arial"/>
                <a:cs typeface="Arial"/>
              </a:defRPr>
            </a:lvl8pPr>
            <a:lvl9pPr algn="l">
              <a:defRPr sz="1425" b="1">
                <a:solidFill>
                  <a:srgbClr val="009D9A"/>
                </a:solidFill>
                <a:latin typeface="Arial"/>
                <a:ea typeface="Arial"/>
                <a:cs typeface="Arial"/>
              </a:defRPr>
            </a:lvl9pPr>
          </a:lstStyle>
          <a:p xmlns:a="http://schemas.openxmlformats.org/drawingml/2006/main">
            <a:pPr algn="l">
              <a:defRPr sz="1425" b="1">
                <a:solidFill>
                  <a:srgbClr val="009D9A"/>
                </a:solidFill>
                <a:latin typeface="Arial"/>
                <a:ea typeface="Arial"/>
                <a:cs typeface="Arial"/>
              </a:defRPr>
            </a:pPr>
            <a:r>
              <a:rPr sz="1425" b="1">
                <a:solidFill>
                  <a:srgbClr val="009D9A"/>
                </a:solidFill>
                <a:latin typeface="Arial"/>
                <a:ea typeface="Arial"/>
                <a:cs typeface="Arial"/>
              </a:rPr>
              <a:t>Does span cause the fidelity change?</a:t>
            </a:r>
          </a:p>
        </p:txBody>
      </p:sp>
      <p:sp>
        <p:nvSpPr>
          <p:cNvPr id="10" name="">
            <a:extLst xmlns:a="http://schemas.openxmlformats.org/drawingml/2006/main">
              <a:ext uri="{FF2B5EF4-FFF2-40B4-BE49-F238E27FC236}">
                <a16:creationId xmlns:a16="http://schemas.microsoft.com/office/drawing/2014/main" id="{CEE749A7-02BD-48BF-8487-0720D47C3DEA}"/>
              </a:ext>
            </a:extLst>
          </p:cNvPr>
          <p:cNvSpPr>
            <a:spLocks xmlns:a="http://schemas.openxmlformats.org/drawingml/2006/main" noGrp="1"/>
          </p:cNvSpPr>
          <p:nvPr/>
        </p:nvSpPr>
        <p:spPr>
          <a:xfrm xmlns:a="http://schemas.openxmlformats.org/drawingml/2006/main">
            <a:off x="6305550" y="3457575"/>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Not established. Check support and overhead also varied.</a:t>
            </a:r>
          </a:p>
        </p:txBody>
      </p:sp>
      <p:sp>
        <p:nvSpPr>
          <p:cNvPr id="11" name="">
            <a:extLst xmlns:a="http://schemas.openxmlformats.org/drawingml/2006/main">
              <a:ext uri="{FF2B5EF4-FFF2-40B4-BE49-F238E27FC236}">
                <a16:creationId xmlns:a16="http://schemas.microsoft.com/office/drawing/2014/main" id="{40C43A3F-3573-47BD-85E6-EBB4AAD24221}"/>
              </a:ext>
            </a:extLst>
          </p:cNvPr>
          <p:cNvSpPr>
            <a:spLocks xmlns:a="http://schemas.openxmlformats.org/drawingml/2006/main" noGrp="1"/>
          </p:cNvSpPr>
          <p:nvPr/>
        </p:nvSpPr>
        <p:spPr>
          <a:xfrm xmlns:a="http://schemas.openxmlformats.org/drawingml/2006/main">
            <a:off x="685800" y="4429125"/>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Why no Paulice checks on the T circuit?</a:t>
            </a:r>
          </a:p>
        </p:txBody>
      </p:sp>
      <p:sp>
        <p:nvSpPr>
          <p:cNvPr id="12" name="">
            <a:extLst xmlns:a="http://schemas.openxmlformats.org/drawingml/2006/main">
              <a:ext uri="{FF2B5EF4-FFF2-40B4-BE49-F238E27FC236}">
                <a16:creationId xmlns:a16="http://schemas.microsoft.com/office/drawing/2014/main" id="{44F70716-242D-43B9-8066-3AAE734D2BCA}"/>
              </a:ext>
            </a:extLst>
          </p:cNvPr>
          <p:cNvSpPr>
            <a:spLocks xmlns:a="http://schemas.openxmlformats.org/drawingml/2006/main" noGrp="1"/>
          </p:cNvSpPr>
          <p:nvPr/>
        </p:nvSpPr>
        <p:spPr>
          <a:xfrm xmlns:a="http://schemas.openxmlformats.org/drawingml/2006/main">
            <a:off x="685800" y="4838700"/>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The documented workflow is Clifford-focused; non-Clifford support is future work.</a:t>
            </a:r>
          </a:p>
        </p:txBody>
      </p:sp>
    </p:spTree>
    <p:extLst>
      <p:ext uri="{BB962C8B-B14F-4D97-AF65-F5344CB8AC3E}">
        <p14:creationId xmlns:p14="http://schemas.microsoft.com/office/powerpoint/2010/main" val="11102371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2026-10-31T06:10:59.3980000Z</dcterms:created>
  <dcterms:modified xsi:type="dcterms:W3CDTF">2026-10-31T06:10:59.3980000Z</dcterms:modified>
</coreProperties>
</file>