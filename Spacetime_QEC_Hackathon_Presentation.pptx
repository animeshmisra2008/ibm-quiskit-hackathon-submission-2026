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1234440"/>
            <a:ext cx="3291840" cy="3291840"/>
          </a:xfrm>
          <a:prstGeom prst="ellipse">
            <a:avLst/>
          </a:prstGeom>
          <a:noFill/>
          <a:ln w="20320">
            <a:solidFill>
              <a:srgbClr val="21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1600200"/>
            <a:ext cx="2560320" cy="2560320"/>
          </a:xfrm>
          <a:prstGeom prst="ellipse">
            <a:avLst/>
          </a:prstGeom>
          <a:noFill/>
          <a:ln w="20320">
            <a:solidFill>
              <a:srgbClr val="24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1965960"/>
            <a:ext cx="1828800" cy="1828800"/>
          </a:xfrm>
          <a:prstGeom prst="ellipse">
            <a:avLst/>
          </a:prstGeom>
          <a:noFill/>
          <a:ln w="20320">
            <a:solidFill>
              <a:srgbClr val="30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70408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30CDDC"/>
                </a:solidFill>
                <a:latin typeface="Aptos"/>
              </a:rPr>
              <a:t>IBM QISKIT FALL FEST 2026  | 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7498079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3400" b="1">
                <a:solidFill>
                  <a:srgbClr val="F5F8FC"/>
                </a:solidFill>
                <a:latin typeface="Aptos"/>
              </a:rPr>
              <a:t>Spacetime Checks
&amp; Error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657600"/>
            <a:ext cx="65836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800" b="0">
                <a:solidFill>
                  <a:srgbClr val="B1C0D2"/>
                </a:solidFill>
                <a:latin typeface="Aptos"/>
              </a:rPr>
              <a:t>A simulation study of Pauli checks, syndrome-based post-selection,
and output-distribution 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5943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FFBE5C"/>
                </a:solidFill>
                <a:latin typeface="Aptos"/>
              </a:rPr>
              <a:t>Presented by: [Your Name / Team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5074920"/>
            <a:ext cx="28346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30CDDC"/>
                </a:solidFill>
                <a:latin typeface="Aptos"/>
              </a:rPr>
              <a:t>DETECT  •  FILTER  • 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1.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Why error detection matters in quantum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82880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1563624"/>
            <a:ext cx="50292" cy="1536192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30CDDC"/>
                </a:solidFill>
                <a:latin typeface="Aptos"/>
              </a:rPr>
              <a:t>Quantum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3090672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Gate operations and measurements can introduce errors that corrupt computation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82880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63624"/>
            <a:ext cx="50292" cy="153619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63624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Syndrome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3090672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Extra check operations can reveal patterns consistent with error corruption, but they also add circuit overhead.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563624"/>
            <a:ext cx="50292" cy="1536192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63624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1FA6A0"/>
                </a:solidFill>
                <a:latin typeface="Aptos"/>
              </a:rPr>
              <a:t>Research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090672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How does the placement and separation of spacetime checks relate to fidelity after post-selection?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10241280" cy="11430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5F8FC"/>
                </a:solidFill>
                <a:latin typeface="Aptos"/>
              </a:rPr>
              <a:t>Our objective: build a reproducible simulator workflow that inserts Pauli checks into a Clifford circuit, rejects shots with non-zero syndrome, and compares the resulting output distributions.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2. Project objective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What we built during the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5486400" cy="429768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Construct a three-qubit Clifford computation.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Use Qiskit Paulice to search for and insert spacetime Pauli checks.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Inspect check ancillas, support bits and interaction positions.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Implement a custom syndrome-parity post-selection filter.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Compare unfiltered and post-selected measurement distributions.</a:t>
            </a:r>
          </a:p>
          <a:p>
            <a:pPr>
              <a:spcAft>
                <a:spcPts val="12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Run a separate Clifford-only vs T-doped noise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508760"/>
            <a:ext cx="4572000" cy="164592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47688" y="1655063"/>
            <a:ext cx="50292" cy="1353312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1655063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30CDDC"/>
                </a:solidFill>
                <a:latin typeface="Aptos"/>
              </a:rPr>
              <a:t>Main 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2039112"/>
            <a:ext cx="4187952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F5F8FC"/>
                </a:solidFill>
                <a:latin typeface="Aptos"/>
              </a:rPr>
              <a:t>A working simulation prototype with measured check configurations and a custom shot-rejection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429000"/>
            <a:ext cx="4572000" cy="164592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47688" y="3575304"/>
            <a:ext cx="50292" cy="13533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3575304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Scope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3959352"/>
            <a:ext cx="4187952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F5F8FC"/>
                </a:solidFill>
                <a:latin typeface="Aptos"/>
              </a:rPr>
              <a:t>This is a small-scale simulator study—not a hardware experiment or a complete fault-tolerant logical computation.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3. 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A quick guide to the terminology used in the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520440" cy="1874519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1472184"/>
            <a:ext cx="50292" cy="1581911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30CDDC"/>
                </a:solidFill>
                <a:latin typeface="Aptos"/>
              </a:rPr>
              <a:t>Pauli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56231"/>
            <a:ext cx="3136392" cy="12161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An added operation sequence that probes a Pauli-related parity condition using an ancilla/check qubit.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1874519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472184"/>
            <a:ext cx="50292" cy="1581911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7218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Syndrome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56231"/>
            <a:ext cx="3136392" cy="12161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A parity value calculated from selected measured classical bits. Non-zero syndrome marks a shot for rejection.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520440" cy="1874519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9288" y="1472184"/>
            <a:ext cx="50292" cy="1581911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47218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1FA6A0"/>
                </a:solidFill>
                <a:latin typeface="Aptos"/>
              </a:rPr>
              <a:t>Post-selection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856231"/>
            <a:ext cx="3136392" cy="12161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Keep only shots that satisfy the chosen syndrome conditions; discard the flagged shots.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657600"/>
            <a:ext cx="3520440" cy="160020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32888" y="3803904"/>
            <a:ext cx="50292" cy="1307592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380390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30CDDC"/>
                </a:solidFill>
                <a:latin typeface="Aptos"/>
              </a:rPr>
              <a:t>Interaction span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187952"/>
            <a:ext cx="3136392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Difference between the first and last recorded check-ancilla CX instruction indices.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657600"/>
            <a:ext cx="3520440" cy="160020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3803904"/>
            <a:ext cx="50292" cy="130759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80390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Distribution fidelity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187952"/>
            <a:ext cx="3136392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Squared Bhattacharyya coefficient between ideal and observed output probability distributions.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4. Experimental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From circuit construction to post-selected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1170432" y="1600200"/>
            <a:ext cx="594360" cy="594360"/>
          </a:xfrm>
          <a:prstGeom prst="ellipse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709928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D182D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1783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Build circuit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87451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B1C0D2"/>
                </a:solidFill>
                <a:latin typeface="Aptos"/>
              </a:rPr>
              <a:t>3 data qubits
Clifford gates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7190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BE5C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529584" y="1600200"/>
            <a:ext cx="594360" cy="594360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709928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D182D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423160"/>
            <a:ext cx="1783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Generate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1" y="2880360"/>
            <a:ext cx="187451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B1C0D2"/>
                </a:solidFill>
                <a:latin typeface="Aptos"/>
              </a:rPr>
              <a:t>Paulice search
ancilla insertion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7190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BE5C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888736" y="1600200"/>
            <a:ext cx="594360" cy="594360"/>
          </a:xfrm>
          <a:prstGeom prst="ellipse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1709928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D182D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423160"/>
            <a:ext cx="1783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Noisy 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880360"/>
            <a:ext cx="187451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B1C0D2"/>
                </a:solidFill>
                <a:latin typeface="Aptos"/>
              </a:rPr>
              <a:t>Aer noise model
sample shots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3" y="17190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BE5C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247888" y="1600200"/>
            <a:ext cx="594360" cy="594360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1709928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D182D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2423160"/>
            <a:ext cx="1783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Syndrome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2880360"/>
            <a:ext cx="187451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B1C0D2"/>
                </a:solidFill>
                <a:latin typeface="Aptos"/>
              </a:rPr>
              <a:t>Calculate parity
accept / reject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17190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BE5C"/>
                </a:solidFill>
                <a:latin typeface="Aptos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607040" y="1600200"/>
            <a:ext cx="594360" cy="594360"/>
          </a:xfrm>
          <a:prstGeom prst="ellipse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1709928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0D182D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8" y="2423160"/>
            <a:ext cx="1783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2880360"/>
            <a:ext cx="1874519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B1C0D2"/>
                </a:solidFill>
                <a:latin typeface="Aptos"/>
              </a:rPr>
              <a:t>Compare output
distributions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343400"/>
            <a:ext cx="10332720" cy="105156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" y="4489704"/>
            <a:ext cx="50292" cy="758951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489704"/>
            <a:ext cx="9966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30CDDC"/>
                </a:solidFill>
                <a:latin typeface="Aptos"/>
              </a:rPr>
              <a:t>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873752"/>
            <a:ext cx="9948672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F5F8FC"/>
                </a:solidFill>
                <a:latin typeface="Aptos"/>
              </a:rPr>
              <a:t>Python • Qiskit • Qiskit Aer • Qiskit Paulice • NumPy • Matplotlib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5. Custom syndrome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How the shot-level acceptance rule works for our one-check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5120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30CDDC"/>
                </a:solidFill>
                <a:latin typeface="Aptos"/>
              </a:rPr>
              <a:t>For check support (0, 1, 3):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53035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3100" b="1">
                <a:solidFill>
                  <a:srgbClr val="F5F8FC"/>
                </a:solidFill>
                <a:latin typeface="Aptos"/>
              </a:rPr>
              <a:t>S = c₀ ⊕ c₁ ⊕ c₃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530352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FFBE5C"/>
                </a:solidFill>
                <a:latin typeface="Aptos"/>
              </a:rPr>
              <a:t>Accept the shot if S = 0.
Reject the shot if S =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371600"/>
            <a:ext cx="4572000" cy="137160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4807" y="1517904"/>
            <a:ext cx="50292" cy="1078992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517904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1FA6A0"/>
                </a:solidFill>
                <a:latin typeface="Aptos"/>
              </a:rPr>
              <a:t>What the filter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1901952"/>
            <a:ext cx="418795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Reads the measured data bits and check-ancilla bit, then computes their XOR parity.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063240"/>
            <a:ext cx="4572000" cy="137160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64807" y="3209544"/>
            <a:ext cx="50292" cy="107899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3209544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Important limitation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3593592"/>
            <a:ext cx="418795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This exact expression is specific to support (0, 1, 3). Later multi-check configurations require support-aware syndrome evaluation.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834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B1C0D2"/>
                </a:solidFill>
                <a:latin typeface="Aptos"/>
              </a:rPr>
              <a:t>A zero syndrome is evidence that the check condition passed—not proof that the shot is error-free.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6. Post-selection: first integrated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10,000-shot simulation • same Clifford circuit and ideal target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06040" cy="141732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63624"/>
            <a:ext cx="50292" cy="1124712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63624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30CDDC"/>
                </a:solidFill>
                <a:latin typeface="Aptos"/>
              </a:rPr>
              <a:t>No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2221992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0">
                <a:solidFill>
                  <a:srgbClr val="F5F8FC"/>
                </a:solidFill>
                <a:latin typeface="Aptos"/>
              </a:rPr>
              <a:t>0.97536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417320"/>
            <a:ext cx="2606040" cy="141732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7" y="1563624"/>
            <a:ext cx="50292" cy="112471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1563624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Checks, no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1947672"/>
            <a:ext cx="2221992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0">
                <a:solidFill>
                  <a:srgbClr val="F5F8FC"/>
                </a:solidFill>
                <a:latin typeface="Aptos"/>
              </a:rPr>
              <a:t>0.95597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17320"/>
            <a:ext cx="2606040" cy="141732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1563624"/>
            <a:ext cx="50292" cy="1124712"/>
          </a:xfrm>
          <a:prstGeom prst="rect">
            <a:avLst/>
          </a:prstGeom>
          <a:solidFill>
            <a:srgbClr val="66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1563624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66D2A0"/>
                </a:solidFill>
                <a:latin typeface="Aptos"/>
              </a:rPr>
              <a:t>Checks +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1947672"/>
            <a:ext cx="2221992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0">
                <a:solidFill>
                  <a:srgbClr val="F5F8FC"/>
                </a:solidFill>
                <a:latin typeface="Aptos"/>
              </a:rPr>
              <a:t>0.98108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417320"/>
            <a:ext cx="2606040" cy="141732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99447" y="1563624"/>
            <a:ext cx="50292" cy="1124712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1563624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1FA6A0"/>
                </a:solidFill>
                <a:latin typeface="Aptos"/>
              </a:rPr>
              <a:t>Accepted 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1947672"/>
            <a:ext cx="2221992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0">
                <a:solidFill>
                  <a:srgbClr val="F5F8FC"/>
                </a:solidFill>
                <a:latin typeface="Aptos"/>
              </a:rPr>
              <a:t>9,380 / 10,000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37560"/>
            <a:ext cx="1014984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5F8FC"/>
                </a:solidFill>
                <a:latin typeface="Aptos"/>
              </a:rPr>
              <a:t>In this run, adding checks reduced the unfiltered distribution fidelity, while custom post-selection increased it above the no-check baseline.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5488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0">
                <a:solidFill>
                  <a:srgbClr val="B1C0D2"/>
                </a:solidFill>
                <a:latin typeface="Aptos"/>
              </a:rPr>
              <a:t>Acceptance rate: 93.8%  •  Rejected: 620 shots (6.2%)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7. Finding different check configurations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Paulice search methods and observed check-interaction spans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9281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188720"/>
                <a:gridCol w="1280160"/>
                <a:gridCol w="3108960"/>
                <a:gridCol w="1280160"/>
              </a:tblGrid>
              <a:tr h="62179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0CDDC"/>
                          </a:solidFill>
                        </a:defRPr>
                      </a:pPr>
                      <a:r>
                        <a:t>Search configuration</a:t>
                      </a:r>
                    </a:p>
                  </a:txBody>
                  <a:tcPr>
                    <a:solidFill>
                      <a:srgbClr val="1E4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0CDDC"/>
                          </a:solidFill>
                        </a:defRPr>
                      </a:pPr>
                      <a:r>
                        <a:t>Checks found</a:t>
                      </a:r>
                    </a:p>
                  </a:txBody>
                  <a:tcPr>
                    <a:solidFill>
                      <a:srgbClr val="1E4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0CDDC"/>
                          </a:solidFill>
                        </a:defRPr>
                      </a:pPr>
                      <a:r>
                        <a:t>Ancilla measured</a:t>
                      </a:r>
                    </a:p>
                  </a:txBody>
                  <a:tcPr>
                    <a:solidFill>
                      <a:srgbClr val="1E4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0CDDC"/>
                          </a:solidFill>
                        </a:defRPr>
                      </a:pPr>
                      <a:r>
                        <a:t>CX instruction positions</a:t>
                      </a:r>
                    </a:p>
                  </a:txBody>
                  <a:tcPr>
                    <a:solidFill>
                      <a:srgbClr val="1E43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0CDDC"/>
                          </a:solidFill>
                        </a:defRPr>
                      </a:pPr>
                      <a:r>
                        <a:t>Span</a:t>
                      </a:r>
                    </a:p>
                  </a:txBody>
                  <a:tcPr>
                    <a:solidFill>
                      <a:srgbClr val="1E435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Windowed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11, 21, 33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Genetic • seed 1</a:t>
                      </a:r>
                    </a:p>
                  </a:txBody>
                  <a:tcPr>
                    <a:solidFill>
                      <a:srgbClr val="19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9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19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15, 31</a:t>
                      </a:r>
                    </a:p>
                  </a:txBody>
                  <a:tcPr>
                    <a:solidFill>
                      <a:srgbClr val="19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9304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Genetic • seed 7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12, 21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6274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Windowed Genetic</a:t>
                      </a:r>
                    </a:p>
                  </a:txBody>
                  <a:tcPr>
                    <a:solidFill>
                      <a:srgbClr val="19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9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19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5, 13</a:t>
                      </a:r>
                    </a:p>
                  </a:txBody>
                  <a:tcPr>
                    <a:solidFill>
                      <a:srgbClr val="1930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9304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983480"/>
            <a:ext cx="102412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FFBE5C"/>
                </a:solidFill>
                <a:latin typeface="Aptos"/>
              </a:rPr>
              <a:t>Span = last minus first recorded CX instruction index for an ancilla with at least two interactions. Genetic configurations also contain other check ancillas with only one recorded CX interaction.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8. Fidelity across check configurations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5,000 shots per configuration • shared Aer noise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9</a:t>
            </a:r>
          </a:p>
        </p:txBody>
      </p:sp>
      <p:pic>
        <p:nvPicPr>
          <p:cNvPr id="6" name="Picture 5" descr="step10_fidel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949440" cy="35876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508760"/>
            <a:ext cx="3840480" cy="123444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53527" y="1655063"/>
            <a:ext cx="50292" cy="941832"/>
          </a:xfrm>
          <a:prstGeom prst="rect">
            <a:avLst/>
          </a:prstGeom>
          <a:solidFill>
            <a:srgbClr val="66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1655063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66D2A0"/>
                </a:solidFill>
                <a:latin typeface="Aptos"/>
              </a:rPr>
              <a:t>Best post-selected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2039112"/>
            <a:ext cx="345643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900" b="0">
                <a:solidFill>
                  <a:srgbClr val="F5F8FC"/>
                </a:solidFill>
                <a:latin typeface="Aptos"/>
              </a:rPr>
              <a:t>Genetic Seed 1
0.97833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71800"/>
            <a:ext cx="3840480" cy="123444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53527" y="3118104"/>
            <a:ext cx="50292" cy="941832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3118104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30CDDC"/>
                </a:solidFill>
                <a:latin typeface="Aptos"/>
              </a:rPr>
              <a:t>No-check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3502152"/>
            <a:ext cx="345643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000" b="0">
                <a:solidFill>
                  <a:srgbClr val="F5F8FC"/>
                </a:solidFill>
                <a:latin typeface="Aptos"/>
              </a:rPr>
              <a:t>0.97958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434840"/>
            <a:ext cx="3840480" cy="114300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53527" y="4581144"/>
            <a:ext cx="50292" cy="85039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4581144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4965192"/>
            <a:ext cx="345643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Post-selection improved every checked configuration, but none exceeded the baseline in this run.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9. Does greater separation improve fidelity?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Observed relationship in this small set of configurations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span_fidel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675120" cy="40528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1508760"/>
            <a:ext cx="3977639" cy="132588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62088" y="1655063"/>
            <a:ext cx="50292" cy="1033271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1655063"/>
            <a:ext cx="36118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30CDDC"/>
                </a:solidFill>
                <a:latin typeface="Aptos"/>
              </a:rPr>
              <a:t>No monotonic 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2039112"/>
            <a:ext cx="3593591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The measured fidelity does not consistently increase or decrease with the reported span.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154680"/>
            <a:ext cx="3977639" cy="150876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62088" y="3300984"/>
            <a:ext cx="50292" cy="1216151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3300984"/>
            <a:ext cx="36118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Confounding factors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3685032"/>
            <a:ext cx="3593591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Configurations differ in check count, support, and circuit overhead. Span alone is not isolated.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5F8FC"/>
                </a:solidFill>
                <a:latin typeface="Aptos"/>
              </a:rPr>
              <a:t>Conclusion: this is an exploratory comparison, not proof of a causal relationship.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10. Clifford-only vs T-doped computation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Separate comparison under the same simplified noise model • 10,000 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983480" cy="150876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8" y="1563624"/>
            <a:ext cx="50292" cy="1216151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563624"/>
            <a:ext cx="4617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30CDDC"/>
                </a:solidFill>
                <a:latin typeface="Aptos"/>
              </a:rPr>
              <a:t>Clifford-only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47672"/>
            <a:ext cx="459943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800" b="0">
                <a:solidFill>
                  <a:srgbClr val="F5F8FC"/>
                </a:solidFill>
                <a:latin typeface="Aptos"/>
              </a:rPr>
              <a:t>Distribution fidelity: 0.97522
CX gates: 2  •  RZ gates: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983480" cy="150876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9088" y="1563624"/>
            <a:ext cx="50292" cy="1216151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563624"/>
            <a:ext cx="4617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1FA6A0"/>
                </a:solidFill>
                <a:latin typeface="Aptos"/>
              </a:rPr>
              <a:t>T-doped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947672"/>
            <a:ext cx="459943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800" b="0">
                <a:solidFill>
                  <a:srgbClr val="F5F8FC"/>
                </a:solidFill>
                <a:latin typeface="Aptos"/>
              </a:rPr>
              <a:t>Distribution fidelity: 0.98104
CX gates: 3  •  RZ gates: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10058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BE5C"/>
                </a:solidFill>
                <a:latin typeface="Aptos"/>
              </a:rPr>
              <a:t>Observed difference: +0.00582 for the T-doped circuit in this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160520"/>
            <a:ext cx="4572000" cy="123444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" y="4306824"/>
            <a:ext cx="50292" cy="941832"/>
          </a:xfrm>
          <a:prstGeom prst="rect">
            <a:avLst/>
          </a:prstGeom>
          <a:solidFill>
            <a:srgbClr val="66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306824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66D2A0"/>
                </a:solidFill>
                <a:latin typeface="Aptos"/>
              </a:rPr>
              <a:t>What it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690872"/>
            <a:ext cx="418795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We simulated a non-Clifford T-doped circuit and evaluated its output distribution.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160520"/>
            <a:ext cx="4572000" cy="123444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7" y="4306824"/>
            <a:ext cx="50292" cy="94183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7" y="4306824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BE5C"/>
                </a:solidFill>
                <a:latin typeface="Aptos"/>
              </a:rPr>
              <a:t>What it does not show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7" y="4690872"/>
            <a:ext cx="4187952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It does not prove T gates improve robustness. Each circuit is compared with its own ideal distribution.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11. Limitations &amp; scientific honesty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What the current prototype does—and does not—establish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52628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Paulice's documented workflow is for Clifford circuits; non-Clifford support is listed as future work. We therefore do not claim validated Paulice checks across the T-doped circuit.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The reported span is an instruction-index proxy, not a physical time or hardware spacetime distance.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Genetic configurations have multiple checks; the reported span is for the ancilla with at least two recorded interactions, not a complete multi-check spacetime metric.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The fidelity metric is squared Bhattacharyya coefficient between classical output distributions—not full quantum-state fidelity or logical-state fidelity.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Results come from a simplified simulator noise model, not calibrated quantum hardware. Step 10 used 5,000 shots and one run per configuration; statistical uncertainty and repeatability need further study.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A zero syndrome does not guarantee that a shot contains no undetected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12. 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What we achieved and how the study can be strengthened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74920" cy="182880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517904"/>
            <a:ext cx="50292" cy="1536192"/>
          </a:xfrm>
          <a:prstGeom prst="rect">
            <a:avLst/>
          </a:prstGeom>
          <a:solidFill>
            <a:srgbClr val="66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17904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66D2A0"/>
                </a:solidFill>
                <a:latin typeface="Aptos"/>
              </a:rPr>
              <a:t>What we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01952"/>
            <a:ext cx="4690872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• Built a noisy 3-qubit Clifford simulation
• Generated Paulice spacetime checks
• Implemented custom syndrome filtering
• Compared four check configurations
• Ran a separate T-doped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074920" cy="1828800"/>
          </a:xfrm>
          <a:prstGeom prst="roundRect">
            <a:avLst/>
          </a:prstGeom>
          <a:solidFill>
            <a:srgbClr val="162743"/>
          </a:solidFill>
          <a:ln>
            <a:solidFill>
              <a:srgbClr val="2C4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73368" y="1517904"/>
            <a:ext cx="50292" cy="1536192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517904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30CDDC"/>
                </a:solidFill>
                <a:latin typeface="Aptos"/>
              </a:rPr>
              <a:t>Next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901952"/>
            <a:ext cx="4690872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5F8FC"/>
                </a:solidFill>
                <a:latin typeface="Aptos"/>
              </a:rPr>
              <a:t>• Repeat runs with multiple seeds and confidence intervals
• Isolate check separation while holding check count/support constant
• Define a complete multi-ancilla spacetime metric
• Validate on hardware-calibrated noise
• Extend non-Clifford check support when 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60520"/>
            <a:ext cx="100584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5F8FC"/>
                </a:solidFill>
                <a:latin typeface="Aptos"/>
              </a:rPr>
              <a:t>Takeaway: syndrome-based post-selection improved the measured output distribution in our initial experiment; the placement study revealed trade-offs, but more controlled experiments are needed to isolate separation effects.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058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BE5C"/>
                </a:solidFill>
                <a:latin typeface="Aptos"/>
              </a:rPr>
              <a:t>Thank you  •  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Appendix: questions judges may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932688"/>
            <a:ext cx="777240" cy="41148"/>
          </a:xfrm>
          <a:prstGeom prst="rect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813816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B1C0D2"/>
                </a:solidFill>
                <a:latin typeface="Aptos"/>
              </a:rPr>
              <a:t>Short, accurate answers to likely technical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B1C0D2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3886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30CDDC"/>
                </a:solidFill>
                <a:latin typeface="Aptos"/>
              </a:rPr>
              <a:t>What is your fidelity metric?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34440"/>
            <a:ext cx="67665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Squared Bhattacharyya coefficient between ideal and measured classical output distributions.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3886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30CDDC"/>
                </a:solidFill>
                <a:latin typeface="Aptos"/>
              </a:rPr>
              <a:t>Why did checks lower raw fidelity?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67665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Checks add ancilla operations and circuit depth, which introduce additional opportunities for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3886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30CDDC"/>
                </a:solidFill>
                <a:latin typeface="Aptos"/>
              </a:rPr>
              <a:t>Does zero syndrome mean no error?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54680"/>
            <a:ext cx="67665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No. It means the measured parity condition passed; some errors can remain undetected.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3886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30CDDC"/>
                </a:solidFill>
                <a:latin typeface="Aptos"/>
              </a:rPr>
              <a:t>Why not apply Paulice to the T circuit?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67665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The documented Paulice workflow is Clifford-focused; non-Clifford support is listed as future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3886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30CDDC"/>
                </a:solidFill>
                <a:latin typeface="Aptos"/>
              </a:rPr>
              <a:t>Can you claim span causes the fidelity change?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074920"/>
            <a:ext cx="67665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Not yet. Check count, support and overhead also vary, so the current result is exploratory.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B1C0D2"/>
                </a:solidFill>
                <a:latin typeface="Aptos"/>
              </a:rPr>
              <a:t>IBM Qiskit Fall Fest 2026 • Track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